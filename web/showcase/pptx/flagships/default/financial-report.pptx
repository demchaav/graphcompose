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4EFE3"/>
          </a:solidFill>
          <a:ln>
            <a:noFill/>
          </a:ln>
        </p:spPr>
      </p:sp>
      <p:sp>
        <p:nvSpPr>
          <p:cNvPr name="Freeform 3" id="3"/>
          <p:cNvSpPr/>
          <p:nvPr/>
        </p:nvSpPr>
        <p:spPr>
          <a:xfrm>
            <a:off x="355600" y="228600"/>
            <a:ext cx="1778000" cy="1219200"/>
          </a:xfrm>
          <a:custGeom>
            <a:avLst/>
            <a:gdLst/>
            <a:ahLst/>
            <a:cxnLst/>
            <a:rect r="r" b="b" t="t" l="l"/>
            <a:pathLst>
              <a:path h="1219200" w="1778000">
                <a:moveTo>
                  <a:pt x="213360" y="0"/>
                </a:moveTo>
                <a:lnTo>
                  <a:pt x="1778000" y="0"/>
                </a:lnTo>
                <a:lnTo>
                  <a:pt x="1564640" y="1219200"/>
                </a:lnTo>
                <a:lnTo>
                  <a:pt x="0" y="1219200"/>
                </a:lnTo>
                <a:close/>
              </a:path>
            </a:pathLst>
          </a:custGeom>
          <a:noFill/>
          <a:ln w="19050" cap="flat">
            <a:solidFill>
              <a:srgbClr val="348E8C"/>
            </a:solidFill>
            <a:miter/>
          </a:ln>
        </p:spPr>
      </p:sp>
      <p:pic>
        <p:nvPicPr>
          <p:cNvPr name="GraphCompose Clipped Composite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28600"/>
            <a:ext cx="1778000" cy="1219200"/>
          </a:xfrm>
          <a:prstGeom prst="rect">
            <a:avLst/>
          </a:prstGeom>
        </p:spPr>
      </p:pic>
      <p:sp>
        <p:nvSpPr>
          <p:cNvPr name="GraphCompose Text Line" id="5"/>
          <p:cNvSpPr txBox="true"/>
          <p:nvPr/>
        </p:nvSpPr>
        <p:spPr>
          <a:xfrm>
            <a:off x="2404800" y="183411"/>
            <a:ext cx="2348154" cy="22320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900" b="true" i="false" u="none" strike="noStrike" kern="0">
                <a:solidFill>
                  <a:srgbClr val="26282E"/>
                </a:solidFill>
                <a:latin typeface="Arial"/>
              </a:rPr>
              <a:t>One Pager Business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2404800" y="432013"/>
            <a:ext cx="2883840" cy="22320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900" b="true" i="false" u="none" strike="noStrike" kern="0">
                <a:solidFill>
                  <a:srgbClr val="26282E"/>
                </a:solidFill>
                <a:latin typeface="Arial"/>
              </a:rPr>
              <a:t>Monthly Financial Report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2404800" y="769327"/>
            <a:ext cx="4382831" cy="986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40" b="false" i="false" u="none" strike="noStrike" kern="0">
                <a:solidFill>
                  <a:srgbClr val="7A7A80"/>
                </a:solidFill>
                <a:latin typeface="Arial"/>
              </a:rPr>
              <a:t>This one pager covers the business monthly financial report to assess performance — gross,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2404800" y="885151"/>
            <a:ext cx="3310057" cy="986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40" b="false" i="false" u="none" strike="noStrike" kern="0">
                <a:solidFill>
                  <a:srgbClr val="7A7A80"/>
                </a:solidFill>
                <a:latin typeface="Arial"/>
              </a:rPr>
              <a:t>operating, and net profit margin, plus cash, OPEX, and forecast detail.</a:t>
            </a:r>
            <a:endParaRPr lang="en-US" sz="1100"/>
          </a:p>
        </p:txBody>
      </p:sp>
      <p:sp>
        <p:nvSpPr>
          <p:cNvPr name="GraphCompose Inline Text Span" id="9"/>
          <p:cNvSpPr txBox="true"/>
          <p:nvPr/>
        </p:nvSpPr>
        <p:spPr>
          <a:xfrm>
            <a:off x="2404800" y="1030501"/>
            <a:ext cx="4078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Revenue</a:t>
            </a:r>
            <a:endParaRPr lang="en-US" sz="1100"/>
          </a:p>
        </p:txBody>
      </p:sp>
      <p:sp>
        <p:nvSpPr>
          <p:cNvPr name="GraphCompose Inline Text Span" id="10"/>
          <p:cNvSpPr txBox="true"/>
          <p:nvPr/>
        </p:nvSpPr>
        <p:spPr>
          <a:xfrm>
            <a:off x="2811403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>
            <a:off x="2839648" y="1029208"/>
            <a:ext cx="584200" cy="114300"/>
          </a:xfrm>
          <a:custGeom>
            <a:avLst/>
            <a:gdLst/>
            <a:ahLst/>
            <a:cxnLst/>
            <a:rect r="r" b="b" t="t" l="l"/>
            <a:pathLst>
              <a:path h="114300" w="584200">
                <a:moveTo>
                  <a:pt x="0" y="114300"/>
                </a:moveTo>
                <a:lnTo>
                  <a:pt x="12171" y="113083"/>
                </a:lnTo>
                <a:lnTo>
                  <a:pt x="24342" y="111539"/>
                </a:lnTo>
                <a:lnTo>
                  <a:pt x="36513" y="109719"/>
                </a:lnTo>
                <a:lnTo>
                  <a:pt x="48683" y="107674"/>
                </a:lnTo>
                <a:lnTo>
                  <a:pt x="60854" y="105457"/>
                </a:lnTo>
                <a:lnTo>
                  <a:pt x="73025" y="103118"/>
                </a:lnTo>
                <a:lnTo>
                  <a:pt x="85196" y="100711"/>
                </a:lnTo>
                <a:lnTo>
                  <a:pt x="97367" y="98287"/>
                </a:lnTo>
                <a:lnTo>
                  <a:pt x="109538" y="95897"/>
                </a:lnTo>
                <a:lnTo>
                  <a:pt x="121708" y="93593"/>
                </a:lnTo>
                <a:lnTo>
                  <a:pt x="133879" y="91428"/>
                </a:lnTo>
                <a:lnTo>
                  <a:pt x="146050" y="89452"/>
                </a:lnTo>
                <a:lnTo>
                  <a:pt x="158221" y="87669"/>
                </a:lnTo>
                <a:lnTo>
                  <a:pt x="170392" y="86024"/>
                </a:lnTo>
                <a:lnTo>
                  <a:pt x="182563" y="84483"/>
                </a:lnTo>
                <a:lnTo>
                  <a:pt x="194733" y="83010"/>
                </a:lnTo>
                <a:lnTo>
                  <a:pt x="206904" y="81572"/>
                </a:lnTo>
                <a:lnTo>
                  <a:pt x="219075" y="80134"/>
                </a:lnTo>
                <a:lnTo>
                  <a:pt x="231246" y="78662"/>
                </a:lnTo>
                <a:lnTo>
                  <a:pt x="243417" y="77120"/>
                </a:lnTo>
                <a:lnTo>
                  <a:pt x="255588" y="75475"/>
                </a:lnTo>
                <a:lnTo>
                  <a:pt x="267758" y="73692"/>
                </a:lnTo>
                <a:lnTo>
                  <a:pt x="279929" y="71737"/>
                </a:lnTo>
                <a:lnTo>
                  <a:pt x="292100" y="69574"/>
                </a:lnTo>
                <a:lnTo>
                  <a:pt x="304271" y="67197"/>
                </a:lnTo>
                <a:lnTo>
                  <a:pt x="316442" y="64639"/>
                </a:lnTo>
                <a:lnTo>
                  <a:pt x="328613" y="61925"/>
                </a:lnTo>
                <a:lnTo>
                  <a:pt x="340783" y="59083"/>
                </a:lnTo>
                <a:lnTo>
                  <a:pt x="352954" y="56136"/>
                </a:lnTo>
                <a:lnTo>
                  <a:pt x="365125" y="53112"/>
                </a:lnTo>
                <a:lnTo>
                  <a:pt x="377296" y="50036"/>
                </a:lnTo>
                <a:lnTo>
                  <a:pt x="389467" y="46935"/>
                </a:lnTo>
                <a:lnTo>
                  <a:pt x="401638" y="43833"/>
                </a:lnTo>
                <a:lnTo>
                  <a:pt x="413808" y="40757"/>
                </a:lnTo>
                <a:lnTo>
                  <a:pt x="425979" y="37733"/>
                </a:lnTo>
                <a:lnTo>
                  <a:pt x="438150" y="34787"/>
                </a:lnTo>
                <a:lnTo>
                  <a:pt x="450321" y="31777"/>
                </a:lnTo>
                <a:lnTo>
                  <a:pt x="462492" y="28586"/>
                </a:lnTo>
                <a:lnTo>
                  <a:pt x="474663" y="25275"/>
                </a:lnTo>
                <a:lnTo>
                  <a:pt x="486833" y="21903"/>
                </a:lnTo>
                <a:lnTo>
                  <a:pt x="499004" y="18531"/>
                </a:lnTo>
                <a:lnTo>
                  <a:pt x="511175" y="15219"/>
                </a:lnTo>
                <a:lnTo>
                  <a:pt x="523346" y="12028"/>
                </a:lnTo>
                <a:lnTo>
                  <a:pt x="535517" y="9019"/>
                </a:lnTo>
                <a:lnTo>
                  <a:pt x="547688" y="6251"/>
                </a:lnTo>
                <a:lnTo>
                  <a:pt x="559858" y="3785"/>
                </a:lnTo>
                <a:lnTo>
                  <a:pt x="572029" y="1681"/>
                </a:lnTo>
                <a:lnTo>
                  <a:pt x="584200" y="0"/>
                </a:lnTo>
                <a:lnTo>
                  <a:pt x="5842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348E8C"/>
          </a:solidFill>
          <a:ln>
            <a:noFill/>
          </a:ln>
        </p:spPr>
      </p:sp>
      <p:sp>
        <p:nvSpPr>
          <p:cNvPr name="GraphCompose Inline Text Span" id="12"/>
          <p:cNvSpPr txBox="true"/>
          <p:nvPr/>
        </p:nvSpPr>
        <p:spPr>
          <a:xfrm>
            <a:off x="3423848" y="1030501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   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3536827" y="1030501"/>
            <a:ext cx="1593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Net</a:t>
            </a:r>
            <a:endParaRPr lang="en-US" sz="1100"/>
          </a:p>
        </p:txBody>
      </p:sp>
      <p:sp>
        <p:nvSpPr>
          <p:cNvPr name="GraphCompose Inline Text Span" id="14"/>
          <p:cNvSpPr txBox="true"/>
          <p:nvPr/>
        </p:nvSpPr>
        <p:spPr>
          <a:xfrm>
            <a:off x="3694917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3723162" y="1030501"/>
            <a:ext cx="3117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margin</a:t>
            </a:r>
            <a:endParaRPr lang="en-US" sz="1100"/>
          </a:p>
        </p:txBody>
      </p:sp>
      <p:sp>
        <p:nvSpPr>
          <p:cNvPr name="GraphCompose Inline Text Span" id="16"/>
          <p:cNvSpPr txBox="true"/>
          <p:nvPr/>
        </p:nvSpPr>
        <p:spPr>
          <a:xfrm>
            <a:off x="4033651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4061896" y="1029208"/>
            <a:ext cx="584200" cy="114300"/>
          </a:xfrm>
          <a:custGeom>
            <a:avLst/>
            <a:gdLst/>
            <a:ahLst/>
            <a:cxnLst/>
            <a:rect r="r" b="b" t="t" l="l"/>
            <a:pathLst>
              <a:path h="114300" w="584200">
                <a:moveTo>
                  <a:pt x="0" y="93980"/>
                </a:moveTo>
                <a:lnTo>
                  <a:pt x="12171" y="92466"/>
                </a:lnTo>
                <a:lnTo>
                  <a:pt x="24342" y="90572"/>
                </a:lnTo>
                <a:lnTo>
                  <a:pt x="36513" y="88351"/>
                </a:lnTo>
                <a:lnTo>
                  <a:pt x="48683" y="85858"/>
                </a:lnTo>
                <a:lnTo>
                  <a:pt x="60854" y="83148"/>
                </a:lnTo>
                <a:lnTo>
                  <a:pt x="73025" y="80275"/>
                </a:lnTo>
                <a:lnTo>
                  <a:pt x="85196" y="77292"/>
                </a:lnTo>
                <a:lnTo>
                  <a:pt x="97367" y="74256"/>
                </a:lnTo>
                <a:lnTo>
                  <a:pt x="109538" y="71219"/>
                </a:lnTo>
                <a:lnTo>
                  <a:pt x="121708" y="68237"/>
                </a:lnTo>
                <a:lnTo>
                  <a:pt x="133879" y="65364"/>
                </a:lnTo>
                <a:lnTo>
                  <a:pt x="146050" y="62653"/>
                </a:lnTo>
                <a:lnTo>
                  <a:pt x="158221" y="59993"/>
                </a:lnTo>
                <a:lnTo>
                  <a:pt x="170392" y="57251"/>
                </a:lnTo>
                <a:lnTo>
                  <a:pt x="182563" y="54455"/>
                </a:lnTo>
                <a:lnTo>
                  <a:pt x="194733" y="51631"/>
                </a:lnTo>
                <a:lnTo>
                  <a:pt x="206904" y="48807"/>
                </a:lnTo>
                <a:lnTo>
                  <a:pt x="219075" y="46011"/>
                </a:lnTo>
                <a:lnTo>
                  <a:pt x="231246" y="43269"/>
                </a:lnTo>
                <a:lnTo>
                  <a:pt x="243417" y="40609"/>
                </a:lnTo>
                <a:lnTo>
                  <a:pt x="255588" y="38057"/>
                </a:lnTo>
                <a:lnTo>
                  <a:pt x="267758" y="35641"/>
                </a:lnTo>
                <a:lnTo>
                  <a:pt x="279929" y="33389"/>
                </a:lnTo>
                <a:lnTo>
                  <a:pt x="292100" y="31327"/>
                </a:lnTo>
                <a:lnTo>
                  <a:pt x="304271" y="29473"/>
                </a:lnTo>
                <a:lnTo>
                  <a:pt x="316442" y="27810"/>
                </a:lnTo>
                <a:lnTo>
                  <a:pt x="328613" y="26309"/>
                </a:lnTo>
                <a:lnTo>
                  <a:pt x="340783" y="24945"/>
                </a:lnTo>
                <a:lnTo>
                  <a:pt x="352954" y="23690"/>
                </a:lnTo>
                <a:lnTo>
                  <a:pt x="365125" y="22516"/>
                </a:lnTo>
                <a:lnTo>
                  <a:pt x="377296" y="21397"/>
                </a:lnTo>
                <a:lnTo>
                  <a:pt x="389467" y="20304"/>
                </a:lnTo>
                <a:lnTo>
                  <a:pt x="401638" y="19212"/>
                </a:lnTo>
                <a:lnTo>
                  <a:pt x="413808" y="18093"/>
                </a:lnTo>
                <a:lnTo>
                  <a:pt x="425979" y="16919"/>
                </a:lnTo>
                <a:lnTo>
                  <a:pt x="438150" y="15663"/>
                </a:lnTo>
                <a:lnTo>
                  <a:pt x="450321" y="14308"/>
                </a:lnTo>
                <a:lnTo>
                  <a:pt x="462492" y="12871"/>
                </a:lnTo>
                <a:lnTo>
                  <a:pt x="474663" y="11380"/>
                </a:lnTo>
                <a:lnTo>
                  <a:pt x="486833" y="9862"/>
                </a:lnTo>
                <a:lnTo>
                  <a:pt x="499004" y="8344"/>
                </a:lnTo>
                <a:lnTo>
                  <a:pt x="511175" y="6853"/>
                </a:lnTo>
                <a:lnTo>
                  <a:pt x="523346" y="5416"/>
                </a:lnTo>
                <a:lnTo>
                  <a:pt x="535517" y="4061"/>
                </a:lnTo>
                <a:lnTo>
                  <a:pt x="547688" y="2814"/>
                </a:lnTo>
                <a:lnTo>
                  <a:pt x="559858" y="1704"/>
                </a:lnTo>
                <a:lnTo>
                  <a:pt x="572029" y="757"/>
                </a:lnTo>
                <a:lnTo>
                  <a:pt x="584200" y="0"/>
                </a:lnTo>
                <a:lnTo>
                  <a:pt x="584200" y="20320"/>
                </a:lnTo>
                <a:lnTo>
                  <a:pt x="572029" y="21077"/>
                </a:lnTo>
                <a:lnTo>
                  <a:pt x="559858" y="22024"/>
                </a:lnTo>
                <a:lnTo>
                  <a:pt x="547688" y="23134"/>
                </a:lnTo>
                <a:lnTo>
                  <a:pt x="535517" y="24381"/>
                </a:lnTo>
                <a:lnTo>
                  <a:pt x="523346" y="25736"/>
                </a:lnTo>
                <a:lnTo>
                  <a:pt x="511175" y="27173"/>
                </a:lnTo>
                <a:lnTo>
                  <a:pt x="499004" y="28664"/>
                </a:lnTo>
                <a:lnTo>
                  <a:pt x="486833" y="30182"/>
                </a:lnTo>
                <a:lnTo>
                  <a:pt x="474663" y="31700"/>
                </a:lnTo>
                <a:lnTo>
                  <a:pt x="462492" y="33191"/>
                </a:lnTo>
                <a:lnTo>
                  <a:pt x="450321" y="34628"/>
                </a:lnTo>
                <a:lnTo>
                  <a:pt x="438150" y="35983"/>
                </a:lnTo>
                <a:lnTo>
                  <a:pt x="425979" y="37239"/>
                </a:lnTo>
                <a:lnTo>
                  <a:pt x="413808" y="38413"/>
                </a:lnTo>
                <a:lnTo>
                  <a:pt x="401638" y="39532"/>
                </a:lnTo>
                <a:lnTo>
                  <a:pt x="389467" y="40624"/>
                </a:lnTo>
                <a:lnTo>
                  <a:pt x="377296" y="41717"/>
                </a:lnTo>
                <a:lnTo>
                  <a:pt x="365125" y="42836"/>
                </a:lnTo>
                <a:lnTo>
                  <a:pt x="352954" y="44010"/>
                </a:lnTo>
                <a:lnTo>
                  <a:pt x="340783" y="45265"/>
                </a:lnTo>
                <a:lnTo>
                  <a:pt x="328613" y="46629"/>
                </a:lnTo>
                <a:lnTo>
                  <a:pt x="316442" y="48130"/>
                </a:lnTo>
                <a:lnTo>
                  <a:pt x="304271" y="49793"/>
                </a:lnTo>
                <a:lnTo>
                  <a:pt x="292100" y="51647"/>
                </a:lnTo>
                <a:lnTo>
                  <a:pt x="279929" y="53709"/>
                </a:lnTo>
                <a:lnTo>
                  <a:pt x="267758" y="55961"/>
                </a:lnTo>
                <a:lnTo>
                  <a:pt x="255588" y="58377"/>
                </a:lnTo>
                <a:lnTo>
                  <a:pt x="243417" y="60929"/>
                </a:lnTo>
                <a:lnTo>
                  <a:pt x="231246" y="63589"/>
                </a:lnTo>
                <a:lnTo>
                  <a:pt x="219075" y="66331"/>
                </a:lnTo>
                <a:lnTo>
                  <a:pt x="206904" y="69127"/>
                </a:lnTo>
                <a:lnTo>
                  <a:pt x="194733" y="71951"/>
                </a:lnTo>
                <a:lnTo>
                  <a:pt x="182563" y="74775"/>
                </a:lnTo>
                <a:lnTo>
                  <a:pt x="170392" y="77571"/>
                </a:lnTo>
                <a:lnTo>
                  <a:pt x="158221" y="80313"/>
                </a:lnTo>
                <a:lnTo>
                  <a:pt x="146050" y="82973"/>
                </a:lnTo>
                <a:lnTo>
                  <a:pt x="133879" y="85684"/>
                </a:lnTo>
                <a:lnTo>
                  <a:pt x="121708" y="88557"/>
                </a:lnTo>
                <a:lnTo>
                  <a:pt x="109538" y="91539"/>
                </a:lnTo>
                <a:lnTo>
                  <a:pt x="97367" y="94576"/>
                </a:lnTo>
                <a:lnTo>
                  <a:pt x="85196" y="97612"/>
                </a:lnTo>
                <a:lnTo>
                  <a:pt x="73025" y="100595"/>
                </a:lnTo>
                <a:lnTo>
                  <a:pt x="60854" y="103468"/>
                </a:lnTo>
                <a:lnTo>
                  <a:pt x="48683" y="106178"/>
                </a:lnTo>
                <a:lnTo>
                  <a:pt x="36513" y="108671"/>
                </a:lnTo>
                <a:lnTo>
                  <a:pt x="24342" y="110892"/>
                </a:lnTo>
                <a:lnTo>
                  <a:pt x="12171" y="112786"/>
                </a:lnTo>
                <a:lnTo>
                  <a:pt x="0" y="114300"/>
                </a:lnTo>
                <a:close/>
              </a:path>
            </a:pathLst>
          </a:custGeom>
          <a:solidFill>
            <a:srgbClr val="D85A2E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2525463" y="1513724"/>
            <a:ext cx="2510346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true" i="false" u="none" strike="noStrike" kern="0">
                <a:solidFill>
                  <a:srgbClr val="26282E"/>
                </a:solidFill>
                <a:latin typeface="Arial"/>
              </a:rPr>
              <a:t>Financial Report : May 2023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3018000" y="1776412"/>
            <a:ext cx="1524000" cy="31750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Freeform 20" id="20"/>
          <p:cNvSpPr/>
          <p:nvPr/>
        </p:nvSpPr>
        <p:spPr>
          <a:xfrm>
            <a:off x="904426" y="1909762"/>
            <a:ext cx="1066771" cy="1066788"/>
          </a:xfrm>
          <a:custGeom>
            <a:avLst/>
            <a:gdLst/>
            <a:ahLst/>
            <a:cxnLst/>
            <a:rect r="r" b="b" t="t" l="l"/>
            <a:pathLst>
              <a:path h="1066788" w="1066771">
                <a:moveTo>
                  <a:pt x="533374" y="0"/>
                </a:moveTo>
                <a:lnTo>
                  <a:pt x="561231" y="728"/>
                </a:lnTo>
                <a:lnTo>
                  <a:pt x="589013" y="2910"/>
                </a:lnTo>
                <a:lnTo>
                  <a:pt x="616642" y="6540"/>
                </a:lnTo>
                <a:lnTo>
                  <a:pt x="644044" y="11608"/>
                </a:lnTo>
                <a:lnTo>
                  <a:pt x="671144" y="18100"/>
                </a:lnTo>
                <a:lnTo>
                  <a:pt x="697868" y="25998"/>
                </a:lnTo>
                <a:lnTo>
                  <a:pt x="724143" y="35281"/>
                </a:lnTo>
                <a:lnTo>
                  <a:pt x="749898" y="45924"/>
                </a:lnTo>
                <a:lnTo>
                  <a:pt x="775061" y="57898"/>
                </a:lnTo>
                <a:lnTo>
                  <a:pt x="799565" y="71169"/>
                </a:lnTo>
                <a:lnTo>
                  <a:pt x="823342" y="85702"/>
                </a:lnTo>
                <a:lnTo>
                  <a:pt x="846328" y="101456"/>
                </a:lnTo>
                <a:lnTo>
                  <a:pt x="868459" y="118390"/>
                </a:lnTo>
                <a:lnTo>
                  <a:pt x="889676" y="136457"/>
                </a:lnTo>
                <a:lnTo>
                  <a:pt x="909921" y="155607"/>
                </a:lnTo>
                <a:lnTo>
                  <a:pt x="929137" y="175788"/>
                </a:lnTo>
                <a:lnTo>
                  <a:pt x="947274" y="196945"/>
                </a:lnTo>
                <a:lnTo>
                  <a:pt x="964281" y="219020"/>
                </a:lnTo>
                <a:lnTo>
                  <a:pt x="980112" y="241954"/>
                </a:lnTo>
                <a:lnTo>
                  <a:pt x="994723" y="265683"/>
                </a:lnTo>
                <a:lnTo>
                  <a:pt x="1008075" y="290142"/>
                </a:lnTo>
                <a:lnTo>
                  <a:pt x="1020132" y="315266"/>
                </a:lnTo>
                <a:lnTo>
                  <a:pt x="1030860" y="340985"/>
                </a:lnTo>
                <a:lnTo>
                  <a:pt x="1040230" y="367229"/>
                </a:lnTo>
                <a:lnTo>
                  <a:pt x="1048217" y="393927"/>
                </a:lnTo>
                <a:lnTo>
                  <a:pt x="1054798" y="421006"/>
                </a:lnTo>
                <a:lnTo>
                  <a:pt x="1059956" y="448391"/>
                </a:lnTo>
                <a:lnTo>
                  <a:pt x="1063677" y="476008"/>
                </a:lnTo>
                <a:lnTo>
                  <a:pt x="1065951" y="503782"/>
                </a:lnTo>
                <a:lnTo>
                  <a:pt x="1066771" y="531637"/>
                </a:lnTo>
                <a:lnTo>
                  <a:pt x="1066135" y="559496"/>
                </a:lnTo>
                <a:lnTo>
                  <a:pt x="1064045" y="587284"/>
                </a:lnTo>
                <a:lnTo>
                  <a:pt x="1060507" y="614926"/>
                </a:lnTo>
                <a:lnTo>
                  <a:pt x="1055530" y="642344"/>
                </a:lnTo>
                <a:lnTo>
                  <a:pt x="1049128" y="669466"/>
                </a:lnTo>
                <a:lnTo>
                  <a:pt x="1041318" y="696216"/>
                </a:lnTo>
                <a:lnTo>
                  <a:pt x="1032121" y="722521"/>
                </a:lnTo>
                <a:lnTo>
                  <a:pt x="1021564" y="748311"/>
                </a:lnTo>
                <a:lnTo>
                  <a:pt x="1009674" y="773514"/>
                </a:lnTo>
                <a:lnTo>
                  <a:pt x="996483" y="798061"/>
                </a:lnTo>
                <a:lnTo>
                  <a:pt x="982029" y="821886"/>
                </a:lnTo>
                <a:lnTo>
                  <a:pt x="966351" y="844924"/>
                </a:lnTo>
                <a:lnTo>
                  <a:pt x="949490" y="867111"/>
                </a:lnTo>
                <a:lnTo>
                  <a:pt x="931494" y="888388"/>
                </a:lnTo>
                <a:lnTo>
                  <a:pt x="912411" y="908696"/>
                </a:lnTo>
                <a:lnTo>
                  <a:pt x="892294" y="927979"/>
                </a:lnTo>
                <a:lnTo>
                  <a:pt x="871197" y="946185"/>
                </a:lnTo>
                <a:lnTo>
                  <a:pt x="849178" y="963265"/>
                </a:lnTo>
                <a:lnTo>
                  <a:pt x="826297" y="979172"/>
                </a:lnTo>
                <a:lnTo>
                  <a:pt x="802616" y="993862"/>
                </a:lnTo>
                <a:lnTo>
                  <a:pt x="778201" y="1007295"/>
                </a:lnTo>
                <a:lnTo>
                  <a:pt x="753117" y="1019434"/>
                </a:lnTo>
                <a:lnTo>
                  <a:pt x="727434" y="1030247"/>
                </a:lnTo>
                <a:lnTo>
                  <a:pt x="701220" y="1039704"/>
                </a:lnTo>
                <a:lnTo>
                  <a:pt x="674549" y="1047779"/>
                </a:lnTo>
                <a:lnTo>
                  <a:pt x="647493" y="1054450"/>
                </a:lnTo>
                <a:lnTo>
                  <a:pt x="620125" y="1059699"/>
                </a:lnTo>
                <a:lnTo>
                  <a:pt x="592520" y="1063511"/>
                </a:lnTo>
                <a:lnTo>
                  <a:pt x="564754" y="1065877"/>
                </a:lnTo>
                <a:lnTo>
                  <a:pt x="536902" y="1066789"/>
                </a:lnTo>
                <a:lnTo>
                  <a:pt x="509040" y="1066245"/>
                </a:lnTo>
                <a:lnTo>
                  <a:pt x="481245" y="1064247"/>
                </a:lnTo>
                <a:lnTo>
                  <a:pt x="453593" y="1060800"/>
                </a:lnTo>
                <a:lnTo>
                  <a:pt x="426158" y="1055914"/>
                </a:lnTo>
                <a:lnTo>
                  <a:pt x="399015" y="1049601"/>
                </a:lnTo>
                <a:lnTo>
                  <a:pt x="372239" y="1041880"/>
                </a:lnTo>
                <a:lnTo>
                  <a:pt x="345904" y="1032770"/>
                </a:lnTo>
                <a:lnTo>
                  <a:pt x="320079" y="1022298"/>
                </a:lnTo>
                <a:lnTo>
                  <a:pt x="294837" y="1010491"/>
                </a:lnTo>
                <a:lnTo>
                  <a:pt x="270246" y="997383"/>
                </a:lnTo>
                <a:lnTo>
                  <a:pt x="246374" y="983007"/>
                </a:lnTo>
                <a:lnTo>
                  <a:pt x="223284" y="967405"/>
                </a:lnTo>
                <a:lnTo>
                  <a:pt x="201041" y="950618"/>
                </a:lnTo>
                <a:lnTo>
                  <a:pt x="179705" y="932692"/>
                </a:lnTo>
                <a:lnTo>
                  <a:pt x="159334" y="913677"/>
                </a:lnTo>
                <a:lnTo>
                  <a:pt x="139985" y="893623"/>
                </a:lnTo>
                <a:lnTo>
                  <a:pt x="121709" y="872586"/>
                </a:lnTo>
                <a:lnTo>
                  <a:pt x="104556" y="850624"/>
                </a:lnTo>
                <a:lnTo>
                  <a:pt x="88574" y="827796"/>
                </a:lnTo>
                <a:lnTo>
                  <a:pt x="73806" y="804164"/>
                </a:lnTo>
                <a:lnTo>
                  <a:pt x="60292" y="779793"/>
                </a:lnTo>
                <a:lnTo>
                  <a:pt x="48070" y="754749"/>
                </a:lnTo>
                <a:lnTo>
                  <a:pt x="37172" y="729102"/>
                </a:lnTo>
                <a:lnTo>
                  <a:pt x="27628" y="702920"/>
                </a:lnTo>
                <a:lnTo>
                  <a:pt x="19465" y="676276"/>
                </a:lnTo>
                <a:lnTo>
                  <a:pt x="12705" y="649242"/>
                </a:lnTo>
                <a:lnTo>
                  <a:pt x="7366" y="621891"/>
                </a:lnTo>
                <a:lnTo>
                  <a:pt x="3462" y="594299"/>
                </a:lnTo>
                <a:lnTo>
                  <a:pt x="1005" y="566541"/>
                </a:lnTo>
                <a:lnTo>
                  <a:pt x="0" y="538692"/>
                </a:lnTo>
                <a:lnTo>
                  <a:pt x="452" y="510829"/>
                </a:lnTo>
                <a:lnTo>
                  <a:pt x="2358" y="483028"/>
                </a:lnTo>
                <a:lnTo>
                  <a:pt x="5713" y="455363"/>
                </a:lnTo>
                <a:lnTo>
                  <a:pt x="10509" y="427912"/>
                </a:lnTo>
                <a:lnTo>
                  <a:pt x="16732" y="400749"/>
                </a:lnTo>
                <a:lnTo>
                  <a:pt x="192390" y="445851"/>
                </a:lnTo>
                <a:lnTo>
                  <a:pt x="188283" y="463778"/>
                </a:lnTo>
                <a:lnTo>
                  <a:pt x="185118" y="481896"/>
                </a:lnTo>
                <a:lnTo>
                  <a:pt x="182903" y="500154"/>
                </a:lnTo>
                <a:lnTo>
                  <a:pt x="181645" y="518503"/>
                </a:lnTo>
                <a:lnTo>
                  <a:pt x="181347" y="536893"/>
                </a:lnTo>
                <a:lnTo>
                  <a:pt x="182010" y="555273"/>
                </a:lnTo>
                <a:lnTo>
                  <a:pt x="183632" y="573594"/>
                </a:lnTo>
                <a:lnTo>
                  <a:pt x="186208" y="591804"/>
                </a:lnTo>
                <a:lnTo>
                  <a:pt x="189732" y="609856"/>
                </a:lnTo>
                <a:lnTo>
                  <a:pt x="194194" y="627698"/>
                </a:lnTo>
                <a:lnTo>
                  <a:pt x="199582" y="645284"/>
                </a:lnTo>
                <a:lnTo>
                  <a:pt x="205881" y="662563"/>
                </a:lnTo>
                <a:lnTo>
                  <a:pt x="213073" y="679491"/>
                </a:lnTo>
                <a:lnTo>
                  <a:pt x="221140" y="696019"/>
                </a:lnTo>
                <a:lnTo>
                  <a:pt x="230059" y="712104"/>
                </a:lnTo>
                <a:lnTo>
                  <a:pt x="239806" y="727701"/>
                </a:lnTo>
                <a:lnTo>
                  <a:pt x="250354" y="742768"/>
                </a:lnTo>
                <a:lnTo>
                  <a:pt x="261675" y="757263"/>
                </a:lnTo>
                <a:lnTo>
                  <a:pt x="273737" y="771147"/>
                </a:lnTo>
                <a:lnTo>
                  <a:pt x="286508" y="784383"/>
                </a:lnTo>
                <a:lnTo>
                  <a:pt x="299953" y="796933"/>
                </a:lnTo>
                <a:lnTo>
                  <a:pt x="314034" y="808764"/>
                </a:lnTo>
                <a:lnTo>
                  <a:pt x="328715" y="819843"/>
                </a:lnTo>
                <a:lnTo>
                  <a:pt x="343954" y="830141"/>
                </a:lnTo>
                <a:lnTo>
                  <a:pt x="359710" y="839629"/>
                </a:lnTo>
                <a:lnTo>
                  <a:pt x="375940" y="848281"/>
                </a:lnTo>
                <a:lnTo>
                  <a:pt x="392600" y="856073"/>
                </a:lnTo>
                <a:lnTo>
                  <a:pt x="409644" y="862985"/>
                </a:lnTo>
                <a:lnTo>
                  <a:pt x="427025" y="868997"/>
                </a:lnTo>
                <a:lnTo>
                  <a:pt x="444697" y="874093"/>
                </a:lnTo>
                <a:lnTo>
                  <a:pt x="462611" y="878259"/>
                </a:lnTo>
                <a:lnTo>
                  <a:pt x="480718" y="881484"/>
                </a:lnTo>
                <a:lnTo>
                  <a:pt x="498969" y="883759"/>
                </a:lnTo>
                <a:lnTo>
                  <a:pt x="517314" y="885078"/>
                </a:lnTo>
                <a:lnTo>
                  <a:pt x="535702" y="885437"/>
                </a:lnTo>
                <a:lnTo>
                  <a:pt x="554085" y="884835"/>
                </a:lnTo>
                <a:lnTo>
                  <a:pt x="572410" y="883274"/>
                </a:lnTo>
                <a:lnTo>
                  <a:pt x="590630" y="880757"/>
                </a:lnTo>
                <a:lnTo>
                  <a:pt x="608692" y="877293"/>
                </a:lnTo>
                <a:lnTo>
                  <a:pt x="626550" y="872890"/>
                </a:lnTo>
                <a:lnTo>
                  <a:pt x="644153" y="867561"/>
                </a:lnTo>
                <a:lnTo>
                  <a:pt x="661453" y="861319"/>
                </a:lnTo>
                <a:lnTo>
                  <a:pt x="678404" y="854183"/>
                </a:lnTo>
                <a:lnTo>
                  <a:pt x="694960" y="846171"/>
                </a:lnTo>
                <a:lnTo>
                  <a:pt x="711074" y="837305"/>
                </a:lnTo>
                <a:lnTo>
                  <a:pt x="726703" y="827610"/>
                </a:lnTo>
                <a:lnTo>
                  <a:pt x="741804" y="817111"/>
                </a:lnTo>
                <a:lnTo>
                  <a:pt x="756337" y="805839"/>
                </a:lnTo>
                <a:lnTo>
                  <a:pt x="770261" y="793822"/>
                </a:lnTo>
                <a:lnTo>
                  <a:pt x="783539" y="781095"/>
                </a:lnTo>
                <a:lnTo>
                  <a:pt x="796133" y="767692"/>
                </a:lnTo>
                <a:lnTo>
                  <a:pt x="808011" y="753650"/>
                </a:lnTo>
                <a:lnTo>
                  <a:pt x="819139" y="739006"/>
                </a:lnTo>
                <a:lnTo>
                  <a:pt x="829487" y="723801"/>
                </a:lnTo>
                <a:lnTo>
                  <a:pt x="839026" y="708077"/>
                </a:lnTo>
                <a:lnTo>
                  <a:pt x="847732" y="691875"/>
                </a:lnTo>
                <a:lnTo>
                  <a:pt x="855579" y="675241"/>
                </a:lnTo>
                <a:lnTo>
                  <a:pt x="862547" y="658220"/>
                </a:lnTo>
                <a:lnTo>
                  <a:pt x="868617" y="640859"/>
                </a:lnTo>
                <a:lnTo>
                  <a:pt x="873771" y="623204"/>
                </a:lnTo>
                <a:lnTo>
                  <a:pt x="877997" y="605303"/>
                </a:lnTo>
                <a:lnTo>
                  <a:pt x="881282" y="587207"/>
                </a:lnTo>
                <a:lnTo>
                  <a:pt x="883617" y="568964"/>
                </a:lnTo>
                <a:lnTo>
                  <a:pt x="884997" y="550624"/>
                </a:lnTo>
                <a:lnTo>
                  <a:pt x="885416" y="532236"/>
                </a:lnTo>
                <a:lnTo>
                  <a:pt x="884875" y="513852"/>
                </a:lnTo>
                <a:lnTo>
                  <a:pt x="883374" y="495521"/>
                </a:lnTo>
                <a:lnTo>
                  <a:pt x="880918" y="477294"/>
                </a:lnTo>
                <a:lnTo>
                  <a:pt x="877514" y="459220"/>
                </a:lnTo>
                <a:lnTo>
                  <a:pt x="873170" y="441348"/>
                </a:lnTo>
                <a:lnTo>
                  <a:pt x="867899" y="423728"/>
                </a:lnTo>
                <a:lnTo>
                  <a:pt x="861715" y="406406"/>
                </a:lnTo>
                <a:lnTo>
                  <a:pt x="854634" y="389432"/>
                </a:lnTo>
                <a:lnTo>
                  <a:pt x="846677" y="372850"/>
                </a:lnTo>
                <a:lnTo>
                  <a:pt x="837864" y="356707"/>
                </a:lnTo>
                <a:lnTo>
                  <a:pt x="828221" y="341046"/>
                </a:lnTo>
                <a:lnTo>
                  <a:pt x="817773" y="325910"/>
                </a:lnTo>
                <a:lnTo>
                  <a:pt x="806548" y="311340"/>
                </a:lnTo>
                <a:lnTo>
                  <a:pt x="794578" y="297376"/>
                </a:lnTo>
                <a:lnTo>
                  <a:pt x="781895" y="284057"/>
                </a:lnTo>
                <a:lnTo>
                  <a:pt x="768533" y="271418"/>
                </a:lnTo>
                <a:lnTo>
                  <a:pt x="754530" y="259494"/>
                </a:lnTo>
                <a:lnTo>
                  <a:pt x="739923" y="248317"/>
                </a:lnTo>
                <a:lnTo>
                  <a:pt x="724753" y="237919"/>
                </a:lnTo>
                <a:lnTo>
                  <a:pt x="709060" y="228328"/>
                </a:lnTo>
                <a:lnTo>
                  <a:pt x="692887" y="219569"/>
                </a:lnTo>
                <a:lnTo>
                  <a:pt x="676280" y="211666"/>
                </a:lnTo>
                <a:lnTo>
                  <a:pt x="659282" y="204642"/>
                </a:lnTo>
                <a:lnTo>
                  <a:pt x="641940" y="198515"/>
                </a:lnTo>
                <a:lnTo>
                  <a:pt x="624302" y="193302"/>
                </a:lnTo>
                <a:lnTo>
                  <a:pt x="606416" y="189017"/>
                </a:lnTo>
                <a:lnTo>
                  <a:pt x="588331" y="185673"/>
                </a:lnTo>
                <a:lnTo>
                  <a:pt x="570096" y="183277"/>
                </a:lnTo>
                <a:lnTo>
                  <a:pt x="551760" y="181837"/>
                </a:lnTo>
                <a:lnTo>
                  <a:pt x="533374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1" id="21"/>
          <p:cNvSpPr/>
          <p:nvPr/>
        </p:nvSpPr>
        <p:spPr>
          <a:xfrm>
            <a:off x="921158" y="1909762"/>
            <a:ext cx="516642" cy="445850"/>
          </a:xfrm>
          <a:custGeom>
            <a:avLst/>
            <a:gdLst/>
            <a:ahLst/>
            <a:cxnLst/>
            <a:rect r="r" b="b" t="t" l="l"/>
            <a:pathLst>
              <a:path h="445850" w="516642">
                <a:moveTo>
                  <a:pt x="0" y="400749"/>
                </a:moveTo>
                <a:lnTo>
                  <a:pt x="7394" y="374712"/>
                </a:lnTo>
                <a:lnTo>
                  <a:pt x="16099" y="349084"/>
                </a:lnTo>
                <a:lnTo>
                  <a:pt x="26094" y="323930"/>
                </a:lnTo>
                <a:lnTo>
                  <a:pt x="37351" y="299316"/>
                </a:lnTo>
                <a:lnTo>
                  <a:pt x="49842" y="275304"/>
                </a:lnTo>
                <a:lnTo>
                  <a:pt x="63536" y="251957"/>
                </a:lnTo>
                <a:lnTo>
                  <a:pt x="78396" y="229335"/>
                </a:lnTo>
                <a:lnTo>
                  <a:pt x="94385" y="207495"/>
                </a:lnTo>
                <a:lnTo>
                  <a:pt x="111460" y="186495"/>
                </a:lnTo>
                <a:lnTo>
                  <a:pt x="129580" y="166388"/>
                </a:lnTo>
                <a:lnTo>
                  <a:pt x="148695" y="147226"/>
                </a:lnTo>
                <a:lnTo>
                  <a:pt x="168759" y="129058"/>
                </a:lnTo>
                <a:lnTo>
                  <a:pt x="189717" y="111932"/>
                </a:lnTo>
                <a:lnTo>
                  <a:pt x="211518" y="95891"/>
                </a:lnTo>
                <a:lnTo>
                  <a:pt x="234105" y="80976"/>
                </a:lnTo>
                <a:lnTo>
                  <a:pt x="257419" y="67226"/>
                </a:lnTo>
                <a:lnTo>
                  <a:pt x="281400" y="54676"/>
                </a:lnTo>
                <a:lnTo>
                  <a:pt x="305987" y="43360"/>
                </a:lnTo>
                <a:lnTo>
                  <a:pt x="331117" y="33305"/>
                </a:lnTo>
                <a:lnTo>
                  <a:pt x="356724" y="24537"/>
                </a:lnTo>
                <a:lnTo>
                  <a:pt x="382743" y="17080"/>
                </a:lnTo>
                <a:lnTo>
                  <a:pt x="409107" y="10953"/>
                </a:lnTo>
                <a:lnTo>
                  <a:pt x="435747" y="6170"/>
                </a:lnTo>
                <a:lnTo>
                  <a:pt x="462596" y="2746"/>
                </a:lnTo>
                <a:lnTo>
                  <a:pt x="489584" y="687"/>
                </a:lnTo>
                <a:lnTo>
                  <a:pt x="516642" y="0"/>
                </a:lnTo>
                <a:lnTo>
                  <a:pt x="516642" y="181356"/>
                </a:lnTo>
                <a:lnTo>
                  <a:pt x="498784" y="181810"/>
                </a:lnTo>
                <a:lnTo>
                  <a:pt x="480972" y="183168"/>
                </a:lnTo>
                <a:lnTo>
                  <a:pt x="463251" y="185429"/>
                </a:lnTo>
                <a:lnTo>
                  <a:pt x="445669" y="188585"/>
                </a:lnTo>
                <a:lnTo>
                  <a:pt x="428269" y="192629"/>
                </a:lnTo>
                <a:lnTo>
                  <a:pt x="411096" y="197551"/>
                </a:lnTo>
                <a:lnTo>
                  <a:pt x="394195" y="203337"/>
                </a:lnTo>
                <a:lnTo>
                  <a:pt x="377610" y="209974"/>
                </a:lnTo>
                <a:lnTo>
                  <a:pt x="361382" y="217443"/>
                </a:lnTo>
                <a:lnTo>
                  <a:pt x="345555" y="225725"/>
                </a:lnTo>
                <a:lnTo>
                  <a:pt x="330167" y="234800"/>
                </a:lnTo>
                <a:lnTo>
                  <a:pt x="315260" y="244644"/>
                </a:lnTo>
                <a:lnTo>
                  <a:pt x="300872" y="255231"/>
                </a:lnTo>
                <a:lnTo>
                  <a:pt x="287039" y="266535"/>
                </a:lnTo>
                <a:lnTo>
                  <a:pt x="273797" y="278525"/>
                </a:lnTo>
                <a:lnTo>
                  <a:pt x="261181" y="291172"/>
                </a:lnTo>
                <a:lnTo>
                  <a:pt x="249222" y="304443"/>
                </a:lnTo>
                <a:lnTo>
                  <a:pt x="237952" y="318303"/>
                </a:lnTo>
                <a:lnTo>
                  <a:pt x="227400" y="332717"/>
                </a:lnTo>
                <a:lnTo>
                  <a:pt x="217592" y="347648"/>
                </a:lnTo>
                <a:lnTo>
                  <a:pt x="208554" y="363057"/>
                </a:lnTo>
                <a:lnTo>
                  <a:pt x="200310" y="378905"/>
                </a:lnTo>
                <a:lnTo>
                  <a:pt x="192880" y="395150"/>
                </a:lnTo>
                <a:lnTo>
                  <a:pt x="186284" y="411752"/>
                </a:lnTo>
                <a:lnTo>
                  <a:pt x="180538" y="428666"/>
                </a:lnTo>
                <a:lnTo>
                  <a:pt x="175658" y="445851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22"/>
          <p:cNvSpPr txBox="true"/>
          <p:nvPr/>
        </p:nvSpPr>
        <p:spPr>
          <a:xfrm>
            <a:off x="1158260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79%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126040" y="2992068"/>
            <a:ext cx="62478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Gross profit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>
            <a:off x="3780000" y="1909762"/>
            <a:ext cx="533400" cy="698230"/>
          </a:xfrm>
          <a:custGeom>
            <a:avLst/>
            <a:gdLst/>
            <a:ahLst/>
            <a:cxnLst/>
            <a:rect r="r" b="b" t="t" l="l"/>
            <a:pathLst>
              <a:path h="698230" w="533400">
                <a:moveTo>
                  <a:pt x="0" y="0"/>
                </a:moveTo>
                <a:lnTo>
                  <a:pt x="27916" y="732"/>
                </a:lnTo>
                <a:lnTo>
                  <a:pt x="55756" y="2923"/>
                </a:lnTo>
                <a:lnTo>
                  <a:pt x="83442" y="6568"/>
                </a:lnTo>
                <a:lnTo>
                  <a:pt x="110900" y="11657"/>
                </a:lnTo>
                <a:lnTo>
                  <a:pt x="138054" y="18176"/>
                </a:lnTo>
                <a:lnTo>
                  <a:pt x="164830" y="26107"/>
                </a:lnTo>
                <a:lnTo>
                  <a:pt x="191154" y="35429"/>
                </a:lnTo>
                <a:lnTo>
                  <a:pt x="216954" y="46115"/>
                </a:lnTo>
                <a:lnTo>
                  <a:pt x="242159" y="58138"/>
                </a:lnTo>
                <a:lnTo>
                  <a:pt x="266700" y="71463"/>
                </a:lnTo>
                <a:lnTo>
                  <a:pt x="290511" y="86054"/>
                </a:lnTo>
                <a:lnTo>
                  <a:pt x="313525" y="101871"/>
                </a:lnTo>
                <a:lnTo>
                  <a:pt x="335680" y="118871"/>
                </a:lnTo>
                <a:lnTo>
                  <a:pt x="356915" y="137007"/>
                </a:lnTo>
                <a:lnTo>
                  <a:pt x="377171" y="156230"/>
                </a:lnTo>
                <a:lnTo>
                  <a:pt x="396394" y="176486"/>
                </a:lnTo>
                <a:lnTo>
                  <a:pt x="414530" y="197721"/>
                </a:lnTo>
                <a:lnTo>
                  <a:pt x="431530" y="219876"/>
                </a:lnTo>
                <a:lnTo>
                  <a:pt x="447347" y="242890"/>
                </a:lnTo>
                <a:lnTo>
                  <a:pt x="461938" y="266700"/>
                </a:lnTo>
                <a:lnTo>
                  <a:pt x="475263" y="291242"/>
                </a:lnTo>
                <a:lnTo>
                  <a:pt x="487285" y="316447"/>
                </a:lnTo>
                <a:lnTo>
                  <a:pt x="497972" y="342247"/>
                </a:lnTo>
                <a:lnTo>
                  <a:pt x="507294" y="368571"/>
                </a:lnTo>
                <a:lnTo>
                  <a:pt x="515225" y="395346"/>
                </a:lnTo>
                <a:lnTo>
                  <a:pt x="521744" y="422500"/>
                </a:lnTo>
                <a:lnTo>
                  <a:pt x="526833" y="449958"/>
                </a:lnTo>
                <a:lnTo>
                  <a:pt x="530478" y="477645"/>
                </a:lnTo>
                <a:lnTo>
                  <a:pt x="532669" y="505484"/>
                </a:lnTo>
                <a:lnTo>
                  <a:pt x="533400" y="533400"/>
                </a:lnTo>
                <a:lnTo>
                  <a:pt x="532669" y="561316"/>
                </a:lnTo>
                <a:lnTo>
                  <a:pt x="530478" y="589156"/>
                </a:lnTo>
                <a:lnTo>
                  <a:pt x="526833" y="616843"/>
                </a:lnTo>
                <a:lnTo>
                  <a:pt x="521744" y="644301"/>
                </a:lnTo>
                <a:lnTo>
                  <a:pt x="515225" y="671455"/>
                </a:lnTo>
                <a:lnTo>
                  <a:pt x="507294" y="698230"/>
                </a:lnTo>
                <a:lnTo>
                  <a:pt x="334814" y="642188"/>
                </a:lnTo>
                <a:lnTo>
                  <a:pt x="340049" y="624516"/>
                </a:lnTo>
                <a:lnTo>
                  <a:pt x="344351" y="606595"/>
                </a:lnTo>
                <a:lnTo>
                  <a:pt x="347710" y="588472"/>
                </a:lnTo>
                <a:lnTo>
                  <a:pt x="350116" y="570199"/>
                </a:lnTo>
                <a:lnTo>
                  <a:pt x="351562" y="551825"/>
                </a:lnTo>
                <a:lnTo>
                  <a:pt x="352044" y="533400"/>
                </a:lnTo>
                <a:lnTo>
                  <a:pt x="351562" y="514976"/>
                </a:lnTo>
                <a:lnTo>
                  <a:pt x="350116" y="496602"/>
                </a:lnTo>
                <a:lnTo>
                  <a:pt x="347710" y="478329"/>
                </a:lnTo>
                <a:lnTo>
                  <a:pt x="344351" y="460206"/>
                </a:lnTo>
                <a:lnTo>
                  <a:pt x="340049" y="442285"/>
                </a:lnTo>
                <a:lnTo>
                  <a:pt x="334814" y="424613"/>
                </a:lnTo>
                <a:lnTo>
                  <a:pt x="328662" y="407239"/>
                </a:lnTo>
                <a:lnTo>
                  <a:pt x="321608" y="390211"/>
                </a:lnTo>
                <a:lnTo>
                  <a:pt x="313674" y="373576"/>
                </a:lnTo>
                <a:lnTo>
                  <a:pt x="304879" y="357378"/>
                </a:lnTo>
                <a:lnTo>
                  <a:pt x="295249" y="341664"/>
                </a:lnTo>
                <a:lnTo>
                  <a:pt x="284810" y="326474"/>
                </a:lnTo>
                <a:lnTo>
                  <a:pt x="273590" y="311852"/>
                </a:lnTo>
                <a:lnTo>
                  <a:pt x="261620" y="297837"/>
                </a:lnTo>
                <a:lnTo>
                  <a:pt x="248933" y="284468"/>
                </a:lnTo>
                <a:lnTo>
                  <a:pt x="235564" y="271781"/>
                </a:lnTo>
                <a:lnTo>
                  <a:pt x="221549" y="259811"/>
                </a:lnTo>
                <a:lnTo>
                  <a:pt x="206927" y="248591"/>
                </a:lnTo>
                <a:lnTo>
                  <a:pt x="191737" y="238152"/>
                </a:lnTo>
                <a:lnTo>
                  <a:pt x="176022" y="228521"/>
                </a:lnTo>
                <a:lnTo>
                  <a:pt x="159825" y="219727"/>
                </a:lnTo>
                <a:lnTo>
                  <a:pt x="143189" y="211792"/>
                </a:lnTo>
                <a:lnTo>
                  <a:pt x="126162" y="204739"/>
                </a:lnTo>
                <a:lnTo>
                  <a:pt x="108788" y="198587"/>
                </a:lnTo>
                <a:lnTo>
                  <a:pt x="91116" y="193352"/>
                </a:lnTo>
                <a:lnTo>
                  <a:pt x="73194" y="189050"/>
                </a:lnTo>
                <a:lnTo>
                  <a:pt x="55072" y="185691"/>
                </a:lnTo>
                <a:lnTo>
                  <a:pt x="36799" y="183285"/>
                </a:lnTo>
                <a:lnTo>
                  <a:pt x="18425" y="181839"/>
                </a:lnTo>
                <a:lnTo>
                  <a:pt x="0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5" id="25"/>
          <p:cNvSpPr/>
          <p:nvPr/>
        </p:nvSpPr>
        <p:spPr>
          <a:xfrm>
            <a:off x="3246600" y="1909762"/>
            <a:ext cx="1040694" cy="1066800"/>
          </a:xfrm>
          <a:custGeom>
            <a:avLst/>
            <a:gdLst/>
            <a:ahLst/>
            <a:cxnLst/>
            <a:rect r="r" b="b" t="t" l="l"/>
            <a:pathLst>
              <a:path h="1066800" w="1040694">
                <a:moveTo>
                  <a:pt x="1040694" y="698230"/>
                </a:moveTo>
                <a:lnTo>
                  <a:pt x="1031372" y="724554"/>
                </a:lnTo>
                <a:lnTo>
                  <a:pt x="1020685" y="750354"/>
                </a:lnTo>
                <a:lnTo>
                  <a:pt x="1008663" y="775559"/>
                </a:lnTo>
                <a:lnTo>
                  <a:pt x="995338" y="800100"/>
                </a:lnTo>
                <a:lnTo>
                  <a:pt x="980747" y="823911"/>
                </a:lnTo>
                <a:lnTo>
                  <a:pt x="964930" y="846925"/>
                </a:lnTo>
                <a:lnTo>
                  <a:pt x="947930" y="869080"/>
                </a:lnTo>
                <a:lnTo>
                  <a:pt x="929794" y="890315"/>
                </a:lnTo>
                <a:lnTo>
                  <a:pt x="910571" y="910571"/>
                </a:lnTo>
                <a:lnTo>
                  <a:pt x="890315" y="929794"/>
                </a:lnTo>
                <a:lnTo>
                  <a:pt x="869080" y="947930"/>
                </a:lnTo>
                <a:lnTo>
                  <a:pt x="846925" y="964930"/>
                </a:lnTo>
                <a:lnTo>
                  <a:pt x="823911" y="980747"/>
                </a:lnTo>
                <a:lnTo>
                  <a:pt x="800100" y="995338"/>
                </a:lnTo>
                <a:lnTo>
                  <a:pt x="775559" y="1008663"/>
                </a:lnTo>
                <a:lnTo>
                  <a:pt x="750354" y="1020686"/>
                </a:lnTo>
                <a:lnTo>
                  <a:pt x="724554" y="1031372"/>
                </a:lnTo>
                <a:lnTo>
                  <a:pt x="698230" y="1040694"/>
                </a:lnTo>
                <a:lnTo>
                  <a:pt x="671454" y="1048625"/>
                </a:lnTo>
                <a:lnTo>
                  <a:pt x="644300" y="1055144"/>
                </a:lnTo>
                <a:lnTo>
                  <a:pt x="616842" y="1060233"/>
                </a:lnTo>
                <a:lnTo>
                  <a:pt x="589156" y="1063878"/>
                </a:lnTo>
                <a:lnTo>
                  <a:pt x="561316" y="1066069"/>
                </a:lnTo>
                <a:lnTo>
                  <a:pt x="533400" y="1066800"/>
                </a:lnTo>
                <a:lnTo>
                  <a:pt x="505484" y="1066069"/>
                </a:lnTo>
                <a:lnTo>
                  <a:pt x="477645" y="1063878"/>
                </a:lnTo>
                <a:lnTo>
                  <a:pt x="449958" y="1060233"/>
                </a:lnTo>
                <a:lnTo>
                  <a:pt x="422500" y="1055144"/>
                </a:lnTo>
                <a:lnTo>
                  <a:pt x="395346" y="1048625"/>
                </a:lnTo>
                <a:lnTo>
                  <a:pt x="368571" y="1040694"/>
                </a:lnTo>
                <a:lnTo>
                  <a:pt x="342247" y="1031372"/>
                </a:lnTo>
                <a:lnTo>
                  <a:pt x="316447" y="1020686"/>
                </a:lnTo>
                <a:lnTo>
                  <a:pt x="291242" y="1008663"/>
                </a:lnTo>
                <a:lnTo>
                  <a:pt x="266700" y="995338"/>
                </a:lnTo>
                <a:lnTo>
                  <a:pt x="242890" y="980747"/>
                </a:lnTo>
                <a:lnTo>
                  <a:pt x="219876" y="964930"/>
                </a:lnTo>
                <a:lnTo>
                  <a:pt x="197721" y="947930"/>
                </a:lnTo>
                <a:lnTo>
                  <a:pt x="176486" y="929794"/>
                </a:lnTo>
                <a:lnTo>
                  <a:pt x="156229" y="910571"/>
                </a:lnTo>
                <a:lnTo>
                  <a:pt x="137007" y="890315"/>
                </a:lnTo>
                <a:lnTo>
                  <a:pt x="118871" y="869080"/>
                </a:lnTo>
                <a:lnTo>
                  <a:pt x="101871" y="846925"/>
                </a:lnTo>
                <a:lnTo>
                  <a:pt x="86053" y="823911"/>
                </a:lnTo>
                <a:lnTo>
                  <a:pt x="71462" y="800100"/>
                </a:lnTo>
                <a:lnTo>
                  <a:pt x="58137" y="775559"/>
                </a:lnTo>
                <a:lnTo>
                  <a:pt x="46115" y="750354"/>
                </a:lnTo>
                <a:lnTo>
                  <a:pt x="35428" y="724554"/>
                </a:lnTo>
                <a:lnTo>
                  <a:pt x="26107" y="698230"/>
                </a:lnTo>
                <a:lnTo>
                  <a:pt x="18175" y="671455"/>
                </a:lnTo>
                <a:lnTo>
                  <a:pt x="11656" y="644301"/>
                </a:lnTo>
                <a:lnTo>
                  <a:pt x="6567" y="616843"/>
                </a:lnTo>
                <a:lnTo>
                  <a:pt x="2922" y="589156"/>
                </a:lnTo>
                <a:lnTo>
                  <a:pt x="731" y="561316"/>
                </a:lnTo>
                <a:lnTo>
                  <a:pt x="0" y="533400"/>
                </a:lnTo>
                <a:lnTo>
                  <a:pt x="731" y="505484"/>
                </a:lnTo>
                <a:lnTo>
                  <a:pt x="2922" y="477645"/>
                </a:lnTo>
                <a:lnTo>
                  <a:pt x="6567" y="449958"/>
                </a:lnTo>
                <a:lnTo>
                  <a:pt x="11656" y="422500"/>
                </a:lnTo>
                <a:lnTo>
                  <a:pt x="18175" y="395346"/>
                </a:lnTo>
                <a:lnTo>
                  <a:pt x="26107" y="368571"/>
                </a:lnTo>
                <a:lnTo>
                  <a:pt x="35428" y="342247"/>
                </a:lnTo>
                <a:lnTo>
                  <a:pt x="46115" y="316447"/>
                </a:lnTo>
                <a:lnTo>
                  <a:pt x="58137" y="291242"/>
                </a:lnTo>
                <a:lnTo>
                  <a:pt x="71462" y="266700"/>
                </a:lnTo>
                <a:lnTo>
                  <a:pt x="86053" y="242890"/>
                </a:lnTo>
                <a:lnTo>
                  <a:pt x="101871" y="219876"/>
                </a:lnTo>
                <a:lnTo>
                  <a:pt x="118871" y="197721"/>
                </a:lnTo>
                <a:lnTo>
                  <a:pt x="137007" y="176486"/>
                </a:lnTo>
                <a:lnTo>
                  <a:pt x="156229" y="156230"/>
                </a:lnTo>
                <a:lnTo>
                  <a:pt x="176486" y="137007"/>
                </a:lnTo>
                <a:lnTo>
                  <a:pt x="197721" y="118871"/>
                </a:lnTo>
                <a:lnTo>
                  <a:pt x="219876" y="101871"/>
                </a:lnTo>
                <a:lnTo>
                  <a:pt x="242890" y="86054"/>
                </a:lnTo>
                <a:lnTo>
                  <a:pt x="266700" y="71463"/>
                </a:lnTo>
                <a:lnTo>
                  <a:pt x="291242" y="58138"/>
                </a:lnTo>
                <a:lnTo>
                  <a:pt x="316447" y="46115"/>
                </a:lnTo>
                <a:lnTo>
                  <a:pt x="342247" y="35429"/>
                </a:lnTo>
                <a:lnTo>
                  <a:pt x="368571" y="26107"/>
                </a:lnTo>
                <a:lnTo>
                  <a:pt x="395346" y="18176"/>
                </a:lnTo>
                <a:lnTo>
                  <a:pt x="422500" y="11657"/>
                </a:lnTo>
                <a:lnTo>
                  <a:pt x="449958" y="6568"/>
                </a:lnTo>
                <a:lnTo>
                  <a:pt x="477645" y="2923"/>
                </a:lnTo>
                <a:lnTo>
                  <a:pt x="505484" y="732"/>
                </a:lnTo>
                <a:lnTo>
                  <a:pt x="533400" y="0"/>
                </a:lnTo>
                <a:lnTo>
                  <a:pt x="533400" y="181356"/>
                </a:lnTo>
                <a:lnTo>
                  <a:pt x="514976" y="181839"/>
                </a:lnTo>
                <a:lnTo>
                  <a:pt x="496602" y="183285"/>
                </a:lnTo>
                <a:lnTo>
                  <a:pt x="478328" y="185691"/>
                </a:lnTo>
                <a:lnTo>
                  <a:pt x="460206" y="189050"/>
                </a:lnTo>
                <a:lnTo>
                  <a:pt x="442285" y="193352"/>
                </a:lnTo>
                <a:lnTo>
                  <a:pt x="424613" y="198587"/>
                </a:lnTo>
                <a:lnTo>
                  <a:pt x="407239" y="204739"/>
                </a:lnTo>
                <a:lnTo>
                  <a:pt x="390211" y="211792"/>
                </a:lnTo>
                <a:lnTo>
                  <a:pt x="373576" y="219727"/>
                </a:lnTo>
                <a:lnTo>
                  <a:pt x="357378" y="228521"/>
                </a:lnTo>
                <a:lnTo>
                  <a:pt x="341663" y="238152"/>
                </a:lnTo>
                <a:lnTo>
                  <a:pt x="326474" y="248591"/>
                </a:lnTo>
                <a:lnTo>
                  <a:pt x="311852" y="259811"/>
                </a:lnTo>
                <a:lnTo>
                  <a:pt x="297837" y="271781"/>
                </a:lnTo>
                <a:lnTo>
                  <a:pt x="284468" y="284468"/>
                </a:lnTo>
                <a:lnTo>
                  <a:pt x="271781" y="297837"/>
                </a:lnTo>
                <a:lnTo>
                  <a:pt x="259811" y="311852"/>
                </a:lnTo>
                <a:lnTo>
                  <a:pt x="248591" y="326474"/>
                </a:lnTo>
                <a:lnTo>
                  <a:pt x="238151" y="341664"/>
                </a:lnTo>
                <a:lnTo>
                  <a:pt x="228521" y="357378"/>
                </a:lnTo>
                <a:lnTo>
                  <a:pt x="219727" y="373576"/>
                </a:lnTo>
                <a:lnTo>
                  <a:pt x="211792" y="390211"/>
                </a:lnTo>
                <a:lnTo>
                  <a:pt x="204739" y="407239"/>
                </a:lnTo>
                <a:lnTo>
                  <a:pt x="198587" y="424613"/>
                </a:lnTo>
                <a:lnTo>
                  <a:pt x="193352" y="442285"/>
                </a:lnTo>
                <a:lnTo>
                  <a:pt x="189049" y="460206"/>
                </a:lnTo>
                <a:lnTo>
                  <a:pt x="185690" y="478329"/>
                </a:lnTo>
                <a:lnTo>
                  <a:pt x="183285" y="496602"/>
                </a:lnTo>
                <a:lnTo>
                  <a:pt x="181839" y="514976"/>
                </a:lnTo>
                <a:lnTo>
                  <a:pt x="181356" y="533400"/>
                </a:lnTo>
                <a:lnTo>
                  <a:pt x="181839" y="551825"/>
                </a:lnTo>
                <a:lnTo>
                  <a:pt x="183285" y="570199"/>
                </a:lnTo>
                <a:lnTo>
                  <a:pt x="185690" y="588472"/>
                </a:lnTo>
                <a:lnTo>
                  <a:pt x="189049" y="606595"/>
                </a:lnTo>
                <a:lnTo>
                  <a:pt x="193352" y="624516"/>
                </a:lnTo>
                <a:lnTo>
                  <a:pt x="198587" y="642188"/>
                </a:lnTo>
                <a:lnTo>
                  <a:pt x="204739" y="659562"/>
                </a:lnTo>
                <a:lnTo>
                  <a:pt x="211792" y="676590"/>
                </a:lnTo>
                <a:lnTo>
                  <a:pt x="219727" y="693225"/>
                </a:lnTo>
                <a:lnTo>
                  <a:pt x="228521" y="709422"/>
                </a:lnTo>
                <a:lnTo>
                  <a:pt x="238151" y="725137"/>
                </a:lnTo>
                <a:lnTo>
                  <a:pt x="248591" y="740327"/>
                </a:lnTo>
                <a:lnTo>
                  <a:pt x="259811" y="754949"/>
                </a:lnTo>
                <a:lnTo>
                  <a:pt x="271781" y="768964"/>
                </a:lnTo>
                <a:lnTo>
                  <a:pt x="284468" y="782333"/>
                </a:lnTo>
                <a:lnTo>
                  <a:pt x="297837" y="795020"/>
                </a:lnTo>
                <a:lnTo>
                  <a:pt x="311852" y="806990"/>
                </a:lnTo>
                <a:lnTo>
                  <a:pt x="326474" y="818210"/>
                </a:lnTo>
                <a:lnTo>
                  <a:pt x="341663" y="828649"/>
                </a:lnTo>
                <a:lnTo>
                  <a:pt x="357378" y="838280"/>
                </a:lnTo>
                <a:lnTo>
                  <a:pt x="373576" y="847074"/>
                </a:lnTo>
                <a:lnTo>
                  <a:pt x="390211" y="855009"/>
                </a:lnTo>
                <a:lnTo>
                  <a:pt x="407239" y="862062"/>
                </a:lnTo>
                <a:lnTo>
                  <a:pt x="424613" y="868214"/>
                </a:lnTo>
                <a:lnTo>
                  <a:pt x="442285" y="873449"/>
                </a:lnTo>
                <a:lnTo>
                  <a:pt x="460206" y="877751"/>
                </a:lnTo>
                <a:lnTo>
                  <a:pt x="478328" y="881110"/>
                </a:lnTo>
                <a:lnTo>
                  <a:pt x="496602" y="883516"/>
                </a:lnTo>
                <a:lnTo>
                  <a:pt x="514976" y="884962"/>
                </a:lnTo>
                <a:lnTo>
                  <a:pt x="533400" y="885444"/>
                </a:lnTo>
                <a:lnTo>
                  <a:pt x="551825" y="884962"/>
                </a:lnTo>
                <a:lnTo>
                  <a:pt x="570199" y="883516"/>
                </a:lnTo>
                <a:lnTo>
                  <a:pt x="588472" y="881110"/>
                </a:lnTo>
                <a:lnTo>
                  <a:pt x="606594" y="877751"/>
                </a:lnTo>
                <a:lnTo>
                  <a:pt x="624516" y="873449"/>
                </a:lnTo>
                <a:lnTo>
                  <a:pt x="642188" y="868214"/>
                </a:lnTo>
                <a:lnTo>
                  <a:pt x="659562" y="862062"/>
                </a:lnTo>
                <a:lnTo>
                  <a:pt x="676589" y="855009"/>
                </a:lnTo>
                <a:lnTo>
                  <a:pt x="693225" y="847074"/>
                </a:lnTo>
                <a:lnTo>
                  <a:pt x="709422" y="838280"/>
                </a:lnTo>
                <a:lnTo>
                  <a:pt x="725137" y="828649"/>
                </a:lnTo>
                <a:lnTo>
                  <a:pt x="740327" y="818210"/>
                </a:lnTo>
                <a:lnTo>
                  <a:pt x="754949" y="806990"/>
                </a:lnTo>
                <a:lnTo>
                  <a:pt x="768964" y="795020"/>
                </a:lnTo>
                <a:lnTo>
                  <a:pt x="782333" y="782333"/>
                </a:lnTo>
                <a:lnTo>
                  <a:pt x="795020" y="768964"/>
                </a:lnTo>
                <a:lnTo>
                  <a:pt x="806990" y="754949"/>
                </a:lnTo>
                <a:lnTo>
                  <a:pt x="818210" y="740327"/>
                </a:lnTo>
                <a:lnTo>
                  <a:pt x="828649" y="725137"/>
                </a:lnTo>
                <a:lnTo>
                  <a:pt x="838279" y="709422"/>
                </a:lnTo>
                <a:lnTo>
                  <a:pt x="847074" y="693225"/>
                </a:lnTo>
                <a:lnTo>
                  <a:pt x="855008" y="676590"/>
                </a:lnTo>
                <a:lnTo>
                  <a:pt x="862062" y="659562"/>
                </a:lnTo>
                <a:lnTo>
                  <a:pt x="868214" y="642188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26"/>
          <p:cNvSpPr txBox="true"/>
          <p:nvPr/>
        </p:nvSpPr>
        <p:spPr>
          <a:xfrm>
            <a:off x="3500461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30%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3163117" y="2992068"/>
            <a:ext cx="123503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Operating profit margin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>
            <a:off x="6122200" y="1909762"/>
            <a:ext cx="365137" cy="276771"/>
          </a:xfrm>
          <a:custGeom>
            <a:avLst/>
            <a:gdLst/>
            <a:ahLst/>
            <a:cxnLst/>
            <a:rect r="r" b="b" t="t" l="l"/>
            <a:pathLst>
              <a:path h="276771" w="365137">
                <a:moveTo>
                  <a:pt x="0" y="0"/>
                </a:moveTo>
                <a:lnTo>
                  <a:pt x="26801" y="674"/>
                </a:lnTo>
                <a:lnTo>
                  <a:pt x="53533" y="2694"/>
                </a:lnTo>
                <a:lnTo>
                  <a:pt x="80131" y="6054"/>
                </a:lnTo>
                <a:lnTo>
                  <a:pt x="106526" y="10746"/>
                </a:lnTo>
                <a:lnTo>
                  <a:pt x="132652" y="16758"/>
                </a:lnTo>
                <a:lnTo>
                  <a:pt x="158442" y="24076"/>
                </a:lnTo>
                <a:lnTo>
                  <a:pt x="183833" y="32680"/>
                </a:lnTo>
                <a:lnTo>
                  <a:pt x="208759" y="42549"/>
                </a:lnTo>
                <a:lnTo>
                  <a:pt x="233158" y="53658"/>
                </a:lnTo>
                <a:lnTo>
                  <a:pt x="256968" y="65979"/>
                </a:lnTo>
                <a:lnTo>
                  <a:pt x="280129" y="79480"/>
                </a:lnTo>
                <a:lnTo>
                  <a:pt x="302582" y="94128"/>
                </a:lnTo>
                <a:lnTo>
                  <a:pt x="324270" y="109886"/>
                </a:lnTo>
                <a:lnTo>
                  <a:pt x="345140" y="126714"/>
                </a:lnTo>
                <a:lnTo>
                  <a:pt x="365138" y="144569"/>
                </a:lnTo>
                <a:lnTo>
                  <a:pt x="240991" y="276771"/>
                </a:lnTo>
                <a:lnTo>
                  <a:pt x="227793" y="264987"/>
                </a:lnTo>
                <a:lnTo>
                  <a:pt x="214019" y="253881"/>
                </a:lnTo>
                <a:lnTo>
                  <a:pt x="199704" y="243481"/>
                </a:lnTo>
                <a:lnTo>
                  <a:pt x="184885" y="233813"/>
                </a:lnTo>
                <a:lnTo>
                  <a:pt x="169599" y="224902"/>
                </a:lnTo>
                <a:lnTo>
                  <a:pt x="153884" y="216770"/>
                </a:lnTo>
                <a:lnTo>
                  <a:pt x="137781" y="209438"/>
                </a:lnTo>
                <a:lnTo>
                  <a:pt x="121330" y="202925"/>
                </a:lnTo>
                <a:lnTo>
                  <a:pt x="104572" y="197246"/>
                </a:lnTo>
                <a:lnTo>
                  <a:pt x="87550" y="192417"/>
                </a:lnTo>
                <a:lnTo>
                  <a:pt x="70307" y="188448"/>
                </a:lnTo>
                <a:lnTo>
                  <a:pt x="52886" y="185352"/>
                </a:lnTo>
                <a:lnTo>
                  <a:pt x="35332" y="183134"/>
                </a:lnTo>
                <a:lnTo>
                  <a:pt x="17689" y="181801"/>
                </a:lnTo>
                <a:lnTo>
                  <a:pt x="0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9" id="29"/>
          <p:cNvSpPr/>
          <p:nvPr/>
        </p:nvSpPr>
        <p:spPr>
          <a:xfrm>
            <a:off x="5588810" y="1909762"/>
            <a:ext cx="1066706" cy="1066763"/>
          </a:xfrm>
          <a:custGeom>
            <a:avLst/>
            <a:gdLst/>
            <a:ahLst/>
            <a:cxnLst/>
            <a:rect r="r" b="b" t="t" l="l"/>
            <a:pathLst>
              <a:path h="1066763" w="1066706">
                <a:moveTo>
                  <a:pt x="898528" y="144569"/>
                </a:moveTo>
                <a:lnTo>
                  <a:pt x="918304" y="164135"/>
                </a:lnTo>
                <a:lnTo>
                  <a:pt x="937034" y="184706"/>
                </a:lnTo>
                <a:lnTo>
                  <a:pt x="954665" y="206226"/>
                </a:lnTo>
                <a:lnTo>
                  <a:pt x="971151" y="228636"/>
                </a:lnTo>
                <a:lnTo>
                  <a:pt x="986445" y="251875"/>
                </a:lnTo>
                <a:lnTo>
                  <a:pt x="1000507" y="275879"/>
                </a:lnTo>
                <a:lnTo>
                  <a:pt x="1013299" y="300584"/>
                </a:lnTo>
                <a:lnTo>
                  <a:pt x="1024785" y="325923"/>
                </a:lnTo>
                <a:lnTo>
                  <a:pt x="1034934" y="351826"/>
                </a:lnTo>
                <a:lnTo>
                  <a:pt x="1043719" y="378222"/>
                </a:lnTo>
                <a:lnTo>
                  <a:pt x="1051116" y="405041"/>
                </a:lnTo>
                <a:lnTo>
                  <a:pt x="1057104" y="432209"/>
                </a:lnTo>
                <a:lnTo>
                  <a:pt x="1061668" y="459653"/>
                </a:lnTo>
                <a:lnTo>
                  <a:pt x="1064794" y="487297"/>
                </a:lnTo>
                <a:lnTo>
                  <a:pt x="1066475" y="515066"/>
                </a:lnTo>
                <a:lnTo>
                  <a:pt x="1066706" y="542885"/>
                </a:lnTo>
                <a:lnTo>
                  <a:pt x="1065486" y="570679"/>
                </a:lnTo>
                <a:lnTo>
                  <a:pt x="1062819" y="598371"/>
                </a:lnTo>
                <a:lnTo>
                  <a:pt x="1058711" y="625886"/>
                </a:lnTo>
                <a:lnTo>
                  <a:pt x="1053175" y="653150"/>
                </a:lnTo>
                <a:lnTo>
                  <a:pt x="1046224" y="680088"/>
                </a:lnTo>
                <a:lnTo>
                  <a:pt x="1037879" y="706627"/>
                </a:lnTo>
                <a:lnTo>
                  <a:pt x="1028161" y="732694"/>
                </a:lnTo>
                <a:lnTo>
                  <a:pt x="1017097" y="758220"/>
                </a:lnTo>
                <a:lnTo>
                  <a:pt x="1004717" y="783134"/>
                </a:lnTo>
                <a:lnTo>
                  <a:pt x="991055" y="807369"/>
                </a:lnTo>
                <a:lnTo>
                  <a:pt x="976148" y="830858"/>
                </a:lnTo>
                <a:lnTo>
                  <a:pt x="960037" y="853538"/>
                </a:lnTo>
                <a:lnTo>
                  <a:pt x="942765" y="875348"/>
                </a:lnTo>
                <a:lnTo>
                  <a:pt x="924380" y="896227"/>
                </a:lnTo>
                <a:lnTo>
                  <a:pt x="904931" y="916119"/>
                </a:lnTo>
                <a:lnTo>
                  <a:pt x="884471" y="934970"/>
                </a:lnTo>
                <a:lnTo>
                  <a:pt x="863056" y="952729"/>
                </a:lnTo>
                <a:lnTo>
                  <a:pt x="840745" y="969347"/>
                </a:lnTo>
                <a:lnTo>
                  <a:pt x="817597" y="984779"/>
                </a:lnTo>
                <a:lnTo>
                  <a:pt x="793676" y="998983"/>
                </a:lnTo>
                <a:lnTo>
                  <a:pt x="769047" y="1011921"/>
                </a:lnTo>
                <a:lnTo>
                  <a:pt x="743777" y="1023557"/>
                </a:lnTo>
                <a:lnTo>
                  <a:pt x="717935" y="1033859"/>
                </a:lnTo>
                <a:lnTo>
                  <a:pt x="691591" y="1042800"/>
                </a:lnTo>
                <a:lnTo>
                  <a:pt x="664816" y="1050356"/>
                </a:lnTo>
                <a:lnTo>
                  <a:pt x="637684" y="1056505"/>
                </a:lnTo>
                <a:lnTo>
                  <a:pt x="610268" y="1061231"/>
                </a:lnTo>
                <a:lnTo>
                  <a:pt x="582643" y="1064522"/>
                </a:lnTo>
                <a:lnTo>
                  <a:pt x="554884" y="1066367"/>
                </a:lnTo>
                <a:lnTo>
                  <a:pt x="527067" y="1066763"/>
                </a:lnTo>
                <a:lnTo>
                  <a:pt x="499267" y="1065708"/>
                </a:lnTo>
                <a:lnTo>
                  <a:pt x="471560" y="1063205"/>
                </a:lnTo>
                <a:lnTo>
                  <a:pt x="444020" y="1059260"/>
                </a:lnTo>
                <a:lnTo>
                  <a:pt x="416724" y="1053885"/>
                </a:lnTo>
                <a:lnTo>
                  <a:pt x="389746" y="1047095"/>
                </a:lnTo>
                <a:lnTo>
                  <a:pt x="363158" y="1038907"/>
                </a:lnTo>
                <a:lnTo>
                  <a:pt x="337033" y="1029343"/>
                </a:lnTo>
                <a:lnTo>
                  <a:pt x="311442" y="1018431"/>
                </a:lnTo>
                <a:lnTo>
                  <a:pt x="286455" y="1006199"/>
                </a:lnTo>
                <a:lnTo>
                  <a:pt x="262140" y="992681"/>
                </a:lnTo>
                <a:lnTo>
                  <a:pt x="238563" y="977914"/>
                </a:lnTo>
                <a:lnTo>
                  <a:pt x="215787" y="961937"/>
                </a:lnTo>
                <a:lnTo>
                  <a:pt x="193876" y="944795"/>
                </a:lnTo>
                <a:lnTo>
                  <a:pt x="172888" y="926534"/>
                </a:lnTo>
                <a:lnTo>
                  <a:pt x="152881" y="907203"/>
                </a:lnTo>
                <a:lnTo>
                  <a:pt x="133909" y="886855"/>
                </a:lnTo>
                <a:lnTo>
                  <a:pt x="116024" y="865546"/>
                </a:lnTo>
                <a:lnTo>
                  <a:pt x="99274" y="843333"/>
                </a:lnTo>
                <a:lnTo>
                  <a:pt x="83705" y="820278"/>
                </a:lnTo>
                <a:lnTo>
                  <a:pt x="69359" y="796441"/>
                </a:lnTo>
                <a:lnTo>
                  <a:pt x="56276" y="771890"/>
                </a:lnTo>
                <a:lnTo>
                  <a:pt x="44490" y="746689"/>
                </a:lnTo>
                <a:lnTo>
                  <a:pt x="34034" y="720908"/>
                </a:lnTo>
                <a:lnTo>
                  <a:pt x="24937" y="694618"/>
                </a:lnTo>
                <a:lnTo>
                  <a:pt x="17223" y="667888"/>
                </a:lnTo>
                <a:lnTo>
                  <a:pt x="10913" y="640793"/>
                </a:lnTo>
                <a:lnTo>
                  <a:pt x="6025" y="613406"/>
                </a:lnTo>
                <a:lnTo>
                  <a:pt x="2571" y="585801"/>
                </a:lnTo>
                <a:lnTo>
                  <a:pt x="560" y="558053"/>
                </a:lnTo>
                <a:lnTo>
                  <a:pt x="0" y="530239"/>
                </a:lnTo>
                <a:lnTo>
                  <a:pt x="890" y="502433"/>
                </a:lnTo>
                <a:lnTo>
                  <a:pt x="3229" y="474711"/>
                </a:lnTo>
                <a:lnTo>
                  <a:pt x="7010" y="447149"/>
                </a:lnTo>
                <a:lnTo>
                  <a:pt x="12223" y="419822"/>
                </a:lnTo>
                <a:lnTo>
                  <a:pt x="18854" y="392803"/>
                </a:lnTo>
                <a:lnTo>
                  <a:pt x="26884" y="366167"/>
                </a:lnTo>
                <a:lnTo>
                  <a:pt x="36292" y="339986"/>
                </a:lnTo>
                <a:lnTo>
                  <a:pt x="47053" y="314331"/>
                </a:lnTo>
                <a:lnTo>
                  <a:pt x="59136" y="289272"/>
                </a:lnTo>
                <a:lnTo>
                  <a:pt x="72510" y="264877"/>
                </a:lnTo>
                <a:lnTo>
                  <a:pt x="87137" y="241213"/>
                </a:lnTo>
                <a:lnTo>
                  <a:pt x="102979" y="218343"/>
                </a:lnTo>
                <a:lnTo>
                  <a:pt x="119991" y="196331"/>
                </a:lnTo>
                <a:lnTo>
                  <a:pt x="138127" y="175235"/>
                </a:lnTo>
                <a:lnTo>
                  <a:pt x="157339" y="155114"/>
                </a:lnTo>
                <a:lnTo>
                  <a:pt x="177574" y="136021"/>
                </a:lnTo>
                <a:lnTo>
                  <a:pt x="198777" y="118010"/>
                </a:lnTo>
                <a:lnTo>
                  <a:pt x="220890" y="101129"/>
                </a:lnTo>
                <a:lnTo>
                  <a:pt x="243853" y="85423"/>
                </a:lnTo>
                <a:lnTo>
                  <a:pt x="267604" y="70936"/>
                </a:lnTo>
                <a:lnTo>
                  <a:pt x="292077" y="57708"/>
                </a:lnTo>
                <a:lnTo>
                  <a:pt x="317208" y="45773"/>
                </a:lnTo>
                <a:lnTo>
                  <a:pt x="342926" y="35165"/>
                </a:lnTo>
                <a:lnTo>
                  <a:pt x="369162" y="25912"/>
                </a:lnTo>
                <a:lnTo>
                  <a:pt x="395845" y="18040"/>
                </a:lnTo>
                <a:lnTo>
                  <a:pt x="422903" y="11569"/>
                </a:lnTo>
                <a:lnTo>
                  <a:pt x="450261" y="6518"/>
                </a:lnTo>
                <a:lnTo>
                  <a:pt x="477845" y="2901"/>
                </a:lnTo>
                <a:lnTo>
                  <a:pt x="505580" y="726"/>
                </a:lnTo>
                <a:lnTo>
                  <a:pt x="533390" y="0"/>
                </a:lnTo>
                <a:lnTo>
                  <a:pt x="533390" y="181356"/>
                </a:lnTo>
                <a:lnTo>
                  <a:pt x="515035" y="181835"/>
                </a:lnTo>
                <a:lnTo>
                  <a:pt x="496730" y="183271"/>
                </a:lnTo>
                <a:lnTo>
                  <a:pt x="478525" y="185658"/>
                </a:lnTo>
                <a:lnTo>
                  <a:pt x="460469" y="188992"/>
                </a:lnTo>
                <a:lnTo>
                  <a:pt x="442611" y="193262"/>
                </a:lnTo>
                <a:lnTo>
                  <a:pt x="425000" y="198458"/>
                </a:lnTo>
                <a:lnTo>
                  <a:pt x="407684" y="204565"/>
                </a:lnTo>
                <a:lnTo>
                  <a:pt x="390710" y="211566"/>
                </a:lnTo>
                <a:lnTo>
                  <a:pt x="374124" y="219443"/>
                </a:lnTo>
                <a:lnTo>
                  <a:pt x="357971" y="228174"/>
                </a:lnTo>
                <a:lnTo>
                  <a:pt x="342296" y="237736"/>
                </a:lnTo>
                <a:lnTo>
                  <a:pt x="327140" y="248101"/>
                </a:lnTo>
                <a:lnTo>
                  <a:pt x="312545" y="259243"/>
                </a:lnTo>
                <a:lnTo>
                  <a:pt x="298552" y="271130"/>
                </a:lnTo>
                <a:lnTo>
                  <a:pt x="285197" y="283731"/>
                </a:lnTo>
                <a:lnTo>
                  <a:pt x="272517" y="297011"/>
                </a:lnTo>
                <a:lnTo>
                  <a:pt x="260547" y="310934"/>
                </a:lnTo>
                <a:lnTo>
                  <a:pt x="249319" y="325463"/>
                </a:lnTo>
                <a:lnTo>
                  <a:pt x="238863" y="340557"/>
                </a:lnTo>
                <a:lnTo>
                  <a:pt x="229209" y="356175"/>
                </a:lnTo>
                <a:lnTo>
                  <a:pt x="220383" y="372276"/>
                </a:lnTo>
                <a:lnTo>
                  <a:pt x="212408" y="388815"/>
                </a:lnTo>
                <a:lnTo>
                  <a:pt x="205306" y="405747"/>
                </a:lnTo>
                <a:lnTo>
                  <a:pt x="199096" y="423026"/>
                </a:lnTo>
                <a:lnTo>
                  <a:pt x="193796" y="440606"/>
                </a:lnTo>
                <a:lnTo>
                  <a:pt x="189420" y="458438"/>
                </a:lnTo>
                <a:lnTo>
                  <a:pt x="185979" y="476475"/>
                </a:lnTo>
                <a:lnTo>
                  <a:pt x="183484" y="494665"/>
                </a:lnTo>
                <a:lnTo>
                  <a:pt x="181940" y="512962"/>
                </a:lnTo>
                <a:lnTo>
                  <a:pt x="181353" y="531314"/>
                </a:lnTo>
                <a:lnTo>
                  <a:pt x="181723" y="549671"/>
                </a:lnTo>
                <a:lnTo>
                  <a:pt x="183049" y="567985"/>
                </a:lnTo>
                <a:lnTo>
                  <a:pt x="185329" y="586204"/>
                </a:lnTo>
                <a:lnTo>
                  <a:pt x="188555" y="604280"/>
                </a:lnTo>
                <a:lnTo>
                  <a:pt x="192720" y="622162"/>
                </a:lnTo>
                <a:lnTo>
                  <a:pt x="197811" y="639804"/>
                </a:lnTo>
                <a:lnTo>
                  <a:pt x="203816" y="657156"/>
                </a:lnTo>
                <a:lnTo>
                  <a:pt x="210716" y="674171"/>
                </a:lnTo>
                <a:lnTo>
                  <a:pt x="218495" y="690803"/>
                </a:lnTo>
                <a:lnTo>
                  <a:pt x="227130" y="707007"/>
                </a:lnTo>
                <a:lnTo>
                  <a:pt x="236598" y="722739"/>
                </a:lnTo>
                <a:lnTo>
                  <a:pt x="246873" y="737956"/>
                </a:lnTo>
                <a:lnTo>
                  <a:pt x="257928" y="752617"/>
                </a:lnTo>
                <a:lnTo>
                  <a:pt x="269733" y="766681"/>
                </a:lnTo>
                <a:lnTo>
                  <a:pt x="282254" y="780110"/>
                </a:lnTo>
                <a:lnTo>
                  <a:pt x="295459" y="792868"/>
                </a:lnTo>
                <a:lnTo>
                  <a:pt x="309311" y="804921"/>
                </a:lnTo>
                <a:lnTo>
                  <a:pt x="323772" y="816235"/>
                </a:lnTo>
                <a:lnTo>
                  <a:pt x="338804" y="826779"/>
                </a:lnTo>
                <a:lnTo>
                  <a:pt x="354365" y="836526"/>
                </a:lnTo>
                <a:lnTo>
                  <a:pt x="370413" y="845448"/>
                </a:lnTo>
                <a:lnTo>
                  <a:pt x="386905" y="853521"/>
                </a:lnTo>
                <a:lnTo>
                  <a:pt x="403794" y="860723"/>
                </a:lnTo>
                <a:lnTo>
                  <a:pt x="421037" y="867034"/>
                </a:lnTo>
                <a:lnTo>
                  <a:pt x="438585" y="872439"/>
                </a:lnTo>
                <a:lnTo>
                  <a:pt x="456391" y="876921"/>
                </a:lnTo>
                <a:lnTo>
                  <a:pt x="474406" y="880468"/>
                </a:lnTo>
                <a:lnTo>
                  <a:pt x="492582" y="883071"/>
                </a:lnTo>
                <a:lnTo>
                  <a:pt x="510869" y="884723"/>
                </a:lnTo>
                <a:lnTo>
                  <a:pt x="529217" y="885420"/>
                </a:lnTo>
                <a:lnTo>
                  <a:pt x="547576" y="885159"/>
                </a:lnTo>
                <a:lnTo>
                  <a:pt x="565897" y="883940"/>
                </a:lnTo>
                <a:lnTo>
                  <a:pt x="584130" y="881769"/>
                </a:lnTo>
                <a:lnTo>
                  <a:pt x="602224" y="878650"/>
                </a:lnTo>
                <a:lnTo>
                  <a:pt x="620131" y="874591"/>
                </a:lnTo>
                <a:lnTo>
                  <a:pt x="637803" y="869604"/>
                </a:lnTo>
                <a:lnTo>
                  <a:pt x="655190" y="863703"/>
                </a:lnTo>
                <a:lnTo>
                  <a:pt x="672246" y="856903"/>
                </a:lnTo>
                <a:lnTo>
                  <a:pt x="688924" y="849224"/>
                </a:lnTo>
                <a:lnTo>
                  <a:pt x="705179" y="840685"/>
                </a:lnTo>
                <a:lnTo>
                  <a:pt x="720967" y="831310"/>
                </a:lnTo>
                <a:lnTo>
                  <a:pt x="736244" y="821125"/>
                </a:lnTo>
                <a:lnTo>
                  <a:pt x="750970" y="810157"/>
                </a:lnTo>
                <a:lnTo>
                  <a:pt x="765104" y="798436"/>
                </a:lnTo>
                <a:lnTo>
                  <a:pt x="778607" y="785995"/>
                </a:lnTo>
                <a:lnTo>
                  <a:pt x="791443" y="772866"/>
                </a:lnTo>
                <a:lnTo>
                  <a:pt x="803578" y="759086"/>
                </a:lnTo>
                <a:lnTo>
                  <a:pt x="814977" y="744691"/>
                </a:lnTo>
                <a:lnTo>
                  <a:pt x="825611" y="729722"/>
                </a:lnTo>
                <a:lnTo>
                  <a:pt x="835449" y="714219"/>
                </a:lnTo>
                <a:lnTo>
                  <a:pt x="844466" y="698225"/>
                </a:lnTo>
                <a:lnTo>
                  <a:pt x="852637" y="681781"/>
                </a:lnTo>
                <a:lnTo>
                  <a:pt x="859939" y="664934"/>
                </a:lnTo>
                <a:lnTo>
                  <a:pt x="866353" y="647730"/>
                </a:lnTo>
                <a:lnTo>
                  <a:pt x="871861" y="630214"/>
                </a:lnTo>
                <a:lnTo>
                  <a:pt x="876448" y="612435"/>
                </a:lnTo>
                <a:lnTo>
                  <a:pt x="880102" y="594441"/>
                </a:lnTo>
                <a:lnTo>
                  <a:pt x="882813" y="576281"/>
                </a:lnTo>
                <a:lnTo>
                  <a:pt x="884574" y="558004"/>
                </a:lnTo>
                <a:lnTo>
                  <a:pt x="885379" y="539660"/>
                </a:lnTo>
                <a:lnTo>
                  <a:pt x="885226" y="521300"/>
                </a:lnTo>
                <a:lnTo>
                  <a:pt x="884117" y="502972"/>
                </a:lnTo>
                <a:lnTo>
                  <a:pt x="882053" y="484727"/>
                </a:lnTo>
                <a:lnTo>
                  <a:pt x="879041" y="466614"/>
                </a:lnTo>
                <a:lnTo>
                  <a:pt x="875089" y="448683"/>
                </a:lnTo>
                <a:lnTo>
                  <a:pt x="870207" y="430983"/>
                </a:lnTo>
                <a:lnTo>
                  <a:pt x="864409" y="413561"/>
                </a:lnTo>
                <a:lnTo>
                  <a:pt x="857711" y="396465"/>
                </a:lnTo>
                <a:lnTo>
                  <a:pt x="850130" y="379742"/>
                </a:lnTo>
                <a:lnTo>
                  <a:pt x="841688" y="363436"/>
                </a:lnTo>
                <a:lnTo>
                  <a:pt x="832407" y="347593"/>
                </a:lnTo>
                <a:lnTo>
                  <a:pt x="822312" y="332256"/>
                </a:lnTo>
                <a:lnTo>
                  <a:pt x="811432" y="317465"/>
                </a:lnTo>
                <a:lnTo>
                  <a:pt x="799795" y="303262"/>
                </a:lnTo>
                <a:lnTo>
                  <a:pt x="787434" y="289685"/>
                </a:lnTo>
                <a:lnTo>
                  <a:pt x="774381" y="276771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30"/>
          <p:cNvSpPr txBox="true"/>
          <p:nvPr/>
        </p:nvSpPr>
        <p:spPr>
          <a:xfrm>
            <a:off x="5842661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12%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5676338" y="2992068"/>
            <a:ext cx="89299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Net profit margin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355600" y="3227864"/>
            <a:ext cx="6848801" cy="324644"/>
          </a:xfrm>
          <a:prstGeom prst="roundRect">
            <a:avLst>
              <a:gd name="adj" fmla="val 11736"/>
            </a:avLst>
          </a:prstGeom>
          <a:solidFill>
            <a:srgbClr val="E0D7BF"/>
          </a:solidFill>
          <a:ln>
            <a:noFill/>
          </a:ln>
        </p:spPr>
      </p:sp>
      <p:sp>
        <p:nvSpPr>
          <p:cNvPr name="GraphCompose Text Line" id="33"/>
          <p:cNvSpPr txBox="true"/>
          <p:nvPr/>
        </p:nvSpPr>
        <p:spPr>
          <a:xfrm>
            <a:off x="3255173" y="3287034"/>
            <a:ext cx="1050925" cy="1468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226664"/>
                </a:solidFill>
                <a:latin typeface="Arial"/>
              </a:rPr>
              <a:t>Cash position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355600" y="3654107"/>
            <a:ext cx="2668400" cy="1313180"/>
          </a:xfrm>
          <a:prstGeom prst="roundRect">
            <a:avLst>
              <a:gd name="adj" fmla="val 7737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5" id="35"/>
          <p:cNvCxnSpPr/>
          <p:nvPr/>
        </p:nvCxnSpPr>
        <p:spPr>
          <a:xfrm>
            <a:off x="355600" y="3654107"/>
            <a:ext cx="266840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36"/>
          <p:cNvSpPr txBox="true"/>
          <p:nvPr/>
        </p:nvSpPr>
        <p:spPr>
          <a:xfrm>
            <a:off x="1231724" y="3754945"/>
            <a:ext cx="91742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Cash Balance</a:t>
            </a:r>
            <a:endParaRPr lang="en-US" sz="1100"/>
          </a:p>
        </p:txBody>
      </p:sp>
      <p:sp>
        <p:nvSpPr>
          <p:cNvPr name="GraphCompose Inline Text Span" id="37"/>
          <p:cNvSpPr txBox="true"/>
          <p:nvPr/>
        </p:nvSpPr>
        <p:spPr>
          <a:xfrm>
            <a:off x="482600" y="4039754"/>
            <a:ext cx="107188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500" b="true" i="false" u="none" strike="noStrike" kern="0">
                <a:solidFill>
                  <a:srgbClr val="D85A2E"/>
                </a:solidFill>
                <a:latin typeface="Arial"/>
              </a:rPr>
              <a:t>$</a:t>
            </a:r>
            <a:endParaRPr lang="en-US" sz="1100"/>
          </a:p>
        </p:txBody>
      </p:sp>
      <p:sp>
        <p:nvSpPr>
          <p:cNvPr name="GraphCompose Inline Text Span" id="38"/>
          <p:cNvSpPr txBox="true"/>
          <p:nvPr/>
        </p:nvSpPr>
        <p:spPr>
          <a:xfrm>
            <a:off x="588518" y="4039754"/>
            <a:ext cx="107188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500" b="true" i="false" u="none" strike="noStrike" kern="0">
                <a:solidFill>
                  <a:srgbClr val="D85A2E"/>
                </a:solidFill>
                <a:latin typeface="Arial"/>
              </a:rPr>
              <a:t>  </a:t>
            </a:r>
            <a:endParaRPr lang="en-US" sz="1100"/>
          </a:p>
        </p:txBody>
      </p:sp>
      <p:sp>
        <p:nvSpPr>
          <p:cNvPr name="GraphCompose Inline Text Span" id="39"/>
          <p:cNvSpPr txBox="true"/>
          <p:nvPr/>
        </p:nvSpPr>
        <p:spPr>
          <a:xfrm>
            <a:off x="694436" y="4085742"/>
            <a:ext cx="50614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$199.28</a:t>
            </a:r>
            <a:endParaRPr lang="en-US" sz="1100"/>
          </a:p>
        </p:txBody>
      </p:sp>
      <p:sp>
        <p:nvSpPr>
          <p:cNvPr name="GraphCompose Inline Text Span" id="40"/>
          <p:cNvSpPr txBox="true"/>
          <p:nvPr/>
        </p:nvSpPr>
        <p:spPr>
          <a:xfrm>
            <a:off x="1199312" y="4085742"/>
            <a:ext cx="4010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41"/>
          <p:cNvSpPr txBox="true"/>
          <p:nvPr/>
        </p:nvSpPr>
        <p:spPr>
          <a:xfrm>
            <a:off x="1238148" y="4085742"/>
            <a:ext cx="23401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482600" y="4390580"/>
            <a:ext cx="103393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IN</a:t>
            </a: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  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$250.88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482600" y="4684903"/>
            <a:ext cx="115030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OUT</a:t>
            </a: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 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$150.66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3201800" y="3654107"/>
            <a:ext cx="4002600" cy="1678622"/>
          </a:xfrm>
          <a:prstGeom prst="roundRect">
            <a:avLst>
              <a:gd name="adj" fmla="val 605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5" id="45"/>
          <p:cNvCxnSpPr/>
          <p:nvPr/>
        </p:nvCxnSpPr>
        <p:spPr>
          <a:xfrm>
            <a:off x="3201800" y="3654107"/>
            <a:ext cx="400260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46"/>
          <p:cNvSpPr txBox="true"/>
          <p:nvPr/>
        </p:nvSpPr>
        <p:spPr>
          <a:xfrm>
            <a:off x="4492935" y="3754945"/>
            <a:ext cx="142160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Cash at end of Month</a:t>
            </a:r>
            <a:endParaRPr lang="en-US" sz="1100"/>
          </a:p>
        </p:txBody>
      </p:sp>
      <p:cxnSp>
        <p:nvCxnSpPr>
          <p:cNvPr name="Connector 47" id="47"/>
          <p:cNvCxnSpPr/>
          <p:nvPr/>
        </p:nvCxnSpPr>
        <p:spPr>
          <a:xfrm flipV="false">
            <a:off x="3543379" y="5060950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8"/>
          <p:cNvSpPr txBox="true"/>
          <p:nvPr/>
        </p:nvSpPr>
        <p:spPr>
          <a:xfrm>
            <a:off x="3385290" y="5004534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49" id="49"/>
          <p:cNvCxnSpPr/>
          <p:nvPr/>
        </p:nvCxnSpPr>
        <p:spPr>
          <a:xfrm flipV="false">
            <a:off x="3543379" y="4804092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0"/>
          <p:cNvSpPr txBox="true"/>
          <p:nvPr/>
        </p:nvSpPr>
        <p:spPr>
          <a:xfrm>
            <a:off x="3385290" y="4747677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5k</a:t>
            </a:r>
            <a:endParaRPr lang="en-US" sz="1100"/>
          </a:p>
        </p:txBody>
      </p:sp>
      <p:cxnSp>
        <p:nvCxnSpPr>
          <p:cNvPr name="Connector 51" id="51"/>
          <p:cNvCxnSpPr/>
          <p:nvPr/>
        </p:nvCxnSpPr>
        <p:spPr>
          <a:xfrm flipV="false">
            <a:off x="3543379" y="4547235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2"/>
          <p:cNvSpPr txBox="true"/>
          <p:nvPr/>
        </p:nvSpPr>
        <p:spPr>
          <a:xfrm>
            <a:off x="3328800" y="449081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10k</a:t>
            </a:r>
            <a:endParaRPr lang="en-US" sz="1100"/>
          </a:p>
        </p:txBody>
      </p:sp>
      <p:cxnSp>
        <p:nvCxnSpPr>
          <p:cNvPr name="Connector 53" id="53"/>
          <p:cNvCxnSpPr/>
          <p:nvPr/>
        </p:nvCxnSpPr>
        <p:spPr>
          <a:xfrm flipV="false">
            <a:off x="3543379" y="4290377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4"/>
          <p:cNvSpPr txBox="true"/>
          <p:nvPr/>
        </p:nvSpPr>
        <p:spPr>
          <a:xfrm>
            <a:off x="3328800" y="4233962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15k</a:t>
            </a:r>
            <a:endParaRPr lang="en-US" sz="1100"/>
          </a:p>
        </p:txBody>
      </p:sp>
      <p:cxnSp>
        <p:nvCxnSpPr>
          <p:cNvPr name="Connector 55" id="55"/>
          <p:cNvCxnSpPr/>
          <p:nvPr/>
        </p:nvCxnSpPr>
        <p:spPr>
          <a:xfrm flipV="false">
            <a:off x="3543379" y="4033520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6"/>
          <p:cNvSpPr txBox="true"/>
          <p:nvPr/>
        </p:nvSpPr>
        <p:spPr>
          <a:xfrm>
            <a:off x="3328800" y="3977104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20k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>
            <a:off x="3677955" y="4393120"/>
            <a:ext cx="437653" cy="667829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4384759" y="4444492"/>
            <a:ext cx="437653" cy="616458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5091563" y="4290377"/>
            <a:ext cx="437653" cy="770572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5798368" y="4239006"/>
            <a:ext cx="437653" cy="821944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6505172" y="4187634"/>
            <a:ext cx="437653" cy="873315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62"/>
          <p:cNvSpPr txBox="true"/>
          <p:nvPr/>
        </p:nvSpPr>
        <p:spPr>
          <a:xfrm>
            <a:off x="3741486" y="5092723"/>
            <a:ext cx="3118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Jan-22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4442651" y="5092723"/>
            <a:ext cx="3231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Feb-22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5149506" y="5092723"/>
            <a:ext cx="32303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Mar-22</a:t>
            </a:r>
            <a:endParaRPr lang="en-US" sz="1100"/>
          </a:p>
        </p:txBody>
      </p:sp>
      <p:sp>
        <p:nvSpPr>
          <p:cNvPr name="GraphCompose Text Line" id="65"/>
          <p:cNvSpPr txBox="true"/>
          <p:nvPr/>
        </p:nvSpPr>
        <p:spPr>
          <a:xfrm>
            <a:off x="5864743" y="5092723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Apr-22</a:t>
            </a:r>
            <a:endParaRPr lang="en-US" sz="1100"/>
          </a:p>
        </p:txBody>
      </p:sp>
      <p:sp>
        <p:nvSpPr>
          <p:cNvPr name="GraphCompose Text Line" id="66"/>
          <p:cNvSpPr txBox="true"/>
          <p:nvPr/>
        </p:nvSpPr>
        <p:spPr>
          <a:xfrm>
            <a:off x="6554631" y="5092723"/>
            <a:ext cx="3400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May-22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>
            <a:off x="355600" y="5434330"/>
            <a:ext cx="3669050" cy="1971104"/>
          </a:xfrm>
          <a:prstGeom prst="roundRect">
            <a:avLst>
              <a:gd name="adj" fmla="val 515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68" id="68"/>
          <p:cNvCxnSpPr/>
          <p:nvPr/>
        </p:nvCxnSpPr>
        <p:spPr>
          <a:xfrm>
            <a:off x="355600" y="5434330"/>
            <a:ext cx="366905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69"/>
          <p:cNvSpPr txBox="true"/>
          <p:nvPr/>
        </p:nvSpPr>
        <p:spPr>
          <a:xfrm>
            <a:off x="1996012" y="5535168"/>
            <a:ext cx="38949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OPEX</a:t>
            </a:r>
            <a:endParaRPr lang="en-US" sz="1100"/>
          </a:p>
        </p:txBody>
      </p:sp>
      <p:sp>
        <p:nvSpPr>
          <p:cNvPr name="GraphCompose Text Line" id="70"/>
          <p:cNvSpPr txBox="true"/>
          <p:nvPr/>
        </p:nvSpPr>
        <p:spPr>
          <a:xfrm>
            <a:off x="482600" y="5723277"/>
            <a:ext cx="891764" cy="8928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60" b="false" i="false" u="none" strike="noStrike" kern="0">
                <a:solidFill>
                  <a:srgbClr val="7A7A80"/>
                </a:solidFill>
                <a:latin typeface="Arial"/>
              </a:rPr>
              <a:t>Month to Month YTD</a:t>
            </a:r>
            <a:endParaRPr lang="en-US" sz="1100"/>
          </a:p>
        </p:txBody>
      </p:sp>
      <p:cxnSp>
        <p:nvCxnSpPr>
          <p:cNvPr name="Connector 71" id="71"/>
          <p:cNvCxnSpPr/>
          <p:nvPr/>
        </p:nvCxnSpPr>
        <p:spPr>
          <a:xfrm flipV="false">
            <a:off x="753669" y="6977126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2"/>
          <p:cNvSpPr txBox="true"/>
          <p:nvPr/>
        </p:nvSpPr>
        <p:spPr>
          <a:xfrm>
            <a:off x="595579" y="6920710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73" id="73"/>
          <p:cNvCxnSpPr/>
          <p:nvPr/>
        </p:nvCxnSpPr>
        <p:spPr>
          <a:xfrm flipV="false">
            <a:off x="753669" y="6767385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4"/>
          <p:cNvSpPr txBox="true"/>
          <p:nvPr/>
        </p:nvSpPr>
        <p:spPr>
          <a:xfrm>
            <a:off x="539090" y="6710970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20k</a:t>
            </a:r>
            <a:endParaRPr lang="en-US" sz="1100"/>
          </a:p>
        </p:txBody>
      </p:sp>
      <p:cxnSp>
        <p:nvCxnSpPr>
          <p:cNvPr name="Connector 75" id="75"/>
          <p:cNvCxnSpPr/>
          <p:nvPr/>
        </p:nvCxnSpPr>
        <p:spPr>
          <a:xfrm flipV="false">
            <a:off x="753669" y="6557645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6"/>
          <p:cNvSpPr txBox="true"/>
          <p:nvPr/>
        </p:nvSpPr>
        <p:spPr>
          <a:xfrm>
            <a:off x="539090" y="650122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40k</a:t>
            </a:r>
            <a:endParaRPr lang="en-US" sz="1100"/>
          </a:p>
        </p:txBody>
      </p:sp>
      <p:cxnSp>
        <p:nvCxnSpPr>
          <p:cNvPr name="Connector 77" id="77"/>
          <p:cNvCxnSpPr/>
          <p:nvPr/>
        </p:nvCxnSpPr>
        <p:spPr>
          <a:xfrm flipV="false">
            <a:off x="753669" y="6347904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8"/>
          <p:cNvSpPr txBox="true"/>
          <p:nvPr/>
        </p:nvSpPr>
        <p:spPr>
          <a:xfrm>
            <a:off x="539090" y="629148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60k</a:t>
            </a:r>
            <a:endParaRPr lang="en-US" sz="1100"/>
          </a:p>
        </p:txBody>
      </p:sp>
      <p:cxnSp>
        <p:nvCxnSpPr>
          <p:cNvPr name="Connector 79" id="79"/>
          <p:cNvCxnSpPr/>
          <p:nvPr/>
        </p:nvCxnSpPr>
        <p:spPr>
          <a:xfrm flipV="false">
            <a:off x="753669" y="6138164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0"/>
          <p:cNvSpPr txBox="true"/>
          <p:nvPr/>
        </p:nvSpPr>
        <p:spPr>
          <a:xfrm>
            <a:off x="539090" y="6081748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80k</a:t>
            </a:r>
            <a:endParaRPr lang="en-US" sz="1100"/>
          </a:p>
        </p:txBody>
      </p:sp>
      <p:cxnSp>
        <p:nvCxnSpPr>
          <p:cNvPr name="Connector 81" id="81"/>
          <p:cNvCxnSpPr/>
          <p:nvPr/>
        </p:nvCxnSpPr>
        <p:spPr>
          <a:xfrm flipV="false">
            <a:off x="753669" y="5928423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2"/>
          <p:cNvSpPr txBox="true"/>
          <p:nvPr/>
        </p:nvSpPr>
        <p:spPr>
          <a:xfrm>
            <a:off x="482600" y="5872008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100k</a:t>
            </a:r>
            <a:endParaRPr lang="en-US" sz="1100"/>
          </a:p>
        </p:txBody>
      </p:sp>
      <p:sp>
        <p:nvSpPr>
          <p:cNvPr name="AutoShape 83" id="83"/>
          <p:cNvSpPr/>
          <p:nvPr/>
        </p:nvSpPr>
        <p:spPr>
          <a:xfrm>
            <a:off x="841700" y="6536671"/>
            <a:ext cx="452733" cy="440455"/>
          </a:xfrm>
          <a:prstGeom prst="roundRect">
            <a:avLst>
              <a:gd name="adj" fmla="val 5767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841700" y="6222060"/>
            <a:ext cx="452733" cy="314611"/>
          </a:xfrm>
          <a:prstGeom prst="roundRect">
            <a:avLst>
              <a:gd name="adj" fmla="val 8073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1470497" y="6599593"/>
            <a:ext cx="452733" cy="377533"/>
          </a:xfrm>
          <a:prstGeom prst="roundRect">
            <a:avLst>
              <a:gd name="adj" fmla="val 6728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6" id="86"/>
          <p:cNvSpPr/>
          <p:nvPr/>
        </p:nvSpPr>
        <p:spPr>
          <a:xfrm>
            <a:off x="1470497" y="6389853"/>
            <a:ext cx="452733" cy="209740"/>
          </a:xfrm>
          <a:prstGeom prst="roundRect">
            <a:avLst>
              <a:gd name="adj" fmla="val 1211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2099293" y="6494723"/>
            <a:ext cx="452733" cy="482403"/>
          </a:xfrm>
          <a:prstGeom prst="roundRect">
            <a:avLst>
              <a:gd name="adj" fmla="val 5610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8" id="88"/>
          <p:cNvSpPr/>
          <p:nvPr/>
        </p:nvSpPr>
        <p:spPr>
          <a:xfrm>
            <a:off x="2099293" y="6180112"/>
            <a:ext cx="452733" cy="314611"/>
          </a:xfrm>
          <a:prstGeom prst="roundRect">
            <a:avLst>
              <a:gd name="adj" fmla="val 8073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2728089" y="6557645"/>
            <a:ext cx="452733" cy="419481"/>
          </a:xfrm>
          <a:prstGeom prst="roundRect">
            <a:avLst>
              <a:gd name="adj" fmla="val 6055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90" id="90"/>
          <p:cNvSpPr/>
          <p:nvPr/>
        </p:nvSpPr>
        <p:spPr>
          <a:xfrm>
            <a:off x="2728089" y="6264008"/>
            <a:ext cx="452733" cy="293637"/>
          </a:xfrm>
          <a:prstGeom prst="roundRect">
            <a:avLst>
              <a:gd name="adj" fmla="val 865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3356885" y="6526184"/>
            <a:ext cx="452733" cy="450942"/>
          </a:xfrm>
          <a:prstGeom prst="roundRect">
            <a:avLst>
              <a:gd name="adj" fmla="val 5633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3356885" y="6232547"/>
            <a:ext cx="452733" cy="293637"/>
          </a:xfrm>
          <a:prstGeom prst="roundRect">
            <a:avLst>
              <a:gd name="adj" fmla="val 865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93"/>
          <p:cNvSpPr txBox="true"/>
          <p:nvPr/>
        </p:nvSpPr>
        <p:spPr>
          <a:xfrm>
            <a:off x="997506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M1</a:t>
            </a:r>
            <a:endParaRPr lang="en-US" sz="1100"/>
          </a:p>
        </p:txBody>
      </p:sp>
      <p:sp>
        <p:nvSpPr>
          <p:cNvPr name="GraphCompose Text Line" id="94"/>
          <p:cNvSpPr txBox="true"/>
          <p:nvPr/>
        </p:nvSpPr>
        <p:spPr>
          <a:xfrm>
            <a:off x="1626302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M2</a:t>
            </a:r>
            <a:endParaRPr lang="en-US" sz="1100"/>
          </a:p>
        </p:txBody>
      </p:sp>
      <p:sp>
        <p:nvSpPr>
          <p:cNvPr name="GraphCompose Text Line" id="95"/>
          <p:cNvSpPr txBox="true"/>
          <p:nvPr/>
        </p:nvSpPr>
        <p:spPr>
          <a:xfrm>
            <a:off x="2255098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M3</a:t>
            </a:r>
            <a:endParaRPr lang="en-US" sz="1100"/>
          </a:p>
        </p:txBody>
      </p:sp>
      <p:sp>
        <p:nvSpPr>
          <p:cNvPr name="GraphCompose Text Line" id="96"/>
          <p:cNvSpPr txBox="true"/>
          <p:nvPr/>
        </p:nvSpPr>
        <p:spPr>
          <a:xfrm>
            <a:off x="2883895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M4</a:t>
            </a:r>
            <a:endParaRPr lang="en-US" sz="1100"/>
          </a:p>
        </p:txBody>
      </p:sp>
      <p:sp>
        <p:nvSpPr>
          <p:cNvPr name="GraphCompose Text Line" id="97"/>
          <p:cNvSpPr txBox="true"/>
          <p:nvPr/>
        </p:nvSpPr>
        <p:spPr>
          <a:xfrm>
            <a:off x="3512691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M5</a:t>
            </a:r>
            <a:endParaRPr lang="en-US" sz="1100"/>
          </a:p>
        </p:txBody>
      </p:sp>
      <p:sp>
        <p:nvSpPr>
          <p:cNvPr name="AutoShape 98" id="98"/>
          <p:cNvSpPr/>
          <p:nvPr/>
        </p:nvSpPr>
        <p:spPr>
          <a:xfrm>
            <a:off x="1526417" y="71322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GraphCompose Text Line" id="99"/>
          <p:cNvSpPr txBox="true"/>
          <p:nvPr/>
        </p:nvSpPr>
        <p:spPr>
          <a:xfrm>
            <a:off x="1691517" y="7125901"/>
            <a:ext cx="3189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OPEX</a:t>
            </a:r>
            <a:endParaRPr lang="en-US" sz="1100"/>
          </a:p>
        </p:txBody>
      </p:sp>
      <p:sp>
        <p:nvSpPr>
          <p:cNvPr name="AutoShape 100" id="100"/>
          <p:cNvSpPr/>
          <p:nvPr/>
        </p:nvSpPr>
        <p:spPr>
          <a:xfrm>
            <a:off x="2186956" y="71322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01"/>
          <p:cNvSpPr txBox="true"/>
          <p:nvPr/>
        </p:nvSpPr>
        <p:spPr>
          <a:xfrm>
            <a:off x="2352056" y="7125901"/>
            <a:ext cx="5030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Marketing</a:t>
            </a:r>
            <a:endParaRPr lang="en-US" sz="1100"/>
          </a:p>
        </p:txBody>
      </p:sp>
      <p:sp>
        <p:nvSpPr>
          <p:cNvPr name="AutoShape 102" id="102"/>
          <p:cNvSpPr/>
          <p:nvPr/>
        </p:nvSpPr>
        <p:spPr>
          <a:xfrm>
            <a:off x="4202450" y="5434330"/>
            <a:ext cx="3001950" cy="2085022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03" id="103"/>
          <p:cNvCxnSpPr/>
          <p:nvPr/>
        </p:nvCxnSpPr>
        <p:spPr>
          <a:xfrm>
            <a:off x="4202450" y="5434330"/>
            <a:ext cx="300195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104"/>
          <p:cNvSpPr txBox="true"/>
          <p:nvPr/>
        </p:nvSpPr>
        <p:spPr>
          <a:xfrm>
            <a:off x="5016381" y="5535168"/>
            <a:ext cx="137535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Revenue Breakdown</a:t>
            </a:r>
            <a:endParaRPr lang="en-US" sz="1100"/>
          </a:p>
        </p:txBody>
      </p:sp>
      <p:sp>
        <p:nvSpPr>
          <p:cNvPr name="Freeform 105" id="105"/>
          <p:cNvSpPr/>
          <p:nvPr/>
        </p:nvSpPr>
        <p:spPr>
          <a:xfrm>
            <a:off x="5228657" y="5873492"/>
            <a:ext cx="688674" cy="898988"/>
          </a:xfrm>
          <a:custGeom>
            <a:avLst/>
            <a:gdLst/>
            <a:ahLst/>
            <a:cxnLst/>
            <a:rect r="r" b="b" t="t" l="l"/>
            <a:pathLst>
              <a:path h="898988" w="688674">
                <a:moveTo>
                  <a:pt x="4356" y="0"/>
                </a:moveTo>
                <a:lnTo>
                  <a:pt x="40129" y="1392"/>
                </a:lnTo>
                <a:lnTo>
                  <a:pt x="75781" y="4629"/>
                </a:lnTo>
                <a:lnTo>
                  <a:pt x="111219" y="9702"/>
                </a:lnTo>
                <a:lnTo>
                  <a:pt x="146348" y="16596"/>
                </a:lnTo>
                <a:lnTo>
                  <a:pt x="181074" y="25295"/>
                </a:lnTo>
                <a:lnTo>
                  <a:pt x="215305" y="35774"/>
                </a:lnTo>
                <a:lnTo>
                  <a:pt x="248950" y="48006"/>
                </a:lnTo>
                <a:lnTo>
                  <a:pt x="281918" y="61958"/>
                </a:lnTo>
                <a:lnTo>
                  <a:pt x="314123" y="77592"/>
                </a:lnTo>
                <a:lnTo>
                  <a:pt x="345478" y="94868"/>
                </a:lnTo>
                <a:lnTo>
                  <a:pt x="375899" y="113740"/>
                </a:lnTo>
                <a:lnTo>
                  <a:pt x="405306" y="134156"/>
                </a:lnTo>
                <a:lnTo>
                  <a:pt x="433620" y="156062"/>
                </a:lnTo>
                <a:lnTo>
                  <a:pt x="460765" y="179401"/>
                </a:lnTo>
                <a:lnTo>
                  <a:pt x="486670" y="204109"/>
                </a:lnTo>
                <a:lnTo>
                  <a:pt x="511266" y="230122"/>
                </a:lnTo>
                <a:lnTo>
                  <a:pt x="534486" y="257369"/>
                </a:lnTo>
                <a:lnTo>
                  <a:pt x="556268" y="285778"/>
                </a:lnTo>
                <a:lnTo>
                  <a:pt x="576556" y="315274"/>
                </a:lnTo>
                <a:lnTo>
                  <a:pt x="595294" y="345777"/>
                </a:lnTo>
                <a:lnTo>
                  <a:pt x="612433" y="377207"/>
                </a:lnTo>
                <a:lnTo>
                  <a:pt x="627927" y="409480"/>
                </a:lnTo>
                <a:lnTo>
                  <a:pt x="641735" y="442509"/>
                </a:lnTo>
                <a:lnTo>
                  <a:pt x="653820" y="476206"/>
                </a:lnTo>
                <a:lnTo>
                  <a:pt x="664150" y="510483"/>
                </a:lnTo>
                <a:lnTo>
                  <a:pt x="672697" y="545247"/>
                </a:lnTo>
                <a:lnTo>
                  <a:pt x="679438" y="580406"/>
                </a:lnTo>
                <a:lnTo>
                  <a:pt x="684356" y="615865"/>
                </a:lnTo>
                <a:lnTo>
                  <a:pt x="687437" y="651532"/>
                </a:lnTo>
                <a:lnTo>
                  <a:pt x="688673" y="687309"/>
                </a:lnTo>
                <a:lnTo>
                  <a:pt x="688062" y="723103"/>
                </a:lnTo>
                <a:lnTo>
                  <a:pt x="685603" y="758818"/>
                </a:lnTo>
                <a:lnTo>
                  <a:pt x="681305" y="794358"/>
                </a:lnTo>
                <a:lnTo>
                  <a:pt x="675179" y="829629"/>
                </a:lnTo>
                <a:lnTo>
                  <a:pt x="667240" y="864537"/>
                </a:lnTo>
                <a:lnTo>
                  <a:pt x="657510" y="898988"/>
                </a:lnTo>
                <a:lnTo>
                  <a:pt x="339639" y="800287"/>
                </a:lnTo>
                <a:lnTo>
                  <a:pt x="344699" y="782372"/>
                </a:lnTo>
                <a:lnTo>
                  <a:pt x="348827" y="764220"/>
                </a:lnTo>
                <a:lnTo>
                  <a:pt x="352013" y="745879"/>
                </a:lnTo>
                <a:lnTo>
                  <a:pt x="354248" y="727398"/>
                </a:lnTo>
                <a:lnTo>
                  <a:pt x="355526" y="708827"/>
                </a:lnTo>
                <a:lnTo>
                  <a:pt x="355845" y="690214"/>
                </a:lnTo>
                <a:lnTo>
                  <a:pt x="355202" y="671609"/>
                </a:lnTo>
                <a:lnTo>
                  <a:pt x="353599" y="653063"/>
                </a:lnTo>
                <a:lnTo>
                  <a:pt x="351042" y="634624"/>
                </a:lnTo>
                <a:lnTo>
                  <a:pt x="347537" y="616341"/>
                </a:lnTo>
                <a:lnTo>
                  <a:pt x="343092" y="598264"/>
                </a:lnTo>
                <a:lnTo>
                  <a:pt x="337721" y="580440"/>
                </a:lnTo>
                <a:lnTo>
                  <a:pt x="331437" y="562918"/>
                </a:lnTo>
                <a:lnTo>
                  <a:pt x="324257" y="545742"/>
                </a:lnTo>
                <a:lnTo>
                  <a:pt x="316200" y="528961"/>
                </a:lnTo>
                <a:lnTo>
                  <a:pt x="307287" y="512617"/>
                </a:lnTo>
                <a:lnTo>
                  <a:pt x="297543" y="496756"/>
                </a:lnTo>
                <a:lnTo>
                  <a:pt x="286994" y="481418"/>
                </a:lnTo>
                <a:lnTo>
                  <a:pt x="275667" y="466645"/>
                </a:lnTo>
                <a:lnTo>
                  <a:pt x="263592" y="452476"/>
                </a:lnTo>
                <a:lnTo>
                  <a:pt x="250803" y="438950"/>
                </a:lnTo>
                <a:lnTo>
                  <a:pt x="237332" y="426101"/>
                </a:lnTo>
                <a:lnTo>
                  <a:pt x="223217" y="413965"/>
                </a:lnTo>
                <a:lnTo>
                  <a:pt x="208493" y="402574"/>
                </a:lnTo>
                <a:lnTo>
                  <a:pt x="193202" y="391958"/>
                </a:lnTo>
                <a:lnTo>
                  <a:pt x="177383" y="382145"/>
                </a:lnTo>
                <a:lnTo>
                  <a:pt x="161078" y="373161"/>
                </a:lnTo>
                <a:lnTo>
                  <a:pt x="144332" y="365031"/>
                </a:lnTo>
                <a:lnTo>
                  <a:pt x="127188" y="357776"/>
                </a:lnTo>
                <a:lnTo>
                  <a:pt x="109693" y="351415"/>
                </a:lnTo>
                <a:lnTo>
                  <a:pt x="91893" y="345966"/>
                </a:lnTo>
                <a:lnTo>
                  <a:pt x="73835" y="341443"/>
                </a:lnTo>
                <a:lnTo>
                  <a:pt x="55568" y="337858"/>
                </a:lnTo>
                <a:lnTo>
                  <a:pt x="37140" y="335220"/>
                </a:lnTo>
                <a:lnTo>
                  <a:pt x="18601" y="333537"/>
                </a:lnTo>
                <a:lnTo>
                  <a:pt x="0" y="332813"/>
                </a:lnTo>
                <a:close/>
              </a:path>
            </a:pathLst>
          </a:custGeom>
          <a:solidFill>
            <a:srgbClr val="348E8C"/>
          </a:solidFill>
          <a:ln w="12700">
            <a:solidFill>
              <a:srgbClr val="FFFFFF"/>
            </a:solidFill>
          </a:ln>
        </p:spPr>
      </p:sp>
      <p:sp>
        <p:nvSpPr>
          <p:cNvPr name="Freeform 106" id="106"/>
          <p:cNvSpPr/>
          <p:nvPr/>
        </p:nvSpPr>
        <p:spPr>
          <a:xfrm>
            <a:off x="4977133" y="6682757"/>
            <a:ext cx="903424" cy="577516"/>
          </a:xfrm>
          <a:custGeom>
            <a:avLst/>
            <a:gdLst/>
            <a:ahLst/>
            <a:cxnLst/>
            <a:rect r="r" b="b" t="t" l="l"/>
            <a:pathLst>
              <a:path h="577516" w="903424">
                <a:moveTo>
                  <a:pt x="903424" y="106988"/>
                </a:moveTo>
                <a:lnTo>
                  <a:pt x="890989" y="140721"/>
                </a:lnTo>
                <a:lnTo>
                  <a:pt x="876822" y="173764"/>
                </a:lnTo>
                <a:lnTo>
                  <a:pt x="860962" y="206029"/>
                </a:lnTo>
                <a:lnTo>
                  <a:pt x="843451" y="237428"/>
                </a:lnTo>
                <a:lnTo>
                  <a:pt x="824336" y="267877"/>
                </a:lnTo>
                <a:lnTo>
                  <a:pt x="803668" y="297295"/>
                </a:lnTo>
                <a:lnTo>
                  <a:pt x="781504" y="325602"/>
                </a:lnTo>
                <a:lnTo>
                  <a:pt x="757902" y="352722"/>
                </a:lnTo>
                <a:lnTo>
                  <a:pt x="732926" y="378582"/>
                </a:lnTo>
                <a:lnTo>
                  <a:pt x="706643" y="403113"/>
                </a:lnTo>
                <a:lnTo>
                  <a:pt x="679125" y="426249"/>
                </a:lnTo>
                <a:lnTo>
                  <a:pt x="650444" y="447927"/>
                </a:lnTo>
                <a:lnTo>
                  <a:pt x="620678" y="468090"/>
                </a:lnTo>
                <a:lnTo>
                  <a:pt x="589907" y="486683"/>
                </a:lnTo>
                <a:lnTo>
                  <a:pt x="558214" y="503656"/>
                </a:lnTo>
                <a:lnTo>
                  <a:pt x="525683" y="518964"/>
                </a:lnTo>
                <a:lnTo>
                  <a:pt x="492403" y="532565"/>
                </a:lnTo>
                <a:lnTo>
                  <a:pt x="458463" y="544422"/>
                </a:lnTo>
                <a:lnTo>
                  <a:pt x="423954" y="554505"/>
                </a:lnTo>
                <a:lnTo>
                  <a:pt x="388969" y="562786"/>
                </a:lnTo>
                <a:lnTo>
                  <a:pt x="353601" y="569242"/>
                </a:lnTo>
                <a:lnTo>
                  <a:pt x="317946" y="573856"/>
                </a:lnTo>
                <a:lnTo>
                  <a:pt x="282100" y="576617"/>
                </a:lnTo>
                <a:lnTo>
                  <a:pt x="246160" y="577515"/>
                </a:lnTo>
                <a:lnTo>
                  <a:pt x="210221" y="576550"/>
                </a:lnTo>
                <a:lnTo>
                  <a:pt x="174380" y="573723"/>
                </a:lnTo>
                <a:lnTo>
                  <a:pt x="138734" y="569042"/>
                </a:lnTo>
                <a:lnTo>
                  <a:pt x="103378" y="562520"/>
                </a:lnTo>
                <a:lnTo>
                  <a:pt x="68409" y="554175"/>
                </a:lnTo>
                <a:lnTo>
                  <a:pt x="33918" y="544028"/>
                </a:lnTo>
                <a:lnTo>
                  <a:pt x="0" y="532107"/>
                </a:lnTo>
                <a:lnTo>
                  <a:pt x="118466" y="221062"/>
                </a:lnTo>
                <a:lnTo>
                  <a:pt x="136103" y="227260"/>
                </a:lnTo>
                <a:lnTo>
                  <a:pt x="154038" y="232537"/>
                </a:lnTo>
                <a:lnTo>
                  <a:pt x="172223" y="236876"/>
                </a:lnTo>
                <a:lnTo>
                  <a:pt x="190608" y="240268"/>
                </a:lnTo>
                <a:lnTo>
                  <a:pt x="209143" y="242702"/>
                </a:lnTo>
                <a:lnTo>
                  <a:pt x="227781" y="244172"/>
                </a:lnTo>
                <a:lnTo>
                  <a:pt x="246469" y="244674"/>
                </a:lnTo>
                <a:lnTo>
                  <a:pt x="265158" y="244206"/>
                </a:lnTo>
                <a:lnTo>
                  <a:pt x="283798" y="242771"/>
                </a:lnTo>
                <a:lnTo>
                  <a:pt x="302338" y="240372"/>
                </a:lnTo>
                <a:lnTo>
                  <a:pt x="320730" y="237014"/>
                </a:lnTo>
                <a:lnTo>
                  <a:pt x="338922" y="232709"/>
                </a:lnTo>
                <a:lnTo>
                  <a:pt x="356867" y="227465"/>
                </a:lnTo>
                <a:lnTo>
                  <a:pt x="374516" y="221299"/>
                </a:lnTo>
                <a:lnTo>
                  <a:pt x="391821" y="214227"/>
                </a:lnTo>
                <a:lnTo>
                  <a:pt x="408737" y="206267"/>
                </a:lnTo>
                <a:lnTo>
                  <a:pt x="425217" y="197441"/>
                </a:lnTo>
                <a:lnTo>
                  <a:pt x="441218" y="187773"/>
                </a:lnTo>
                <a:lnTo>
                  <a:pt x="456697" y="177288"/>
                </a:lnTo>
                <a:lnTo>
                  <a:pt x="471611" y="166015"/>
                </a:lnTo>
                <a:lnTo>
                  <a:pt x="485920" y="153985"/>
                </a:lnTo>
                <a:lnTo>
                  <a:pt x="499587" y="141228"/>
                </a:lnTo>
                <a:lnTo>
                  <a:pt x="512575" y="127781"/>
                </a:lnTo>
                <a:lnTo>
                  <a:pt x="524848" y="113679"/>
                </a:lnTo>
                <a:lnTo>
                  <a:pt x="536373" y="98959"/>
                </a:lnTo>
                <a:lnTo>
                  <a:pt x="547120" y="83662"/>
                </a:lnTo>
                <a:lnTo>
                  <a:pt x="557060" y="67828"/>
                </a:lnTo>
                <a:lnTo>
                  <a:pt x="566166" y="51501"/>
                </a:lnTo>
                <a:lnTo>
                  <a:pt x="574414" y="34723"/>
                </a:lnTo>
                <a:lnTo>
                  <a:pt x="581780" y="17541"/>
                </a:lnTo>
                <a:lnTo>
                  <a:pt x="588246" y="0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107" id="107"/>
          <p:cNvSpPr/>
          <p:nvPr/>
        </p:nvSpPr>
        <p:spPr>
          <a:xfrm>
            <a:off x="4532514" y="6594202"/>
            <a:ext cx="554308" cy="613980"/>
          </a:xfrm>
          <a:custGeom>
            <a:avLst/>
            <a:gdLst/>
            <a:ahLst/>
            <a:cxnLst/>
            <a:rect r="r" b="b" t="t" l="l"/>
            <a:pathLst>
              <a:path h="613980" w="554308">
                <a:moveTo>
                  <a:pt x="427741" y="613980"/>
                </a:moveTo>
                <a:lnTo>
                  <a:pt x="395880" y="599935"/>
                </a:lnTo>
                <a:lnTo>
                  <a:pt x="364765" y="584309"/>
                </a:lnTo>
                <a:lnTo>
                  <a:pt x="334474" y="567141"/>
                </a:lnTo>
                <a:lnTo>
                  <a:pt x="305082" y="548474"/>
                </a:lnTo>
                <a:lnTo>
                  <a:pt x="276665" y="528355"/>
                </a:lnTo>
                <a:lnTo>
                  <a:pt x="249293" y="506835"/>
                </a:lnTo>
                <a:lnTo>
                  <a:pt x="223036" y="483968"/>
                </a:lnTo>
                <a:lnTo>
                  <a:pt x="197960" y="459812"/>
                </a:lnTo>
                <a:lnTo>
                  <a:pt x="174128" y="434427"/>
                </a:lnTo>
                <a:lnTo>
                  <a:pt x="151601" y="407879"/>
                </a:lnTo>
                <a:lnTo>
                  <a:pt x="130434" y="380233"/>
                </a:lnTo>
                <a:lnTo>
                  <a:pt x="110682" y="351559"/>
                </a:lnTo>
                <a:lnTo>
                  <a:pt x="92394" y="321930"/>
                </a:lnTo>
                <a:lnTo>
                  <a:pt x="75617" y="291420"/>
                </a:lnTo>
                <a:lnTo>
                  <a:pt x="60392" y="260107"/>
                </a:lnTo>
                <a:lnTo>
                  <a:pt x="46758" y="228069"/>
                </a:lnTo>
                <a:lnTo>
                  <a:pt x="34750" y="195387"/>
                </a:lnTo>
                <a:lnTo>
                  <a:pt x="24397" y="162143"/>
                </a:lnTo>
                <a:lnTo>
                  <a:pt x="15726" y="128422"/>
                </a:lnTo>
                <a:lnTo>
                  <a:pt x="8758" y="94307"/>
                </a:lnTo>
                <a:lnTo>
                  <a:pt x="3512" y="59887"/>
                </a:lnTo>
                <a:lnTo>
                  <a:pt x="0" y="25246"/>
                </a:lnTo>
                <a:lnTo>
                  <a:pt x="331883" y="0"/>
                </a:lnTo>
                <a:lnTo>
                  <a:pt x="333709" y="18013"/>
                </a:lnTo>
                <a:lnTo>
                  <a:pt x="336437" y="35912"/>
                </a:lnTo>
                <a:lnTo>
                  <a:pt x="340060" y="53651"/>
                </a:lnTo>
                <a:lnTo>
                  <a:pt x="344569" y="71187"/>
                </a:lnTo>
                <a:lnTo>
                  <a:pt x="349953" y="88473"/>
                </a:lnTo>
                <a:lnTo>
                  <a:pt x="356197" y="105468"/>
                </a:lnTo>
                <a:lnTo>
                  <a:pt x="363287" y="122128"/>
                </a:lnTo>
                <a:lnTo>
                  <a:pt x="371204" y="138411"/>
                </a:lnTo>
                <a:lnTo>
                  <a:pt x="379928" y="154276"/>
                </a:lnTo>
                <a:lnTo>
                  <a:pt x="389438" y="169683"/>
                </a:lnTo>
                <a:lnTo>
                  <a:pt x="399709" y="184593"/>
                </a:lnTo>
                <a:lnTo>
                  <a:pt x="410715" y="198969"/>
                </a:lnTo>
                <a:lnTo>
                  <a:pt x="422430" y="212774"/>
                </a:lnTo>
                <a:lnTo>
                  <a:pt x="434822" y="225974"/>
                </a:lnTo>
                <a:lnTo>
                  <a:pt x="447862" y="238535"/>
                </a:lnTo>
                <a:lnTo>
                  <a:pt x="461515" y="250426"/>
                </a:lnTo>
                <a:lnTo>
                  <a:pt x="475749" y="261617"/>
                </a:lnTo>
                <a:lnTo>
                  <a:pt x="490526" y="272079"/>
                </a:lnTo>
                <a:lnTo>
                  <a:pt x="505809" y="281785"/>
                </a:lnTo>
                <a:lnTo>
                  <a:pt x="521561" y="290713"/>
                </a:lnTo>
                <a:lnTo>
                  <a:pt x="537741" y="298838"/>
                </a:lnTo>
                <a:lnTo>
                  <a:pt x="554308" y="306142"/>
                </a:lnTo>
                <a:close/>
              </a:path>
            </a:pathLst>
          </a:custGeom>
          <a:solidFill>
            <a:srgbClr val="E8965C"/>
          </a:solidFill>
          <a:ln w="12700">
            <a:solidFill>
              <a:srgbClr val="FFFFFF"/>
            </a:solidFill>
          </a:ln>
        </p:spPr>
      </p:sp>
      <p:sp>
        <p:nvSpPr>
          <p:cNvPr name="Freeform 108" id="108"/>
          <p:cNvSpPr/>
          <p:nvPr/>
        </p:nvSpPr>
        <p:spPr>
          <a:xfrm>
            <a:off x="4530517" y="6067628"/>
            <a:ext cx="443168" cy="533703"/>
          </a:xfrm>
          <a:custGeom>
            <a:avLst/>
            <a:gdLst/>
            <a:ahLst/>
            <a:cxnLst/>
            <a:rect r="r" b="b" t="t" l="l"/>
            <a:pathLst>
              <a:path h="533703" w="443168">
                <a:moveTo>
                  <a:pt x="858" y="533702"/>
                </a:moveTo>
                <a:lnTo>
                  <a:pt x="0" y="498904"/>
                </a:lnTo>
                <a:lnTo>
                  <a:pt x="890" y="464107"/>
                </a:lnTo>
                <a:lnTo>
                  <a:pt x="3525" y="429398"/>
                </a:lnTo>
                <a:lnTo>
                  <a:pt x="7898" y="394865"/>
                </a:lnTo>
                <a:lnTo>
                  <a:pt x="13999" y="360595"/>
                </a:lnTo>
                <a:lnTo>
                  <a:pt x="21812" y="326675"/>
                </a:lnTo>
                <a:lnTo>
                  <a:pt x="31317" y="293189"/>
                </a:lnTo>
                <a:lnTo>
                  <a:pt x="42490" y="260222"/>
                </a:lnTo>
                <a:lnTo>
                  <a:pt x="55304" y="227858"/>
                </a:lnTo>
                <a:lnTo>
                  <a:pt x="69726" y="196177"/>
                </a:lnTo>
                <a:lnTo>
                  <a:pt x="85720" y="165260"/>
                </a:lnTo>
                <a:lnTo>
                  <a:pt x="103245" y="135185"/>
                </a:lnTo>
                <a:lnTo>
                  <a:pt x="122257" y="106027"/>
                </a:lnTo>
                <a:lnTo>
                  <a:pt x="142708" y="77860"/>
                </a:lnTo>
                <a:lnTo>
                  <a:pt x="164547" y="50755"/>
                </a:lnTo>
                <a:lnTo>
                  <a:pt x="187719" y="24779"/>
                </a:lnTo>
                <a:lnTo>
                  <a:pt x="212165" y="0"/>
                </a:lnTo>
                <a:lnTo>
                  <a:pt x="443168" y="239628"/>
                </a:lnTo>
                <a:lnTo>
                  <a:pt x="430456" y="252513"/>
                </a:lnTo>
                <a:lnTo>
                  <a:pt x="418406" y="266020"/>
                </a:lnTo>
                <a:lnTo>
                  <a:pt x="407050" y="280115"/>
                </a:lnTo>
                <a:lnTo>
                  <a:pt x="396415" y="294762"/>
                </a:lnTo>
                <a:lnTo>
                  <a:pt x="386529" y="309924"/>
                </a:lnTo>
                <a:lnTo>
                  <a:pt x="377416" y="325563"/>
                </a:lnTo>
                <a:lnTo>
                  <a:pt x="369099" y="341640"/>
                </a:lnTo>
                <a:lnTo>
                  <a:pt x="361600" y="358114"/>
                </a:lnTo>
                <a:lnTo>
                  <a:pt x="354937" y="374943"/>
                </a:lnTo>
                <a:lnTo>
                  <a:pt x="349126" y="392086"/>
                </a:lnTo>
                <a:lnTo>
                  <a:pt x="344184" y="409499"/>
                </a:lnTo>
                <a:lnTo>
                  <a:pt x="340121" y="427137"/>
                </a:lnTo>
                <a:lnTo>
                  <a:pt x="336948" y="444958"/>
                </a:lnTo>
                <a:lnTo>
                  <a:pt x="334674" y="462915"/>
                </a:lnTo>
                <a:lnTo>
                  <a:pt x="333304" y="480963"/>
                </a:lnTo>
                <a:lnTo>
                  <a:pt x="332842" y="499058"/>
                </a:lnTo>
                <a:lnTo>
                  <a:pt x="333287" y="517153"/>
                </a:lnTo>
                <a:close/>
              </a:path>
            </a:pathLst>
          </a:custGeom>
          <a:solidFill>
            <a:srgbClr val="226664"/>
          </a:solidFill>
          <a:ln w="12700">
            <a:solidFill>
              <a:srgbClr val="FFFFFF"/>
            </a:solidFill>
          </a:ln>
        </p:spPr>
      </p:sp>
      <p:sp>
        <p:nvSpPr>
          <p:cNvPr name="Freeform 109" id="109"/>
          <p:cNvSpPr/>
          <p:nvPr/>
        </p:nvSpPr>
        <p:spPr>
          <a:xfrm>
            <a:off x="4755915" y="5873492"/>
            <a:ext cx="463302" cy="427302"/>
          </a:xfrm>
          <a:custGeom>
            <a:avLst/>
            <a:gdLst/>
            <a:ahLst/>
            <a:cxnLst/>
            <a:rect r="r" b="b" t="t" l="l"/>
            <a:pathLst>
              <a:path h="427302" w="463302">
                <a:moveTo>
                  <a:pt x="0" y="181709"/>
                </a:moveTo>
                <a:lnTo>
                  <a:pt x="27219" y="158081"/>
                </a:lnTo>
                <a:lnTo>
                  <a:pt x="55629" y="135899"/>
                </a:lnTo>
                <a:lnTo>
                  <a:pt x="85154" y="115223"/>
                </a:lnTo>
                <a:lnTo>
                  <a:pt x="115712" y="96109"/>
                </a:lnTo>
                <a:lnTo>
                  <a:pt x="147223" y="78609"/>
                </a:lnTo>
                <a:lnTo>
                  <a:pt x="179600" y="62770"/>
                </a:lnTo>
                <a:lnTo>
                  <a:pt x="212757" y="48635"/>
                </a:lnTo>
                <a:lnTo>
                  <a:pt x="246603" y="36242"/>
                </a:lnTo>
                <a:lnTo>
                  <a:pt x="281048" y="25624"/>
                </a:lnTo>
                <a:lnTo>
                  <a:pt x="315998" y="16810"/>
                </a:lnTo>
                <a:lnTo>
                  <a:pt x="351358" y="9825"/>
                </a:lnTo>
                <a:lnTo>
                  <a:pt x="387034" y="4686"/>
                </a:lnTo>
                <a:lnTo>
                  <a:pt x="422929" y="1408"/>
                </a:lnTo>
                <a:lnTo>
                  <a:pt x="458945" y="0"/>
                </a:lnTo>
                <a:lnTo>
                  <a:pt x="463302" y="332813"/>
                </a:lnTo>
                <a:lnTo>
                  <a:pt x="444574" y="333545"/>
                </a:lnTo>
                <a:lnTo>
                  <a:pt x="425908" y="335250"/>
                </a:lnTo>
                <a:lnTo>
                  <a:pt x="407357" y="337922"/>
                </a:lnTo>
                <a:lnTo>
                  <a:pt x="388969" y="341554"/>
                </a:lnTo>
                <a:lnTo>
                  <a:pt x="370795" y="346138"/>
                </a:lnTo>
                <a:lnTo>
                  <a:pt x="352884" y="351659"/>
                </a:lnTo>
                <a:lnTo>
                  <a:pt x="335284" y="358103"/>
                </a:lnTo>
                <a:lnTo>
                  <a:pt x="318043" y="365453"/>
                </a:lnTo>
                <a:lnTo>
                  <a:pt x="301206" y="373690"/>
                </a:lnTo>
                <a:lnTo>
                  <a:pt x="284821" y="382790"/>
                </a:lnTo>
                <a:lnTo>
                  <a:pt x="268930" y="392729"/>
                </a:lnTo>
                <a:lnTo>
                  <a:pt x="253578" y="403480"/>
                </a:lnTo>
                <a:lnTo>
                  <a:pt x="238805" y="415015"/>
                </a:lnTo>
                <a:lnTo>
                  <a:pt x="224651" y="427302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AutoShape 110" id="110"/>
          <p:cNvSpPr/>
          <p:nvPr/>
        </p:nvSpPr>
        <p:spPr>
          <a:xfrm>
            <a:off x="5703739" y="6057031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1"/>
          <p:cNvSpPr txBox="true"/>
          <p:nvPr/>
        </p:nvSpPr>
        <p:spPr>
          <a:xfrm>
            <a:off x="5741839" y="6050704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30%</a:t>
            </a:r>
            <a:endParaRPr lang="en-US" sz="1100"/>
          </a:p>
        </p:txBody>
      </p:sp>
      <p:sp>
        <p:nvSpPr>
          <p:cNvPr name="AutoShape 112" id="112"/>
          <p:cNvSpPr/>
          <p:nvPr/>
        </p:nvSpPr>
        <p:spPr>
          <a:xfrm>
            <a:off x="5410252" y="7200088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5448352" y="7193761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26%</a:t>
            </a:r>
            <a:endParaRPr lang="en-US" sz="1100"/>
          </a:p>
        </p:txBody>
      </p:sp>
      <p:sp>
        <p:nvSpPr>
          <p:cNvPr name="AutoShape 114" id="114"/>
          <p:cNvSpPr/>
          <p:nvPr/>
        </p:nvSpPr>
        <p:spPr>
          <a:xfrm>
            <a:off x="4464633" y="6957294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5"/>
          <p:cNvSpPr txBox="true"/>
          <p:nvPr/>
        </p:nvSpPr>
        <p:spPr>
          <a:xfrm>
            <a:off x="4502733" y="6950967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18%</a:t>
            </a:r>
            <a:endParaRPr lang="en-US" sz="1100"/>
          </a:p>
        </p:txBody>
      </p:sp>
      <p:sp>
        <p:nvSpPr>
          <p:cNvPr name="AutoShape 116" id="116"/>
          <p:cNvSpPr/>
          <p:nvPr/>
        </p:nvSpPr>
        <p:spPr>
          <a:xfrm>
            <a:off x="4372154" y="6225249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7"/>
          <p:cNvSpPr txBox="true"/>
          <p:nvPr/>
        </p:nvSpPr>
        <p:spPr>
          <a:xfrm>
            <a:off x="4410254" y="6218922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14%</a:t>
            </a:r>
            <a:endParaRPr lang="en-US" sz="1100"/>
          </a:p>
        </p:txBody>
      </p:sp>
      <p:sp>
        <p:nvSpPr>
          <p:cNvPr name="AutoShape 118" id="118"/>
          <p:cNvSpPr/>
          <p:nvPr/>
        </p:nvSpPr>
        <p:spPr>
          <a:xfrm>
            <a:off x="4802273" y="5795130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9"/>
          <p:cNvSpPr txBox="true"/>
          <p:nvPr/>
        </p:nvSpPr>
        <p:spPr>
          <a:xfrm>
            <a:off x="4840373" y="5788803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12%</a:t>
            </a:r>
            <a:endParaRPr lang="en-US" sz="1100"/>
          </a:p>
        </p:txBody>
      </p:sp>
      <p:sp>
        <p:nvSpPr>
          <p:cNvPr name="AutoShape 120" id="120"/>
          <p:cNvSpPr/>
          <p:nvPr/>
        </p:nvSpPr>
        <p:spPr>
          <a:xfrm>
            <a:off x="6296224" y="6164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6461324" y="6158097"/>
            <a:ext cx="47767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Desktops</a:t>
            </a:r>
            <a:endParaRPr lang="en-US" sz="1100"/>
          </a:p>
        </p:txBody>
      </p:sp>
      <p:sp>
        <p:nvSpPr>
          <p:cNvPr name="AutoShape 122" id="122"/>
          <p:cNvSpPr/>
          <p:nvPr/>
        </p:nvSpPr>
        <p:spPr>
          <a:xfrm>
            <a:off x="6296224" y="63295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23"/>
          <p:cNvSpPr txBox="true"/>
          <p:nvPr/>
        </p:nvSpPr>
        <p:spPr>
          <a:xfrm>
            <a:off x="6461324" y="6323197"/>
            <a:ext cx="48407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Portables</a:t>
            </a:r>
            <a:endParaRPr lang="en-US" sz="1100"/>
          </a:p>
        </p:txBody>
      </p:sp>
      <p:sp>
        <p:nvSpPr>
          <p:cNvPr name="AutoShape 124" id="124"/>
          <p:cNvSpPr/>
          <p:nvPr/>
        </p:nvSpPr>
        <p:spPr>
          <a:xfrm>
            <a:off x="6296224" y="64946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8965C"/>
          </a:solidFill>
          <a:ln>
            <a:noFill/>
          </a:ln>
        </p:spPr>
      </p:sp>
      <p:sp>
        <p:nvSpPr>
          <p:cNvPr name="GraphCompose Text Line" id="125"/>
          <p:cNvSpPr txBox="true"/>
          <p:nvPr/>
        </p:nvSpPr>
        <p:spPr>
          <a:xfrm>
            <a:off x="6461324" y="6488297"/>
            <a:ext cx="6173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Accessories</a:t>
            </a:r>
            <a:endParaRPr lang="en-US" sz="1100"/>
          </a:p>
        </p:txBody>
      </p:sp>
      <p:sp>
        <p:nvSpPr>
          <p:cNvPr name="AutoShape 126" id="126"/>
          <p:cNvSpPr/>
          <p:nvPr/>
        </p:nvSpPr>
        <p:spPr>
          <a:xfrm>
            <a:off x="6296224" y="66597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26664"/>
          </a:solidFill>
          <a:ln>
            <a:noFill/>
          </a:ln>
        </p:spPr>
      </p:sp>
      <p:sp>
        <p:nvSpPr>
          <p:cNvPr name="GraphCompose Text Line" id="127"/>
          <p:cNvSpPr txBox="true"/>
          <p:nvPr/>
        </p:nvSpPr>
        <p:spPr>
          <a:xfrm>
            <a:off x="6461324" y="6653397"/>
            <a:ext cx="5475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Wearables</a:t>
            </a:r>
            <a:endParaRPr lang="en-US" sz="1100"/>
          </a:p>
        </p:txBody>
      </p:sp>
      <p:sp>
        <p:nvSpPr>
          <p:cNvPr name="AutoShape 128" id="128"/>
          <p:cNvSpPr/>
          <p:nvPr/>
        </p:nvSpPr>
        <p:spPr>
          <a:xfrm>
            <a:off x="6296224" y="68248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4DCC2"/>
          </a:solidFill>
          <a:ln>
            <a:noFill/>
          </a:ln>
        </p:spPr>
      </p:sp>
      <p:sp>
        <p:nvSpPr>
          <p:cNvPr name="GraphCompose Text Line" id="129"/>
          <p:cNvSpPr txBox="true"/>
          <p:nvPr/>
        </p:nvSpPr>
        <p:spPr>
          <a:xfrm>
            <a:off x="6461324" y="6818497"/>
            <a:ext cx="2871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Other</a:t>
            </a:r>
            <a:endParaRPr lang="en-US" sz="1100"/>
          </a:p>
        </p:txBody>
      </p:sp>
      <p:sp>
        <p:nvSpPr>
          <p:cNvPr name="AutoShape 130" id="130"/>
          <p:cNvSpPr/>
          <p:nvPr/>
        </p:nvSpPr>
        <p:spPr>
          <a:xfrm>
            <a:off x="355600" y="7620952"/>
            <a:ext cx="6848801" cy="324644"/>
          </a:xfrm>
          <a:prstGeom prst="roundRect">
            <a:avLst>
              <a:gd name="adj" fmla="val 11736"/>
            </a:avLst>
          </a:prstGeom>
          <a:solidFill>
            <a:srgbClr val="E0D7BF"/>
          </a:solidFill>
          <a:ln>
            <a:noFill/>
          </a:ln>
        </p:spPr>
      </p:sp>
      <p:sp>
        <p:nvSpPr>
          <p:cNvPr name="GraphCompose Text Line" id="131"/>
          <p:cNvSpPr txBox="true"/>
          <p:nvPr/>
        </p:nvSpPr>
        <p:spPr>
          <a:xfrm>
            <a:off x="2734473" y="7680123"/>
            <a:ext cx="2092325" cy="1468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226664"/>
                </a:solidFill>
                <a:latin typeface="Arial"/>
              </a:rPr>
              <a:t>Forecast Financial Analysis</a:t>
            </a:r>
            <a:endParaRPr lang="en-US" sz="1100"/>
          </a:p>
        </p:txBody>
      </p:sp>
      <p:sp>
        <p:nvSpPr>
          <p:cNvPr name="AutoShape 132" id="132"/>
          <p:cNvSpPr/>
          <p:nvPr/>
        </p:nvSpPr>
        <p:spPr>
          <a:xfrm>
            <a:off x="355600" y="8047196"/>
            <a:ext cx="3335500" cy="1856422"/>
          </a:xfrm>
          <a:prstGeom prst="roundRect">
            <a:avLst>
              <a:gd name="adj" fmla="val 547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33" id="133"/>
          <p:cNvCxnSpPr/>
          <p:nvPr/>
        </p:nvCxnSpPr>
        <p:spPr>
          <a:xfrm>
            <a:off x="355600" y="8047196"/>
            <a:ext cx="333550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134"/>
          <p:cNvSpPr txBox="true"/>
          <p:nvPr/>
        </p:nvSpPr>
        <p:spPr>
          <a:xfrm>
            <a:off x="1732215" y="8148034"/>
            <a:ext cx="58354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Revenue</a:t>
            </a:r>
            <a:endParaRPr lang="en-US" sz="1100"/>
          </a:p>
        </p:txBody>
      </p:sp>
      <p:cxnSp>
        <p:nvCxnSpPr>
          <p:cNvPr name="Connector 135" id="135"/>
          <p:cNvCxnSpPr/>
          <p:nvPr/>
        </p:nvCxnSpPr>
        <p:spPr>
          <a:xfrm flipV="false">
            <a:off x="753669" y="963183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6"/>
          <p:cNvSpPr txBox="true"/>
          <p:nvPr/>
        </p:nvSpPr>
        <p:spPr>
          <a:xfrm>
            <a:off x="595579" y="9575423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137" id="137"/>
          <p:cNvCxnSpPr/>
          <p:nvPr/>
        </p:nvCxnSpPr>
        <p:spPr>
          <a:xfrm flipV="false">
            <a:off x="753669" y="936132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8"/>
          <p:cNvSpPr txBox="true"/>
          <p:nvPr/>
        </p:nvSpPr>
        <p:spPr>
          <a:xfrm>
            <a:off x="539090" y="9304913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50k</a:t>
            </a:r>
            <a:endParaRPr lang="en-US" sz="1100"/>
          </a:p>
        </p:txBody>
      </p:sp>
      <p:cxnSp>
        <p:nvCxnSpPr>
          <p:cNvPr name="Connector 139" id="139"/>
          <p:cNvCxnSpPr/>
          <p:nvPr/>
        </p:nvCxnSpPr>
        <p:spPr>
          <a:xfrm flipV="false">
            <a:off x="753669" y="909081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0"/>
          <p:cNvSpPr txBox="true"/>
          <p:nvPr/>
        </p:nvSpPr>
        <p:spPr>
          <a:xfrm>
            <a:off x="482600" y="903440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100k</a:t>
            </a:r>
            <a:endParaRPr lang="en-US" sz="1100"/>
          </a:p>
        </p:txBody>
      </p:sp>
      <p:cxnSp>
        <p:nvCxnSpPr>
          <p:cNvPr name="Connector 141" id="141"/>
          <p:cNvCxnSpPr/>
          <p:nvPr/>
        </p:nvCxnSpPr>
        <p:spPr>
          <a:xfrm flipV="false">
            <a:off x="753669" y="882030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2"/>
          <p:cNvSpPr txBox="true"/>
          <p:nvPr/>
        </p:nvSpPr>
        <p:spPr>
          <a:xfrm>
            <a:off x="482600" y="876389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150k</a:t>
            </a:r>
            <a:endParaRPr lang="en-US" sz="1100"/>
          </a:p>
        </p:txBody>
      </p:sp>
      <p:cxnSp>
        <p:nvCxnSpPr>
          <p:cNvPr name="Connector 143" id="143"/>
          <p:cNvCxnSpPr/>
          <p:nvPr/>
        </p:nvCxnSpPr>
        <p:spPr>
          <a:xfrm flipV="false">
            <a:off x="753669" y="854979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4"/>
          <p:cNvSpPr txBox="true"/>
          <p:nvPr/>
        </p:nvSpPr>
        <p:spPr>
          <a:xfrm>
            <a:off x="482600" y="849338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200k</a:t>
            </a:r>
            <a:endParaRPr lang="en-US" sz="1100"/>
          </a:p>
        </p:txBody>
      </p:sp>
      <p:sp>
        <p:nvSpPr>
          <p:cNvPr name="AutoShape 145" id="145"/>
          <p:cNvSpPr/>
          <p:nvPr/>
        </p:nvSpPr>
        <p:spPr>
          <a:xfrm>
            <a:off x="860690" y="8928513"/>
            <a:ext cx="348044" cy="703326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835290" y="8796433"/>
            <a:ext cx="398844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7"/>
          <p:cNvSpPr txBox="true"/>
          <p:nvPr/>
        </p:nvSpPr>
        <p:spPr>
          <a:xfrm>
            <a:off x="924578" y="8790106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130k</a:t>
            </a:r>
            <a:endParaRPr lang="en-US" sz="1100"/>
          </a:p>
        </p:txBody>
      </p:sp>
      <p:sp>
        <p:nvSpPr>
          <p:cNvPr name="AutoShape 148" id="148"/>
          <p:cNvSpPr/>
          <p:nvPr/>
        </p:nvSpPr>
        <p:spPr>
          <a:xfrm>
            <a:off x="1422776" y="8901462"/>
            <a:ext cx="348044" cy="730377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149" id="149"/>
          <p:cNvSpPr/>
          <p:nvPr/>
        </p:nvSpPr>
        <p:spPr>
          <a:xfrm>
            <a:off x="1397376" y="8769382"/>
            <a:ext cx="398844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50"/>
          <p:cNvSpPr txBox="true"/>
          <p:nvPr/>
        </p:nvSpPr>
        <p:spPr>
          <a:xfrm>
            <a:off x="1486664" y="8763055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135k</a:t>
            </a:r>
            <a:endParaRPr lang="en-US" sz="1100"/>
          </a:p>
        </p:txBody>
      </p:sp>
      <p:sp>
        <p:nvSpPr>
          <p:cNvPr name="AutoShape 151" id="151"/>
          <p:cNvSpPr/>
          <p:nvPr/>
        </p:nvSpPr>
        <p:spPr>
          <a:xfrm>
            <a:off x="1984863" y="8874411"/>
            <a:ext cx="348044" cy="757428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152" id="152"/>
          <p:cNvSpPr/>
          <p:nvPr/>
        </p:nvSpPr>
        <p:spPr>
          <a:xfrm>
            <a:off x="1959463" y="8742331"/>
            <a:ext cx="398844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53"/>
          <p:cNvSpPr txBox="true"/>
          <p:nvPr/>
        </p:nvSpPr>
        <p:spPr>
          <a:xfrm>
            <a:off x="2048750" y="8736004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140k</a:t>
            </a:r>
            <a:endParaRPr lang="en-US" sz="1100"/>
          </a:p>
        </p:txBody>
      </p:sp>
      <p:sp>
        <p:nvSpPr>
          <p:cNvPr name="AutoShape 154" id="154"/>
          <p:cNvSpPr/>
          <p:nvPr/>
        </p:nvSpPr>
        <p:spPr>
          <a:xfrm>
            <a:off x="2546949" y="8885231"/>
            <a:ext cx="348044" cy="746608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155" id="155"/>
          <p:cNvSpPr/>
          <p:nvPr/>
        </p:nvSpPr>
        <p:spPr>
          <a:xfrm>
            <a:off x="2521549" y="8753151"/>
            <a:ext cx="398844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56"/>
          <p:cNvSpPr txBox="true"/>
          <p:nvPr/>
        </p:nvSpPr>
        <p:spPr>
          <a:xfrm>
            <a:off x="2610836" y="8746824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138k</a:t>
            </a:r>
            <a:endParaRPr lang="en-US" sz="1100"/>
          </a:p>
        </p:txBody>
      </p:sp>
      <p:sp>
        <p:nvSpPr>
          <p:cNvPr name="AutoShape 157" id="157"/>
          <p:cNvSpPr/>
          <p:nvPr/>
        </p:nvSpPr>
        <p:spPr>
          <a:xfrm>
            <a:off x="3109035" y="8820309"/>
            <a:ext cx="348044" cy="811530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158" id="158"/>
          <p:cNvSpPr/>
          <p:nvPr/>
        </p:nvSpPr>
        <p:spPr>
          <a:xfrm>
            <a:off x="3083635" y="8688229"/>
            <a:ext cx="398844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59"/>
          <p:cNvSpPr txBox="true"/>
          <p:nvPr/>
        </p:nvSpPr>
        <p:spPr>
          <a:xfrm>
            <a:off x="3172923" y="8681902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150k</a:t>
            </a:r>
            <a:endParaRPr lang="en-US" sz="1100"/>
          </a:p>
        </p:txBody>
      </p:sp>
      <p:sp>
        <p:nvSpPr>
          <p:cNvPr name="GraphCompose Text Line" id="160"/>
          <p:cNvSpPr txBox="true"/>
          <p:nvPr/>
        </p:nvSpPr>
        <p:spPr>
          <a:xfrm>
            <a:off x="882261" y="9663612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Apr-22</a:t>
            </a:r>
            <a:endParaRPr lang="en-US" sz="1100"/>
          </a:p>
        </p:txBody>
      </p:sp>
      <p:sp>
        <p:nvSpPr>
          <p:cNvPr name="GraphCompose Text Line" id="161"/>
          <p:cNvSpPr txBox="true"/>
          <p:nvPr/>
        </p:nvSpPr>
        <p:spPr>
          <a:xfrm>
            <a:off x="1427431" y="9663612"/>
            <a:ext cx="3400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May-22</a:t>
            </a:r>
            <a:endParaRPr lang="en-US" sz="1100"/>
          </a:p>
        </p:txBody>
      </p:sp>
      <p:sp>
        <p:nvSpPr>
          <p:cNvPr name="GraphCompose Text Line" id="162"/>
          <p:cNvSpPr txBox="true"/>
          <p:nvPr/>
        </p:nvSpPr>
        <p:spPr>
          <a:xfrm>
            <a:off x="2003589" y="9663612"/>
            <a:ext cx="3118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Jun-22</a:t>
            </a:r>
            <a:endParaRPr lang="en-US" sz="1100"/>
          </a:p>
        </p:txBody>
      </p:sp>
      <p:sp>
        <p:nvSpPr>
          <p:cNvPr name="GraphCompose Text Line" id="163"/>
          <p:cNvSpPr txBox="true"/>
          <p:nvPr/>
        </p:nvSpPr>
        <p:spPr>
          <a:xfrm>
            <a:off x="2582642" y="9663612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Jul-22</a:t>
            </a:r>
            <a:endParaRPr lang="en-US" sz="1100"/>
          </a:p>
        </p:txBody>
      </p:sp>
      <p:sp>
        <p:nvSpPr>
          <p:cNvPr name="GraphCompose Text Line" id="164"/>
          <p:cNvSpPr txBox="true"/>
          <p:nvPr/>
        </p:nvSpPr>
        <p:spPr>
          <a:xfrm>
            <a:off x="3119278" y="9663612"/>
            <a:ext cx="3288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Aug-22</a:t>
            </a:r>
            <a:endParaRPr lang="en-US" sz="1100"/>
          </a:p>
        </p:txBody>
      </p:sp>
      <p:sp>
        <p:nvSpPr>
          <p:cNvPr name="AutoShape 165" id="165"/>
          <p:cNvSpPr/>
          <p:nvPr/>
        </p:nvSpPr>
        <p:spPr>
          <a:xfrm>
            <a:off x="3868900" y="8047196"/>
            <a:ext cx="3335500" cy="2110422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66" id="166"/>
          <p:cNvCxnSpPr/>
          <p:nvPr/>
        </p:nvCxnSpPr>
        <p:spPr>
          <a:xfrm>
            <a:off x="3868900" y="8047196"/>
            <a:ext cx="333550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167"/>
          <p:cNvSpPr txBox="true"/>
          <p:nvPr/>
        </p:nvSpPr>
        <p:spPr>
          <a:xfrm>
            <a:off x="4861341" y="8148034"/>
            <a:ext cx="135189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Breakdown of Costs</a:t>
            </a:r>
            <a:endParaRPr lang="en-US" sz="1100"/>
          </a:p>
        </p:txBody>
      </p:sp>
      <p:cxnSp>
        <p:nvCxnSpPr>
          <p:cNvPr name="Connector 168" id="168"/>
          <p:cNvCxnSpPr/>
          <p:nvPr/>
        </p:nvCxnSpPr>
        <p:spPr>
          <a:xfrm flipV="false">
            <a:off x="4650915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9"/>
          <p:cNvSpPr txBox="true"/>
          <p:nvPr/>
        </p:nvSpPr>
        <p:spPr>
          <a:xfrm>
            <a:off x="4622671" y="9761084"/>
            <a:ext cx="577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</a:t>
            </a:r>
            <a:endParaRPr lang="en-US" sz="1100"/>
          </a:p>
        </p:txBody>
      </p:sp>
      <p:cxnSp>
        <p:nvCxnSpPr>
          <p:cNvPr name="Connector 170" id="170"/>
          <p:cNvCxnSpPr/>
          <p:nvPr/>
        </p:nvCxnSpPr>
        <p:spPr>
          <a:xfrm flipV="false">
            <a:off x="5442810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71"/>
          <p:cNvSpPr txBox="true"/>
          <p:nvPr/>
        </p:nvSpPr>
        <p:spPr>
          <a:xfrm>
            <a:off x="5358076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cxnSp>
        <p:nvCxnSpPr>
          <p:cNvPr name="Connector 172" id="172"/>
          <p:cNvCxnSpPr/>
          <p:nvPr/>
        </p:nvCxnSpPr>
        <p:spPr>
          <a:xfrm flipV="false">
            <a:off x="6234705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73"/>
          <p:cNvSpPr txBox="true"/>
          <p:nvPr/>
        </p:nvSpPr>
        <p:spPr>
          <a:xfrm>
            <a:off x="6149971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400</a:t>
            </a:r>
            <a:endParaRPr lang="en-US" sz="1100"/>
          </a:p>
        </p:txBody>
      </p:sp>
      <p:cxnSp>
        <p:nvCxnSpPr>
          <p:cNvPr name="Connector 174" id="174"/>
          <p:cNvCxnSpPr/>
          <p:nvPr/>
        </p:nvCxnSpPr>
        <p:spPr>
          <a:xfrm flipV="false">
            <a:off x="7026601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75"/>
          <p:cNvSpPr txBox="true"/>
          <p:nvPr/>
        </p:nvSpPr>
        <p:spPr>
          <a:xfrm>
            <a:off x="6941866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600</a:t>
            </a:r>
            <a:endParaRPr lang="en-US" sz="1100"/>
          </a:p>
        </p:txBody>
      </p:sp>
      <p:sp>
        <p:nvSpPr>
          <p:cNvPr name="AutoShape 176" id="176"/>
          <p:cNvSpPr/>
          <p:nvPr/>
        </p:nvSpPr>
        <p:spPr>
          <a:xfrm>
            <a:off x="4650915" y="8466182"/>
            <a:ext cx="1187843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77" id="177"/>
          <p:cNvSpPr/>
          <p:nvPr/>
        </p:nvSpPr>
        <p:spPr>
          <a:xfrm>
            <a:off x="4650915" y="8544115"/>
            <a:ext cx="1108653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78"/>
          <p:cNvSpPr txBox="true"/>
          <p:nvPr/>
        </p:nvSpPr>
        <p:spPr>
          <a:xfrm>
            <a:off x="4362981" y="8482244"/>
            <a:ext cx="2384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Cogs</a:t>
            </a:r>
            <a:endParaRPr lang="en-US" sz="1100"/>
          </a:p>
        </p:txBody>
      </p:sp>
      <p:sp>
        <p:nvSpPr>
          <p:cNvPr name="AutoShape 179" id="179"/>
          <p:cNvSpPr/>
          <p:nvPr/>
        </p:nvSpPr>
        <p:spPr>
          <a:xfrm>
            <a:off x="4650915" y="8682664"/>
            <a:ext cx="2058927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0" id="180"/>
          <p:cNvSpPr/>
          <p:nvPr/>
        </p:nvSpPr>
        <p:spPr>
          <a:xfrm>
            <a:off x="4650915" y="8760597"/>
            <a:ext cx="1979738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1"/>
          <p:cNvSpPr txBox="true"/>
          <p:nvPr/>
        </p:nvSpPr>
        <p:spPr>
          <a:xfrm>
            <a:off x="4346014" y="8698726"/>
            <a:ext cx="2553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Sales</a:t>
            </a:r>
            <a:endParaRPr lang="en-US" sz="1100"/>
          </a:p>
        </p:txBody>
      </p:sp>
      <p:sp>
        <p:nvSpPr>
          <p:cNvPr name="AutoShape 182" id="182"/>
          <p:cNvSpPr/>
          <p:nvPr/>
        </p:nvSpPr>
        <p:spPr>
          <a:xfrm>
            <a:off x="4650915" y="8899146"/>
            <a:ext cx="712706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3" id="183"/>
          <p:cNvSpPr/>
          <p:nvPr/>
        </p:nvSpPr>
        <p:spPr>
          <a:xfrm>
            <a:off x="4650915" y="8977079"/>
            <a:ext cx="593921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4"/>
          <p:cNvSpPr txBox="true"/>
          <p:nvPr/>
        </p:nvSpPr>
        <p:spPr>
          <a:xfrm>
            <a:off x="4154091" y="8915208"/>
            <a:ext cx="4472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Marketing</a:t>
            </a:r>
            <a:endParaRPr lang="en-US" sz="1100"/>
          </a:p>
        </p:txBody>
      </p:sp>
      <p:sp>
        <p:nvSpPr>
          <p:cNvPr name="AutoShape 185" id="185"/>
          <p:cNvSpPr/>
          <p:nvPr/>
        </p:nvSpPr>
        <p:spPr>
          <a:xfrm>
            <a:off x="4650915" y="9115628"/>
            <a:ext cx="593921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6" id="186"/>
          <p:cNvSpPr/>
          <p:nvPr/>
        </p:nvSpPr>
        <p:spPr>
          <a:xfrm>
            <a:off x="4650915" y="9193561"/>
            <a:ext cx="673111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7"/>
          <p:cNvSpPr txBox="true"/>
          <p:nvPr/>
        </p:nvSpPr>
        <p:spPr>
          <a:xfrm>
            <a:off x="3995900" y="9131690"/>
            <a:ext cx="60548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Gen &amp; Admin</a:t>
            </a:r>
            <a:endParaRPr lang="en-US" sz="1100"/>
          </a:p>
        </p:txBody>
      </p:sp>
      <p:sp>
        <p:nvSpPr>
          <p:cNvPr name="AutoShape 188" id="188"/>
          <p:cNvSpPr/>
          <p:nvPr/>
        </p:nvSpPr>
        <p:spPr>
          <a:xfrm>
            <a:off x="4650915" y="9332110"/>
            <a:ext cx="237569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9" id="189"/>
          <p:cNvSpPr/>
          <p:nvPr/>
        </p:nvSpPr>
        <p:spPr>
          <a:xfrm>
            <a:off x="4650915" y="9410043"/>
            <a:ext cx="197974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90"/>
          <p:cNvSpPr txBox="true"/>
          <p:nvPr/>
        </p:nvSpPr>
        <p:spPr>
          <a:xfrm>
            <a:off x="4346014" y="9348172"/>
            <a:ext cx="2553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Other</a:t>
            </a:r>
            <a:endParaRPr lang="en-US" sz="1100"/>
          </a:p>
        </p:txBody>
      </p:sp>
      <p:sp>
        <p:nvSpPr>
          <p:cNvPr name="AutoShape 191" id="191"/>
          <p:cNvSpPr/>
          <p:nvPr/>
        </p:nvSpPr>
        <p:spPr>
          <a:xfrm>
            <a:off x="4650915" y="9548592"/>
            <a:ext cx="435542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92" id="192"/>
          <p:cNvSpPr/>
          <p:nvPr/>
        </p:nvSpPr>
        <p:spPr>
          <a:xfrm>
            <a:off x="4650915" y="9626526"/>
            <a:ext cx="356353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93"/>
          <p:cNvSpPr txBox="true"/>
          <p:nvPr/>
        </p:nvSpPr>
        <p:spPr>
          <a:xfrm>
            <a:off x="4323459" y="9564654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Taxes</a:t>
            </a:r>
            <a:endParaRPr lang="en-US" sz="1100"/>
          </a:p>
        </p:txBody>
      </p:sp>
      <p:sp>
        <p:nvSpPr>
          <p:cNvPr name="AutoShape 194" id="194"/>
          <p:cNvSpPr/>
          <p:nvPr/>
        </p:nvSpPr>
        <p:spPr>
          <a:xfrm>
            <a:off x="4901517" y="988440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95"/>
          <p:cNvSpPr txBox="true"/>
          <p:nvPr/>
        </p:nvSpPr>
        <p:spPr>
          <a:xfrm>
            <a:off x="5066617" y="9878086"/>
            <a:ext cx="44589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Forecast</a:t>
            </a:r>
            <a:endParaRPr lang="en-US" sz="1100"/>
          </a:p>
        </p:txBody>
      </p:sp>
      <p:sp>
        <p:nvSpPr>
          <p:cNvPr name="AutoShape 196" id="196"/>
          <p:cNvSpPr/>
          <p:nvPr/>
        </p:nvSpPr>
        <p:spPr>
          <a:xfrm>
            <a:off x="5689044" y="988440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97"/>
          <p:cNvSpPr txBox="true"/>
          <p:nvPr/>
        </p:nvSpPr>
        <p:spPr>
          <a:xfrm>
            <a:off x="5854144" y="9878086"/>
            <a:ext cx="3189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Actual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