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7560001" cy="10692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7560001" cy="10692000"/>
          </a:xfrm>
          <a:prstGeom prst="rect">
            <a:avLst/>
          </a:prstGeom>
          <a:solidFill>
            <a:srgbClr val="FCF8F0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431800" y="609600"/>
            <a:ext cx="6528079" cy="2177574"/>
          </a:xfrm>
          <a:prstGeom prst="roundRect">
            <a:avLst>
              <a:gd name="adj" fmla="val 8165"/>
            </a:avLst>
          </a:prstGeom>
          <a:solidFill>
            <a:srgbClr val="F4EEE4"/>
          </a:solidFill>
          <a:ln>
            <a:noFill/>
          </a:ln>
        </p:spPr>
      </p:sp>
      <p:cxnSp>
        <p:nvCxnSpPr>
          <p:cNvPr name="Connector 4" id="4"/>
          <p:cNvCxnSpPr/>
          <p:nvPr/>
        </p:nvCxnSpPr>
        <p:spPr>
          <a:xfrm>
            <a:off x="431800" y="609600"/>
            <a:ext cx="0" cy="2177574"/>
          </a:xfrm>
          <a:prstGeom prst="line">
            <a:avLst/>
          </a:prstGeom>
          <a:ln w="63500">
            <a:solidFill>
              <a:srgbClr val="C4994C"/>
            </a:solidFill>
          </a:ln>
        </p:spPr>
      </p:cxnSp>
      <p:sp>
        <p:nvSpPr>
          <p:cNvPr name="GraphCompose Text Line" id="5"/>
          <p:cNvSpPr txBox="true"/>
          <p:nvPr/>
        </p:nvSpPr>
        <p:spPr>
          <a:xfrm>
            <a:off x="711200" y="868784"/>
            <a:ext cx="1093076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707480"/>
                </a:solidFill>
                <a:latin typeface="Arial"/>
              </a:rPr>
              <a:t>Q2 SAMPLE REPORT</a:t>
            </a:r>
            <a:endParaRPr lang="en-US" sz="1100"/>
          </a:p>
        </p:txBody>
      </p:sp>
      <p:sp>
        <p:nvSpPr>
          <p:cNvPr name="GraphCompose Text Line" id="6"/>
          <p:cNvSpPr txBox="true"/>
          <p:nvPr/>
        </p:nvSpPr>
        <p:spPr>
          <a:xfrm>
            <a:off x="711200" y="1023859"/>
            <a:ext cx="5494223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143C4B"/>
                </a:solidFill>
                <a:latin typeface="Arial"/>
              </a:rPr>
              <a:t>Composing real documents with</a:t>
            </a:r>
            <a:endParaRPr lang="en-US" sz="1100"/>
          </a:p>
        </p:txBody>
      </p:sp>
      <p:sp>
        <p:nvSpPr>
          <p:cNvPr name="GraphCompose Text Line" id="7"/>
          <p:cNvSpPr txBox="true"/>
          <p:nvPr/>
        </p:nvSpPr>
        <p:spPr>
          <a:xfrm>
            <a:off x="711200" y="1352789"/>
            <a:ext cx="2668626" cy="32893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true" i="false" u="none" strike="noStrike" kern="0">
                <a:solidFill>
                  <a:srgbClr val="143C4B"/>
                </a:solidFill>
                <a:latin typeface="Arial"/>
              </a:rPr>
              <a:t>GraphCompose</a:t>
            </a:r>
            <a:endParaRPr lang="en-US" sz="1100"/>
          </a:p>
        </p:txBody>
      </p:sp>
      <p:sp>
        <p:nvSpPr>
          <p:cNvPr name="GraphCompose Text Line" id="8"/>
          <p:cNvSpPr txBox="true"/>
          <p:nvPr/>
        </p:nvSpPr>
        <p:spPr>
          <a:xfrm>
            <a:off x="711200" y="1816617"/>
            <a:ext cx="575238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single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Java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DSL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describes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intent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modules,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sections,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rows,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tables,</a:t>
            </a:r>
            <a:endParaRPr lang="en-US" sz="1100"/>
          </a:p>
        </p:txBody>
      </p:sp>
      <p:sp>
        <p:nvSpPr>
          <p:cNvPr name="GraphCompose Text Line" id="9"/>
          <p:cNvSpPr txBox="true"/>
          <p:nvPr/>
        </p:nvSpPr>
        <p:spPr>
          <a:xfrm>
            <a:off x="711200" y="1981082"/>
            <a:ext cx="597054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shapes,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layers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engine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resolves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layout,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pagination,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PDFBox</a:t>
            </a:r>
            <a:endParaRPr lang="en-US" sz="1100"/>
          </a:p>
        </p:txBody>
      </p:sp>
      <p:sp>
        <p:nvSpPr>
          <p:cNvPr name="GraphCompose Text Line" id="10"/>
          <p:cNvSpPr txBox="true"/>
          <p:nvPr/>
        </p:nvSpPr>
        <p:spPr>
          <a:xfrm>
            <a:off x="711200" y="2145547"/>
            <a:ext cx="5011141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rendering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deterministically.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This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document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generated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one</a:t>
            </a:r>
            <a:endParaRPr lang="en-US" sz="1100"/>
          </a:p>
        </p:txBody>
      </p:sp>
      <p:sp>
        <p:nvSpPr>
          <p:cNvPr name="GraphCompose Inline Text Span" id="11"/>
          <p:cNvSpPr txBox="true"/>
          <p:nvPr/>
        </p:nvSpPr>
        <p:spPr>
          <a:xfrm>
            <a:off x="711200" y="2370526"/>
            <a:ext cx="1883410" cy="9483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14505F"/>
                </a:solidFill>
                <a:latin typeface="Courier New"/>
              </a:rPr>
              <a:t>MasterShowcaseExample.java</a:t>
            </a:r>
            <a:endParaRPr lang="en-US" sz="1100"/>
          </a:p>
        </p:txBody>
      </p:sp>
      <p:sp>
        <p:nvSpPr>
          <p:cNvPr name="GraphCompose Inline Text Span" id="12"/>
          <p:cNvSpPr txBox="true"/>
          <p:nvPr/>
        </p:nvSpPr>
        <p:spPr>
          <a:xfrm>
            <a:off x="2593340" y="2310012"/>
            <a:ext cx="5069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endParaRPr lang="en-US" sz="1100"/>
          </a:p>
        </p:txBody>
      </p:sp>
      <p:sp>
        <p:nvSpPr>
          <p:cNvPr name="GraphCompose Inline Text Span" id="13"/>
          <p:cNvSpPr txBox="true"/>
          <p:nvPr/>
        </p:nvSpPr>
        <p:spPr>
          <a:xfrm>
            <a:off x="2642768" y="2310012"/>
            <a:ext cx="27792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file.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>
            <a:off x="431800" y="2964974"/>
            <a:ext cx="3015259" cy="1839278"/>
          </a:xfrm>
          <a:prstGeom prst="roundRect">
            <a:avLst>
              <a:gd name="adj" fmla="val 6905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15" id="15"/>
          <p:cNvCxnSpPr/>
          <p:nvPr/>
        </p:nvCxnSpPr>
        <p:spPr>
          <a:xfrm>
            <a:off x="431800" y="2964974"/>
            <a:ext cx="0" cy="1839278"/>
          </a:xfrm>
          <a:prstGeom prst="line">
            <a:avLst/>
          </a:prstGeom>
          <a:ln w="38100">
            <a:solidFill>
              <a:srgbClr val="C4994C"/>
            </a:solidFill>
          </a:ln>
        </p:spPr>
      </p:cxnSp>
      <p:sp>
        <p:nvSpPr>
          <p:cNvPr name="GraphCompose Text Line" id="16"/>
          <p:cNvSpPr txBox="true"/>
          <p:nvPr/>
        </p:nvSpPr>
        <p:spPr>
          <a:xfrm>
            <a:off x="635000" y="3142012"/>
            <a:ext cx="54470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Highlight</a:t>
            </a:r>
            <a:endParaRPr lang="en-US" sz="1100"/>
          </a:p>
        </p:txBody>
      </p:sp>
      <p:sp>
        <p:nvSpPr>
          <p:cNvPr name="GraphCompose Text Line" id="17"/>
          <p:cNvSpPr txBox="true"/>
          <p:nvPr/>
        </p:nvSpPr>
        <p:spPr>
          <a:xfrm>
            <a:off x="635000" y="3340299"/>
            <a:ext cx="234360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Status: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On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track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675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/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675</a:t>
            </a:r>
            <a:endParaRPr lang="en-US" sz="1100"/>
          </a:p>
        </p:txBody>
      </p:sp>
      <p:sp>
        <p:nvSpPr>
          <p:cNvPr name="GraphCompose Text Line" id="18"/>
          <p:cNvSpPr txBox="true"/>
          <p:nvPr/>
        </p:nvSpPr>
        <p:spPr>
          <a:xfrm>
            <a:off x="635000" y="3504764"/>
            <a:ext cx="2096110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tests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green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—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Q2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release</a:t>
            </a:r>
            <a:endParaRPr lang="en-US" sz="1100"/>
          </a:p>
        </p:txBody>
      </p:sp>
      <p:sp>
        <p:nvSpPr>
          <p:cNvPr name="GraphCompose Text Line" id="19"/>
          <p:cNvSpPr txBox="true"/>
          <p:nvPr/>
        </p:nvSpPr>
        <p:spPr>
          <a:xfrm>
            <a:off x="635000" y="3669229"/>
            <a:ext cx="261012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window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confirmed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sng" strike="noStrike" kern="0">
                <a:solidFill>
                  <a:srgbClr val="000000"/>
                </a:solidFill>
                <a:latin typeface="Arial"/>
              </a:rPr>
              <a:t>June</a:t>
            </a:r>
            <a:r>
              <a:rPr lang="en-US" sz="1400" b="false" i="false" u="sng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sng" strike="noStrike" kern="0">
                <a:solidFill>
                  <a:srgbClr val="000000"/>
                </a:solidFill>
                <a:latin typeface="Arial"/>
              </a:rPr>
              <a:t>2026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20"/>
          <p:cNvSpPr txBox="true"/>
          <p:nvPr/>
        </p:nvSpPr>
        <p:spPr>
          <a:xfrm>
            <a:off x="635000" y="3909894"/>
            <a:ext cx="241223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Performance: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E3846"/>
                </a:solidFill>
                <a:latin typeface="Arial"/>
              </a:rPr>
              <a:t>invoice-template</a:t>
            </a:r>
            <a:endParaRPr lang="en-US" sz="1100"/>
          </a:p>
        </p:txBody>
      </p:sp>
      <p:sp>
        <p:nvSpPr>
          <p:cNvPr name="GraphCompose Text Line" id="21"/>
          <p:cNvSpPr txBox="true"/>
          <p:nvPr/>
        </p:nvSpPr>
        <p:spPr>
          <a:xfrm>
            <a:off x="635000" y="4074359"/>
            <a:ext cx="2066773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13.4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avg,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75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docs/sec;</a:t>
            </a:r>
            <a:endParaRPr lang="en-US" sz="1100"/>
          </a:p>
        </p:txBody>
      </p:sp>
      <p:sp>
        <p:nvSpPr>
          <p:cNvPr name="GraphCompose Text Line" id="22"/>
          <p:cNvSpPr txBox="true"/>
          <p:nvPr/>
        </p:nvSpPr>
        <p:spPr>
          <a:xfrm>
            <a:off x="635000" y="4238824"/>
            <a:ext cx="2214880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E3846"/>
                </a:solidFill>
                <a:latin typeface="Arial"/>
              </a:rPr>
              <a:t>feature-rich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36.8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avg,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27</a:t>
            </a:r>
            <a:endParaRPr lang="en-US" sz="1100"/>
          </a:p>
        </p:txBody>
      </p:sp>
      <p:sp>
        <p:nvSpPr>
          <p:cNvPr name="GraphCompose Text Line" id="23"/>
          <p:cNvSpPr txBox="true"/>
          <p:nvPr/>
        </p:nvSpPr>
        <p:spPr>
          <a:xfrm>
            <a:off x="635000" y="4403289"/>
            <a:ext cx="752297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docs/sec.</a:t>
            </a:r>
            <a:endParaRPr lang="en-US" sz="1100"/>
          </a:p>
        </p:txBody>
      </p:sp>
      <p:grpSp>
        <p:nvGrpSpPr>
          <p:cNvPr name="Group 24" id="24"/>
          <p:cNvGrpSpPr/>
          <p:nvPr/>
        </p:nvGrpSpPr>
        <p:grpSpPr>
          <a:xfrm flipH="false" flipV="false" rot="-720000">
            <a:off x="3907000" y="3091974"/>
            <a:ext cx="1498600" cy="1498600"/>
            <a:chOff x="3907000" y="3091974"/>
            <a:chExt cx="1498600" cy="1498600"/>
          </a:xfrm>
        </p:grpSpPr>
        <p:sp>
          <p:nvSpPr>
            <p:cNvPr name="AutoShape 25" id="25"/>
            <p:cNvSpPr/>
            <p:nvPr/>
          </p:nvSpPr>
          <p:spPr>
            <a:xfrm>
              <a:off x="3907000" y="3091974"/>
              <a:ext cx="1498600" cy="1498600"/>
            </a:xfrm>
            <a:prstGeom prst="ellipse">
              <a:avLst/>
            </a:prstGeom>
            <a:solidFill>
              <a:srgbClr val="14505F"/>
            </a:solidFill>
            <a:ln w="19050">
              <a:solidFill>
                <a:srgbClr val="C4994C"/>
              </a:solidFill>
            </a:ln>
          </p:spPr>
        </p:sp>
        <p:pic>
          <p:nvPicPr>
            <p:cNvPr name="GraphCompose Clipped Composite" id="26"/>
            <p:cNvPicPr>
              <a:picLocks noChangeAspect="true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07000" y="3091974"/>
              <a:ext cx="1498600" cy="1498600"/>
            </a:xfrm>
            <a:prstGeom prst="rect">
              <a:avLst/>
            </a:prstGeom>
          </p:spPr>
        </p:pic>
      </p:grpSp>
      <p:sp>
        <p:nvSpPr>
          <p:cNvPr name="AutoShape 27" id="27"/>
          <p:cNvSpPr/>
          <p:nvPr/>
        </p:nvSpPr>
        <p:spPr>
          <a:xfrm>
            <a:off x="5568400" y="2964974"/>
            <a:ext cx="1559800" cy="1996751"/>
          </a:xfrm>
          <a:prstGeom prst="roundRect">
            <a:avLst>
              <a:gd name="adj" fmla="val 6514"/>
            </a:avLst>
          </a:prstGeom>
          <a:solidFill>
            <a:srgbClr val="E8F4F5"/>
          </a:solidFill>
          <a:ln>
            <a:noFill/>
          </a:ln>
        </p:spPr>
      </p:sp>
      <p:sp>
        <p:nvSpPr>
          <p:cNvPr name="GraphCompose Text Line" id="28"/>
          <p:cNvSpPr txBox="true"/>
          <p:nvPr/>
        </p:nvSpPr>
        <p:spPr>
          <a:xfrm>
            <a:off x="5695400" y="3071758"/>
            <a:ext cx="385248" cy="99854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true" i="false" u="none" strike="noStrike" kern="0">
                <a:solidFill>
                  <a:srgbClr val="707480"/>
                </a:solidFill>
                <a:latin typeface="Arial"/>
              </a:rPr>
              <a:t>Audit ID</a:t>
            </a:r>
            <a:endParaRPr lang="en-US" sz="1100"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400" y="3255328"/>
            <a:ext cx="1346200" cy="1346200"/>
          </a:xfrm>
          <a:prstGeom prst="rect">
            <a:avLst/>
          </a:prstGeom>
        </p:spPr>
      </p:pic>
      <p:sp>
        <p:nvSpPr>
          <p:cNvPr name="GraphCompose Text Line" id="30"/>
          <p:cNvSpPr txBox="true"/>
          <p:nvPr/>
        </p:nvSpPr>
        <p:spPr>
          <a:xfrm>
            <a:off x="5695400" y="4643058"/>
            <a:ext cx="58420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DemchaAV/</a:t>
            </a:r>
            <a:endParaRPr lang="en-US" sz="1100"/>
          </a:p>
        </p:txBody>
      </p:sp>
      <p:sp>
        <p:nvSpPr>
          <p:cNvPr name="GraphCompose Text Line" id="31"/>
          <p:cNvSpPr txBox="true"/>
          <p:nvPr/>
        </p:nvSpPr>
        <p:spPr>
          <a:xfrm>
            <a:off x="5695400" y="4727906"/>
            <a:ext cx="77851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GraphCompose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>
            <a:off x="431800" y="5139525"/>
            <a:ext cx="6695008" cy="1530033"/>
          </a:xfrm>
          <a:prstGeom prst="roundRect">
            <a:avLst>
              <a:gd name="adj" fmla="val 8300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33" id="33"/>
          <p:cNvCxnSpPr/>
          <p:nvPr/>
        </p:nvCxnSpPr>
        <p:spPr>
          <a:xfrm>
            <a:off x="431800" y="5139525"/>
            <a:ext cx="0" cy="1530033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34"/>
          <p:cNvSpPr txBox="true"/>
          <p:nvPr/>
        </p:nvSpPr>
        <p:spPr>
          <a:xfrm>
            <a:off x="635000" y="5302293"/>
            <a:ext cx="2029219" cy="19970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true" i="false" u="none" strike="noStrike" kern="0">
                <a:solidFill>
                  <a:srgbClr val="143C4B"/>
                </a:solidFill>
                <a:latin typeface="Arial"/>
              </a:rPr>
              <a:t>Executive summary</a:t>
            </a:r>
            <a:endParaRPr lang="en-US" sz="1100"/>
          </a:p>
        </p:txBody>
      </p:sp>
      <p:sp>
        <p:nvSpPr>
          <p:cNvPr name="GraphCompose Text Line" id="35"/>
          <p:cNvSpPr txBox="true"/>
          <p:nvPr/>
        </p:nvSpPr>
        <p:spPr>
          <a:xfrm>
            <a:off x="635000" y="5610735"/>
            <a:ext cx="5805729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v1.5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lands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cinematic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features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that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turn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GraphCompose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from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"tidy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PDF</a:t>
            </a:r>
            <a:endParaRPr lang="en-US" sz="1100"/>
          </a:p>
        </p:txBody>
      </p:sp>
      <p:sp>
        <p:nvSpPr>
          <p:cNvPr name="GraphCompose Text Line" id="36"/>
          <p:cNvSpPr txBox="true"/>
          <p:nvPr/>
        </p:nvSpPr>
        <p:spPr>
          <a:xfrm>
            <a:off x="635000" y="5775200"/>
            <a:ext cx="6289878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layouter"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into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designed-document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engine: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shape-as-container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with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clip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path</a:t>
            </a:r>
            <a:endParaRPr lang="en-US" sz="1100"/>
          </a:p>
        </p:txBody>
      </p:sp>
      <p:sp>
        <p:nvSpPr>
          <p:cNvPr name="GraphCompose Text Line" id="37"/>
          <p:cNvSpPr txBox="true"/>
          <p:nvPr/>
        </p:nvSpPr>
        <p:spPr>
          <a:xfrm>
            <a:off x="635000" y="5939665"/>
            <a:ext cx="5787060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rotate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/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scale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+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per-layer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z-index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advanced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tables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(row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span,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zebra,</a:t>
            </a:r>
            <a:endParaRPr lang="en-US" sz="1100"/>
          </a:p>
        </p:txBody>
      </p:sp>
      <p:sp>
        <p:nvSpPr>
          <p:cNvPr name="GraphCompose Text Line" id="38"/>
          <p:cNvSpPr txBox="true"/>
          <p:nvPr/>
        </p:nvSpPr>
        <p:spPr>
          <a:xfrm>
            <a:off x="635000" y="6104130"/>
            <a:ext cx="5811241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totals,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repeating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header)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,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and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two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cinematic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templates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ModernInvoice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/</a:t>
            </a:r>
            <a:endParaRPr lang="en-US" sz="1100"/>
          </a:p>
        </p:txBody>
      </p:sp>
      <p:sp>
        <p:nvSpPr>
          <p:cNvPr name="GraphCompose Text Line" id="39"/>
          <p:cNvSpPr txBox="true"/>
          <p:nvPr/>
        </p:nvSpPr>
        <p:spPr>
          <a:xfrm>
            <a:off x="635000" y="6268595"/>
            <a:ext cx="3360445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ModernProposal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driven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by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BrandTheme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40"/>
          <p:cNvSpPr txBox="true"/>
          <p:nvPr/>
        </p:nvSpPr>
        <p:spPr>
          <a:xfrm>
            <a:off x="431800" y="6806925"/>
            <a:ext cx="1932927" cy="19970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true" i="false" u="none" strike="noStrike" kern="0">
                <a:solidFill>
                  <a:srgbClr val="143C4B"/>
                </a:solidFill>
                <a:latin typeface="Arial"/>
              </a:rPr>
              <a:t>Quarterly numbers</a:t>
            </a:r>
            <a:endParaRPr lang="en-US" sz="1100"/>
          </a:p>
        </p:txBody>
      </p:sp>
      <p:sp>
        <p:nvSpPr>
          <p:cNvPr name="GraphCompose Text Line" id="41"/>
          <p:cNvSpPr txBox="true"/>
          <p:nvPr/>
        </p:nvSpPr>
        <p:spPr>
          <a:xfrm>
            <a:off x="431800" y="7102811"/>
            <a:ext cx="6102190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Repeated header + zebra rows + bold totals; the table paginates row-by-row across the next page so column titles stay visible.</a:t>
            </a:r>
            <a:endParaRPr lang="en-US" sz="1100"/>
          </a:p>
        </p:txBody>
      </p:sp>
      <p:sp>
        <p:nvSpPr>
          <p:cNvPr name="GraphCompose Table Cell Fill" id="42"/>
          <p:cNvSpPr/>
          <p:nvPr/>
        </p:nvSpPr>
        <p:spPr>
          <a:xfrm>
            <a:off x="431800" y="7478294"/>
            <a:ext cx="762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3"/>
          <p:cNvSpPr/>
          <p:nvPr/>
        </p:nvSpPr>
        <p:spPr>
          <a:xfrm>
            <a:off x="1193800" y="7478294"/>
            <a:ext cx="2219928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4"/>
          <p:cNvSpPr/>
          <p:nvPr/>
        </p:nvSpPr>
        <p:spPr>
          <a:xfrm>
            <a:off x="3413728" y="7478294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5"/>
          <p:cNvSpPr/>
          <p:nvPr/>
        </p:nvSpPr>
        <p:spPr>
          <a:xfrm>
            <a:off x="4429728" y="7478294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6"/>
          <p:cNvSpPr/>
          <p:nvPr/>
        </p:nvSpPr>
        <p:spPr>
          <a:xfrm>
            <a:off x="5445728" y="7478294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7"/>
          <p:cNvSpPr/>
          <p:nvPr/>
        </p:nvSpPr>
        <p:spPr>
          <a:xfrm>
            <a:off x="431800" y="7793095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8"/>
          <p:cNvSpPr/>
          <p:nvPr/>
        </p:nvSpPr>
        <p:spPr>
          <a:xfrm>
            <a:off x="1193800" y="7793095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9"/>
          <p:cNvSpPr/>
          <p:nvPr/>
        </p:nvSpPr>
        <p:spPr>
          <a:xfrm>
            <a:off x="3413728" y="779309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0"/>
          <p:cNvSpPr/>
          <p:nvPr/>
        </p:nvSpPr>
        <p:spPr>
          <a:xfrm>
            <a:off x="4429728" y="779309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1"/>
          <p:cNvSpPr/>
          <p:nvPr/>
        </p:nvSpPr>
        <p:spPr>
          <a:xfrm>
            <a:off x="5445728" y="779309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2"/>
          <p:cNvSpPr/>
          <p:nvPr/>
        </p:nvSpPr>
        <p:spPr>
          <a:xfrm>
            <a:off x="431800" y="8082496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3"/>
          <p:cNvSpPr/>
          <p:nvPr/>
        </p:nvSpPr>
        <p:spPr>
          <a:xfrm>
            <a:off x="1193800" y="8082496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4"/>
          <p:cNvSpPr/>
          <p:nvPr/>
        </p:nvSpPr>
        <p:spPr>
          <a:xfrm>
            <a:off x="3413728" y="808249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5"/>
          <p:cNvSpPr/>
          <p:nvPr/>
        </p:nvSpPr>
        <p:spPr>
          <a:xfrm>
            <a:off x="4429728" y="808249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6"/>
          <p:cNvSpPr/>
          <p:nvPr/>
        </p:nvSpPr>
        <p:spPr>
          <a:xfrm>
            <a:off x="5445728" y="808249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7"/>
          <p:cNvSpPr/>
          <p:nvPr/>
        </p:nvSpPr>
        <p:spPr>
          <a:xfrm>
            <a:off x="431800" y="8371897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8"/>
          <p:cNvSpPr/>
          <p:nvPr/>
        </p:nvSpPr>
        <p:spPr>
          <a:xfrm>
            <a:off x="1193800" y="8371897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9"/>
          <p:cNvSpPr/>
          <p:nvPr/>
        </p:nvSpPr>
        <p:spPr>
          <a:xfrm>
            <a:off x="3413728" y="837189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0"/>
          <p:cNvSpPr/>
          <p:nvPr/>
        </p:nvSpPr>
        <p:spPr>
          <a:xfrm>
            <a:off x="4429728" y="837189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1"/>
          <p:cNvSpPr/>
          <p:nvPr/>
        </p:nvSpPr>
        <p:spPr>
          <a:xfrm>
            <a:off x="5445728" y="837189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2"/>
          <p:cNvSpPr/>
          <p:nvPr/>
        </p:nvSpPr>
        <p:spPr>
          <a:xfrm>
            <a:off x="431800" y="8661298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3"/>
          <p:cNvSpPr/>
          <p:nvPr/>
        </p:nvSpPr>
        <p:spPr>
          <a:xfrm>
            <a:off x="1193800" y="8661298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4"/>
          <p:cNvSpPr/>
          <p:nvPr/>
        </p:nvSpPr>
        <p:spPr>
          <a:xfrm>
            <a:off x="3413728" y="8661298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5"/>
          <p:cNvSpPr/>
          <p:nvPr/>
        </p:nvSpPr>
        <p:spPr>
          <a:xfrm>
            <a:off x="4429728" y="8661298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6"/>
          <p:cNvSpPr/>
          <p:nvPr/>
        </p:nvSpPr>
        <p:spPr>
          <a:xfrm>
            <a:off x="5445728" y="8661298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7"/>
          <p:cNvSpPr/>
          <p:nvPr/>
        </p:nvSpPr>
        <p:spPr>
          <a:xfrm>
            <a:off x="431800" y="8950700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8"/>
          <p:cNvSpPr/>
          <p:nvPr/>
        </p:nvSpPr>
        <p:spPr>
          <a:xfrm>
            <a:off x="1193800" y="8950700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9"/>
          <p:cNvSpPr/>
          <p:nvPr/>
        </p:nvSpPr>
        <p:spPr>
          <a:xfrm>
            <a:off x="3413728" y="895070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0"/>
          <p:cNvSpPr/>
          <p:nvPr/>
        </p:nvSpPr>
        <p:spPr>
          <a:xfrm>
            <a:off x="4429728" y="895070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1"/>
          <p:cNvSpPr/>
          <p:nvPr/>
        </p:nvSpPr>
        <p:spPr>
          <a:xfrm>
            <a:off x="5445728" y="895070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2"/>
          <p:cNvSpPr/>
          <p:nvPr/>
        </p:nvSpPr>
        <p:spPr>
          <a:xfrm>
            <a:off x="431800" y="9240101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3"/>
          <p:cNvSpPr/>
          <p:nvPr/>
        </p:nvSpPr>
        <p:spPr>
          <a:xfrm>
            <a:off x="1193800" y="9240101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4"/>
          <p:cNvSpPr/>
          <p:nvPr/>
        </p:nvSpPr>
        <p:spPr>
          <a:xfrm>
            <a:off x="3413728" y="92401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5"/>
          <p:cNvSpPr/>
          <p:nvPr/>
        </p:nvSpPr>
        <p:spPr>
          <a:xfrm>
            <a:off x="4429728" y="92401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6"/>
          <p:cNvSpPr/>
          <p:nvPr/>
        </p:nvSpPr>
        <p:spPr>
          <a:xfrm>
            <a:off x="5445728" y="92401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7"/>
          <p:cNvSpPr/>
          <p:nvPr/>
        </p:nvSpPr>
        <p:spPr>
          <a:xfrm>
            <a:off x="431800" y="9529502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8"/>
          <p:cNvSpPr/>
          <p:nvPr/>
        </p:nvSpPr>
        <p:spPr>
          <a:xfrm>
            <a:off x="1193800" y="9529502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9"/>
          <p:cNvSpPr/>
          <p:nvPr/>
        </p:nvSpPr>
        <p:spPr>
          <a:xfrm>
            <a:off x="3413728" y="95295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0"/>
          <p:cNvSpPr/>
          <p:nvPr/>
        </p:nvSpPr>
        <p:spPr>
          <a:xfrm>
            <a:off x="4429728" y="95295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1"/>
          <p:cNvSpPr/>
          <p:nvPr/>
        </p:nvSpPr>
        <p:spPr>
          <a:xfrm>
            <a:off x="5445728" y="95295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cxnSp>
        <p:nvCxnSpPr>
          <p:cNvPr name="GraphCompose Table Cell Border" id="82"/>
          <p:cNvCxnSpPr/>
          <p:nvPr/>
        </p:nvCxnSpPr>
        <p:spPr>
          <a:xfrm>
            <a:off x="431800" y="7478294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3"/>
          <p:cNvCxnSpPr/>
          <p:nvPr/>
        </p:nvCxnSpPr>
        <p:spPr>
          <a:xfrm>
            <a:off x="431800" y="7793095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4"/>
          <p:cNvCxnSpPr/>
          <p:nvPr/>
        </p:nvCxnSpPr>
        <p:spPr>
          <a:xfrm>
            <a:off x="431800" y="7478294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5"/>
          <p:cNvCxnSpPr/>
          <p:nvPr/>
        </p:nvCxnSpPr>
        <p:spPr>
          <a:xfrm>
            <a:off x="1193800" y="7478294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86"/>
          <p:cNvSpPr txBox="true"/>
          <p:nvPr/>
        </p:nvSpPr>
        <p:spPr>
          <a:xfrm>
            <a:off x="546100" y="7557299"/>
            <a:ext cx="28962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Code</a:t>
            </a:r>
            <a:endParaRPr lang="en-US" sz="1100"/>
          </a:p>
        </p:txBody>
      </p:sp>
      <p:cxnSp>
        <p:nvCxnSpPr>
          <p:cNvPr name="GraphCompose Table Cell Border" id="87"/>
          <p:cNvCxnSpPr/>
          <p:nvPr/>
        </p:nvCxnSpPr>
        <p:spPr>
          <a:xfrm>
            <a:off x="1191260" y="7478294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8"/>
          <p:cNvCxnSpPr/>
          <p:nvPr/>
        </p:nvCxnSpPr>
        <p:spPr>
          <a:xfrm>
            <a:off x="1191260" y="7793095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89"/>
          <p:cNvCxnSpPr/>
          <p:nvPr/>
        </p:nvCxnSpPr>
        <p:spPr>
          <a:xfrm>
            <a:off x="3413728" y="7478294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90"/>
          <p:cNvSpPr txBox="true"/>
          <p:nvPr/>
        </p:nvSpPr>
        <p:spPr>
          <a:xfrm>
            <a:off x="1308100" y="7557299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Initiative</a:t>
            </a:r>
            <a:endParaRPr lang="en-US" sz="1100"/>
          </a:p>
        </p:txBody>
      </p:sp>
      <p:cxnSp>
        <p:nvCxnSpPr>
          <p:cNvPr name="GraphCompose Table Cell Border" id="91"/>
          <p:cNvCxnSpPr/>
          <p:nvPr/>
        </p:nvCxnSpPr>
        <p:spPr>
          <a:xfrm>
            <a:off x="3411188" y="7478294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2"/>
          <p:cNvCxnSpPr/>
          <p:nvPr/>
        </p:nvCxnSpPr>
        <p:spPr>
          <a:xfrm>
            <a:off x="3411188" y="7793095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3"/>
          <p:cNvCxnSpPr/>
          <p:nvPr/>
        </p:nvCxnSpPr>
        <p:spPr>
          <a:xfrm>
            <a:off x="4429728" y="7478294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94"/>
          <p:cNvSpPr txBox="true"/>
          <p:nvPr/>
        </p:nvSpPr>
        <p:spPr>
          <a:xfrm>
            <a:off x="3528028" y="7557299"/>
            <a:ext cx="32304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Hours</a:t>
            </a:r>
            <a:endParaRPr lang="en-US" sz="1100"/>
          </a:p>
        </p:txBody>
      </p:sp>
      <p:cxnSp>
        <p:nvCxnSpPr>
          <p:cNvPr name="GraphCompose Table Cell Border" id="95"/>
          <p:cNvCxnSpPr/>
          <p:nvPr/>
        </p:nvCxnSpPr>
        <p:spPr>
          <a:xfrm>
            <a:off x="4427188" y="7478294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6"/>
          <p:cNvCxnSpPr/>
          <p:nvPr/>
        </p:nvCxnSpPr>
        <p:spPr>
          <a:xfrm>
            <a:off x="4427188" y="7793095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7"/>
          <p:cNvCxnSpPr/>
          <p:nvPr/>
        </p:nvCxnSpPr>
        <p:spPr>
          <a:xfrm>
            <a:off x="5445728" y="7478294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98"/>
          <p:cNvSpPr txBox="true"/>
          <p:nvPr/>
        </p:nvSpPr>
        <p:spPr>
          <a:xfrm>
            <a:off x="4544028" y="7557299"/>
            <a:ext cx="35658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Owner</a:t>
            </a:r>
            <a:endParaRPr lang="en-US" sz="1100"/>
          </a:p>
        </p:txBody>
      </p:sp>
      <p:cxnSp>
        <p:nvCxnSpPr>
          <p:cNvPr name="GraphCompose Table Cell Border" id="99"/>
          <p:cNvCxnSpPr/>
          <p:nvPr/>
        </p:nvCxnSpPr>
        <p:spPr>
          <a:xfrm>
            <a:off x="5443188" y="7478294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0"/>
          <p:cNvCxnSpPr/>
          <p:nvPr/>
        </p:nvCxnSpPr>
        <p:spPr>
          <a:xfrm>
            <a:off x="5443188" y="7793095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1"/>
          <p:cNvCxnSpPr/>
          <p:nvPr/>
        </p:nvCxnSpPr>
        <p:spPr>
          <a:xfrm>
            <a:off x="6461728" y="7478294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02"/>
          <p:cNvSpPr txBox="true"/>
          <p:nvPr/>
        </p:nvSpPr>
        <p:spPr>
          <a:xfrm>
            <a:off x="5560028" y="7557299"/>
            <a:ext cx="41703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Amount</a:t>
            </a:r>
            <a:endParaRPr lang="en-US" sz="1100"/>
          </a:p>
        </p:txBody>
      </p:sp>
      <p:cxnSp>
        <p:nvCxnSpPr>
          <p:cNvPr name="GraphCompose Table Cell Border" id="103"/>
          <p:cNvCxnSpPr/>
          <p:nvPr/>
        </p:nvCxnSpPr>
        <p:spPr>
          <a:xfrm>
            <a:off x="431800" y="8082496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04"/>
          <p:cNvCxnSpPr/>
          <p:nvPr/>
        </p:nvCxnSpPr>
        <p:spPr>
          <a:xfrm>
            <a:off x="431800" y="779309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05"/>
          <p:cNvCxnSpPr/>
          <p:nvPr/>
        </p:nvCxnSpPr>
        <p:spPr>
          <a:xfrm>
            <a:off x="1193800" y="779309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06"/>
          <p:cNvSpPr txBox="true"/>
          <p:nvPr/>
        </p:nvSpPr>
        <p:spPr>
          <a:xfrm>
            <a:off x="546100" y="7859400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INV-100</a:t>
            </a:r>
            <a:endParaRPr lang="en-US" sz="1100"/>
          </a:p>
        </p:txBody>
      </p:sp>
      <p:cxnSp>
        <p:nvCxnSpPr>
          <p:cNvPr name="GraphCompose Table Cell Border" id="107"/>
          <p:cNvCxnSpPr/>
          <p:nvPr/>
        </p:nvCxnSpPr>
        <p:spPr>
          <a:xfrm>
            <a:off x="1191260" y="8082496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08"/>
          <p:cNvCxnSpPr/>
          <p:nvPr/>
        </p:nvCxnSpPr>
        <p:spPr>
          <a:xfrm>
            <a:off x="3413728" y="779309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09"/>
          <p:cNvSpPr txBox="true"/>
          <p:nvPr/>
        </p:nvSpPr>
        <p:spPr>
          <a:xfrm>
            <a:off x="1308100" y="7859400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 — quarterly delivery slice</a:t>
            </a:r>
            <a:endParaRPr lang="en-US" sz="1100"/>
          </a:p>
        </p:txBody>
      </p:sp>
      <p:cxnSp>
        <p:nvCxnSpPr>
          <p:cNvPr name="GraphCompose Table Cell Border" id="110"/>
          <p:cNvCxnSpPr/>
          <p:nvPr/>
        </p:nvCxnSpPr>
        <p:spPr>
          <a:xfrm>
            <a:off x="3411188" y="808249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11"/>
          <p:cNvCxnSpPr/>
          <p:nvPr/>
        </p:nvCxnSpPr>
        <p:spPr>
          <a:xfrm>
            <a:off x="4429728" y="779309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12"/>
          <p:cNvSpPr txBox="true"/>
          <p:nvPr/>
        </p:nvSpPr>
        <p:spPr>
          <a:xfrm>
            <a:off x="3528028" y="7859400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40 h</a:t>
            </a:r>
            <a:endParaRPr lang="en-US" sz="1100"/>
          </a:p>
        </p:txBody>
      </p:sp>
      <p:cxnSp>
        <p:nvCxnSpPr>
          <p:cNvPr name="GraphCompose Table Cell Border" id="113"/>
          <p:cNvCxnSpPr/>
          <p:nvPr/>
        </p:nvCxnSpPr>
        <p:spPr>
          <a:xfrm>
            <a:off x="4427188" y="808249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14"/>
          <p:cNvCxnSpPr/>
          <p:nvPr/>
        </p:nvCxnSpPr>
        <p:spPr>
          <a:xfrm>
            <a:off x="5445728" y="779309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15"/>
          <p:cNvSpPr txBox="true"/>
          <p:nvPr/>
        </p:nvSpPr>
        <p:spPr>
          <a:xfrm>
            <a:off x="4544028" y="7859400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116"/>
          <p:cNvCxnSpPr/>
          <p:nvPr/>
        </p:nvCxnSpPr>
        <p:spPr>
          <a:xfrm>
            <a:off x="5443188" y="8082496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17"/>
          <p:cNvCxnSpPr/>
          <p:nvPr/>
        </p:nvCxnSpPr>
        <p:spPr>
          <a:xfrm>
            <a:off x="6461728" y="779309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18"/>
          <p:cNvSpPr txBox="true"/>
          <p:nvPr/>
        </p:nvSpPr>
        <p:spPr>
          <a:xfrm>
            <a:off x="5560028" y="7859400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£ 1,800</a:t>
            </a:r>
            <a:endParaRPr lang="en-US" sz="1100"/>
          </a:p>
        </p:txBody>
      </p:sp>
      <p:cxnSp>
        <p:nvCxnSpPr>
          <p:cNvPr name="GraphCompose Table Cell Border" id="119"/>
          <p:cNvCxnSpPr/>
          <p:nvPr/>
        </p:nvCxnSpPr>
        <p:spPr>
          <a:xfrm>
            <a:off x="431800" y="8371897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0"/>
          <p:cNvCxnSpPr/>
          <p:nvPr/>
        </p:nvCxnSpPr>
        <p:spPr>
          <a:xfrm>
            <a:off x="431800" y="808249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1"/>
          <p:cNvCxnSpPr/>
          <p:nvPr/>
        </p:nvCxnSpPr>
        <p:spPr>
          <a:xfrm>
            <a:off x="1193800" y="808249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2"/>
          <p:cNvSpPr txBox="true"/>
          <p:nvPr/>
        </p:nvSpPr>
        <p:spPr>
          <a:xfrm>
            <a:off x="546100" y="8148801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INV-101</a:t>
            </a:r>
            <a:endParaRPr lang="en-US" sz="1100"/>
          </a:p>
        </p:txBody>
      </p:sp>
      <p:cxnSp>
        <p:nvCxnSpPr>
          <p:cNvPr name="GraphCompose Table Cell Border" id="123"/>
          <p:cNvCxnSpPr/>
          <p:nvPr/>
        </p:nvCxnSpPr>
        <p:spPr>
          <a:xfrm>
            <a:off x="1191260" y="8371897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4"/>
          <p:cNvCxnSpPr/>
          <p:nvPr/>
        </p:nvCxnSpPr>
        <p:spPr>
          <a:xfrm>
            <a:off x="3413728" y="808249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5"/>
          <p:cNvSpPr txBox="true"/>
          <p:nvPr/>
        </p:nvSpPr>
        <p:spPr>
          <a:xfrm>
            <a:off x="1308100" y="8148801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 — quarterly delivery slice</a:t>
            </a:r>
            <a:endParaRPr lang="en-US" sz="1100"/>
          </a:p>
        </p:txBody>
      </p:sp>
      <p:cxnSp>
        <p:nvCxnSpPr>
          <p:cNvPr name="GraphCompose Table Cell Border" id="126"/>
          <p:cNvCxnSpPr/>
          <p:nvPr/>
        </p:nvCxnSpPr>
        <p:spPr>
          <a:xfrm>
            <a:off x="3411188" y="837189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7"/>
          <p:cNvCxnSpPr/>
          <p:nvPr/>
        </p:nvCxnSpPr>
        <p:spPr>
          <a:xfrm>
            <a:off x="4429728" y="808249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8"/>
          <p:cNvSpPr txBox="true"/>
          <p:nvPr/>
        </p:nvSpPr>
        <p:spPr>
          <a:xfrm>
            <a:off x="3528028" y="8148801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43 h</a:t>
            </a:r>
            <a:endParaRPr lang="en-US" sz="1100"/>
          </a:p>
        </p:txBody>
      </p:sp>
      <p:cxnSp>
        <p:nvCxnSpPr>
          <p:cNvPr name="GraphCompose Table Cell Border" id="129"/>
          <p:cNvCxnSpPr/>
          <p:nvPr/>
        </p:nvCxnSpPr>
        <p:spPr>
          <a:xfrm>
            <a:off x="4427188" y="837189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0"/>
          <p:cNvCxnSpPr/>
          <p:nvPr/>
        </p:nvCxnSpPr>
        <p:spPr>
          <a:xfrm>
            <a:off x="5445728" y="808249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1"/>
          <p:cNvSpPr txBox="true"/>
          <p:nvPr/>
        </p:nvSpPr>
        <p:spPr>
          <a:xfrm>
            <a:off x="4544028" y="8148801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32"/>
          <p:cNvCxnSpPr/>
          <p:nvPr/>
        </p:nvCxnSpPr>
        <p:spPr>
          <a:xfrm>
            <a:off x="5443188" y="8371897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3"/>
          <p:cNvCxnSpPr/>
          <p:nvPr/>
        </p:nvCxnSpPr>
        <p:spPr>
          <a:xfrm>
            <a:off x="6461728" y="808249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4"/>
          <p:cNvSpPr txBox="true"/>
          <p:nvPr/>
        </p:nvSpPr>
        <p:spPr>
          <a:xfrm>
            <a:off x="5560028" y="8148801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£ 2,015</a:t>
            </a:r>
            <a:endParaRPr lang="en-US" sz="1100"/>
          </a:p>
        </p:txBody>
      </p:sp>
      <p:cxnSp>
        <p:nvCxnSpPr>
          <p:cNvPr name="GraphCompose Table Cell Border" id="135"/>
          <p:cNvCxnSpPr/>
          <p:nvPr/>
        </p:nvCxnSpPr>
        <p:spPr>
          <a:xfrm>
            <a:off x="431800" y="8661298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6"/>
          <p:cNvCxnSpPr/>
          <p:nvPr/>
        </p:nvCxnSpPr>
        <p:spPr>
          <a:xfrm>
            <a:off x="431800" y="837189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7"/>
          <p:cNvCxnSpPr/>
          <p:nvPr/>
        </p:nvCxnSpPr>
        <p:spPr>
          <a:xfrm>
            <a:off x="1193800" y="837189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8"/>
          <p:cNvSpPr txBox="true"/>
          <p:nvPr/>
        </p:nvSpPr>
        <p:spPr>
          <a:xfrm>
            <a:off x="546100" y="8438203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INV-102</a:t>
            </a:r>
            <a:endParaRPr lang="en-US" sz="1100"/>
          </a:p>
        </p:txBody>
      </p:sp>
      <p:cxnSp>
        <p:nvCxnSpPr>
          <p:cNvPr name="GraphCompose Table Cell Border" id="139"/>
          <p:cNvCxnSpPr/>
          <p:nvPr/>
        </p:nvCxnSpPr>
        <p:spPr>
          <a:xfrm>
            <a:off x="1191260" y="8661298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0"/>
          <p:cNvCxnSpPr/>
          <p:nvPr/>
        </p:nvCxnSpPr>
        <p:spPr>
          <a:xfrm>
            <a:off x="3413728" y="837189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1"/>
          <p:cNvSpPr txBox="true"/>
          <p:nvPr/>
        </p:nvSpPr>
        <p:spPr>
          <a:xfrm>
            <a:off x="1308100" y="8438203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3 — quarterly delivery slice</a:t>
            </a:r>
            <a:endParaRPr lang="en-US" sz="1100"/>
          </a:p>
        </p:txBody>
      </p:sp>
      <p:cxnSp>
        <p:nvCxnSpPr>
          <p:cNvPr name="GraphCompose Table Cell Border" id="142"/>
          <p:cNvCxnSpPr/>
          <p:nvPr/>
        </p:nvCxnSpPr>
        <p:spPr>
          <a:xfrm>
            <a:off x="3411188" y="8661298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3"/>
          <p:cNvCxnSpPr/>
          <p:nvPr/>
        </p:nvCxnSpPr>
        <p:spPr>
          <a:xfrm>
            <a:off x="4429728" y="837189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4"/>
          <p:cNvSpPr txBox="true"/>
          <p:nvPr/>
        </p:nvSpPr>
        <p:spPr>
          <a:xfrm>
            <a:off x="3528028" y="8438203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46 h</a:t>
            </a:r>
            <a:endParaRPr lang="en-US" sz="1100"/>
          </a:p>
        </p:txBody>
      </p:sp>
      <p:cxnSp>
        <p:nvCxnSpPr>
          <p:cNvPr name="GraphCompose Table Cell Border" id="145"/>
          <p:cNvCxnSpPr/>
          <p:nvPr/>
        </p:nvCxnSpPr>
        <p:spPr>
          <a:xfrm>
            <a:off x="4427188" y="8661298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6"/>
          <p:cNvCxnSpPr/>
          <p:nvPr/>
        </p:nvCxnSpPr>
        <p:spPr>
          <a:xfrm>
            <a:off x="5445728" y="837189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7"/>
          <p:cNvSpPr txBox="true"/>
          <p:nvPr/>
        </p:nvSpPr>
        <p:spPr>
          <a:xfrm>
            <a:off x="4544028" y="8438203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48"/>
          <p:cNvCxnSpPr/>
          <p:nvPr/>
        </p:nvCxnSpPr>
        <p:spPr>
          <a:xfrm>
            <a:off x="5443188" y="8661298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9"/>
          <p:cNvCxnSpPr/>
          <p:nvPr/>
        </p:nvCxnSpPr>
        <p:spPr>
          <a:xfrm>
            <a:off x="6461728" y="837189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0"/>
          <p:cNvSpPr txBox="true"/>
          <p:nvPr/>
        </p:nvSpPr>
        <p:spPr>
          <a:xfrm>
            <a:off x="5560028" y="8438203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£ 2,230</a:t>
            </a:r>
            <a:endParaRPr lang="en-US" sz="1100"/>
          </a:p>
        </p:txBody>
      </p:sp>
      <p:cxnSp>
        <p:nvCxnSpPr>
          <p:cNvPr name="GraphCompose Table Cell Border" id="151"/>
          <p:cNvCxnSpPr/>
          <p:nvPr/>
        </p:nvCxnSpPr>
        <p:spPr>
          <a:xfrm>
            <a:off x="431800" y="8950700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2"/>
          <p:cNvCxnSpPr/>
          <p:nvPr/>
        </p:nvCxnSpPr>
        <p:spPr>
          <a:xfrm>
            <a:off x="431800" y="8661298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3"/>
          <p:cNvCxnSpPr/>
          <p:nvPr/>
        </p:nvCxnSpPr>
        <p:spPr>
          <a:xfrm>
            <a:off x="1193800" y="8661298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4"/>
          <p:cNvSpPr txBox="true"/>
          <p:nvPr/>
        </p:nvSpPr>
        <p:spPr>
          <a:xfrm>
            <a:off x="546100" y="8727604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INV-103</a:t>
            </a:r>
            <a:endParaRPr lang="en-US" sz="1100"/>
          </a:p>
        </p:txBody>
      </p:sp>
      <p:cxnSp>
        <p:nvCxnSpPr>
          <p:cNvPr name="GraphCompose Table Cell Border" id="155"/>
          <p:cNvCxnSpPr/>
          <p:nvPr/>
        </p:nvCxnSpPr>
        <p:spPr>
          <a:xfrm>
            <a:off x="1191260" y="8950700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6"/>
          <p:cNvCxnSpPr/>
          <p:nvPr/>
        </p:nvCxnSpPr>
        <p:spPr>
          <a:xfrm>
            <a:off x="3413728" y="8661298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7"/>
          <p:cNvSpPr txBox="true"/>
          <p:nvPr/>
        </p:nvSpPr>
        <p:spPr>
          <a:xfrm>
            <a:off x="1308100" y="8727604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4 — quarterly delivery slice</a:t>
            </a:r>
            <a:endParaRPr lang="en-US" sz="1100"/>
          </a:p>
        </p:txBody>
      </p:sp>
      <p:cxnSp>
        <p:nvCxnSpPr>
          <p:cNvPr name="GraphCompose Table Cell Border" id="158"/>
          <p:cNvCxnSpPr/>
          <p:nvPr/>
        </p:nvCxnSpPr>
        <p:spPr>
          <a:xfrm>
            <a:off x="3411188" y="895070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9"/>
          <p:cNvCxnSpPr/>
          <p:nvPr/>
        </p:nvCxnSpPr>
        <p:spPr>
          <a:xfrm>
            <a:off x="4429728" y="8661298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0"/>
          <p:cNvSpPr txBox="true"/>
          <p:nvPr/>
        </p:nvSpPr>
        <p:spPr>
          <a:xfrm>
            <a:off x="3528028" y="8727604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49 h</a:t>
            </a:r>
            <a:endParaRPr lang="en-US" sz="1100"/>
          </a:p>
        </p:txBody>
      </p:sp>
      <p:cxnSp>
        <p:nvCxnSpPr>
          <p:cNvPr name="GraphCompose Table Cell Border" id="161"/>
          <p:cNvCxnSpPr/>
          <p:nvPr/>
        </p:nvCxnSpPr>
        <p:spPr>
          <a:xfrm>
            <a:off x="4427188" y="895070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2"/>
          <p:cNvCxnSpPr/>
          <p:nvPr/>
        </p:nvCxnSpPr>
        <p:spPr>
          <a:xfrm>
            <a:off x="5445728" y="8661298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3"/>
          <p:cNvSpPr txBox="true"/>
          <p:nvPr/>
        </p:nvSpPr>
        <p:spPr>
          <a:xfrm>
            <a:off x="4544028" y="8727604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164"/>
          <p:cNvCxnSpPr/>
          <p:nvPr/>
        </p:nvCxnSpPr>
        <p:spPr>
          <a:xfrm>
            <a:off x="5443188" y="8950700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5"/>
          <p:cNvCxnSpPr/>
          <p:nvPr/>
        </p:nvCxnSpPr>
        <p:spPr>
          <a:xfrm>
            <a:off x="6461728" y="8661298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6"/>
          <p:cNvSpPr txBox="true"/>
          <p:nvPr/>
        </p:nvSpPr>
        <p:spPr>
          <a:xfrm>
            <a:off x="5560028" y="8727604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£ 2,445</a:t>
            </a:r>
            <a:endParaRPr lang="en-US" sz="1100"/>
          </a:p>
        </p:txBody>
      </p:sp>
      <p:cxnSp>
        <p:nvCxnSpPr>
          <p:cNvPr name="GraphCompose Table Cell Border" id="167"/>
          <p:cNvCxnSpPr/>
          <p:nvPr/>
        </p:nvCxnSpPr>
        <p:spPr>
          <a:xfrm>
            <a:off x="431800" y="9240101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8"/>
          <p:cNvCxnSpPr/>
          <p:nvPr/>
        </p:nvCxnSpPr>
        <p:spPr>
          <a:xfrm>
            <a:off x="431800" y="895070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9"/>
          <p:cNvCxnSpPr/>
          <p:nvPr/>
        </p:nvCxnSpPr>
        <p:spPr>
          <a:xfrm>
            <a:off x="1193800" y="895070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0"/>
          <p:cNvSpPr txBox="true"/>
          <p:nvPr/>
        </p:nvSpPr>
        <p:spPr>
          <a:xfrm>
            <a:off x="546100" y="9017005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INV-104</a:t>
            </a:r>
            <a:endParaRPr lang="en-US" sz="1100"/>
          </a:p>
        </p:txBody>
      </p:sp>
      <p:cxnSp>
        <p:nvCxnSpPr>
          <p:cNvPr name="GraphCompose Table Cell Border" id="171"/>
          <p:cNvCxnSpPr/>
          <p:nvPr/>
        </p:nvCxnSpPr>
        <p:spPr>
          <a:xfrm>
            <a:off x="1191260" y="9240101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2"/>
          <p:cNvCxnSpPr/>
          <p:nvPr/>
        </p:nvCxnSpPr>
        <p:spPr>
          <a:xfrm>
            <a:off x="3413728" y="895070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3"/>
          <p:cNvSpPr txBox="true"/>
          <p:nvPr/>
        </p:nvSpPr>
        <p:spPr>
          <a:xfrm>
            <a:off x="1308100" y="9017005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5 — quarterly delivery slice</a:t>
            </a:r>
            <a:endParaRPr lang="en-US" sz="1100"/>
          </a:p>
        </p:txBody>
      </p:sp>
      <p:cxnSp>
        <p:nvCxnSpPr>
          <p:cNvPr name="GraphCompose Table Cell Border" id="174"/>
          <p:cNvCxnSpPr/>
          <p:nvPr/>
        </p:nvCxnSpPr>
        <p:spPr>
          <a:xfrm>
            <a:off x="3411188" y="924010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5"/>
          <p:cNvCxnSpPr/>
          <p:nvPr/>
        </p:nvCxnSpPr>
        <p:spPr>
          <a:xfrm>
            <a:off x="4429728" y="895070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6"/>
          <p:cNvSpPr txBox="true"/>
          <p:nvPr/>
        </p:nvSpPr>
        <p:spPr>
          <a:xfrm>
            <a:off x="3528028" y="9017005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52 h</a:t>
            </a:r>
            <a:endParaRPr lang="en-US" sz="1100"/>
          </a:p>
        </p:txBody>
      </p:sp>
      <p:cxnSp>
        <p:nvCxnSpPr>
          <p:cNvPr name="GraphCompose Table Cell Border" id="177"/>
          <p:cNvCxnSpPr/>
          <p:nvPr/>
        </p:nvCxnSpPr>
        <p:spPr>
          <a:xfrm>
            <a:off x="4427188" y="924010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8"/>
          <p:cNvCxnSpPr/>
          <p:nvPr/>
        </p:nvCxnSpPr>
        <p:spPr>
          <a:xfrm>
            <a:off x="5445728" y="895070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9"/>
          <p:cNvSpPr txBox="true"/>
          <p:nvPr/>
        </p:nvSpPr>
        <p:spPr>
          <a:xfrm>
            <a:off x="4544028" y="9017005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80"/>
          <p:cNvCxnSpPr/>
          <p:nvPr/>
        </p:nvCxnSpPr>
        <p:spPr>
          <a:xfrm>
            <a:off x="5443188" y="9240101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1"/>
          <p:cNvCxnSpPr/>
          <p:nvPr/>
        </p:nvCxnSpPr>
        <p:spPr>
          <a:xfrm>
            <a:off x="6461728" y="895070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2"/>
          <p:cNvSpPr txBox="true"/>
          <p:nvPr/>
        </p:nvSpPr>
        <p:spPr>
          <a:xfrm>
            <a:off x="5560028" y="9017005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£ 2,660</a:t>
            </a:r>
            <a:endParaRPr lang="en-US" sz="1100"/>
          </a:p>
        </p:txBody>
      </p:sp>
      <p:cxnSp>
        <p:nvCxnSpPr>
          <p:cNvPr name="GraphCompose Table Cell Border" id="183"/>
          <p:cNvCxnSpPr/>
          <p:nvPr/>
        </p:nvCxnSpPr>
        <p:spPr>
          <a:xfrm>
            <a:off x="431800" y="952950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4"/>
          <p:cNvCxnSpPr/>
          <p:nvPr/>
        </p:nvCxnSpPr>
        <p:spPr>
          <a:xfrm>
            <a:off x="431800" y="92401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5"/>
          <p:cNvCxnSpPr/>
          <p:nvPr/>
        </p:nvCxnSpPr>
        <p:spPr>
          <a:xfrm>
            <a:off x="1193800" y="92401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6"/>
          <p:cNvSpPr txBox="true"/>
          <p:nvPr/>
        </p:nvSpPr>
        <p:spPr>
          <a:xfrm>
            <a:off x="546100" y="9306406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INV-105</a:t>
            </a:r>
            <a:endParaRPr lang="en-US" sz="1100"/>
          </a:p>
        </p:txBody>
      </p:sp>
      <p:cxnSp>
        <p:nvCxnSpPr>
          <p:cNvPr name="GraphCompose Table Cell Border" id="187"/>
          <p:cNvCxnSpPr/>
          <p:nvPr/>
        </p:nvCxnSpPr>
        <p:spPr>
          <a:xfrm>
            <a:off x="1191260" y="952950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8"/>
          <p:cNvCxnSpPr/>
          <p:nvPr/>
        </p:nvCxnSpPr>
        <p:spPr>
          <a:xfrm>
            <a:off x="3413728" y="92401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9"/>
          <p:cNvSpPr txBox="true"/>
          <p:nvPr/>
        </p:nvSpPr>
        <p:spPr>
          <a:xfrm>
            <a:off x="1308100" y="9306406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6 — quarterly delivery slice</a:t>
            </a:r>
            <a:endParaRPr lang="en-US" sz="1100"/>
          </a:p>
        </p:txBody>
      </p:sp>
      <p:cxnSp>
        <p:nvCxnSpPr>
          <p:cNvPr name="GraphCompose Table Cell Border" id="190"/>
          <p:cNvCxnSpPr/>
          <p:nvPr/>
        </p:nvCxnSpPr>
        <p:spPr>
          <a:xfrm>
            <a:off x="3411188" y="952950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1"/>
          <p:cNvCxnSpPr/>
          <p:nvPr/>
        </p:nvCxnSpPr>
        <p:spPr>
          <a:xfrm>
            <a:off x="4429728" y="92401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2"/>
          <p:cNvSpPr txBox="true"/>
          <p:nvPr/>
        </p:nvSpPr>
        <p:spPr>
          <a:xfrm>
            <a:off x="3528028" y="9306406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55 h</a:t>
            </a:r>
            <a:endParaRPr lang="en-US" sz="1100"/>
          </a:p>
        </p:txBody>
      </p:sp>
      <p:cxnSp>
        <p:nvCxnSpPr>
          <p:cNvPr name="GraphCompose Table Cell Border" id="193"/>
          <p:cNvCxnSpPr/>
          <p:nvPr/>
        </p:nvCxnSpPr>
        <p:spPr>
          <a:xfrm>
            <a:off x="4427188" y="952950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4"/>
          <p:cNvCxnSpPr/>
          <p:nvPr/>
        </p:nvCxnSpPr>
        <p:spPr>
          <a:xfrm>
            <a:off x="5445728" y="92401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5"/>
          <p:cNvSpPr txBox="true"/>
          <p:nvPr/>
        </p:nvSpPr>
        <p:spPr>
          <a:xfrm>
            <a:off x="4544028" y="9306406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96"/>
          <p:cNvCxnSpPr/>
          <p:nvPr/>
        </p:nvCxnSpPr>
        <p:spPr>
          <a:xfrm>
            <a:off x="5443188" y="952950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7"/>
          <p:cNvCxnSpPr/>
          <p:nvPr/>
        </p:nvCxnSpPr>
        <p:spPr>
          <a:xfrm>
            <a:off x="6461728" y="92401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8"/>
          <p:cNvSpPr txBox="true"/>
          <p:nvPr/>
        </p:nvSpPr>
        <p:spPr>
          <a:xfrm>
            <a:off x="5560028" y="9306406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£ 2,875</a:t>
            </a:r>
            <a:endParaRPr lang="en-US" sz="1100"/>
          </a:p>
        </p:txBody>
      </p:sp>
      <p:cxnSp>
        <p:nvCxnSpPr>
          <p:cNvPr name="GraphCompose Table Cell Border" id="199"/>
          <p:cNvCxnSpPr/>
          <p:nvPr/>
        </p:nvCxnSpPr>
        <p:spPr>
          <a:xfrm>
            <a:off x="431800" y="9818903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0"/>
          <p:cNvCxnSpPr/>
          <p:nvPr/>
        </p:nvCxnSpPr>
        <p:spPr>
          <a:xfrm>
            <a:off x="431800" y="95295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1"/>
          <p:cNvCxnSpPr/>
          <p:nvPr/>
        </p:nvCxnSpPr>
        <p:spPr>
          <a:xfrm>
            <a:off x="1193800" y="95295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2"/>
          <p:cNvSpPr txBox="true"/>
          <p:nvPr/>
        </p:nvSpPr>
        <p:spPr>
          <a:xfrm>
            <a:off x="546100" y="9595808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INV-106</a:t>
            </a:r>
            <a:endParaRPr lang="en-US" sz="1100"/>
          </a:p>
        </p:txBody>
      </p:sp>
      <p:cxnSp>
        <p:nvCxnSpPr>
          <p:cNvPr name="GraphCompose Table Cell Border" id="203"/>
          <p:cNvCxnSpPr/>
          <p:nvPr/>
        </p:nvCxnSpPr>
        <p:spPr>
          <a:xfrm>
            <a:off x="1191260" y="9818903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4"/>
          <p:cNvCxnSpPr/>
          <p:nvPr/>
        </p:nvCxnSpPr>
        <p:spPr>
          <a:xfrm>
            <a:off x="3413728" y="95295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5"/>
          <p:cNvSpPr txBox="true"/>
          <p:nvPr/>
        </p:nvSpPr>
        <p:spPr>
          <a:xfrm>
            <a:off x="1308100" y="9595808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7 — quarterly delivery slice</a:t>
            </a:r>
            <a:endParaRPr lang="en-US" sz="1100"/>
          </a:p>
        </p:txBody>
      </p:sp>
      <p:cxnSp>
        <p:nvCxnSpPr>
          <p:cNvPr name="GraphCompose Table Cell Border" id="206"/>
          <p:cNvCxnSpPr/>
          <p:nvPr/>
        </p:nvCxnSpPr>
        <p:spPr>
          <a:xfrm>
            <a:off x="3411188" y="9818903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7"/>
          <p:cNvCxnSpPr/>
          <p:nvPr/>
        </p:nvCxnSpPr>
        <p:spPr>
          <a:xfrm>
            <a:off x="4429728" y="95295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8"/>
          <p:cNvSpPr txBox="true"/>
          <p:nvPr/>
        </p:nvSpPr>
        <p:spPr>
          <a:xfrm>
            <a:off x="3528028" y="959580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58 h</a:t>
            </a:r>
            <a:endParaRPr lang="en-US" sz="1100"/>
          </a:p>
        </p:txBody>
      </p:sp>
      <p:cxnSp>
        <p:nvCxnSpPr>
          <p:cNvPr name="GraphCompose Table Cell Border" id="209"/>
          <p:cNvCxnSpPr/>
          <p:nvPr/>
        </p:nvCxnSpPr>
        <p:spPr>
          <a:xfrm>
            <a:off x="4427188" y="9818903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0"/>
          <p:cNvCxnSpPr/>
          <p:nvPr/>
        </p:nvCxnSpPr>
        <p:spPr>
          <a:xfrm>
            <a:off x="5445728" y="95295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1"/>
          <p:cNvSpPr txBox="true"/>
          <p:nvPr/>
        </p:nvSpPr>
        <p:spPr>
          <a:xfrm>
            <a:off x="4544028" y="9595808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212"/>
          <p:cNvCxnSpPr/>
          <p:nvPr/>
        </p:nvCxnSpPr>
        <p:spPr>
          <a:xfrm>
            <a:off x="5443188" y="9818903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3"/>
          <p:cNvCxnSpPr/>
          <p:nvPr/>
        </p:nvCxnSpPr>
        <p:spPr>
          <a:xfrm>
            <a:off x="6461728" y="95295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4"/>
          <p:cNvSpPr txBox="true"/>
          <p:nvPr/>
        </p:nvSpPr>
        <p:spPr>
          <a:xfrm>
            <a:off x="5560028" y="9595808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£ 3,090</a:t>
            </a:r>
            <a:endParaRPr lang="en-US" sz="1100"/>
          </a:p>
        </p:txBody>
      </p:sp>
      <p:sp>
        <p:nvSpPr>
          <p:cNvPr name="GraphCompose Header" id="215"/>
          <p:cNvSpPr txBox="true"/>
          <p:nvPr/>
        </p:nvSpPr>
        <p:spPr>
          <a:xfrm>
            <a:off x="431800" y="220377"/>
            <a:ext cx="1792580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GraphCompose · Master showcase</a:t>
            </a:r>
            <a:endParaRPr lang="en-US" sz="1100"/>
          </a:p>
        </p:txBody>
      </p:sp>
      <p:sp>
        <p:nvSpPr>
          <p:cNvPr name="GraphCompose Header" id="216"/>
          <p:cNvSpPr txBox="true"/>
          <p:nvPr/>
        </p:nvSpPr>
        <p:spPr>
          <a:xfrm>
            <a:off x="6543670" y="220377"/>
            <a:ext cx="585800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2026-07-25</a:t>
            </a:r>
            <a:endParaRPr lang="en-US" sz="1100"/>
          </a:p>
        </p:txBody>
      </p:sp>
      <p:cxnSp>
        <p:nvCxnSpPr>
          <p:cNvPr name="GraphCompose Header Separator" id="217"/>
          <p:cNvCxnSpPr/>
          <p:nvPr/>
        </p:nvCxnSpPr>
        <p:spPr>
          <a:xfrm>
            <a:off x="431800" y="38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  <p:sp>
        <p:nvSpPr>
          <p:cNvPr name="GraphCompose Footer" id="218"/>
          <p:cNvSpPr txBox="true"/>
          <p:nvPr/>
        </p:nvSpPr>
        <p:spPr>
          <a:xfrm>
            <a:off x="431800" y="10321827"/>
            <a:ext cx="1270343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v1.5 — "intuitive" release</a:t>
            </a:r>
            <a:endParaRPr lang="en-US" sz="1100"/>
          </a:p>
        </p:txBody>
      </p:sp>
      <p:sp>
        <p:nvSpPr>
          <p:cNvPr name="GraphCompose Footer" id="219"/>
          <p:cNvSpPr txBox="true"/>
          <p:nvPr/>
        </p:nvSpPr>
        <p:spPr>
          <a:xfrm>
            <a:off x="6543556" y="10321827"/>
            <a:ext cx="585914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Page 1 of 2</a:t>
            </a:r>
            <a:endParaRPr lang="en-US" sz="1100"/>
          </a:p>
        </p:txBody>
      </p:sp>
      <p:cxnSp>
        <p:nvCxnSpPr>
          <p:cNvPr name="GraphCompose Footer Separator" id="220"/>
          <p:cNvCxnSpPr/>
          <p:nvPr/>
        </p:nvCxnSpPr>
        <p:spPr>
          <a:xfrm>
            <a:off x="431800" y="1031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7560001" cy="10692000"/>
          </a:xfrm>
          <a:prstGeom prst="rect">
            <a:avLst/>
          </a:prstGeom>
          <a:solidFill>
            <a:srgbClr val="FCF8F0"/>
          </a:solidFill>
          <a:ln>
            <a:noFill/>
          </a:ln>
        </p:spPr>
      </p:sp>
      <p:sp>
        <p:nvSpPr>
          <p:cNvPr name="GraphCompose Table Cell Fill" id="3"/>
          <p:cNvSpPr/>
          <p:nvPr/>
        </p:nvSpPr>
        <p:spPr>
          <a:xfrm>
            <a:off x="431800" y="609600"/>
            <a:ext cx="762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4"/>
          <p:cNvSpPr/>
          <p:nvPr/>
        </p:nvSpPr>
        <p:spPr>
          <a:xfrm>
            <a:off x="1193800" y="609600"/>
            <a:ext cx="2219928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5"/>
          <p:cNvSpPr/>
          <p:nvPr/>
        </p:nvSpPr>
        <p:spPr>
          <a:xfrm>
            <a:off x="3413728" y="609600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6"/>
          <p:cNvSpPr/>
          <p:nvPr/>
        </p:nvSpPr>
        <p:spPr>
          <a:xfrm>
            <a:off x="4429728" y="609600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7"/>
          <p:cNvSpPr/>
          <p:nvPr/>
        </p:nvSpPr>
        <p:spPr>
          <a:xfrm>
            <a:off x="5445728" y="609600"/>
            <a:ext cx="1016000" cy="314801"/>
          </a:xfrm>
          <a:prstGeom prst="rect">
            <a:avLst/>
          </a:prstGeom>
          <a:solidFill>
            <a:srgbClr val="0E3846"/>
          </a:solidFill>
          <a:ln>
            <a:noFill/>
          </a:ln>
        </p:spPr>
      </p:sp>
      <p:sp>
        <p:nvSpPr>
          <p:cNvPr name="GraphCompose Table Cell Fill" id="8"/>
          <p:cNvSpPr/>
          <p:nvPr/>
        </p:nvSpPr>
        <p:spPr>
          <a:xfrm>
            <a:off x="431800" y="924401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"/>
          <p:cNvSpPr/>
          <p:nvPr/>
        </p:nvSpPr>
        <p:spPr>
          <a:xfrm>
            <a:off x="1193800" y="924401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0"/>
          <p:cNvSpPr/>
          <p:nvPr/>
        </p:nvSpPr>
        <p:spPr>
          <a:xfrm>
            <a:off x="3413728" y="9244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1"/>
          <p:cNvSpPr/>
          <p:nvPr/>
        </p:nvSpPr>
        <p:spPr>
          <a:xfrm>
            <a:off x="4429728" y="9244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2"/>
          <p:cNvSpPr/>
          <p:nvPr/>
        </p:nvSpPr>
        <p:spPr>
          <a:xfrm>
            <a:off x="5445728" y="92440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3"/>
          <p:cNvSpPr/>
          <p:nvPr/>
        </p:nvSpPr>
        <p:spPr>
          <a:xfrm>
            <a:off x="431800" y="1213802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4"/>
          <p:cNvSpPr/>
          <p:nvPr/>
        </p:nvSpPr>
        <p:spPr>
          <a:xfrm>
            <a:off x="1193800" y="1213802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5"/>
          <p:cNvSpPr/>
          <p:nvPr/>
        </p:nvSpPr>
        <p:spPr>
          <a:xfrm>
            <a:off x="3413728" y="12138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6"/>
          <p:cNvSpPr/>
          <p:nvPr/>
        </p:nvSpPr>
        <p:spPr>
          <a:xfrm>
            <a:off x="4429728" y="12138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7"/>
          <p:cNvSpPr/>
          <p:nvPr/>
        </p:nvSpPr>
        <p:spPr>
          <a:xfrm>
            <a:off x="5445728" y="121380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18"/>
          <p:cNvSpPr/>
          <p:nvPr/>
        </p:nvSpPr>
        <p:spPr>
          <a:xfrm>
            <a:off x="431800" y="1503204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19"/>
          <p:cNvSpPr/>
          <p:nvPr/>
        </p:nvSpPr>
        <p:spPr>
          <a:xfrm>
            <a:off x="1193800" y="1503204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0"/>
          <p:cNvSpPr/>
          <p:nvPr/>
        </p:nvSpPr>
        <p:spPr>
          <a:xfrm>
            <a:off x="3413728" y="150320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1"/>
          <p:cNvSpPr/>
          <p:nvPr/>
        </p:nvSpPr>
        <p:spPr>
          <a:xfrm>
            <a:off x="4429728" y="150320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2"/>
          <p:cNvSpPr/>
          <p:nvPr/>
        </p:nvSpPr>
        <p:spPr>
          <a:xfrm>
            <a:off x="5445728" y="150320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3"/>
          <p:cNvSpPr/>
          <p:nvPr/>
        </p:nvSpPr>
        <p:spPr>
          <a:xfrm>
            <a:off x="431800" y="1792605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4"/>
          <p:cNvSpPr/>
          <p:nvPr/>
        </p:nvSpPr>
        <p:spPr>
          <a:xfrm>
            <a:off x="1193800" y="1792605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5"/>
          <p:cNvSpPr/>
          <p:nvPr/>
        </p:nvSpPr>
        <p:spPr>
          <a:xfrm>
            <a:off x="3413728" y="179260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6"/>
          <p:cNvSpPr/>
          <p:nvPr/>
        </p:nvSpPr>
        <p:spPr>
          <a:xfrm>
            <a:off x="4429728" y="179260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7"/>
          <p:cNvSpPr/>
          <p:nvPr/>
        </p:nvSpPr>
        <p:spPr>
          <a:xfrm>
            <a:off x="5445728" y="179260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28"/>
          <p:cNvSpPr/>
          <p:nvPr/>
        </p:nvSpPr>
        <p:spPr>
          <a:xfrm>
            <a:off x="431800" y="2082006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29"/>
          <p:cNvSpPr/>
          <p:nvPr/>
        </p:nvSpPr>
        <p:spPr>
          <a:xfrm>
            <a:off x="1193800" y="2082006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0"/>
          <p:cNvSpPr/>
          <p:nvPr/>
        </p:nvSpPr>
        <p:spPr>
          <a:xfrm>
            <a:off x="3413728" y="208200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1"/>
          <p:cNvSpPr/>
          <p:nvPr/>
        </p:nvSpPr>
        <p:spPr>
          <a:xfrm>
            <a:off x="4429728" y="208200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2"/>
          <p:cNvSpPr/>
          <p:nvPr/>
        </p:nvSpPr>
        <p:spPr>
          <a:xfrm>
            <a:off x="5445728" y="208200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3"/>
          <p:cNvSpPr/>
          <p:nvPr/>
        </p:nvSpPr>
        <p:spPr>
          <a:xfrm>
            <a:off x="431800" y="2371407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4"/>
          <p:cNvSpPr/>
          <p:nvPr/>
        </p:nvSpPr>
        <p:spPr>
          <a:xfrm>
            <a:off x="1193800" y="2371407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5"/>
          <p:cNvSpPr/>
          <p:nvPr/>
        </p:nvSpPr>
        <p:spPr>
          <a:xfrm>
            <a:off x="3413728" y="237140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6"/>
          <p:cNvSpPr/>
          <p:nvPr/>
        </p:nvSpPr>
        <p:spPr>
          <a:xfrm>
            <a:off x="4429728" y="237140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7"/>
          <p:cNvSpPr/>
          <p:nvPr/>
        </p:nvSpPr>
        <p:spPr>
          <a:xfrm>
            <a:off x="5445728" y="237140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38"/>
          <p:cNvSpPr/>
          <p:nvPr/>
        </p:nvSpPr>
        <p:spPr>
          <a:xfrm>
            <a:off x="431800" y="2660809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39"/>
          <p:cNvSpPr/>
          <p:nvPr/>
        </p:nvSpPr>
        <p:spPr>
          <a:xfrm>
            <a:off x="1193800" y="2660809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0"/>
          <p:cNvSpPr/>
          <p:nvPr/>
        </p:nvSpPr>
        <p:spPr>
          <a:xfrm>
            <a:off x="3413728" y="266080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1"/>
          <p:cNvSpPr/>
          <p:nvPr/>
        </p:nvSpPr>
        <p:spPr>
          <a:xfrm>
            <a:off x="4429728" y="266080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2"/>
          <p:cNvSpPr/>
          <p:nvPr/>
        </p:nvSpPr>
        <p:spPr>
          <a:xfrm>
            <a:off x="5445728" y="266080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3"/>
          <p:cNvSpPr/>
          <p:nvPr/>
        </p:nvSpPr>
        <p:spPr>
          <a:xfrm>
            <a:off x="431800" y="2950210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4"/>
          <p:cNvSpPr/>
          <p:nvPr/>
        </p:nvSpPr>
        <p:spPr>
          <a:xfrm>
            <a:off x="1193800" y="2950210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5"/>
          <p:cNvSpPr/>
          <p:nvPr/>
        </p:nvSpPr>
        <p:spPr>
          <a:xfrm>
            <a:off x="3413728" y="295021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6"/>
          <p:cNvSpPr/>
          <p:nvPr/>
        </p:nvSpPr>
        <p:spPr>
          <a:xfrm>
            <a:off x="4429728" y="295021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7"/>
          <p:cNvSpPr/>
          <p:nvPr/>
        </p:nvSpPr>
        <p:spPr>
          <a:xfrm>
            <a:off x="5445728" y="295021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48"/>
          <p:cNvSpPr/>
          <p:nvPr/>
        </p:nvSpPr>
        <p:spPr>
          <a:xfrm>
            <a:off x="431800" y="3239611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49"/>
          <p:cNvSpPr/>
          <p:nvPr/>
        </p:nvSpPr>
        <p:spPr>
          <a:xfrm>
            <a:off x="1193800" y="3239611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0"/>
          <p:cNvSpPr/>
          <p:nvPr/>
        </p:nvSpPr>
        <p:spPr>
          <a:xfrm>
            <a:off x="3413728" y="323961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1"/>
          <p:cNvSpPr/>
          <p:nvPr/>
        </p:nvSpPr>
        <p:spPr>
          <a:xfrm>
            <a:off x="4429728" y="323961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2"/>
          <p:cNvSpPr/>
          <p:nvPr/>
        </p:nvSpPr>
        <p:spPr>
          <a:xfrm>
            <a:off x="5445728" y="323961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3"/>
          <p:cNvSpPr/>
          <p:nvPr/>
        </p:nvSpPr>
        <p:spPr>
          <a:xfrm>
            <a:off x="431800" y="3529012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4"/>
          <p:cNvSpPr/>
          <p:nvPr/>
        </p:nvSpPr>
        <p:spPr>
          <a:xfrm>
            <a:off x="1193800" y="3529012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5"/>
          <p:cNvSpPr/>
          <p:nvPr/>
        </p:nvSpPr>
        <p:spPr>
          <a:xfrm>
            <a:off x="3413728" y="352901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6"/>
          <p:cNvSpPr/>
          <p:nvPr/>
        </p:nvSpPr>
        <p:spPr>
          <a:xfrm>
            <a:off x="4429728" y="352901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7"/>
          <p:cNvSpPr/>
          <p:nvPr/>
        </p:nvSpPr>
        <p:spPr>
          <a:xfrm>
            <a:off x="5445728" y="3529012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58"/>
          <p:cNvSpPr/>
          <p:nvPr/>
        </p:nvSpPr>
        <p:spPr>
          <a:xfrm>
            <a:off x="431800" y="3818414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59"/>
          <p:cNvSpPr/>
          <p:nvPr/>
        </p:nvSpPr>
        <p:spPr>
          <a:xfrm>
            <a:off x="1193800" y="3818414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0"/>
          <p:cNvSpPr/>
          <p:nvPr/>
        </p:nvSpPr>
        <p:spPr>
          <a:xfrm>
            <a:off x="3413728" y="381841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1"/>
          <p:cNvSpPr/>
          <p:nvPr/>
        </p:nvSpPr>
        <p:spPr>
          <a:xfrm>
            <a:off x="4429728" y="381841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2"/>
          <p:cNvSpPr/>
          <p:nvPr/>
        </p:nvSpPr>
        <p:spPr>
          <a:xfrm>
            <a:off x="5445728" y="3818414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3"/>
          <p:cNvSpPr/>
          <p:nvPr/>
        </p:nvSpPr>
        <p:spPr>
          <a:xfrm>
            <a:off x="431800" y="4107815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4"/>
          <p:cNvSpPr/>
          <p:nvPr/>
        </p:nvSpPr>
        <p:spPr>
          <a:xfrm>
            <a:off x="1193800" y="4107815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5"/>
          <p:cNvSpPr/>
          <p:nvPr/>
        </p:nvSpPr>
        <p:spPr>
          <a:xfrm>
            <a:off x="3413728" y="410781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6"/>
          <p:cNvSpPr/>
          <p:nvPr/>
        </p:nvSpPr>
        <p:spPr>
          <a:xfrm>
            <a:off x="4429728" y="410781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7"/>
          <p:cNvSpPr/>
          <p:nvPr/>
        </p:nvSpPr>
        <p:spPr>
          <a:xfrm>
            <a:off x="5445728" y="4107815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68"/>
          <p:cNvSpPr/>
          <p:nvPr/>
        </p:nvSpPr>
        <p:spPr>
          <a:xfrm>
            <a:off x="431800" y="4397216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69"/>
          <p:cNvSpPr/>
          <p:nvPr/>
        </p:nvSpPr>
        <p:spPr>
          <a:xfrm>
            <a:off x="1193800" y="4397216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0"/>
          <p:cNvSpPr/>
          <p:nvPr/>
        </p:nvSpPr>
        <p:spPr>
          <a:xfrm>
            <a:off x="3413728" y="439721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1"/>
          <p:cNvSpPr/>
          <p:nvPr/>
        </p:nvSpPr>
        <p:spPr>
          <a:xfrm>
            <a:off x="4429728" y="439721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2"/>
          <p:cNvSpPr/>
          <p:nvPr/>
        </p:nvSpPr>
        <p:spPr>
          <a:xfrm>
            <a:off x="5445728" y="4397216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3"/>
          <p:cNvSpPr/>
          <p:nvPr/>
        </p:nvSpPr>
        <p:spPr>
          <a:xfrm>
            <a:off x="431800" y="4686617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4"/>
          <p:cNvSpPr/>
          <p:nvPr/>
        </p:nvSpPr>
        <p:spPr>
          <a:xfrm>
            <a:off x="1193800" y="4686617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5"/>
          <p:cNvSpPr/>
          <p:nvPr/>
        </p:nvSpPr>
        <p:spPr>
          <a:xfrm>
            <a:off x="3413728" y="468661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6"/>
          <p:cNvSpPr/>
          <p:nvPr/>
        </p:nvSpPr>
        <p:spPr>
          <a:xfrm>
            <a:off x="4429728" y="468661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7"/>
          <p:cNvSpPr/>
          <p:nvPr/>
        </p:nvSpPr>
        <p:spPr>
          <a:xfrm>
            <a:off x="5445728" y="4686617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78"/>
          <p:cNvSpPr/>
          <p:nvPr/>
        </p:nvSpPr>
        <p:spPr>
          <a:xfrm>
            <a:off x="431800" y="4976019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79"/>
          <p:cNvSpPr/>
          <p:nvPr/>
        </p:nvSpPr>
        <p:spPr>
          <a:xfrm>
            <a:off x="1193800" y="4976019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0"/>
          <p:cNvSpPr/>
          <p:nvPr/>
        </p:nvSpPr>
        <p:spPr>
          <a:xfrm>
            <a:off x="3413728" y="497601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1"/>
          <p:cNvSpPr/>
          <p:nvPr/>
        </p:nvSpPr>
        <p:spPr>
          <a:xfrm>
            <a:off x="4429728" y="497601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2"/>
          <p:cNvSpPr/>
          <p:nvPr/>
        </p:nvSpPr>
        <p:spPr>
          <a:xfrm>
            <a:off x="5445728" y="4976019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3"/>
          <p:cNvSpPr/>
          <p:nvPr/>
        </p:nvSpPr>
        <p:spPr>
          <a:xfrm>
            <a:off x="431800" y="5265420"/>
            <a:ext cx="762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4"/>
          <p:cNvSpPr/>
          <p:nvPr/>
        </p:nvSpPr>
        <p:spPr>
          <a:xfrm>
            <a:off x="1193800" y="5265420"/>
            <a:ext cx="2219928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5"/>
          <p:cNvSpPr/>
          <p:nvPr/>
        </p:nvSpPr>
        <p:spPr>
          <a:xfrm>
            <a:off x="3413728" y="526542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6"/>
          <p:cNvSpPr/>
          <p:nvPr/>
        </p:nvSpPr>
        <p:spPr>
          <a:xfrm>
            <a:off x="4429728" y="526542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7"/>
          <p:cNvSpPr/>
          <p:nvPr/>
        </p:nvSpPr>
        <p:spPr>
          <a:xfrm>
            <a:off x="5445728" y="5265420"/>
            <a:ext cx="1016000" cy="289401"/>
          </a:xfrm>
          <a:prstGeom prst="rect">
            <a:avLst/>
          </a:prstGeom>
          <a:solidFill>
            <a:srgbClr val="F7F3EB"/>
          </a:solidFill>
          <a:ln>
            <a:noFill/>
          </a:ln>
        </p:spPr>
      </p:sp>
      <p:sp>
        <p:nvSpPr>
          <p:cNvPr name="GraphCompose Table Cell Fill" id="88"/>
          <p:cNvSpPr/>
          <p:nvPr/>
        </p:nvSpPr>
        <p:spPr>
          <a:xfrm>
            <a:off x="431800" y="5554821"/>
            <a:ext cx="762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89"/>
          <p:cNvSpPr/>
          <p:nvPr/>
        </p:nvSpPr>
        <p:spPr>
          <a:xfrm>
            <a:off x="1193800" y="5554821"/>
            <a:ext cx="2219928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0"/>
          <p:cNvSpPr/>
          <p:nvPr/>
        </p:nvSpPr>
        <p:spPr>
          <a:xfrm>
            <a:off x="3413728" y="555482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1"/>
          <p:cNvSpPr/>
          <p:nvPr/>
        </p:nvSpPr>
        <p:spPr>
          <a:xfrm>
            <a:off x="4429728" y="555482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2"/>
          <p:cNvSpPr/>
          <p:nvPr/>
        </p:nvSpPr>
        <p:spPr>
          <a:xfrm>
            <a:off x="5445728" y="5554821"/>
            <a:ext cx="1016000" cy="28940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name="GraphCompose Table Cell Fill" id="93"/>
          <p:cNvSpPr/>
          <p:nvPr/>
        </p:nvSpPr>
        <p:spPr>
          <a:xfrm>
            <a:off x="431800" y="5844222"/>
            <a:ext cx="762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4"/>
          <p:cNvSpPr/>
          <p:nvPr/>
        </p:nvSpPr>
        <p:spPr>
          <a:xfrm>
            <a:off x="1193800" y="5844222"/>
            <a:ext cx="2219928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5"/>
          <p:cNvSpPr/>
          <p:nvPr/>
        </p:nvSpPr>
        <p:spPr>
          <a:xfrm>
            <a:off x="3413728" y="5844222"/>
            <a:ext cx="1016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6"/>
          <p:cNvSpPr/>
          <p:nvPr/>
        </p:nvSpPr>
        <p:spPr>
          <a:xfrm>
            <a:off x="4429728" y="5844222"/>
            <a:ext cx="1016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sp>
        <p:nvSpPr>
          <p:cNvPr name="GraphCompose Table Cell Fill" id="97"/>
          <p:cNvSpPr/>
          <p:nvPr/>
        </p:nvSpPr>
        <p:spPr>
          <a:xfrm>
            <a:off x="5445728" y="5844222"/>
            <a:ext cx="1016000" cy="320675"/>
          </a:xfrm>
          <a:prstGeom prst="rect">
            <a:avLst/>
          </a:prstGeom>
          <a:solidFill>
            <a:srgbClr val="305C68"/>
          </a:solidFill>
          <a:ln>
            <a:noFill/>
          </a:ln>
        </p:spPr>
      </p:sp>
      <p:cxnSp>
        <p:nvCxnSpPr>
          <p:cNvPr name="GraphCompose Table Cell Border" id="98"/>
          <p:cNvCxnSpPr/>
          <p:nvPr/>
        </p:nvCxnSpPr>
        <p:spPr>
          <a:xfrm>
            <a:off x="431800" y="609600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99"/>
          <p:cNvCxnSpPr/>
          <p:nvPr/>
        </p:nvCxnSpPr>
        <p:spPr>
          <a:xfrm>
            <a:off x="431800" y="924401"/>
            <a:ext cx="764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0"/>
          <p:cNvCxnSpPr/>
          <p:nvPr/>
        </p:nvCxnSpPr>
        <p:spPr>
          <a:xfrm>
            <a:off x="431800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1"/>
          <p:cNvCxnSpPr/>
          <p:nvPr/>
        </p:nvCxnSpPr>
        <p:spPr>
          <a:xfrm>
            <a:off x="1193800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02"/>
          <p:cNvSpPr txBox="true"/>
          <p:nvPr/>
        </p:nvSpPr>
        <p:spPr>
          <a:xfrm>
            <a:off x="546100" y="688605"/>
            <a:ext cx="28962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Code</a:t>
            </a:r>
            <a:endParaRPr lang="en-US" sz="1100"/>
          </a:p>
        </p:txBody>
      </p:sp>
      <p:cxnSp>
        <p:nvCxnSpPr>
          <p:cNvPr name="GraphCompose Table Cell Border" id="103"/>
          <p:cNvCxnSpPr/>
          <p:nvPr/>
        </p:nvCxnSpPr>
        <p:spPr>
          <a:xfrm>
            <a:off x="1191260" y="609600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4"/>
          <p:cNvCxnSpPr/>
          <p:nvPr/>
        </p:nvCxnSpPr>
        <p:spPr>
          <a:xfrm>
            <a:off x="1191260" y="924401"/>
            <a:ext cx="2225008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5"/>
          <p:cNvCxnSpPr/>
          <p:nvPr/>
        </p:nvCxnSpPr>
        <p:spPr>
          <a:xfrm>
            <a:off x="3413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06"/>
          <p:cNvSpPr txBox="true"/>
          <p:nvPr/>
        </p:nvSpPr>
        <p:spPr>
          <a:xfrm>
            <a:off x="1308100" y="688605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Initiative</a:t>
            </a:r>
            <a:endParaRPr lang="en-US" sz="1100"/>
          </a:p>
        </p:txBody>
      </p:sp>
      <p:cxnSp>
        <p:nvCxnSpPr>
          <p:cNvPr name="GraphCompose Table Cell Border" id="107"/>
          <p:cNvCxnSpPr/>
          <p:nvPr/>
        </p:nvCxnSpPr>
        <p:spPr>
          <a:xfrm>
            <a:off x="3411188" y="609600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8"/>
          <p:cNvCxnSpPr/>
          <p:nvPr/>
        </p:nvCxnSpPr>
        <p:spPr>
          <a:xfrm>
            <a:off x="3411188" y="924401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09"/>
          <p:cNvCxnSpPr/>
          <p:nvPr/>
        </p:nvCxnSpPr>
        <p:spPr>
          <a:xfrm>
            <a:off x="4429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10"/>
          <p:cNvSpPr txBox="true"/>
          <p:nvPr/>
        </p:nvSpPr>
        <p:spPr>
          <a:xfrm>
            <a:off x="3528028" y="688605"/>
            <a:ext cx="32304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Hours</a:t>
            </a:r>
            <a:endParaRPr lang="en-US" sz="1100"/>
          </a:p>
        </p:txBody>
      </p:sp>
      <p:cxnSp>
        <p:nvCxnSpPr>
          <p:cNvPr name="GraphCompose Table Cell Border" id="111"/>
          <p:cNvCxnSpPr/>
          <p:nvPr/>
        </p:nvCxnSpPr>
        <p:spPr>
          <a:xfrm>
            <a:off x="4427188" y="609600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2"/>
          <p:cNvCxnSpPr/>
          <p:nvPr/>
        </p:nvCxnSpPr>
        <p:spPr>
          <a:xfrm>
            <a:off x="4427188" y="924401"/>
            <a:ext cx="102108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3"/>
          <p:cNvCxnSpPr/>
          <p:nvPr/>
        </p:nvCxnSpPr>
        <p:spPr>
          <a:xfrm>
            <a:off x="5445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14"/>
          <p:cNvSpPr txBox="true"/>
          <p:nvPr/>
        </p:nvSpPr>
        <p:spPr>
          <a:xfrm>
            <a:off x="4544028" y="688605"/>
            <a:ext cx="35658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Owner</a:t>
            </a:r>
            <a:endParaRPr lang="en-US" sz="1100"/>
          </a:p>
        </p:txBody>
      </p:sp>
      <p:cxnSp>
        <p:nvCxnSpPr>
          <p:cNvPr name="GraphCompose Table Cell Border" id="115"/>
          <p:cNvCxnSpPr/>
          <p:nvPr/>
        </p:nvCxnSpPr>
        <p:spPr>
          <a:xfrm>
            <a:off x="5443188" y="609600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6"/>
          <p:cNvCxnSpPr/>
          <p:nvPr/>
        </p:nvCxnSpPr>
        <p:spPr>
          <a:xfrm>
            <a:off x="5443188" y="924401"/>
            <a:ext cx="1018540" cy="0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cxnSp>
        <p:nvCxnSpPr>
          <p:cNvPr name="GraphCompose Table Cell Border" id="117"/>
          <p:cNvCxnSpPr/>
          <p:nvPr/>
        </p:nvCxnSpPr>
        <p:spPr>
          <a:xfrm>
            <a:off x="6461728" y="609600"/>
            <a:ext cx="0" cy="314801"/>
          </a:xfrm>
          <a:prstGeom prst="line">
            <a:avLst/>
          </a:prstGeom>
          <a:ln w="5080">
            <a:solidFill>
              <a:srgbClr val="0E3846"/>
            </a:solidFill>
          </a:ln>
        </p:spPr>
      </p:cxnSp>
      <p:sp>
        <p:nvSpPr>
          <p:cNvPr name="GraphCompose Table Cell Text" id="118"/>
          <p:cNvSpPr txBox="true"/>
          <p:nvPr/>
        </p:nvSpPr>
        <p:spPr>
          <a:xfrm>
            <a:off x="5560028" y="688605"/>
            <a:ext cx="417030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true" i="false" u="none" strike="noStrike" kern="0">
                <a:solidFill>
                  <a:srgbClr val="FFFFFF"/>
                </a:solidFill>
                <a:latin typeface="Arial"/>
              </a:rPr>
              <a:t>Amount</a:t>
            </a:r>
            <a:endParaRPr lang="en-US" sz="1100"/>
          </a:p>
        </p:txBody>
      </p:sp>
      <p:cxnSp>
        <p:nvCxnSpPr>
          <p:cNvPr name="GraphCompose Table Cell Border" id="119"/>
          <p:cNvCxnSpPr/>
          <p:nvPr/>
        </p:nvCxnSpPr>
        <p:spPr>
          <a:xfrm>
            <a:off x="431800" y="121380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0"/>
          <p:cNvCxnSpPr/>
          <p:nvPr/>
        </p:nvCxnSpPr>
        <p:spPr>
          <a:xfrm>
            <a:off x="431800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1"/>
          <p:cNvCxnSpPr/>
          <p:nvPr/>
        </p:nvCxnSpPr>
        <p:spPr>
          <a:xfrm>
            <a:off x="1193800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2"/>
          <p:cNvSpPr txBox="true"/>
          <p:nvPr/>
        </p:nvSpPr>
        <p:spPr>
          <a:xfrm>
            <a:off x="546100" y="99070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INV-107</a:t>
            </a:r>
            <a:endParaRPr lang="en-US" sz="1100"/>
          </a:p>
        </p:txBody>
      </p:sp>
      <p:cxnSp>
        <p:nvCxnSpPr>
          <p:cNvPr name="GraphCompose Table Cell Border" id="123"/>
          <p:cNvCxnSpPr/>
          <p:nvPr/>
        </p:nvCxnSpPr>
        <p:spPr>
          <a:xfrm>
            <a:off x="1191260" y="121380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4"/>
          <p:cNvCxnSpPr/>
          <p:nvPr/>
        </p:nvCxnSpPr>
        <p:spPr>
          <a:xfrm>
            <a:off x="3413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5"/>
          <p:cNvSpPr txBox="true"/>
          <p:nvPr/>
        </p:nvSpPr>
        <p:spPr>
          <a:xfrm>
            <a:off x="1308100" y="990707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8 — quarterly delivery slice</a:t>
            </a:r>
            <a:endParaRPr lang="en-US" sz="1100"/>
          </a:p>
        </p:txBody>
      </p:sp>
      <p:cxnSp>
        <p:nvCxnSpPr>
          <p:cNvPr name="GraphCompose Table Cell Border" id="126"/>
          <p:cNvCxnSpPr/>
          <p:nvPr/>
        </p:nvCxnSpPr>
        <p:spPr>
          <a:xfrm>
            <a:off x="3411188" y="121380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27"/>
          <p:cNvCxnSpPr/>
          <p:nvPr/>
        </p:nvCxnSpPr>
        <p:spPr>
          <a:xfrm>
            <a:off x="4429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28"/>
          <p:cNvSpPr txBox="true"/>
          <p:nvPr/>
        </p:nvSpPr>
        <p:spPr>
          <a:xfrm>
            <a:off x="3528028" y="990707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61 h</a:t>
            </a:r>
            <a:endParaRPr lang="en-US" sz="1100"/>
          </a:p>
        </p:txBody>
      </p:sp>
      <p:cxnSp>
        <p:nvCxnSpPr>
          <p:cNvPr name="GraphCompose Table Cell Border" id="129"/>
          <p:cNvCxnSpPr/>
          <p:nvPr/>
        </p:nvCxnSpPr>
        <p:spPr>
          <a:xfrm>
            <a:off x="4427188" y="121380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0"/>
          <p:cNvCxnSpPr/>
          <p:nvPr/>
        </p:nvCxnSpPr>
        <p:spPr>
          <a:xfrm>
            <a:off x="5445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1"/>
          <p:cNvSpPr txBox="true"/>
          <p:nvPr/>
        </p:nvSpPr>
        <p:spPr>
          <a:xfrm>
            <a:off x="4544028" y="990707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32"/>
          <p:cNvCxnSpPr/>
          <p:nvPr/>
        </p:nvCxnSpPr>
        <p:spPr>
          <a:xfrm>
            <a:off x="5443188" y="121380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3"/>
          <p:cNvCxnSpPr/>
          <p:nvPr/>
        </p:nvCxnSpPr>
        <p:spPr>
          <a:xfrm>
            <a:off x="6461728" y="92440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4"/>
          <p:cNvSpPr txBox="true"/>
          <p:nvPr/>
        </p:nvSpPr>
        <p:spPr>
          <a:xfrm>
            <a:off x="5560028" y="99070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£ 3,305</a:t>
            </a:r>
            <a:endParaRPr lang="en-US" sz="1100"/>
          </a:p>
        </p:txBody>
      </p:sp>
      <p:cxnSp>
        <p:nvCxnSpPr>
          <p:cNvPr name="GraphCompose Table Cell Border" id="135"/>
          <p:cNvCxnSpPr/>
          <p:nvPr/>
        </p:nvCxnSpPr>
        <p:spPr>
          <a:xfrm>
            <a:off x="431800" y="1503204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6"/>
          <p:cNvCxnSpPr/>
          <p:nvPr/>
        </p:nvCxnSpPr>
        <p:spPr>
          <a:xfrm>
            <a:off x="431800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37"/>
          <p:cNvCxnSpPr/>
          <p:nvPr/>
        </p:nvCxnSpPr>
        <p:spPr>
          <a:xfrm>
            <a:off x="1193800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38"/>
          <p:cNvSpPr txBox="true"/>
          <p:nvPr/>
        </p:nvSpPr>
        <p:spPr>
          <a:xfrm>
            <a:off x="546100" y="1280108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INV-108</a:t>
            </a:r>
            <a:endParaRPr lang="en-US" sz="1100"/>
          </a:p>
        </p:txBody>
      </p:sp>
      <p:cxnSp>
        <p:nvCxnSpPr>
          <p:cNvPr name="GraphCompose Table Cell Border" id="139"/>
          <p:cNvCxnSpPr/>
          <p:nvPr/>
        </p:nvCxnSpPr>
        <p:spPr>
          <a:xfrm>
            <a:off x="1191260" y="1503204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0"/>
          <p:cNvCxnSpPr/>
          <p:nvPr/>
        </p:nvCxnSpPr>
        <p:spPr>
          <a:xfrm>
            <a:off x="3413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1"/>
          <p:cNvSpPr txBox="true"/>
          <p:nvPr/>
        </p:nvSpPr>
        <p:spPr>
          <a:xfrm>
            <a:off x="1308100" y="1280108"/>
            <a:ext cx="1925517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9 — quarterly delivery slice</a:t>
            </a:r>
            <a:endParaRPr lang="en-US" sz="1100"/>
          </a:p>
        </p:txBody>
      </p:sp>
      <p:cxnSp>
        <p:nvCxnSpPr>
          <p:cNvPr name="GraphCompose Table Cell Border" id="142"/>
          <p:cNvCxnSpPr/>
          <p:nvPr/>
        </p:nvCxnSpPr>
        <p:spPr>
          <a:xfrm>
            <a:off x="3411188" y="150320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3"/>
          <p:cNvCxnSpPr/>
          <p:nvPr/>
        </p:nvCxnSpPr>
        <p:spPr>
          <a:xfrm>
            <a:off x="4429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4"/>
          <p:cNvSpPr txBox="true"/>
          <p:nvPr/>
        </p:nvSpPr>
        <p:spPr>
          <a:xfrm>
            <a:off x="3528028" y="128010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64 h</a:t>
            </a:r>
            <a:endParaRPr lang="en-US" sz="1100"/>
          </a:p>
        </p:txBody>
      </p:sp>
      <p:cxnSp>
        <p:nvCxnSpPr>
          <p:cNvPr name="GraphCompose Table Cell Border" id="145"/>
          <p:cNvCxnSpPr/>
          <p:nvPr/>
        </p:nvCxnSpPr>
        <p:spPr>
          <a:xfrm>
            <a:off x="4427188" y="150320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6"/>
          <p:cNvCxnSpPr/>
          <p:nvPr/>
        </p:nvCxnSpPr>
        <p:spPr>
          <a:xfrm>
            <a:off x="5445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47"/>
          <p:cNvSpPr txBox="true"/>
          <p:nvPr/>
        </p:nvSpPr>
        <p:spPr>
          <a:xfrm>
            <a:off x="4544028" y="1280108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48"/>
          <p:cNvCxnSpPr/>
          <p:nvPr/>
        </p:nvCxnSpPr>
        <p:spPr>
          <a:xfrm>
            <a:off x="5443188" y="1503204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49"/>
          <p:cNvCxnSpPr/>
          <p:nvPr/>
        </p:nvCxnSpPr>
        <p:spPr>
          <a:xfrm>
            <a:off x="6461728" y="121380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0"/>
          <p:cNvSpPr txBox="true"/>
          <p:nvPr/>
        </p:nvSpPr>
        <p:spPr>
          <a:xfrm>
            <a:off x="5560028" y="1280108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£ 3,520</a:t>
            </a:r>
            <a:endParaRPr lang="en-US" sz="1100"/>
          </a:p>
        </p:txBody>
      </p:sp>
      <p:cxnSp>
        <p:nvCxnSpPr>
          <p:cNvPr name="GraphCompose Table Cell Border" id="151"/>
          <p:cNvCxnSpPr/>
          <p:nvPr/>
        </p:nvCxnSpPr>
        <p:spPr>
          <a:xfrm>
            <a:off x="431800" y="1792605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2"/>
          <p:cNvCxnSpPr/>
          <p:nvPr/>
        </p:nvCxnSpPr>
        <p:spPr>
          <a:xfrm>
            <a:off x="431800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3"/>
          <p:cNvCxnSpPr/>
          <p:nvPr/>
        </p:nvCxnSpPr>
        <p:spPr>
          <a:xfrm>
            <a:off x="1193800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4"/>
          <p:cNvSpPr txBox="true"/>
          <p:nvPr/>
        </p:nvSpPr>
        <p:spPr>
          <a:xfrm>
            <a:off x="546100" y="1569509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INV-109</a:t>
            </a:r>
            <a:endParaRPr lang="en-US" sz="1100"/>
          </a:p>
        </p:txBody>
      </p:sp>
      <p:cxnSp>
        <p:nvCxnSpPr>
          <p:cNvPr name="GraphCompose Table Cell Border" id="155"/>
          <p:cNvCxnSpPr/>
          <p:nvPr/>
        </p:nvCxnSpPr>
        <p:spPr>
          <a:xfrm>
            <a:off x="1191260" y="1792605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6"/>
          <p:cNvCxnSpPr/>
          <p:nvPr/>
        </p:nvCxnSpPr>
        <p:spPr>
          <a:xfrm>
            <a:off x="3413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57"/>
          <p:cNvSpPr txBox="true"/>
          <p:nvPr/>
        </p:nvSpPr>
        <p:spPr>
          <a:xfrm>
            <a:off x="1308100" y="1569509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10 — quarterly delivery slice</a:t>
            </a:r>
            <a:endParaRPr lang="en-US" sz="1100"/>
          </a:p>
        </p:txBody>
      </p:sp>
      <p:cxnSp>
        <p:nvCxnSpPr>
          <p:cNvPr name="GraphCompose Table Cell Border" id="158"/>
          <p:cNvCxnSpPr/>
          <p:nvPr/>
        </p:nvCxnSpPr>
        <p:spPr>
          <a:xfrm>
            <a:off x="3411188" y="179260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59"/>
          <p:cNvCxnSpPr/>
          <p:nvPr/>
        </p:nvCxnSpPr>
        <p:spPr>
          <a:xfrm>
            <a:off x="4429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0"/>
          <p:cNvSpPr txBox="true"/>
          <p:nvPr/>
        </p:nvSpPr>
        <p:spPr>
          <a:xfrm>
            <a:off x="3528028" y="156950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67 h</a:t>
            </a:r>
            <a:endParaRPr lang="en-US" sz="1100"/>
          </a:p>
        </p:txBody>
      </p:sp>
      <p:cxnSp>
        <p:nvCxnSpPr>
          <p:cNvPr name="GraphCompose Table Cell Border" id="161"/>
          <p:cNvCxnSpPr/>
          <p:nvPr/>
        </p:nvCxnSpPr>
        <p:spPr>
          <a:xfrm>
            <a:off x="4427188" y="179260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2"/>
          <p:cNvCxnSpPr/>
          <p:nvPr/>
        </p:nvCxnSpPr>
        <p:spPr>
          <a:xfrm>
            <a:off x="5445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3"/>
          <p:cNvSpPr txBox="true"/>
          <p:nvPr/>
        </p:nvSpPr>
        <p:spPr>
          <a:xfrm>
            <a:off x="4544028" y="1569509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164"/>
          <p:cNvCxnSpPr/>
          <p:nvPr/>
        </p:nvCxnSpPr>
        <p:spPr>
          <a:xfrm>
            <a:off x="5443188" y="1792605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5"/>
          <p:cNvCxnSpPr/>
          <p:nvPr/>
        </p:nvCxnSpPr>
        <p:spPr>
          <a:xfrm>
            <a:off x="6461728" y="150320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66"/>
          <p:cNvSpPr txBox="true"/>
          <p:nvPr/>
        </p:nvSpPr>
        <p:spPr>
          <a:xfrm>
            <a:off x="5560028" y="1569509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£ 3,735</a:t>
            </a:r>
            <a:endParaRPr lang="en-US" sz="1100"/>
          </a:p>
        </p:txBody>
      </p:sp>
      <p:cxnSp>
        <p:nvCxnSpPr>
          <p:cNvPr name="GraphCompose Table Cell Border" id="167"/>
          <p:cNvCxnSpPr/>
          <p:nvPr/>
        </p:nvCxnSpPr>
        <p:spPr>
          <a:xfrm>
            <a:off x="431800" y="2082006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8"/>
          <p:cNvCxnSpPr/>
          <p:nvPr/>
        </p:nvCxnSpPr>
        <p:spPr>
          <a:xfrm>
            <a:off x="431800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69"/>
          <p:cNvCxnSpPr/>
          <p:nvPr/>
        </p:nvCxnSpPr>
        <p:spPr>
          <a:xfrm>
            <a:off x="1193800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0"/>
          <p:cNvSpPr txBox="true"/>
          <p:nvPr/>
        </p:nvSpPr>
        <p:spPr>
          <a:xfrm>
            <a:off x="546100" y="1858910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INV-110</a:t>
            </a:r>
            <a:endParaRPr lang="en-US" sz="1100"/>
          </a:p>
        </p:txBody>
      </p:sp>
      <p:cxnSp>
        <p:nvCxnSpPr>
          <p:cNvPr name="GraphCompose Table Cell Border" id="171"/>
          <p:cNvCxnSpPr/>
          <p:nvPr/>
        </p:nvCxnSpPr>
        <p:spPr>
          <a:xfrm>
            <a:off x="1191260" y="2082006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2"/>
          <p:cNvCxnSpPr/>
          <p:nvPr/>
        </p:nvCxnSpPr>
        <p:spPr>
          <a:xfrm>
            <a:off x="3413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3"/>
          <p:cNvSpPr txBox="true"/>
          <p:nvPr/>
        </p:nvSpPr>
        <p:spPr>
          <a:xfrm>
            <a:off x="1308100" y="1858910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11 — quarterly delivery slice</a:t>
            </a:r>
            <a:endParaRPr lang="en-US" sz="1100"/>
          </a:p>
        </p:txBody>
      </p:sp>
      <p:cxnSp>
        <p:nvCxnSpPr>
          <p:cNvPr name="GraphCompose Table Cell Border" id="174"/>
          <p:cNvCxnSpPr/>
          <p:nvPr/>
        </p:nvCxnSpPr>
        <p:spPr>
          <a:xfrm>
            <a:off x="3411188" y="208200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5"/>
          <p:cNvCxnSpPr/>
          <p:nvPr/>
        </p:nvCxnSpPr>
        <p:spPr>
          <a:xfrm>
            <a:off x="4429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6"/>
          <p:cNvSpPr txBox="true"/>
          <p:nvPr/>
        </p:nvSpPr>
        <p:spPr>
          <a:xfrm>
            <a:off x="3528028" y="1858910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70 h</a:t>
            </a:r>
            <a:endParaRPr lang="en-US" sz="1100"/>
          </a:p>
        </p:txBody>
      </p:sp>
      <p:cxnSp>
        <p:nvCxnSpPr>
          <p:cNvPr name="GraphCompose Table Cell Border" id="177"/>
          <p:cNvCxnSpPr/>
          <p:nvPr/>
        </p:nvCxnSpPr>
        <p:spPr>
          <a:xfrm>
            <a:off x="4427188" y="208200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78"/>
          <p:cNvCxnSpPr/>
          <p:nvPr/>
        </p:nvCxnSpPr>
        <p:spPr>
          <a:xfrm>
            <a:off x="5445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79"/>
          <p:cNvSpPr txBox="true"/>
          <p:nvPr/>
        </p:nvSpPr>
        <p:spPr>
          <a:xfrm>
            <a:off x="4544028" y="1858910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180"/>
          <p:cNvCxnSpPr/>
          <p:nvPr/>
        </p:nvCxnSpPr>
        <p:spPr>
          <a:xfrm>
            <a:off x="5443188" y="2082006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1"/>
          <p:cNvCxnSpPr/>
          <p:nvPr/>
        </p:nvCxnSpPr>
        <p:spPr>
          <a:xfrm>
            <a:off x="6461728" y="179260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2"/>
          <p:cNvSpPr txBox="true"/>
          <p:nvPr/>
        </p:nvSpPr>
        <p:spPr>
          <a:xfrm>
            <a:off x="5560028" y="1858910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£ 3,950</a:t>
            </a:r>
            <a:endParaRPr lang="en-US" sz="1100"/>
          </a:p>
        </p:txBody>
      </p:sp>
      <p:cxnSp>
        <p:nvCxnSpPr>
          <p:cNvPr name="GraphCompose Table Cell Border" id="183"/>
          <p:cNvCxnSpPr/>
          <p:nvPr/>
        </p:nvCxnSpPr>
        <p:spPr>
          <a:xfrm>
            <a:off x="431800" y="2371407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4"/>
          <p:cNvCxnSpPr/>
          <p:nvPr/>
        </p:nvCxnSpPr>
        <p:spPr>
          <a:xfrm>
            <a:off x="431800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5"/>
          <p:cNvCxnSpPr/>
          <p:nvPr/>
        </p:nvCxnSpPr>
        <p:spPr>
          <a:xfrm>
            <a:off x="1193800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6"/>
          <p:cNvSpPr txBox="true"/>
          <p:nvPr/>
        </p:nvSpPr>
        <p:spPr>
          <a:xfrm>
            <a:off x="546100" y="2148312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INV-111</a:t>
            </a:r>
            <a:endParaRPr lang="en-US" sz="1100"/>
          </a:p>
        </p:txBody>
      </p:sp>
      <p:cxnSp>
        <p:nvCxnSpPr>
          <p:cNvPr name="GraphCompose Table Cell Border" id="187"/>
          <p:cNvCxnSpPr/>
          <p:nvPr/>
        </p:nvCxnSpPr>
        <p:spPr>
          <a:xfrm>
            <a:off x="1191260" y="2371407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88"/>
          <p:cNvCxnSpPr/>
          <p:nvPr/>
        </p:nvCxnSpPr>
        <p:spPr>
          <a:xfrm>
            <a:off x="3413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89"/>
          <p:cNvSpPr txBox="true"/>
          <p:nvPr/>
        </p:nvSpPr>
        <p:spPr>
          <a:xfrm>
            <a:off x="1308100" y="2148312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12 — quarterly delivery slice</a:t>
            </a:r>
            <a:endParaRPr lang="en-US" sz="1100"/>
          </a:p>
        </p:txBody>
      </p:sp>
      <p:cxnSp>
        <p:nvCxnSpPr>
          <p:cNvPr name="GraphCompose Table Cell Border" id="190"/>
          <p:cNvCxnSpPr/>
          <p:nvPr/>
        </p:nvCxnSpPr>
        <p:spPr>
          <a:xfrm>
            <a:off x="3411188" y="237140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1"/>
          <p:cNvCxnSpPr/>
          <p:nvPr/>
        </p:nvCxnSpPr>
        <p:spPr>
          <a:xfrm>
            <a:off x="4429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2"/>
          <p:cNvSpPr txBox="true"/>
          <p:nvPr/>
        </p:nvSpPr>
        <p:spPr>
          <a:xfrm>
            <a:off x="3528028" y="2148312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73 h</a:t>
            </a:r>
            <a:endParaRPr lang="en-US" sz="1100"/>
          </a:p>
        </p:txBody>
      </p:sp>
      <p:cxnSp>
        <p:nvCxnSpPr>
          <p:cNvPr name="GraphCompose Table Cell Border" id="193"/>
          <p:cNvCxnSpPr/>
          <p:nvPr/>
        </p:nvCxnSpPr>
        <p:spPr>
          <a:xfrm>
            <a:off x="4427188" y="237140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4"/>
          <p:cNvCxnSpPr/>
          <p:nvPr/>
        </p:nvCxnSpPr>
        <p:spPr>
          <a:xfrm>
            <a:off x="5445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5"/>
          <p:cNvSpPr txBox="true"/>
          <p:nvPr/>
        </p:nvSpPr>
        <p:spPr>
          <a:xfrm>
            <a:off x="4544028" y="2148312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196"/>
          <p:cNvCxnSpPr/>
          <p:nvPr/>
        </p:nvCxnSpPr>
        <p:spPr>
          <a:xfrm>
            <a:off x="5443188" y="2371407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197"/>
          <p:cNvCxnSpPr/>
          <p:nvPr/>
        </p:nvCxnSpPr>
        <p:spPr>
          <a:xfrm>
            <a:off x="6461728" y="208200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198"/>
          <p:cNvSpPr txBox="true"/>
          <p:nvPr/>
        </p:nvSpPr>
        <p:spPr>
          <a:xfrm>
            <a:off x="5560028" y="2148312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£ 4,165</a:t>
            </a:r>
            <a:endParaRPr lang="en-US" sz="1100"/>
          </a:p>
        </p:txBody>
      </p:sp>
      <p:cxnSp>
        <p:nvCxnSpPr>
          <p:cNvPr name="GraphCompose Table Cell Border" id="199"/>
          <p:cNvCxnSpPr/>
          <p:nvPr/>
        </p:nvCxnSpPr>
        <p:spPr>
          <a:xfrm>
            <a:off x="431800" y="2660809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0"/>
          <p:cNvCxnSpPr/>
          <p:nvPr/>
        </p:nvCxnSpPr>
        <p:spPr>
          <a:xfrm>
            <a:off x="431800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1"/>
          <p:cNvCxnSpPr/>
          <p:nvPr/>
        </p:nvCxnSpPr>
        <p:spPr>
          <a:xfrm>
            <a:off x="1193800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2"/>
          <p:cNvSpPr txBox="true"/>
          <p:nvPr/>
        </p:nvSpPr>
        <p:spPr>
          <a:xfrm>
            <a:off x="546100" y="2437713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INV-112</a:t>
            </a:r>
            <a:endParaRPr lang="en-US" sz="1100"/>
          </a:p>
        </p:txBody>
      </p:sp>
      <p:cxnSp>
        <p:nvCxnSpPr>
          <p:cNvPr name="GraphCompose Table Cell Border" id="203"/>
          <p:cNvCxnSpPr/>
          <p:nvPr/>
        </p:nvCxnSpPr>
        <p:spPr>
          <a:xfrm>
            <a:off x="1191260" y="2660809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4"/>
          <p:cNvCxnSpPr/>
          <p:nvPr/>
        </p:nvCxnSpPr>
        <p:spPr>
          <a:xfrm>
            <a:off x="3413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5"/>
          <p:cNvSpPr txBox="true"/>
          <p:nvPr/>
        </p:nvSpPr>
        <p:spPr>
          <a:xfrm>
            <a:off x="1308100" y="2437713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13 — quarterly delivery slice</a:t>
            </a:r>
            <a:endParaRPr lang="en-US" sz="1100"/>
          </a:p>
        </p:txBody>
      </p:sp>
      <p:cxnSp>
        <p:nvCxnSpPr>
          <p:cNvPr name="GraphCompose Table Cell Border" id="206"/>
          <p:cNvCxnSpPr/>
          <p:nvPr/>
        </p:nvCxnSpPr>
        <p:spPr>
          <a:xfrm>
            <a:off x="3411188" y="266080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07"/>
          <p:cNvCxnSpPr/>
          <p:nvPr/>
        </p:nvCxnSpPr>
        <p:spPr>
          <a:xfrm>
            <a:off x="4429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08"/>
          <p:cNvSpPr txBox="true"/>
          <p:nvPr/>
        </p:nvSpPr>
        <p:spPr>
          <a:xfrm>
            <a:off x="3528028" y="2437713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76 h</a:t>
            </a:r>
            <a:endParaRPr lang="en-US" sz="1100"/>
          </a:p>
        </p:txBody>
      </p:sp>
      <p:cxnSp>
        <p:nvCxnSpPr>
          <p:cNvPr name="GraphCompose Table Cell Border" id="209"/>
          <p:cNvCxnSpPr/>
          <p:nvPr/>
        </p:nvCxnSpPr>
        <p:spPr>
          <a:xfrm>
            <a:off x="4427188" y="266080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0"/>
          <p:cNvCxnSpPr/>
          <p:nvPr/>
        </p:nvCxnSpPr>
        <p:spPr>
          <a:xfrm>
            <a:off x="5445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1"/>
          <p:cNvSpPr txBox="true"/>
          <p:nvPr/>
        </p:nvSpPr>
        <p:spPr>
          <a:xfrm>
            <a:off x="4544028" y="2437713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212"/>
          <p:cNvCxnSpPr/>
          <p:nvPr/>
        </p:nvCxnSpPr>
        <p:spPr>
          <a:xfrm>
            <a:off x="5443188" y="2660809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3"/>
          <p:cNvCxnSpPr/>
          <p:nvPr/>
        </p:nvCxnSpPr>
        <p:spPr>
          <a:xfrm>
            <a:off x="6461728" y="237140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4"/>
          <p:cNvSpPr txBox="true"/>
          <p:nvPr/>
        </p:nvSpPr>
        <p:spPr>
          <a:xfrm>
            <a:off x="5560028" y="2437713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£ 4,380</a:t>
            </a:r>
            <a:endParaRPr lang="en-US" sz="1100"/>
          </a:p>
        </p:txBody>
      </p:sp>
      <p:cxnSp>
        <p:nvCxnSpPr>
          <p:cNvPr name="GraphCompose Table Cell Border" id="215"/>
          <p:cNvCxnSpPr/>
          <p:nvPr/>
        </p:nvCxnSpPr>
        <p:spPr>
          <a:xfrm>
            <a:off x="431800" y="2950210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6"/>
          <p:cNvCxnSpPr/>
          <p:nvPr/>
        </p:nvCxnSpPr>
        <p:spPr>
          <a:xfrm>
            <a:off x="431800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17"/>
          <p:cNvCxnSpPr/>
          <p:nvPr/>
        </p:nvCxnSpPr>
        <p:spPr>
          <a:xfrm>
            <a:off x="1193800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18"/>
          <p:cNvSpPr txBox="true"/>
          <p:nvPr/>
        </p:nvSpPr>
        <p:spPr>
          <a:xfrm>
            <a:off x="546100" y="2727114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INV-113</a:t>
            </a:r>
            <a:endParaRPr lang="en-US" sz="1100"/>
          </a:p>
        </p:txBody>
      </p:sp>
      <p:cxnSp>
        <p:nvCxnSpPr>
          <p:cNvPr name="GraphCompose Table Cell Border" id="219"/>
          <p:cNvCxnSpPr/>
          <p:nvPr/>
        </p:nvCxnSpPr>
        <p:spPr>
          <a:xfrm>
            <a:off x="1191260" y="2950210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0"/>
          <p:cNvCxnSpPr/>
          <p:nvPr/>
        </p:nvCxnSpPr>
        <p:spPr>
          <a:xfrm>
            <a:off x="3413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21"/>
          <p:cNvSpPr txBox="true"/>
          <p:nvPr/>
        </p:nvSpPr>
        <p:spPr>
          <a:xfrm>
            <a:off x="1308100" y="2727114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14 — quarterly delivery slice</a:t>
            </a:r>
            <a:endParaRPr lang="en-US" sz="1100"/>
          </a:p>
        </p:txBody>
      </p:sp>
      <p:cxnSp>
        <p:nvCxnSpPr>
          <p:cNvPr name="GraphCompose Table Cell Border" id="222"/>
          <p:cNvCxnSpPr/>
          <p:nvPr/>
        </p:nvCxnSpPr>
        <p:spPr>
          <a:xfrm>
            <a:off x="3411188" y="295021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3"/>
          <p:cNvCxnSpPr/>
          <p:nvPr/>
        </p:nvCxnSpPr>
        <p:spPr>
          <a:xfrm>
            <a:off x="4429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24"/>
          <p:cNvSpPr txBox="true"/>
          <p:nvPr/>
        </p:nvSpPr>
        <p:spPr>
          <a:xfrm>
            <a:off x="3528028" y="2727114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79 h</a:t>
            </a:r>
            <a:endParaRPr lang="en-US" sz="1100"/>
          </a:p>
        </p:txBody>
      </p:sp>
      <p:cxnSp>
        <p:nvCxnSpPr>
          <p:cNvPr name="GraphCompose Table Cell Border" id="225"/>
          <p:cNvCxnSpPr/>
          <p:nvPr/>
        </p:nvCxnSpPr>
        <p:spPr>
          <a:xfrm>
            <a:off x="4427188" y="295021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6"/>
          <p:cNvCxnSpPr/>
          <p:nvPr/>
        </p:nvCxnSpPr>
        <p:spPr>
          <a:xfrm>
            <a:off x="5445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27"/>
          <p:cNvSpPr txBox="true"/>
          <p:nvPr/>
        </p:nvSpPr>
        <p:spPr>
          <a:xfrm>
            <a:off x="4544028" y="2727114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228"/>
          <p:cNvCxnSpPr/>
          <p:nvPr/>
        </p:nvCxnSpPr>
        <p:spPr>
          <a:xfrm>
            <a:off x="5443188" y="2950210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29"/>
          <p:cNvCxnSpPr/>
          <p:nvPr/>
        </p:nvCxnSpPr>
        <p:spPr>
          <a:xfrm>
            <a:off x="6461728" y="266080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30"/>
          <p:cNvSpPr txBox="true"/>
          <p:nvPr/>
        </p:nvSpPr>
        <p:spPr>
          <a:xfrm>
            <a:off x="5560028" y="2727114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£ 4,595</a:t>
            </a:r>
            <a:endParaRPr lang="en-US" sz="1100"/>
          </a:p>
        </p:txBody>
      </p:sp>
      <p:cxnSp>
        <p:nvCxnSpPr>
          <p:cNvPr name="GraphCompose Table Cell Border" id="231"/>
          <p:cNvCxnSpPr/>
          <p:nvPr/>
        </p:nvCxnSpPr>
        <p:spPr>
          <a:xfrm>
            <a:off x="431800" y="3239611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2"/>
          <p:cNvCxnSpPr/>
          <p:nvPr/>
        </p:nvCxnSpPr>
        <p:spPr>
          <a:xfrm>
            <a:off x="431800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3"/>
          <p:cNvCxnSpPr/>
          <p:nvPr/>
        </p:nvCxnSpPr>
        <p:spPr>
          <a:xfrm>
            <a:off x="1193800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34"/>
          <p:cNvSpPr txBox="true"/>
          <p:nvPr/>
        </p:nvSpPr>
        <p:spPr>
          <a:xfrm>
            <a:off x="546100" y="3016515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INV-114</a:t>
            </a:r>
            <a:endParaRPr lang="en-US" sz="1100"/>
          </a:p>
        </p:txBody>
      </p:sp>
      <p:cxnSp>
        <p:nvCxnSpPr>
          <p:cNvPr name="GraphCompose Table Cell Border" id="235"/>
          <p:cNvCxnSpPr/>
          <p:nvPr/>
        </p:nvCxnSpPr>
        <p:spPr>
          <a:xfrm>
            <a:off x="1191260" y="3239611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6"/>
          <p:cNvCxnSpPr/>
          <p:nvPr/>
        </p:nvCxnSpPr>
        <p:spPr>
          <a:xfrm>
            <a:off x="3413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37"/>
          <p:cNvSpPr txBox="true"/>
          <p:nvPr/>
        </p:nvSpPr>
        <p:spPr>
          <a:xfrm>
            <a:off x="1308100" y="3016515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15 — quarterly delivery slice</a:t>
            </a:r>
            <a:endParaRPr lang="en-US" sz="1100"/>
          </a:p>
        </p:txBody>
      </p:sp>
      <p:cxnSp>
        <p:nvCxnSpPr>
          <p:cNvPr name="GraphCompose Table Cell Border" id="238"/>
          <p:cNvCxnSpPr/>
          <p:nvPr/>
        </p:nvCxnSpPr>
        <p:spPr>
          <a:xfrm>
            <a:off x="3411188" y="323961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39"/>
          <p:cNvCxnSpPr/>
          <p:nvPr/>
        </p:nvCxnSpPr>
        <p:spPr>
          <a:xfrm>
            <a:off x="4429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40"/>
          <p:cNvSpPr txBox="true"/>
          <p:nvPr/>
        </p:nvSpPr>
        <p:spPr>
          <a:xfrm>
            <a:off x="3528028" y="3016515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82 h</a:t>
            </a:r>
            <a:endParaRPr lang="en-US" sz="1100"/>
          </a:p>
        </p:txBody>
      </p:sp>
      <p:cxnSp>
        <p:nvCxnSpPr>
          <p:cNvPr name="GraphCompose Table Cell Border" id="241"/>
          <p:cNvCxnSpPr/>
          <p:nvPr/>
        </p:nvCxnSpPr>
        <p:spPr>
          <a:xfrm>
            <a:off x="4427188" y="323961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2"/>
          <p:cNvCxnSpPr/>
          <p:nvPr/>
        </p:nvCxnSpPr>
        <p:spPr>
          <a:xfrm>
            <a:off x="5445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43"/>
          <p:cNvSpPr txBox="true"/>
          <p:nvPr/>
        </p:nvSpPr>
        <p:spPr>
          <a:xfrm>
            <a:off x="4544028" y="3016515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244"/>
          <p:cNvCxnSpPr/>
          <p:nvPr/>
        </p:nvCxnSpPr>
        <p:spPr>
          <a:xfrm>
            <a:off x="5443188" y="3239611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5"/>
          <p:cNvCxnSpPr/>
          <p:nvPr/>
        </p:nvCxnSpPr>
        <p:spPr>
          <a:xfrm>
            <a:off x="6461728" y="295021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46"/>
          <p:cNvSpPr txBox="true"/>
          <p:nvPr/>
        </p:nvSpPr>
        <p:spPr>
          <a:xfrm>
            <a:off x="5560028" y="3016515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£ 4,810</a:t>
            </a:r>
            <a:endParaRPr lang="en-US" sz="1100"/>
          </a:p>
        </p:txBody>
      </p:sp>
      <p:cxnSp>
        <p:nvCxnSpPr>
          <p:cNvPr name="GraphCompose Table Cell Border" id="247"/>
          <p:cNvCxnSpPr/>
          <p:nvPr/>
        </p:nvCxnSpPr>
        <p:spPr>
          <a:xfrm>
            <a:off x="431800" y="352901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8"/>
          <p:cNvCxnSpPr/>
          <p:nvPr/>
        </p:nvCxnSpPr>
        <p:spPr>
          <a:xfrm>
            <a:off x="431800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49"/>
          <p:cNvCxnSpPr/>
          <p:nvPr/>
        </p:nvCxnSpPr>
        <p:spPr>
          <a:xfrm>
            <a:off x="1193800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0"/>
          <p:cNvSpPr txBox="true"/>
          <p:nvPr/>
        </p:nvSpPr>
        <p:spPr>
          <a:xfrm>
            <a:off x="546100" y="330591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INV-115</a:t>
            </a:r>
            <a:endParaRPr lang="en-US" sz="1100"/>
          </a:p>
        </p:txBody>
      </p:sp>
      <p:cxnSp>
        <p:nvCxnSpPr>
          <p:cNvPr name="GraphCompose Table Cell Border" id="251"/>
          <p:cNvCxnSpPr/>
          <p:nvPr/>
        </p:nvCxnSpPr>
        <p:spPr>
          <a:xfrm>
            <a:off x="1191260" y="352901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52"/>
          <p:cNvCxnSpPr/>
          <p:nvPr/>
        </p:nvCxnSpPr>
        <p:spPr>
          <a:xfrm>
            <a:off x="3413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3"/>
          <p:cNvSpPr txBox="true"/>
          <p:nvPr/>
        </p:nvSpPr>
        <p:spPr>
          <a:xfrm>
            <a:off x="1308100" y="3305917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16 — quarterly delivery slice</a:t>
            </a:r>
            <a:endParaRPr lang="en-US" sz="1100"/>
          </a:p>
        </p:txBody>
      </p:sp>
      <p:cxnSp>
        <p:nvCxnSpPr>
          <p:cNvPr name="GraphCompose Table Cell Border" id="254"/>
          <p:cNvCxnSpPr/>
          <p:nvPr/>
        </p:nvCxnSpPr>
        <p:spPr>
          <a:xfrm>
            <a:off x="3411188" y="352901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55"/>
          <p:cNvCxnSpPr/>
          <p:nvPr/>
        </p:nvCxnSpPr>
        <p:spPr>
          <a:xfrm>
            <a:off x="4429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6"/>
          <p:cNvSpPr txBox="true"/>
          <p:nvPr/>
        </p:nvSpPr>
        <p:spPr>
          <a:xfrm>
            <a:off x="3528028" y="3305917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85 h</a:t>
            </a:r>
            <a:endParaRPr lang="en-US" sz="1100"/>
          </a:p>
        </p:txBody>
      </p:sp>
      <p:cxnSp>
        <p:nvCxnSpPr>
          <p:cNvPr name="GraphCompose Table Cell Border" id="257"/>
          <p:cNvCxnSpPr/>
          <p:nvPr/>
        </p:nvCxnSpPr>
        <p:spPr>
          <a:xfrm>
            <a:off x="4427188" y="352901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58"/>
          <p:cNvCxnSpPr/>
          <p:nvPr/>
        </p:nvCxnSpPr>
        <p:spPr>
          <a:xfrm>
            <a:off x="5445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59"/>
          <p:cNvSpPr txBox="true"/>
          <p:nvPr/>
        </p:nvSpPr>
        <p:spPr>
          <a:xfrm>
            <a:off x="4544028" y="3305917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260"/>
          <p:cNvCxnSpPr/>
          <p:nvPr/>
        </p:nvCxnSpPr>
        <p:spPr>
          <a:xfrm>
            <a:off x="5443188" y="352901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1"/>
          <p:cNvCxnSpPr/>
          <p:nvPr/>
        </p:nvCxnSpPr>
        <p:spPr>
          <a:xfrm>
            <a:off x="6461728" y="323961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62"/>
          <p:cNvSpPr txBox="true"/>
          <p:nvPr/>
        </p:nvSpPr>
        <p:spPr>
          <a:xfrm>
            <a:off x="5560028" y="330591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£ 5,025</a:t>
            </a:r>
            <a:endParaRPr lang="en-US" sz="1100"/>
          </a:p>
        </p:txBody>
      </p:sp>
      <p:cxnSp>
        <p:nvCxnSpPr>
          <p:cNvPr name="GraphCompose Table Cell Border" id="263"/>
          <p:cNvCxnSpPr/>
          <p:nvPr/>
        </p:nvCxnSpPr>
        <p:spPr>
          <a:xfrm>
            <a:off x="431800" y="3818414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4"/>
          <p:cNvCxnSpPr/>
          <p:nvPr/>
        </p:nvCxnSpPr>
        <p:spPr>
          <a:xfrm>
            <a:off x="431800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5"/>
          <p:cNvCxnSpPr/>
          <p:nvPr/>
        </p:nvCxnSpPr>
        <p:spPr>
          <a:xfrm>
            <a:off x="1193800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66"/>
          <p:cNvSpPr txBox="true"/>
          <p:nvPr/>
        </p:nvSpPr>
        <p:spPr>
          <a:xfrm>
            <a:off x="546100" y="3595318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INV-116</a:t>
            </a:r>
            <a:endParaRPr lang="en-US" sz="1100"/>
          </a:p>
        </p:txBody>
      </p:sp>
      <p:cxnSp>
        <p:nvCxnSpPr>
          <p:cNvPr name="GraphCompose Table Cell Border" id="267"/>
          <p:cNvCxnSpPr/>
          <p:nvPr/>
        </p:nvCxnSpPr>
        <p:spPr>
          <a:xfrm>
            <a:off x="1191260" y="3818414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68"/>
          <p:cNvCxnSpPr/>
          <p:nvPr/>
        </p:nvCxnSpPr>
        <p:spPr>
          <a:xfrm>
            <a:off x="3413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69"/>
          <p:cNvSpPr txBox="true"/>
          <p:nvPr/>
        </p:nvSpPr>
        <p:spPr>
          <a:xfrm>
            <a:off x="1308100" y="3595318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17 — quarterly delivery slice</a:t>
            </a:r>
            <a:endParaRPr lang="en-US" sz="1100"/>
          </a:p>
        </p:txBody>
      </p:sp>
      <p:cxnSp>
        <p:nvCxnSpPr>
          <p:cNvPr name="GraphCompose Table Cell Border" id="270"/>
          <p:cNvCxnSpPr/>
          <p:nvPr/>
        </p:nvCxnSpPr>
        <p:spPr>
          <a:xfrm>
            <a:off x="3411188" y="381841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71"/>
          <p:cNvCxnSpPr/>
          <p:nvPr/>
        </p:nvCxnSpPr>
        <p:spPr>
          <a:xfrm>
            <a:off x="4429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72"/>
          <p:cNvSpPr txBox="true"/>
          <p:nvPr/>
        </p:nvSpPr>
        <p:spPr>
          <a:xfrm>
            <a:off x="3528028" y="3595318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88 h</a:t>
            </a:r>
            <a:endParaRPr lang="en-US" sz="1100"/>
          </a:p>
        </p:txBody>
      </p:sp>
      <p:cxnSp>
        <p:nvCxnSpPr>
          <p:cNvPr name="GraphCompose Table Cell Border" id="273"/>
          <p:cNvCxnSpPr/>
          <p:nvPr/>
        </p:nvCxnSpPr>
        <p:spPr>
          <a:xfrm>
            <a:off x="4427188" y="3818414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74"/>
          <p:cNvCxnSpPr/>
          <p:nvPr/>
        </p:nvCxnSpPr>
        <p:spPr>
          <a:xfrm>
            <a:off x="5445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75"/>
          <p:cNvSpPr txBox="true"/>
          <p:nvPr/>
        </p:nvSpPr>
        <p:spPr>
          <a:xfrm>
            <a:off x="4544028" y="3595318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276"/>
          <p:cNvCxnSpPr/>
          <p:nvPr/>
        </p:nvCxnSpPr>
        <p:spPr>
          <a:xfrm>
            <a:off x="5443188" y="3818414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77"/>
          <p:cNvCxnSpPr/>
          <p:nvPr/>
        </p:nvCxnSpPr>
        <p:spPr>
          <a:xfrm>
            <a:off x="6461728" y="3529012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78"/>
          <p:cNvSpPr txBox="true"/>
          <p:nvPr/>
        </p:nvSpPr>
        <p:spPr>
          <a:xfrm>
            <a:off x="5560028" y="3595318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£ 5,240</a:t>
            </a:r>
            <a:endParaRPr lang="en-US" sz="1100"/>
          </a:p>
        </p:txBody>
      </p:sp>
      <p:cxnSp>
        <p:nvCxnSpPr>
          <p:cNvPr name="GraphCompose Table Cell Border" id="279"/>
          <p:cNvCxnSpPr/>
          <p:nvPr/>
        </p:nvCxnSpPr>
        <p:spPr>
          <a:xfrm>
            <a:off x="431800" y="4107815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0"/>
          <p:cNvCxnSpPr/>
          <p:nvPr/>
        </p:nvCxnSpPr>
        <p:spPr>
          <a:xfrm>
            <a:off x="431800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1"/>
          <p:cNvCxnSpPr/>
          <p:nvPr/>
        </p:nvCxnSpPr>
        <p:spPr>
          <a:xfrm>
            <a:off x="1193800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82"/>
          <p:cNvSpPr txBox="true"/>
          <p:nvPr/>
        </p:nvSpPr>
        <p:spPr>
          <a:xfrm>
            <a:off x="546100" y="3884719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INV-117</a:t>
            </a:r>
            <a:endParaRPr lang="en-US" sz="1100"/>
          </a:p>
        </p:txBody>
      </p:sp>
      <p:cxnSp>
        <p:nvCxnSpPr>
          <p:cNvPr name="GraphCompose Table Cell Border" id="283"/>
          <p:cNvCxnSpPr/>
          <p:nvPr/>
        </p:nvCxnSpPr>
        <p:spPr>
          <a:xfrm>
            <a:off x="1191260" y="4107815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4"/>
          <p:cNvCxnSpPr/>
          <p:nvPr/>
        </p:nvCxnSpPr>
        <p:spPr>
          <a:xfrm>
            <a:off x="3413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85"/>
          <p:cNvSpPr txBox="true"/>
          <p:nvPr/>
        </p:nvSpPr>
        <p:spPr>
          <a:xfrm>
            <a:off x="1308100" y="3884719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18 — quarterly delivery slice</a:t>
            </a:r>
            <a:endParaRPr lang="en-US" sz="1100"/>
          </a:p>
        </p:txBody>
      </p:sp>
      <p:cxnSp>
        <p:nvCxnSpPr>
          <p:cNvPr name="GraphCompose Table Cell Border" id="286"/>
          <p:cNvCxnSpPr/>
          <p:nvPr/>
        </p:nvCxnSpPr>
        <p:spPr>
          <a:xfrm>
            <a:off x="3411188" y="410781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87"/>
          <p:cNvCxnSpPr/>
          <p:nvPr/>
        </p:nvCxnSpPr>
        <p:spPr>
          <a:xfrm>
            <a:off x="4429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88"/>
          <p:cNvSpPr txBox="true"/>
          <p:nvPr/>
        </p:nvSpPr>
        <p:spPr>
          <a:xfrm>
            <a:off x="3528028" y="3884719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91 h</a:t>
            </a:r>
            <a:endParaRPr lang="en-US" sz="1100"/>
          </a:p>
        </p:txBody>
      </p:sp>
      <p:cxnSp>
        <p:nvCxnSpPr>
          <p:cNvPr name="GraphCompose Table Cell Border" id="289"/>
          <p:cNvCxnSpPr/>
          <p:nvPr/>
        </p:nvCxnSpPr>
        <p:spPr>
          <a:xfrm>
            <a:off x="4427188" y="4107815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0"/>
          <p:cNvCxnSpPr/>
          <p:nvPr/>
        </p:nvCxnSpPr>
        <p:spPr>
          <a:xfrm>
            <a:off x="5445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91"/>
          <p:cNvSpPr txBox="true"/>
          <p:nvPr/>
        </p:nvSpPr>
        <p:spPr>
          <a:xfrm>
            <a:off x="4544028" y="3884719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292"/>
          <p:cNvCxnSpPr/>
          <p:nvPr/>
        </p:nvCxnSpPr>
        <p:spPr>
          <a:xfrm>
            <a:off x="5443188" y="4107815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3"/>
          <p:cNvCxnSpPr/>
          <p:nvPr/>
        </p:nvCxnSpPr>
        <p:spPr>
          <a:xfrm>
            <a:off x="6461728" y="3818414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94"/>
          <p:cNvSpPr txBox="true"/>
          <p:nvPr/>
        </p:nvSpPr>
        <p:spPr>
          <a:xfrm>
            <a:off x="5560028" y="3884719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£ 5,455</a:t>
            </a:r>
            <a:endParaRPr lang="en-US" sz="1100"/>
          </a:p>
        </p:txBody>
      </p:sp>
      <p:cxnSp>
        <p:nvCxnSpPr>
          <p:cNvPr name="GraphCompose Table Cell Border" id="295"/>
          <p:cNvCxnSpPr/>
          <p:nvPr/>
        </p:nvCxnSpPr>
        <p:spPr>
          <a:xfrm>
            <a:off x="431800" y="4397216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6"/>
          <p:cNvCxnSpPr/>
          <p:nvPr/>
        </p:nvCxnSpPr>
        <p:spPr>
          <a:xfrm>
            <a:off x="431800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297"/>
          <p:cNvCxnSpPr/>
          <p:nvPr/>
        </p:nvCxnSpPr>
        <p:spPr>
          <a:xfrm>
            <a:off x="1193800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298"/>
          <p:cNvSpPr txBox="true"/>
          <p:nvPr/>
        </p:nvSpPr>
        <p:spPr>
          <a:xfrm>
            <a:off x="546100" y="4174120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INV-118</a:t>
            </a:r>
            <a:endParaRPr lang="en-US" sz="1100"/>
          </a:p>
        </p:txBody>
      </p:sp>
      <p:cxnSp>
        <p:nvCxnSpPr>
          <p:cNvPr name="GraphCompose Table Cell Border" id="299"/>
          <p:cNvCxnSpPr/>
          <p:nvPr/>
        </p:nvCxnSpPr>
        <p:spPr>
          <a:xfrm>
            <a:off x="1191260" y="4397216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0"/>
          <p:cNvCxnSpPr/>
          <p:nvPr/>
        </p:nvCxnSpPr>
        <p:spPr>
          <a:xfrm>
            <a:off x="3413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01"/>
          <p:cNvSpPr txBox="true"/>
          <p:nvPr/>
        </p:nvSpPr>
        <p:spPr>
          <a:xfrm>
            <a:off x="1308100" y="4174120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19 — quarterly delivery slice</a:t>
            </a:r>
            <a:endParaRPr lang="en-US" sz="1100"/>
          </a:p>
        </p:txBody>
      </p:sp>
      <p:cxnSp>
        <p:nvCxnSpPr>
          <p:cNvPr name="GraphCompose Table Cell Border" id="302"/>
          <p:cNvCxnSpPr/>
          <p:nvPr/>
        </p:nvCxnSpPr>
        <p:spPr>
          <a:xfrm>
            <a:off x="3411188" y="439721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3"/>
          <p:cNvCxnSpPr/>
          <p:nvPr/>
        </p:nvCxnSpPr>
        <p:spPr>
          <a:xfrm>
            <a:off x="4429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04"/>
          <p:cNvSpPr txBox="true"/>
          <p:nvPr/>
        </p:nvSpPr>
        <p:spPr>
          <a:xfrm>
            <a:off x="3528028" y="4174120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94 h</a:t>
            </a:r>
            <a:endParaRPr lang="en-US" sz="1100"/>
          </a:p>
        </p:txBody>
      </p:sp>
      <p:cxnSp>
        <p:nvCxnSpPr>
          <p:cNvPr name="GraphCompose Table Cell Border" id="305"/>
          <p:cNvCxnSpPr/>
          <p:nvPr/>
        </p:nvCxnSpPr>
        <p:spPr>
          <a:xfrm>
            <a:off x="4427188" y="4397216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6"/>
          <p:cNvCxnSpPr/>
          <p:nvPr/>
        </p:nvCxnSpPr>
        <p:spPr>
          <a:xfrm>
            <a:off x="5445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07"/>
          <p:cNvSpPr txBox="true"/>
          <p:nvPr/>
        </p:nvSpPr>
        <p:spPr>
          <a:xfrm>
            <a:off x="4544028" y="4174120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308"/>
          <p:cNvCxnSpPr/>
          <p:nvPr/>
        </p:nvCxnSpPr>
        <p:spPr>
          <a:xfrm>
            <a:off x="5443188" y="4397216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09"/>
          <p:cNvCxnSpPr/>
          <p:nvPr/>
        </p:nvCxnSpPr>
        <p:spPr>
          <a:xfrm>
            <a:off x="6461728" y="4107815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10"/>
          <p:cNvSpPr txBox="true"/>
          <p:nvPr/>
        </p:nvSpPr>
        <p:spPr>
          <a:xfrm>
            <a:off x="5560028" y="4174120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£ 5,670</a:t>
            </a:r>
            <a:endParaRPr lang="en-US" sz="1100"/>
          </a:p>
        </p:txBody>
      </p:sp>
      <p:cxnSp>
        <p:nvCxnSpPr>
          <p:cNvPr name="GraphCompose Table Cell Border" id="311"/>
          <p:cNvCxnSpPr/>
          <p:nvPr/>
        </p:nvCxnSpPr>
        <p:spPr>
          <a:xfrm>
            <a:off x="431800" y="4686617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2"/>
          <p:cNvCxnSpPr/>
          <p:nvPr/>
        </p:nvCxnSpPr>
        <p:spPr>
          <a:xfrm>
            <a:off x="431800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3"/>
          <p:cNvCxnSpPr/>
          <p:nvPr/>
        </p:nvCxnSpPr>
        <p:spPr>
          <a:xfrm>
            <a:off x="1193800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14"/>
          <p:cNvSpPr txBox="true"/>
          <p:nvPr/>
        </p:nvSpPr>
        <p:spPr>
          <a:xfrm>
            <a:off x="546100" y="4463522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INV-119</a:t>
            </a:r>
            <a:endParaRPr lang="en-US" sz="1100"/>
          </a:p>
        </p:txBody>
      </p:sp>
      <p:cxnSp>
        <p:nvCxnSpPr>
          <p:cNvPr name="GraphCompose Table Cell Border" id="315"/>
          <p:cNvCxnSpPr/>
          <p:nvPr/>
        </p:nvCxnSpPr>
        <p:spPr>
          <a:xfrm>
            <a:off x="1191260" y="4686617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6"/>
          <p:cNvCxnSpPr/>
          <p:nvPr/>
        </p:nvCxnSpPr>
        <p:spPr>
          <a:xfrm>
            <a:off x="3413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17"/>
          <p:cNvSpPr txBox="true"/>
          <p:nvPr/>
        </p:nvSpPr>
        <p:spPr>
          <a:xfrm>
            <a:off x="1308100" y="4463522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20 — quarterly delivery slice</a:t>
            </a:r>
            <a:endParaRPr lang="en-US" sz="1100"/>
          </a:p>
        </p:txBody>
      </p:sp>
      <p:cxnSp>
        <p:nvCxnSpPr>
          <p:cNvPr name="GraphCompose Table Cell Border" id="318"/>
          <p:cNvCxnSpPr/>
          <p:nvPr/>
        </p:nvCxnSpPr>
        <p:spPr>
          <a:xfrm>
            <a:off x="3411188" y="468661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19"/>
          <p:cNvCxnSpPr/>
          <p:nvPr/>
        </p:nvCxnSpPr>
        <p:spPr>
          <a:xfrm>
            <a:off x="4429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20"/>
          <p:cNvSpPr txBox="true"/>
          <p:nvPr/>
        </p:nvSpPr>
        <p:spPr>
          <a:xfrm>
            <a:off x="3528028" y="4463522"/>
            <a:ext cx="23605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97 h</a:t>
            </a:r>
            <a:endParaRPr lang="en-US" sz="1100"/>
          </a:p>
        </p:txBody>
      </p:sp>
      <p:cxnSp>
        <p:nvCxnSpPr>
          <p:cNvPr name="GraphCompose Table Cell Border" id="321"/>
          <p:cNvCxnSpPr/>
          <p:nvPr/>
        </p:nvCxnSpPr>
        <p:spPr>
          <a:xfrm>
            <a:off x="4427188" y="4686617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2"/>
          <p:cNvCxnSpPr/>
          <p:nvPr/>
        </p:nvCxnSpPr>
        <p:spPr>
          <a:xfrm>
            <a:off x="5445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23"/>
          <p:cNvSpPr txBox="true"/>
          <p:nvPr/>
        </p:nvSpPr>
        <p:spPr>
          <a:xfrm>
            <a:off x="4544028" y="4463522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324"/>
          <p:cNvCxnSpPr/>
          <p:nvPr/>
        </p:nvCxnSpPr>
        <p:spPr>
          <a:xfrm>
            <a:off x="5443188" y="4686617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5"/>
          <p:cNvCxnSpPr/>
          <p:nvPr/>
        </p:nvCxnSpPr>
        <p:spPr>
          <a:xfrm>
            <a:off x="6461728" y="4397216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26"/>
          <p:cNvSpPr txBox="true"/>
          <p:nvPr/>
        </p:nvSpPr>
        <p:spPr>
          <a:xfrm>
            <a:off x="5560028" y="4463522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£ 5,885</a:t>
            </a:r>
            <a:endParaRPr lang="en-US" sz="1100"/>
          </a:p>
        </p:txBody>
      </p:sp>
      <p:cxnSp>
        <p:nvCxnSpPr>
          <p:cNvPr name="GraphCompose Table Cell Border" id="327"/>
          <p:cNvCxnSpPr/>
          <p:nvPr/>
        </p:nvCxnSpPr>
        <p:spPr>
          <a:xfrm>
            <a:off x="431800" y="4976019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8"/>
          <p:cNvCxnSpPr/>
          <p:nvPr/>
        </p:nvCxnSpPr>
        <p:spPr>
          <a:xfrm>
            <a:off x="431800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29"/>
          <p:cNvCxnSpPr/>
          <p:nvPr/>
        </p:nvCxnSpPr>
        <p:spPr>
          <a:xfrm>
            <a:off x="1193800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0"/>
          <p:cNvSpPr txBox="true"/>
          <p:nvPr/>
        </p:nvSpPr>
        <p:spPr>
          <a:xfrm>
            <a:off x="546100" y="4752923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INV-120</a:t>
            </a:r>
            <a:endParaRPr lang="en-US" sz="1100"/>
          </a:p>
        </p:txBody>
      </p:sp>
      <p:cxnSp>
        <p:nvCxnSpPr>
          <p:cNvPr name="GraphCompose Table Cell Border" id="331"/>
          <p:cNvCxnSpPr/>
          <p:nvPr/>
        </p:nvCxnSpPr>
        <p:spPr>
          <a:xfrm>
            <a:off x="1191260" y="4976019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32"/>
          <p:cNvCxnSpPr/>
          <p:nvPr/>
        </p:nvCxnSpPr>
        <p:spPr>
          <a:xfrm>
            <a:off x="3413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3"/>
          <p:cNvSpPr txBox="true"/>
          <p:nvPr/>
        </p:nvSpPr>
        <p:spPr>
          <a:xfrm>
            <a:off x="1308100" y="4752923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21 — quarterly delivery slice</a:t>
            </a:r>
            <a:endParaRPr lang="en-US" sz="1100"/>
          </a:p>
        </p:txBody>
      </p:sp>
      <p:cxnSp>
        <p:nvCxnSpPr>
          <p:cNvPr name="GraphCompose Table Cell Border" id="334"/>
          <p:cNvCxnSpPr/>
          <p:nvPr/>
        </p:nvCxnSpPr>
        <p:spPr>
          <a:xfrm>
            <a:off x="3411188" y="497601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35"/>
          <p:cNvCxnSpPr/>
          <p:nvPr/>
        </p:nvCxnSpPr>
        <p:spPr>
          <a:xfrm>
            <a:off x="4429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6"/>
          <p:cNvSpPr txBox="true"/>
          <p:nvPr/>
        </p:nvSpPr>
        <p:spPr>
          <a:xfrm>
            <a:off x="3528028" y="4752923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100 h</a:t>
            </a:r>
            <a:endParaRPr lang="en-US" sz="1100"/>
          </a:p>
        </p:txBody>
      </p:sp>
      <p:cxnSp>
        <p:nvCxnSpPr>
          <p:cNvPr name="GraphCompose Table Cell Border" id="337"/>
          <p:cNvCxnSpPr/>
          <p:nvPr/>
        </p:nvCxnSpPr>
        <p:spPr>
          <a:xfrm>
            <a:off x="4427188" y="4976019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38"/>
          <p:cNvCxnSpPr/>
          <p:nvPr/>
        </p:nvCxnSpPr>
        <p:spPr>
          <a:xfrm>
            <a:off x="5445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39"/>
          <p:cNvSpPr txBox="true"/>
          <p:nvPr/>
        </p:nvSpPr>
        <p:spPr>
          <a:xfrm>
            <a:off x="4544028" y="4752923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340"/>
          <p:cNvCxnSpPr/>
          <p:nvPr/>
        </p:nvCxnSpPr>
        <p:spPr>
          <a:xfrm>
            <a:off x="5443188" y="4976019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1"/>
          <p:cNvCxnSpPr/>
          <p:nvPr/>
        </p:nvCxnSpPr>
        <p:spPr>
          <a:xfrm>
            <a:off x="6461728" y="4686617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42"/>
          <p:cNvSpPr txBox="true"/>
          <p:nvPr/>
        </p:nvSpPr>
        <p:spPr>
          <a:xfrm>
            <a:off x="5560028" y="4752923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£ 6,100</a:t>
            </a:r>
            <a:endParaRPr lang="en-US" sz="1100"/>
          </a:p>
        </p:txBody>
      </p:sp>
      <p:cxnSp>
        <p:nvCxnSpPr>
          <p:cNvPr name="GraphCompose Table Cell Border" id="343"/>
          <p:cNvCxnSpPr/>
          <p:nvPr/>
        </p:nvCxnSpPr>
        <p:spPr>
          <a:xfrm>
            <a:off x="431800" y="5265420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4"/>
          <p:cNvCxnSpPr/>
          <p:nvPr/>
        </p:nvCxnSpPr>
        <p:spPr>
          <a:xfrm>
            <a:off x="431800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5"/>
          <p:cNvCxnSpPr/>
          <p:nvPr/>
        </p:nvCxnSpPr>
        <p:spPr>
          <a:xfrm>
            <a:off x="1193800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46"/>
          <p:cNvSpPr txBox="true"/>
          <p:nvPr/>
        </p:nvSpPr>
        <p:spPr>
          <a:xfrm>
            <a:off x="546100" y="5042324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INV-121</a:t>
            </a:r>
            <a:endParaRPr lang="en-US" sz="1100"/>
          </a:p>
        </p:txBody>
      </p:sp>
      <p:cxnSp>
        <p:nvCxnSpPr>
          <p:cNvPr name="GraphCompose Table Cell Border" id="347"/>
          <p:cNvCxnSpPr/>
          <p:nvPr/>
        </p:nvCxnSpPr>
        <p:spPr>
          <a:xfrm>
            <a:off x="1191260" y="5265420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48"/>
          <p:cNvCxnSpPr/>
          <p:nvPr/>
        </p:nvCxnSpPr>
        <p:spPr>
          <a:xfrm>
            <a:off x="3413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49"/>
          <p:cNvSpPr txBox="true"/>
          <p:nvPr/>
        </p:nvSpPr>
        <p:spPr>
          <a:xfrm>
            <a:off x="1308100" y="5042324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22 — quarterly delivery slice</a:t>
            </a:r>
            <a:endParaRPr lang="en-US" sz="1100"/>
          </a:p>
        </p:txBody>
      </p:sp>
      <p:cxnSp>
        <p:nvCxnSpPr>
          <p:cNvPr name="GraphCompose Table Cell Border" id="350"/>
          <p:cNvCxnSpPr/>
          <p:nvPr/>
        </p:nvCxnSpPr>
        <p:spPr>
          <a:xfrm>
            <a:off x="3411188" y="526542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51"/>
          <p:cNvCxnSpPr/>
          <p:nvPr/>
        </p:nvCxnSpPr>
        <p:spPr>
          <a:xfrm>
            <a:off x="4429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52"/>
          <p:cNvSpPr txBox="true"/>
          <p:nvPr/>
        </p:nvSpPr>
        <p:spPr>
          <a:xfrm>
            <a:off x="3528028" y="5042324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103 h</a:t>
            </a:r>
            <a:endParaRPr lang="en-US" sz="1100"/>
          </a:p>
        </p:txBody>
      </p:sp>
      <p:cxnSp>
        <p:nvCxnSpPr>
          <p:cNvPr name="GraphCompose Table Cell Border" id="353"/>
          <p:cNvCxnSpPr/>
          <p:nvPr/>
        </p:nvCxnSpPr>
        <p:spPr>
          <a:xfrm>
            <a:off x="4427188" y="5265420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54"/>
          <p:cNvCxnSpPr/>
          <p:nvPr/>
        </p:nvCxnSpPr>
        <p:spPr>
          <a:xfrm>
            <a:off x="5445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55"/>
          <p:cNvSpPr txBox="true"/>
          <p:nvPr/>
        </p:nvSpPr>
        <p:spPr>
          <a:xfrm>
            <a:off x="4544028" y="5042324"/>
            <a:ext cx="343313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Studio</a:t>
            </a:r>
            <a:endParaRPr lang="en-US" sz="1100"/>
          </a:p>
        </p:txBody>
      </p:sp>
      <p:cxnSp>
        <p:nvCxnSpPr>
          <p:cNvPr name="GraphCompose Table Cell Border" id="356"/>
          <p:cNvCxnSpPr/>
          <p:nvPr/>
        </p:nvCxnSpPr>
        <p:spPr>
          <a:xfrm>
            <a:off x="5443188" y="5265420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57"/>
          <p:cNvCxnSpPr/>
          <p:nvPr/>
        </p:nvCxnSpPr>
        <p:spPr>
          <a:xfrm>
            <a:off x="6461728" y="4976019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58"/>
          <p:cNvSpPr txBox="true"/>
          <p:nvPr/>
        </p:nvSpPr>
        <p:spPr>
          <a:xfrm>
            <a:off x="5560028" y="5042324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£ 6,315</a:t>
            </a:r>
            <a:endParaRPr lang="en-US" sz="1100"/>
          </a:p>
        </p:txBody>
      </p:sp>
      <p:cxnSp>
        <p:nvCxnSpPr>
          <p:cNvPr name="GraphCompose Table Cell Border" id="359"/>
          <p:cNvCxnSpPr/>
          <p:nvPr/>
        </p:nvCxnSpPr>
        <p:spPr>
          <a:xfrm>
            <a:off x="431800" y="5554821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0"/>
          <p:cNvCxnSpPr/>
          <p:nvPr/>
        </p:nvCxnSpPr>
        <p:spPr>
          <a:xfrm>
            <a:off x="431800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1"/>
          <p:cNvCxnSpPr/>
          <p:nvPr/>
        </p:nvCxnSpPr>
        <p:spPr>
          <a:xfrm>
            <a:off x="1193800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62"/>
          <p:cNvSpPr txBox="true"/>
          <p:nvPr/>
        </p:nvSpPr>
        <p:spPr>
          <a:xfrm>
            <a:off x="546100" y="5331725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INV-122</a:t>
            </a:r>
            <a:endParaRPr lang="en-US" sz="1100"/>
          </a:p>
        </p:txBody>
      </p:sp>
      <p:cxnSp>
        <p:nvCxnSpPr>
          <p:cNvPr name="GraphCompose Table Cell Border" id="363"/>
          <p:cNvCxnSpPr/>
          <p:nvPr/>
        </p:nvCxnSpPr>
        <p:spPr>
          <a:xfrm>
            <a:off x="1191260" y="5554821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4"/>
          <p:cNvCxnSpPr/>
          <p:nvPr/>
        </p:nvCxnSpPr>
        <p:spPr>
          <a:xfrm>
            <a:off x="3413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65"/>
          <p:cNvSpPr txBox="true"/>
          <p:nvPr/>
        </p:nvSpPr>
        <p:spPr>
          <a:xfrm>
            <a:off x="1308100" y="5331725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23 — quarterly delivery slice</a:t>
            </a:r>
            <a:endParaRPr lang="en-US" sz="1100"/>
          </a:p>
        </p:txBody>
      </p:sp>
      <p:cxnSp>
        <p:nvCxnSpPr>
          <p:cNvPr name="GraphCompose Table Cell Border" id="366"/>
          <p:cNvCxnSpPr/>
          <p:nvPr/>
        </p:nvCxnSpPr>
        <p:spPr>
          <a:xfrm>
            <a:off x="3411188" y="555482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67"/>
          <p:cNvCxnSpPr/>
          <p:nvPr/>
        </p:nvCxnSpPr>
        <p:spPr>
          <a:xfrm>
            <a:off x="4429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68"/>
          <p:cNvSpPr txBox="true"/>
          <p:nvPr/>
        </p:nvSpPr>
        <p:spPr>
          <a:xfrm>
            <a:off x="3528028" y="5331725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106 h</a:t>
            </a:r>
            <a:endParaRPr lang="en-US" sz="1100"/>
          </a:p>
        </p:txBody>
      </p:sp>
      <p:cxnSp>
        <p:nvCxnSpPr>
          <p:cNvPr name="GraphCompose Table Cell Border" id="369"/>
          <p:cNvCxnSpPr/>
          <p:nvPr/>
        </p:nvCxnSpPr>
        <p:spPr>
          <a:xfrm>
            <a:off x="4427188" y="5554821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0"/>
          <p:cNvCxnSpPr/>
          <p:nvPr/>
        </p:nvCxnSpPr>
        <p:spPr>
          <a:xfrm>
            <a:off x="5445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71"/>
          <p:cNvSpPr txBox="true"/>
          <p:nvPr/>
        </p:nvSpPr>
        <p:spPr>
          <a:xfrm>
            <a:off x="4544028" y="5331725"/>
            <a:ext cx="276231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Audit</a:t>
            </a:r>
            <a:endParaRPr lang="en-US" sz="1100"/>
          </a:p>
        </p:txBody>
      </p:sp>
      <p:cxnSp>
        <p:nvCxnSpPr>
          <p:cNvPr name="GraphCompose Table Cell Border" id="372"/>
          <p:cNvCxnSpPr/>
          <p:nvPr/>
        </p:nvCxnSpPr>
        <p:spPr>
          <a:xfrm>
            <a:off x="5443188" y="5554821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3"/>
          <p:cNvCxnSpPr/>
          <p:nvPr/>
        </p:nvCxnSpPr>
        <p:spPr>
          <a:xfrm>
            <a:off x="6461728" y="5265420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74"/>
          <p:cNvSpPr txBox="true"/>
          <p:nvPr/>
        </p:nvSpPr>
        <p:spPr>
          <a:xfrm>
            <a:off x="5560028" y="5331725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£ 6,530</a:t>
            </a:r>
            <a:endParaRPr lang="en-US" sz="1100"/>
          </a:p>
        </p:txBody>
      </p:sp>
      <p:cxnSp>
        <p:nvCxnSpPr>
          <p:cNvPr name="GraphCompose Table Cell Border" id="375"/>
          <p:cNvCxnSpPr/>
          <p:nvPr/>
        </p:nvCxnSpPr>
        <p:spPr>
          <a:xfrm>
            <a:off x="431800" y="5844222"/>
            <a:ext cx="764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6"/>
          <p:cNvCxnSpPr/>
          <p:nvPr/>
        </p:nvCxnSpPr>
        <p:spPr>
          <a:xfrm>
            <a:off x="431800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77"/>
          <p:cNvCxnSpPr/>
          <p:nvPr/>
        </p:nvCxnSpPr>
        <p:spPr>
          <a:xfrm>
            <a:off x="1193800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78"/>
          <p:cNvSpPr txBox="true"/>
          <p:nvPr/>
        </p:nvSpPr>
        <p:spPr>
          <a:xfrm>
            <a:off x="546100" y="5621127"/>
            <a:ext cx="443814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INV-123</a:t>
            </a:r>
            <a:endParaRPr lang="en-US" sz="1100"/>
          </a:p>
        </p:txBody>
      </p:sp>
      <p:cxnSp>
        <p:nvCxnSpPr>
          <p:cNvPr name="GraphCompose Table Cell Border" id="379"/>
          <p:cNvCxnSpPr/>
          <p:nvPr/>
        </p:nvCxnSpPr>
        <p:spPr>
          <a:xfrm>
            <a:off x="1191260" y="5844222"/>
            <a:ext cx="2225008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0"/>
          <p:cNvCxnSpPr/>
          <p:nvPr/>
        </p:nvCxnSpPr>
        <p:spPr>
          <a:xfrm>
            <a:off x="3413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81"/>
          <p:cNvSpPr txBox="true"/>
          <p:nvPr/>
        </p:nvSpPr>
        <p:spPr>
          <a:xfrm>
            <a:off x="1308100" y="5621127"/>
            <a:ext cx="199259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Initiative 24 — quarterly delivery slice</a:t>
            </a:r>
            <a:endParaRPr lang="en-US" sz="1100"/>
          </a:p>
        </p:txBody>
      </p:sp>
      <p:cxnSp>
        <p:nvCxnSpPr>
          <p:cNvPr name="GraphCompose Table Cell Border" id="382"/>
          <p:cNvCxnSpPr/>
          <p:nvPr/>
        </p:nvCxnSpPr>
        <p:spPr>
          <a:xfrm>
            <a:off x="3411188" y="584422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3"/>
          <p:cNvCxnSpPr/>
          <p:nvPr/>
        </p:nvCxnSpPr>
        <p:spPr>
          <a:xfrm>
            <a:off x="4429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84"/>
          <p:cNvSpPr txBox="true"/>
          <p:nvPr/>
        </p:nvSpPr>
        <p:spPr>
          <a:xfrm>
            <a:off x="3528028" y="5621127"/>
            <a:ext cx="303136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109 h</a:t>
            </a:r>
            <a:endParaRPr lang="en-US" sz="1100"/>
          </a:p>
        </p:txBody>
      </p:sp>
      <p:cxnSp>
        <p:nvCxnSpPr>
          <p:cNvPr name="GraphCompose Table Cell Border" id="385"/>
          <p:cNvCxnSpPr/>
          <p:nvPr/>
        </p:nvCxnSpPr>
        <p:spPr>
          <a:xfrm>
            <a:off x="4427188" y="5844222"/>
            <a:ext cx="102108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6"/>
          <p:cNvCxnSpPr/>
          <p:nvPr/>
        </p:nvCxnSpPr>
        <p:spPr>
          <a:xfrm>
            <a:off x="5445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87"/>
          <p:cNvSpPr txBox="true"/>
          <p:nvPr/>
        </p:nvSpPr>
        <p:spPr>
          <a:xfrm>
            <a:off x="4544028" y="5621127"/>
            <a:ext cx="269475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Build</a:t>
            </a:r>
            <a:endParaRPr lang="en-US" sz="1100"/>
          </a:p>
        </p:txBody>
      </p:sp>
      <p:cxnSp>
        <p:nvCxnSpPr>
          <p:cNvPr name="GraphCompose Table Cell Border" id="388"/>
          <p:cNvCxnSpPr/>
          <p:nvPr/>
        </p:nvCxnSpPr>
        <p:spPr>
          <a:xfrm>
            <a:off x="5443188" y="5844222"/>
            <a:ext cx="1018540" cy="0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cxnSp>
        <p:nvCxnSpPr>
          <p:cNvPr name="GraphCompose Table Cell Border" id="389"/>
          <p:cNvCxnSpPr/>
          <p:nvPr/>
        </p:nvCxnSpPr>
        <p:spPr>
          <a:xfrm>
            <a:off x="6461728" y="5554821"/>
            <a:ext cx="0" cy="289401"/>
          </a:xfrm>
          <a:prstGeom prst="line">
            <a:avLst/>
          </a:prstGeom>
          <a:ln w="5080">
            <a:solidFill>
              <a:srgbClr val="D4C8B2"/>
            </a:solidFill>
          </a:ln>
        </p:spPr>
      </p:cxnSp>
      <p:sp>
        <p:nvSpPr>
          <p:cNvPr name="GraphCompose Table Cell Text" id="390"/>
          <p:cNvSpPr txBox="true"/>
          <p:nvPr/>
        </p:nvSpPr>
        <p:spPr>
          <a:xfrm>
            <a:off x="5560028" y="5621127"/>
            <a:ext cx="403758" cy="111601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50" b="false" i="false" u="none" strike="noStrike" kern="0">
                <a:solidFill>
                  <a:srgbClr val="222632"/>
                </a:solidFill>
                <a:latin typeface="Arial"/>
              </a:rPr>
              <a:t>£ 6,745</a:t>
            </a:r>
            <a:endParaRPr lang="en-US" sz="1100"/>
          </a:p>
        </p:txBody>
      </p:sp>
      <p:cxnSp>
        <p:nvCxnSpPr>
          <p:cNvPr name="GraphCompose Table Cell Border" id="391"/>
          <p:cNvCxnSpPr/>
          <p:nvPr/>
        </p:nvCxnSpPr>
        <p:spPr>
          <a:xfrm>
            <a:off x="431800" y="6164897"/>
            <a:ext cx="76454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2"/>
          <p:cNvCxnSpPr/>
          <p:nvPr/>
        </p:nvCxnSpPr>
        <p:spPr>
          <a:xfrm>
            <a:off x="431800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3"/>
          <p:cNvCxnSpPr/>
          <p:nvPr/>
        </p:nvCxnSpPr>
        <p:spPr>
          <a:xfrm>
            <a:off x="1193800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394"/>
          <p:cNvSpPr txBox="true"/>
          <p:nvPr/>
        </p:nvSpPr>
        <p:spPr>
          <a:xfrm>
            <a:off x="546100" y="5922039"/>
            <a:ext cx="25527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TOT</a:t>
            </a:r>
            <a:endParaRPr lang="en-US" sz="1100"/>
          </a:p>
        </p:txBody>
      </p:sp>
      <p:cxnSp>
        <p:nvCxnSpPr>
          <p:cNvPr name="GraphCompose Table Cell Border" id="395"/>
          <p:cNvCxnSpPr/>
          <p:nvPr/>
        </p:nvCxnSpPr>
        <p:spPr>
          <a:xfrm>
            <a:off x="1191260" y="6164897"/>
            <a:ext cx="2225008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6"/>
          <p:cNvCxnSpPr/>
          <p:nvPr/>
        </p:nvCxnSpPr>
        <p:spPr>
          <a:xfrm>
            <a:off x="3413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397"/>
          <p:cNvSpPr txBox="true"/>
          <p:nvPr/>
        </p:nvSpPr>
        <p:spPr>
          <a:xfrm>
            <a:off x="1308100" y="5922039"/>
            <a:ext cx="1194181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Total quarterly spend</a:t>
            </a:r>
            <a:endParaRPr lang="en-US" sz="1100"/>
          </a:p>
        </p:txBody>
      </p:sp>
      <p:cxnSp>
        <p:nvCxnSpPr>
          <p:cNvPr name="GraphCompose Table Cell Border" id="398"/>
          <p:cNvCxnSpPr/>
          <p:nvPr/>
        </p:nvCxnSpPr>
        <p:spPr>
          <a:xfrm>
            <a:off x="3411188" y="6164897"/>
            <a:ext cx="102108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399"/>
          <p:cNvCxnSpPr/>
          <p:nvPr/>
        </p:nvCxnSpPr>
        <p:spPr>
          <a:xfrm>
            <a:off x="4429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400"/>
          <p:cNvSpPr txBox="true"/>
          <p:nvPr/>
        </p:nvSpPr>
        <p:spPr>
          <a:xfrm>
            <a:off x="3528028" y="5922039"/>
            <a:ext cx="12827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—</a:t>
            </a:r>
            <a:endParaRPr lang="en-US" sz="1100"/>
          </a:p>
        </p:txBody>
      </p:sp>
      <p:cxnSp>
        <p:nvCxnSpPr>
          <p:cNvPr name="GraphCompose Table Cell Border" id="401"/>
          <p:cNvCxnSpPr/>
          <p:nvPr/>
        </p:nvCxnSpPr>
        <p:spPr>
          <a:xfrm>
            <a:off x="4427188" y="6164897"/>
            <a:ext cx="102108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402"/>
          <p:cNvCxnSpPr/>
          <p:nvPr/>
        </p:nvCxnSpPr>
        <p:spPr>
          <a:xfrm>
            <a:off x="5445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403"/>
          <p:cNvSpPr txBox="true"/>
          <p:nvPr/>
        </p:nvSpPr>
        <p:spPr>
          <a:xfrm>
            <a:off x="4544028" y="5922039"/>
            <a:ext cx="128270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—</a:t>
            </a:r>
            <a:endParaRPr lang="en-US" sz="1100"/>
          </a:p>
        </p:txBody>
      </p:sp>
      <p:cxnSp>
        <p:nvCxnSpPr>
          <p:cNvPr name="GraphCompose Table Cell Border" id="404"/>
          <p:cNvCxnSpPr/>
          <p:nvPr/>
        </p:nvCxnSpPr>
        <p:spPr>
          <a:xfrm>
            <a:off x="5443188" y="6164897"/>
            <a:ext cx="1018540" cy="0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cxnSp>
        <p:nvCxnSpPr>
          <p:cNvPr name="GraphCompose Table Cell Border" id="405"/>
          <p:cNvCxnSpPr/>
          <p:nvPr/>
        </p:nvCxnSpPr>
        <p:spPr>
          <a:xfrm>
            <a:off x="6461728" y="5844222"/>
            <a:ext cx="0" cy="320675"/>
          </a:xfrm>
          <a:prstGeom prst="line">
            <a:avLst/>
          </a:prstGeom>
          <a:ln w="5080">
            <a:solidFill>
              <a:srgbClr val="305C68"/>
            </a:solidFill>
          </a:ln>
        </p:spPr>
      </p:cxnSp>
      <p:sp>
        <p:nvSpPr>
          <p:cNvPr name="GraphCompose Table Cell Text" id="406"/>
          <p:cNvSpPr txBox="true"/>
          <p:nvPr/>
        </p:nvSpPr>
        <p:spPr>
          <a:xfrm>
            <a:off x="5560028" y="5922039"/>
            <a:ext cx="566166" cy="11747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1000" b="true" i="false" u="none" strike="noStrike" kern="0">
                <a:solidFill>
                  <a:srgbClr val="FFFFFF"/>
                </a:solidFill>
                <a:latin typeface="Arial"/>
              </a:rPr>
              <a:t>£ 102,720</a:t>
            </a:r>
            <a:endParaRPr lang="en-US" sz="1100"/>
          </a:p>
        </p:txBody>
      </p:sp>
      <p:sp>
        <p:nvSpPr>
          <p:cNvPr name="AutoShape 407" id="407"/>
          <p:cNvSpPr/>
          <p:nvPr/>
        </p:nvSpPr>
        <p:spPr>
          <a:xfrm>
            <a:off x="431800" y="6342697"/>
            <a:ext cx="1903575" cy="1179525"/>
          </a:xfrm>
          <a:prstGeom prst="roundRect">
            <a:avLst>
              <a:gd name="adj" fmla="val 861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08" id="408"/>
          <p:cNvCxnSpPr/>
          <p:nvPr/>
        </p:nvCxnSpPr>
        <p:spPr>
          <a:xfrm>
            <a:off x="431800" y="6342697"/>
            <a:ext cx="1903575" cy="0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409"/>
          <p:cNvSpPr txBox="true"/>
          <p:nvPr/>
        </p:nvSpPr>
        <p:spPr>
          <a:xfrm>
            <a:off x="609600" y="6494335"/>
            <a:ext cx="126667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Cinematic templates</a:t>
            </a:r>
            <a:endParaRPr lang="en-US" sz="1100"/>
          </a:p>
        </p:txBody>
      </p:sp>
      <p:sp>
        <p:nvSpPr>
          <p:cNvPr name="GraphCompose Text Line" id="410"/>
          <p:cNvSpPr txBox="true"/>
          <p:nvPr/>
        </p:nvSpPr>
        <p:spPr>
          <a:xfrm>
            <a:off x="609600" y="6703950"/>
            <a:ext cx="8432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ModernInvoice</a:t>
            </a:r>
            <a:endParaRPr lang="en-US" sz="1100"/>
          </a:p>
        </p:txBody>
      </p:sp>
      <p:sp>
        <p:nvSpPr>
          <p:cNvPr name="GraphCompose Text Line" id="411"/>
          <p:cNvSpPr txBox="true"/>
          <p:nvPr/>
        </p:nvSpPr>
        <p:spPr>
          <a:xfrm>
            <a:off x="609600" y="6866515"/>
            <a:ext cx="142189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Same data renders through a</a:t>
            </a:r>
            <a:endParaRPr lang="en-US" sz="1100"/>
          </a:p>
        </p:txBody>
      </p:sp>
      <p:sp>
        <p:nvSpPr>
          <p:cNvPr name="GraphCompose Text Line" id="412"/>
          <p:cNvSpPr txBox="true"/>
          <p:nvPr/>
        </p:nvSpPr>
        <p:spPr>
          <a:xfrm>
            <a:off x="609600" y="6985323"/>
            <a:ext cx="154924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BrandTheme — pass a different</a:t>
            </a:r>
            <a:endParaRPr lang="en-US" sz="1100"/>
          </a:p>
        </p:txBody>
      </p:sp>
      <p:sp>
        <p:nvSpPr>
          <p:cNvPr name="GraphCompose Text Line" id="413"/>
          <p:cNvSpPr txBox="true"/>
          <p:nvPr/>
        </p:nvSpPr>
        <p:spPr>
          <a:xfrm>
            <a:off x="609600" y="7104132"/>
            <a:ext cx="1506758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theme to create(...), ship a new</a:t>
            </a:r>
            <a:endParaRPr lang="en-US" sz="1100"/>
          </a:p>
        </p:txBody>
      </p:sp>
      <p:sp>
        <p:nvSpPr>
          <p:cNvPr name="GraphCompose Text Line" id="414"/>
          <p:cNvSpPr txBox="true"/>
          <p:nvPr/>
        </p:nvSpPr>
        <p:spPr>
          <a:xfrm>
            <a:off x="609600" y="7222940"/>
            <a:ext cx="231943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look.</a:t>
            </a:r>
            <a:endParaRPr lang="en-US" sz="1100"/>
          </a:p>
        </p:txBody>
      </p:sp>
      <p:sp>
        <p:nvSpPr>
          <p:cNvPr name="AutoShape 415" id="415"/>
          <p:cNvSpPr/>
          <p:nvPr/>
        </p:nvSpPr>
        <p:spPr>
          <a:xfrm>
            <a:off x="2723200" y="6342697"/>
            <a:ext cx="1855081" cy="1179525"/>
          </a:xfrm>
          <a:prstGeom prst="roundRect">
            <a:avLst>
              <a:gd name="adj" fmla="val 8614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16" id="416"/>
          <p:cNvCxnSpPr/>
          <p:nvPr/>
        </p:nvCxnSpPr>
        <p:spPr>
          <a:xfrm>
            <a:off x="2723200" y="6342697"/>
            <a:ext cx="1855081" cy="0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417"/>
          <p:cNvSpPr txBox="true"/>
          <p:nvPr/>
        </p:nvSpPr>
        <p:spPr>
          <a:xfrm>
            <a:off x="2901000" y="6494335"/>
            <a:ext cx="1220292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Shape-as-container</a:t>
            </a:r>
            <a:endParaRPr lang="en-US" sz="1100"/>
          </a:p>
        </p:txBody>
      </p:sp>
      <p:sp>
        <p:nvSpPr>
          <p:cNvPr name="GraphCompose Text Line" id="418"/>
          <p:cNvSpPr txBox="true"/>
          <p:nvPr/>
        </p:nvSpPr>
        <p:spPr>
          <a:xfrm>
            <a:off x="2901000" y="6703950"/>
            <a:ext cx="136144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addCircle + clip path</a:t>
            </a:r>
            <a:endParaRPr lang="en-US" sz="1100"/>
          </a:p>
        </p:txBody>
      </p:sp>
      <p:sp>
        <p:nvSpPr>
          <p:cNvPr name="GraphCompose Text Line" id="419"/>
          <p:cNvSpPr txBox="true"/>
          <p:nvPr/>
        </p:nvSpPr>
        <p:spPr>
          <a:xfrm>
            <a:off x="2901000" y="6866515"/>
            <a:ext cx="135461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ClipPolicy.CLIP_PATH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clips</a:t>
            </a:r>
            <a:endParaRPr lang="en-US" sz="1100"/>
          </a:p>
        </p:txBody>
      </p:sp>
      <p:sp>
        <p:nvSpPr>
          <p:cNvPr name="GraphCompose Text Line" id="420"/>
          <p:cNvSpPr txBox="true"/>
          <p:nvPr/>
        </p:nvSpPr>
        <p:spPr>
          <a:xfrm>
            <a:off x="2901000" y="6985323"/>
            <a:ext cx="1500751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children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to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the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actual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outline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—</a:t>
            </a:r>
            <a:endParaRPr lang="en-US" sz="1100"/>
          </a:p>
        </p:txBody>
      </p:sp>
      <p:sp>
        <p:nvSpPr>
          <p:cNvPr name="GraphCompose Text Line" id="421"/>
          <p:cNvSpPr txBox="true"/>
          <p:nvPr/>
        </p:nvSpPr>
        <p:spPr>
          <a:xfrm>
            <a:off x="2901000" y="7104132"/>
            <a:ext cx="1403327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DOCX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falls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back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inline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with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a</a:t>
            </a:r>
            <a:endParaRPr lang="en-US" sz="1100"/>
          </a:p>
        </p:txBody>
      </p:sp>
      <p:sp>
        <p:nvSpPr>
          <p:cNvPr name="GraphCompose Text Line" id="422"/>
          <p:cNvSpPr txBox="true"/>
          <p:nvPr/>
        </p:nvSpPr>
        <p:spPr>
          <a:xfrm>
            <a:off x="2901000" y="7222940"/>
            <a:ext cx="1354833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one-time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capability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 </a:t>
            </a: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warning.</a:t>
            </a:r>
            <a:endParaRPr lang="en-US" sz="1100"/>
          </a:p>
        </p:txBody>
      </p:sp>
      <p:sp>
        <p:nvSpPr>
          <p:cNvPr name="AutoShape 423" id="423"/>
          <p:cNvSpPr/>
          <p:nvPr/>
        </p:nvSpPr>
        <p:spPr>
          <a:xfrm>
            <a:off x="5014600" y="6342697"/>
            <a:ext cx="2097877" cy="1145565"/>
          </a:xfrm>
          <a:prstGeom prst="roundRect">
            <a:avLst>
              <a:gd name="adj" fmla="val 8869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24" id="424"/>
          <p:cNvCxnSpPr/>
          <p:nvPr/>
        </p:nvCxnSpPr>
        <p:spPr>
          <a:xfrm>
            <a:off x="5014600" y="6342697"/>
            <a:ext cx="2097877" cy="0"/>
          </a:xfrm>
          <a:prstGeom prst="line">
            <a:avLst/>
          </a:prstGeom>
          <a:ln w="38100">
            <a:solidFill>
              <a:srgbClr val="14505F"/>
            </a:solidFill>
          </a:ln>
        </p:spPr>
      </p:cxnSp>
      <p:sp>
        <p:nvSpPr>
          <p:cNvPr name="GraphCompose Text Line" id="425"/>
          <p:cNvSpPr txBox="true"/>
          <p:nvPr/>
        </p:nvSpPr>
        <p:spPr>
          <a:xfrm>
            <a:off x="5192400" y="6494335"/>
            <a:ext cx="1266533" cy="129222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100" b="true" i="false" u="none" strike="noStrike" kern="0">
                <a:solidFill>
                  <a:srgbClr val="222632"/>
                </a:solidFill>
                <a:latin typeface="Arial"/>
              </a:rPr>
              <a:t>Transformable mixin</a:t>
            </a:r>
            <a:endParaRPr lang="en-US" sz="1100"/>
          </a:p>
        </p:txBody>
      </p:sp>
      <p:sp>
        <p:nvSpPr>
          <p:cNvPr name="GraphCompose Text Line" id="426"/>
          <p:cNvSpPr txBox="true"/>
          <p:nvPr/>
        </p:nvSpPr>
        <p:spPr>
          <a:xfrm>
            <a:off x="5192400" y="6703950"/>
            <a:ext cx="149098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rotate / scale on every</a:t>
            </a:r>
            <a:endParaRPr lang="en-US" sz="1100"/>
          </a:p>
        </p:txBody>
      </p:sp>
      <p:sp>
        <p:nvSpPr>
          <p:cNvPr name="GraphCompose Text Line" id="427"/>
          <p:cNvSpPr txBox="true"/>
          <p:nvPr/>
        </p:nvSpPr>
        <p:spPr>
          <a:xfrm>
            <a:off x="5192400" y="6788799"/>
            <a:ext cx="325120" cy="8484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50" b="false" i="false" u="none" strike="noStrike" kern="0">
                <a:solidFill>
                  <a:srgbClr val="14505F"/>
                </a:solidFill>
                <a:latin typeface="Courier New"/>
              </a:rPr>
              <a:t>shape</a:t>
            </a:r>
            <a:endParaRPr lang="en-US" sz="1100"/>
          </a:p>
        </p:txBody>
      </p:sp>
      <p:sp>
        <p:nvSpPr>
          <p:cNvPr name="GraphCompose Text Line" id="428"/>
          <p:cNvSpPr txBox="true"/>
          <p:nvPr/>
        </p:nvSpPr>
        <p:spPr>
          <a:xfrm>
            <a:off x="5192400" y="6951363"/>
            <a:ext cx="1670698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v1.5 extends Transformable&lt;T&gt; to</a:t>
            </a:r>
            <a:endParaRPr lang="en-US" sz="1100"/>
          </a:p>
        </p:txBody>
      </p:sp>
      <p:sp>
        <p:nvSpPr>
          <p:cNvPr name="GraphCompose Text Line" id="429"/>
          <p:cNvSpPr txBox="true"/>
          <p:nvPr/>
        </p:nvSpPr>
        <p:spPr>
          <a:xfrm>
            <a:off x="5192400" y="7070172"/>
            <a:ext cx="151287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every leaf builder so any shape</a:t>
            </a:r>
            <a:endParaRPr lang="en-US" sz="1100"/>
          </a:p>
        </p:txBody>
      </p:sp>
      <p:sp>
        <p:nvSpPr>
          <p:cNvPr name="GraphCompose Text Line" id="430"/>
          <p:cNvSpPr txBox="true"/>
          <p:nvPr/>
        </p:nvSpPr>
        <p:spPr>
          <a:xfrm>
            <a:off x="5192400" y="7188980"/>
            <a:ext cx="1743547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rotates around its placement centre.</a:t>
            </a:r>
            <a:endParaRPr lang="en-US" sz="1100"/>
          </a:p>
        </p:txBody>
      </p:sp>
      <p:sp>
        <p:nvSpPr>
          <p:cNvPr name="AutoShape 431" id="431"/>
          <p:cNvSpPr/>
          <p:nvPr/>
        </p:nvSpPr>
        <p:spPr>
          <a:xfrm>
            <a:off x="431800" y="7700023"/>
            <a:ext cx="6594246" cy="1517968"/>
          </a:xfrm>
          <a:prstGeom prst="roundRect">
            <a:avLst>
              <a:gd name="adj" fmla="val 6693"/>
            </a:avLst>
          </a:prstGeom>
          <a:solidFill>
            <a:srgbClr val="FFFFFF"/>
          </a:solidFill>
          <a:ln>
            <a:noFill/>
          </a:ln>
        </p:spPr>
      </p:sp>
      <p:cxnSp>
        <p:nvCxnSpPr>
          <p:cNvPr name="Connector 432" id="432"/>
          <p:cNvCxnSpPr/>
          <p:nvPr/>
        </p:nvCxnSpPr>
        <p:spPr>
          <a:xfrm>
            <a:off x="431800" y="9217990"/>
            <a:ext cx="6594246" cy="0"/>
          </a:xfrm>
          <a:prstGeom prst="line">
            <a:avLst/>
          </a:prstGeom>
          <a:ln w="25400">
            <a:solidFill>
              <a:srgbClr val="C4994C"/>
            </a:solidFill>
          </a:ln>
        </p:spPr>
      </p:cxnSp>
      <p:sp>
        <p:nvSpPr>
          <p:cNvPr name="GraphCompose Text Line" id="433"/>
          <p:cNvSpPr txBox="true"/>
          <p:nvPr/>
        </p:nvSpPr>
        <p:spPr>
          <a:xfrm>
            <a:off x="609600" y="7837390"/>
            <a:ext cx="1296886" cy="199708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700" b="true" i="false" u="none" strike="noStrike" kern="0">
                <a:solidFill>
                  <a:srgbClr val="143C4B"/>
                </a:solidFill>
                <a:latin typeface="Arial"/>
              </a:rPr>
              <a:t>Action items</a:t>
            </a:r>
            <a:endParaRPr lang="en-US" sz="1100"/>
          </a:p>
        </p:txBody>
      </p:sp>
      <p:sp>
        <p:nvSpPr>
          <p:cNvPr name="GraphCompose Text Line" id="434"/>
          <p:cNvSpPr txBox="true"/>
          <p:nvPr/>
        </p:nvSpPr>
        <p:spPr>
          <a:xfrm>
            <a:off x="609600" y="8145833"/>
            <a:ext cx="6239916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Tag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v1.5.0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main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once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develop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is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merged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through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PR.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Owner: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maintainer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435"/>
          <p:cNvSpPr txBox="true"/>
          <p:nvPr/>
        </p:nvSpPr>
        <p:spPr>
          <a:xfrm>
            <a:off x="609600" y="8411898"/>
            <a:ext cx="5992063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Open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ADR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000000"/>
                </a:solidFill>
                <a:latin typeface="Arial"/>
              </a:rPr>
              <a:t>0003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for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Phase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nested-list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ergonomics.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Owner: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contributor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sp>
        <p:nvSpPr>
          <p:cNvPr name="GraphCompose Text Line" id="436"/>
          <p:cNvSpPr txBox="true"/>
          <p:nvPr/>
        </p:nvSpPr>
        <p:spPr>
          <a:xfrm>
            <a:off x="609600" y="8677963"/>
            <a:ext cx="5815152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•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Ship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Phase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B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composed-cell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content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ahead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of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Phase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canvas.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 </a:t>
            </a: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Owner:</a:t>
            </a:r>
            <a:endParaRPr lang="en-US" sz="1100"/>
          </a:p>
        </p:txBody>
      </p:sp>
      <p:sp>
        <p:nvSpPr>
          <p:cNvPr name="GraphCompose Text Line" id="437"/>
          <p:cNvSpPr txBox="true"/>
          <p:nvPr/>
        </p:nvSpPr>
        <p:spPr>
          <a:xfrm>
            <a:off x="609600" y="8842428"/>
            <a:ext cx="998906" cy="164465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true" i="false" u="none" strike="noStrike" kern="0">
                <a:solidFill>
                  <a:srgbClr val="14505F"/>
                </a:solidFill>
                <a:latin typeface="Arial"/>
              </a:rPr>
              <a:t>contributor</a:t>
            </a:r>
            <a:r>
              <a:rPr lang="en-US" sz="1400" b="false" i="false" u="none" strike="noStrike" kern="0">
                <a:solidFill>
                  <a:srgbClr val="000000"/>
                </a:solidFill>
                <a:latin typeface="Arial"/>
              </a:rPr>
              <a:t>.</a:t>
            </a:r>
            <a:endParaRPr lang="en-US" sz="1100"/>
          </a:p>
        </p:txBody>
      </p:sp>
      <p:cxnSp>
        <p:nvCxnSpPr>
          <p:cNvPr name="Connector 438" id="438"/>
          <p:cNvCxnSpPr/>
          <p:nvPr/>
        </p:nvCxnSpPr>
        <p:spPr>
          <a:xfrm>
            <a:off x="431800" y="9395790"/>
            <a:ext cx="4340075" cy="0"/>
          </a:xfrm>
          <a:prstGeom prst="line">
            <a:avLst/>
          </a:prstGeom>
          <a:ln w="7620">
            <a:solidFill>
              <a:srgbClr val="D4C8B2"/>
            </a:solidFill>
          </a:ln>
        </p:spPr>
      </p:cxnSp>
      <p:sp>
        <p:nvSpPr>
          <p:cNvPr name="GraphCompose Text Line" id="439"/>
          <p:cNvSpPr txBox="true"/>
          <p:nvPr/>
        </p:nvSpPr>
        <p:spPr>
          <a:xfrm>
            <a:off x="431800" y="9476936"/>
            <a:ext cx="432321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Source: examples/.../MasterShowcaseExample.java — every visible token routes through</a:t>
            </a:r>
            <a:endParaRPr lang="en-US" sz="1100"/>
          </a:p>
        </p:txBody>
      </p:sp>
      <p:sp>
        <p:nvSpPr>
          <p:cNvPr name="GraphCompose Text Line" id="440"/>
          <p:cNvSpPr txBox="true"/>
          <p:nvPr/>
        </p:nvSpPr>
        <p:spPr>
          <a:xfrm>
            <a:off x="431800" y="9595745"/>
            <a:ext cx="4341345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BusinessTheme.modern() so the same source renders any of classic / modern / executive</a:t>
            </a:r>
            <a:endParaRPr lang="en-US" sz="1100"/>
          </a:p>
        </p:txBody>
      </p:sp>
      <p:sp>
        <p:nvSpPr>
          <p:cNvPr name="GraphCompose Text Line" id="441"/>
          <p:cNvSpPr txBox="true"/>
          <p:nvPr/>
        </p:nvSpPr>
        <p:spPr>
          <a:xfrm>
            <a:off x="431800" y="9714553"/>
            <a:ext cx="389766" cy="101029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860" b="false" i="false" u="none" strike="noStrike" kern="0">
                <a:solidFill>
                  <a:srgbClr val="707480"/>
                </a:solidFill>
                <a:latin typeface="Arial"/>
              </a:rPr>
              <a:t>themes.</a:t>
            </a:r>
            <a:endParaRPr lang="en-US" sz="1100"/>
          </a:p>
        </p:txBody>
      </p:sp>
      <p:pic>
        <p:nvPicPr>
          <p:cNvPr name="Picture 442" id="44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334" y="9395790"/>
            <a:ext cx="2286000" cy="457200"/>
          </a:xfrm>
          <a:prstGeom prst="rect">
            <a:avLst/>
          </a:prstGeom>
        </p:spPr>
      </p:pic>
      <p:sp>
        <p:nvSpPr>
          <p:cNvPr name="GraphCompose Header" id="443"/>
          <p:cNvSpPr txBox="true"/>
          <p:nvPr/>
        </p:nvSpPr>
        <p:spPr>
          <a:xfrm>
            <a:off x="431800" y="220377"/>
            <a:ext cx="1792580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GraphCompose · Master showcase</a:t>
            </a:r>
            <a:endParaRPr lang="en-US" sz="1100"/>
          </a:p>
        </p:txBody>
      </p:sp>
      <p:sp>
        <p:nvSpPr>
          <p:cNvPr name="GraphCompose Header" id="444"/>
          <p:cNvSpPr txBox="true"/>
          <p:nvPr/>
        </p:nvSpPr>
        <p:spPr>
          <a:xfrm>
            <a:off x="6543670" y="220377"/>
            <a:ext cx="585800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2026-07-25</a:t>
            </a:r>
            <a:endParaRPr lang="en-US" sz="1100"/>
          </a:p>
        </p:txBody>
      </p:sp>
      <p:cxnSp>
        <p:nvCxnSpPr>
          <p:cNvPr name="GraphCompose Header Separator" id="445"/>
          <p:cNvCxnSpPr/>
          <p:nvPr/>
        </p:nvCxnSpPr>
        <p:spPr>
          <a:xfrm>
            <a:off x="431800" y="38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  <p:sp>
        <p:nvSpPr>
          <p:cNvPr name="GraphCompose Footer" id="446"/>
          <p:cNvSpPr txBox="true"/>
          <p:nvPr/>
        </p:nvSpPr>
        <p:spPr>
          <a:xfrm>
            <a:off x="431800" y="10321827"/>
            <a:ext cx="1270343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v1.5 — "intuitive" release</a:t>
            </a:r>
            <a:endParaRPr lang="en-US" sz="1100"/>
          </a:p>
        </p:txBody>
      </p:sp>
      <p:sp>
        <p:nvSpPr>
          <p:cNvPr name="GraphCompose Footer" id="447"/>
          <p:cNvSpPr txBox="true"/>
          <p:nvPr/>
        </p:nvSpPr>
        <p:spPr>
          <a:xfrm>
            <a:off x="6543556" y="10321827"/>
            <a:ext cx="585914" cy="148590"/>
          </a:xfrm>
          <a:prstGeom prst="rect">
            <a:avLst/>
          </a:prstGeom>
        </p:spPr>
        <p:txBody>
          <a:bodyPr anchor="t" rtlCol="false" wrap="none" tIns="0" rIns="0" bIns="0" lIns="0">
            <a:noAutofit/>
          </a:bodyPr>
          <a:lstStyle/>
          <a:p>
            <a:pPr algn="l">
              <a:defRPr/>
            </a:pPr>
            <a:r>
              <a:rPr lang="en-US" sz="900" b="false" i="false" u="none" strike="noStrike" kern="0">
                <a:solidFill>
                  <a:srgbClr val="707480"/>
                </a:solidFill>
                <a:latin typeface="Arial"/>
              </a:rPr>
              <a:t>Page 2 of 2</a:t>
            </a:r>
            <a:endParaRPr lang="en-US" sz="1100"/>
          </a:p>
        </p:txBody>
      </p:sp>
      <p:cxnSp>
        <p:nvCxnSpPr>
          <p:cNvPr name="GraphCompose Footer Separator" id="448"/>
          <p:cNvCxnSpPr/>
          <p:nvPr/>
        </p:nvCxnSpPr>
        <p:spPr>
          <a:xfrm>
            <a:off x="431800" y="10311000"/>
            <a:ext cx="6696401" cy="0"/>
          </a:xfrm>
          <a:prstGeom prst="line">
            <a:avLst/>
          </a:prstGeom>
          <a:ln w="6350">
            <a:solidFill>
              <a:srgbClr val="D4C8B2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GraphCompose Examples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creator>Jordan Rivera</dc:creator>
  <cp:keywords>graphcompose, showcase, business, theme, rich-text, table, shape, transform, barcode</cp:keywords>
  <dcterms:modified xsi:type="dcterms:W3CDTF">2011-08-01T06:04:30Z</dcterms:modified>
  <cp:revision>1</cp:revision>
  <dc:subject>Comprehensive end-to-end demo of the v1.5 canonical surface</dc:subject>
  <dc:title>GraphCompose master showcase</dc:title>
</cp:coreProperties>
</file>