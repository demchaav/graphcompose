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7560001" cy="10692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7560001" cy="10692000"/>
          </a:xfrm>
          <a:prstGeom prst="rect">
            <a:avLst/>
          </a:prstGeom>
          <a:solidFill>
            <a:srgbClr val="FCFAF5"/>
          </a:solidFill>
          <a:ln>
            <a:noFill/>
          </a:ln>
        </p:spPr>
      </p:sp>
      <p:sp>
        <p:nvSpPr>
          <p:cNvPr name="GraphCompose Text Line" id="3"/>
          <p:cNvSpPr txBox="true"/>
          <p:nvPr/>
        </p:nvSpPr>
        <p:spPr>
          <a:xfrm>
            <a:off x="508000" y="336573"/>
            <a:ext cx="1452321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true" i="false" u="none" strike="noStrike" kern="0">
                <a:solidFill>
                  <a:srgbClr val="787C8A"/>
                </a:solidFill>
                <a:latin typeface="Arial"/>
              </a:rPr>
              <a:t>Q1 2024 - BUSINESS REPORT</a:t>
            </a:r>
            <a:endParaRPr lang="en-US" sz="1100"/>
          </a:p>
        </p:txBody>
      </p:sp>
      <p:sp>
        <p:nvSpPr>
          <p:cNvPr name="GraphCompose Text Line" id="4"/>
          <p:cNvSpPr txBox="true"/>
          <p:nvPr/>
        </p:nvSpPr>
        <p:spPr>
          <a:xfrm>
            <a:off x="6492997" y="336573"/>
            <a:ext cx="560273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true" i="false" u="none" strike="noStrike" kern="0">
                <a:solidFill>
                  <a:srgbClr val="787C8A"/>
                </a:solidFill>
                <a:latin typeface="Arial"/>
              </a:rPr>
              <a:t>APRIL 2024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>
            <a:off x="508000" y="589280"/>
            <a:ext cx="6350000" cy="10160"/>
          </a:xfrm>
          <a:prstGeom prst="rect">
            <a:avLst/>
          </a:prstGeom>
          <a:solidFill>
            <a:srgbClr val="BA9A64"/>
          </a:solidFill>
          <a:ln>
            <a:noFill/>
          </a:ln>
        </p:spPr>
      </p:sp>
      <p:sp>
        <p:nvSpPr>
          <p:cNvPr name="GraphCompose Text Line" id="6"/>
          <p:cNvSpPr txBox="true"/>
          <p:nvPr/>
        </p:nvSpPr>
        <p:spPr>
          <a:xfrm>
            <a:off x="508000" y="726507"/>
            <a:ext cx="2490876" cy="27432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b="true" i="false" u="none" strike="noStrike" kern="0">
                <a:solidFill>
                  <a:srgbClr val="1C2030"/>
                </a:solidFill>
                <a:latin typeface="Times New Roman"/>
              </a:rPr>
              <a:t>Building the future</a:t>
            </a:r>
            <a:endParaRPr lang="en-US" sz="1100"/>
          </a:p>
        </p:txBody>
      </p:sp>
      <p:sp>
        <p:nvSpPr>
          <p:cNvPr name="GraphCompose Text Line" id="7"/>
          <p:cNvSpPr txBox="true"/>
          <p:nvPr/>
        </p:nvSpPr>
        <p:spPr>
          <a:xfrm>
            <a:off x="508000" y="1051627"/>
            <a:ext cx="3193440" cy="27432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b="true" i="false" u="none" strike="noStrike" kern="0">
                <a:solidFill>
                  <a:srgbClr val="1C2030"/>
                </a:solidFill>
                <a:latin typeface="Times New Roman"/>
              </a:rPr>
              <a:t>with clarity and purpose</a:t>
            </a:r>
            <a:endParaRPr lang="en-US" sz="1100"/>
          </a:p>
        </p:txBody>
      </p:sp>
      <p:sp>
        <p:nvSpPr>
          <p:cNvPr name="GraphCompose Text Line" id="8"/>
          <p:cNvSpPr txBox="true"/>
          <p:nvPr/>
        </p:nvSpPr>
        <p:spPr>
          <a:xfrm>
            <a:off x="508000" y="1463228"/>
            <a:ext cx="3012180" cy="12001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050" b="false" i="false" u="none" strike="noStrike" kern="0">
                <a:solidFill>
                  <a:srgbClr val="787C8A"/>
                </a:solidFill>
                <a:latin typeface="Times New Roman"/>
              </a:rPr>
              <a:t>We combine strategy, design, and engineering to deliver</a:t>
            </a:r>
            <a:endParaRPr lang="en-US" sz="1100"/>
          </a:p>
        </p:txBody>
      </p:sp>
      <p:sp>
        <p:nvSpPr>
          <p:cNvPr name="GraphCompose Text Line" id="9"/>
          <p:cNvSpPr txBox="true"/>
          <p:nvPr/>
        </p:nvSpPr>
        <p:spPr>
          <a:xfrm>
            <a:off x="508000" y="1601023"/>
            <a:ext cx="3245809" cy="12001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050" b="false" i="false" u="none" strike="noStrike" kern="0">
                <a:solidFill>
                  <a:srgbClr val="787C8A"/>
                </a:solidFill>
                <a:latin typeface="Times New Roman"/>
              </a:rPr>
              <a:t>impactful digital products that drive real business results and</a:t>
            </a:r>
            <a:endParaRPr lang="en-US" sz="1100"/>
          </a:p>
        </p:txBody>
      </p:sp>
      <p:sp>
        <p:nvSpPr>
          <p:cNvPr name="GraphCompose Text Line" id="10"/>
          <p:cNvSpPr txBox="true"/>
          <p:nvPr/>
        </p:nvSpPr>
        <p:spPr>
          <a:xfrm>
            <a:off x="508000" y="1738818"/>
            <a:ext cx="1234624" cy="12001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050" b="false" i="false" u="none" strike="noStrike" kern="0">
                <a:solidFill>
                  <a:srgbClr val="787C8A"/>
                </a:solidFill>
                <a:latin typeface="Times New Roman"/>
              </a:rPr>
              <a:t>lasting customer value.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>
            <a:off x="4210070" y="739140"/>
            <a:ext cx="2667000" cy="1397000"/>
          </a:xfrm>
          <a:prstGeom prst="roundRect">
            <a:avLst>
              <a:gd name="adj" fmla="val 10909"/>
            </a:avLst>
          </a:prstGeom>
          <a:solidFill>
            <a:srgbClr val="121830"/>
          </a:solidFill>
          <a:ln w="19050">
            <a:solidFill>
              <a:srgbClr val="BA9A64"/>
            </a:solidFill>
          </a:ln>
        </p:spPr>
      </p:sp>
      <p:pic>
        <p:nvPicPr>
          <p:cNvPr name="GraphCompose Clipped Composite" id="1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4210070" y="739140"/>
            <a:ext cx="2667000" cy="13970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>
            <a:off x="508000" y="2275840"/>
            <a:ext cx="2055172" cy="1596358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cxnSp>
        <p:nvCxnSpPr>
          <p:cNvPr name="Connector 14" id="14"/>
          <p:cNvCxnSpPr/>
          <p:nvPr/>
        </p:nvCxnSpPr>
        <p:spPr>
          <a:xfrm>
            <a:off x="508000" y="2275840"/>
            <a:ext cx="2055172" cy="0"/>
          </a:xfrm>
          <a:prstGeom prst="line">
            <a:avLst/>
          </a:prstGeom>
          <a:ln w="19050">
            <a:solidFill>
              <a:srgbClr val="BA9A64"/>
            </a:solidFill>
          </a:ln>
        </p:spPr>
      </p:cxnSp>
      <p:sp>
        <p:nvSpPr>
          <p:cNvPr name="AutoShape 15" id="15"/>
          <p:cNvSpPr/>
          <p:nvPr/>
        </p:nvSpPr>
        <p:spPr>
          <a:xfrm>
            <a:off x="685800" y="2453640"/>
            <a:ext cx="431800" cy="4318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BA9A64"/>
            </a:solidFill>
          </a:ln>
        </p:spPr>
      </p:sp>
      <p:sp>
        <p:nvSpPr>
          <p:cNvPr name="GraphCompose Text Line" id="16"/>
          <p:cNvSpPr txBox="true"/>
          <p:nvPr/>
        </p:nvSpPr>
        <p:spPr>
          <a:xfrm>
            <a:off x="855802" y="2562262"/>
            <a:ext cx="93066" cy="152718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00" b="true" i="false" u="none" strike="noStrike" kern="0">
                <a:solidFill>
                  <a:srgbClr val="1C2646"/>
                </a:solidFill>
                <a:latin typeface="Arial"/>
              </a:rPr>
              <a:t>$</a:t>
            </a:r>
            <a:endParaRPr lang="en-US" sz="1100"/>
          </a:p>
        </p:txBody>
      </p:sp>
      <p:sp>
        <p:nvSpPr>
          <p:cNvPr name="GraphCompose Text Line" id="17"/>
          <p:cNvSpPr txBox="true"/>
          <p:nvPr/>
        </p:nvSpPr>
        <p:spPr>
          <a:xfrm>
            <a:off x="685800" y="2923607"/>
            <a:ext cx="610870" cy="27432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b="true" i="false" u="none" strike="noStrike" kern="0">
                <a:solidFill>
                  <a:srgbClr val="1C2030"/>
                </a:solidFill>
                <a:latin typeface="Times New Roman"/>
              </a:rPr>
              <a:t>24%</a:t>
            </a:r>
            <a:endParaRPr lang="en-US" sz="1100"/>
          </a:p>
        </p:txBody>
      </p:sp>
      <p:sp>
        <p:nvSpPr>
          <p:cNvPr name="GraphCompose Text Line" id="18"/>
          <p:cNvSpPr txBox="true"/>
          <p:nvPr/>
        </p:nvSpPr>
        <p:spPr>
          <a:xfrm>
            <a:off x="685800" y="3264165"/>
            <a:ext cx="959955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50" b="true" i="false" u="none" strike="noStrike" kern="0">
                <a:solidFill>
                  <a:srgbClr val="787C8A"/>
                </a:solidFill>
                <a:latin typeface="Arial"/>
              </a:rPr>
              <a:t>Revenue Growth</a:t>
            </a:r>
            <a:endParaRPr lang="en-US" sz="1100"/>
          </a:p>
        </p:txBody>
      </p:sp>
      <p:sp>
        <p:nvSpPr>
          <p:cNvPr name="GraphCompose Text Line" id="19"/>
          <p:cNvSpPr txBox="true"/>
          <p:nvPr/>
        </p:nvSpPr>
        <p:spPr>
          <a:xfrm>
            <a:off x="685800" y="3454107"/>
            <a:ext cx="1700842" cy="10102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60" b="false" i="false" u="none" strike="noStrike" kern="0">
                <a:solidFill>
                  <a:srgbClr val="787C8A"/>
                </a:solidFill>
                <a:latin typeface="Arial"/>
              </a:rPr>
              <a:t>Strong performance across all core</a:t>
            </a:r>
            <a:endParaRPr lang="en-US" sz="1100"/>
          </a:p>
        </p:txBody>
      </p:sp>
      <p:sp>
        <p:nvSpPr>
          <p:cNvPr name="GraphCompose Text Line" id="20"/>
          <p:cNvSpPr txBox="true"/>
          <p:nvPr/>
        </p:nvSpPr>
        <p:spPr>
          <a:xfrm>
            <a:off x="685800" y="3572916"/>
            <a:ext cx="723651" cy="10102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60" b="false" i="false" u="none" strike="noStrike" kern="0">
                <a:solidFill>
                  <a:srgbClr val="787C8A"/>
                </a:solidFill>
                <a:latin typeface="Arial"/>
              </a:rPr>
              <a:t>business units.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>
            <a:off x="2748600" y="2275840"/>
            <a:ext cx="1533101" cy="1596358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cxnSp>
        <p:nvCxnSpPr>
          <p:cNvPr name="Connector 22" id="22"/>
          <p:cNvCxnSpPr/>
          <p:nvPr/>
        </p:nvCxnSpPr>
        <p:spPr>
          <a:xfrm>
            <a:off x="2748600" y="2275840"/>
            <a:ext cx="1533101" cy="0"/>
          </a:xfrm>
          <a:prstGeom prst="line">
            <a:avLst/>
          </a:prstGeom>
          <a:ln w="19050">
            <a:solidFill>
              <a:srgbClr val="BA9A64"/>
            </a:solidFill>
          </a:ln>
        </p:spPr>
      </p:cxnSp>
      <p:sp>
        <p:nvSpPr>
          <p:cNvPr name="AutoShape 23" id="23"/>
          <p:cNvSpPr/>
          <p:nvPr/>
        </p:nvSpPr>
        <p:spPr>
          <a:xfrm>
            <a:off x="2926400" y="2453640"/>
            <a:ext cx="431800" cy="4318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BA9A64"/>
            </a:solidFill>
          </a:ln>
        </p:spPr>
      </p:sp>
      <p:sp>
        <p:nvSpPr>
          <p:cNvPr name="GraphCompose Text Line" id="24"/>
          <p:cNvSpPr txBox="true"/>
          <p:nvPr/>
        </p:nvSpPr>
        <p:spPr>
          <a:xfrm>
            <a:off x="3082699" y="2562262"/>
            <a:ext cx="120472" cy="152718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00" b="true" i="false" u="none" strike="noStrike" kern="0">
                <a:solidFill>
                  <a:srgbClr val="1C2646"/>
                </a:solidFill>
                <a:latin typeface="Arial"/>
              </a:rPr>
              <a:t>U</a:t>
            </a:r>
            <a:endParaRPr lang="en-US" sz="1100"/>
          </a:p>
        </p:txBody>
      </p:sp>
      <p:sp>
        <p:nvSpPr>
          <p:cNvPr name="GraphCompose Text Line" id="25"/>
          <p:cNvSpPr txBox="true"/>
          <p:nvPr/>
        </p:nvSpPr>
        <p:spPr>
          <a:xfrm>
            <a:off x="2926400" y="2923607"/>
            <a:ext cx="649275" cy="27432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b="true" i="false" u="none" strike="noStrike" kern="0">
                <a:solidFill>
                  <a:srgbClr val="1C2030"/>
                </a:solidFill>
                <a:latin typeface="Times New Roman"/>
              </a:rPr>
              <a:t>18k+</a:t>
            </a:r>
            <a:endParaRPr lang="en-US" sz="1100"/>
          </a:p>
        </p:txBody>
      </p:sp>
      <p:sp>
        <p:nvSpPr>
          <p:cNvPr name="GraphCompose Text Line" id="26"/>
          <p:cNvSpPr txBox="true"/>
          <p:nvPr/>
        </p:nvSpPr>
        <p:spPr>
          <a:xfrm>
            <a:off x="2926400" y="3264165"/>
            <a:ext cx="1027036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50" b="true" i="false" u="none" strike="noStrike" kern="0">
                <a:solidFill>
                  <a:srgbClr val="787C8A"/>
                </a:solidFill>
                <a:latin typeface="Arial"/>
              </a:rPr>
              <a:t>Active Customers</a:t>
            </a:r>
            <a:endParaRPr lang="en-US" sz="1100"/>
          </a:p>
        </p:txBody>
      </p:sp>
      <p:sp>
        <p:nvSpPr>
          <p:cNvPr name="GraphCompose Text Line" id="27"/>
          <p:cNvSpPr txBox="true"/>
          <p:nvPr/>
        </p:nvSpPr>
        <p:spPr>
          <a:xfrm>
            <a:off x="2926400" y="3454107"/>
            <a:ext cx="1178771" cy="10102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60" b="false" i="false" u="none" strike="noStrike" kern="0">
                <a:solidFill>
                  <a:srgbClr val="787C8A"/>
                </a:solidFill>
                <a:latin typeface="Arial"/>
              </a:rPr>
              <a:t>Growing community and</a:t>
            </a:r>
            <a:endParaRPr lang="en-US" sz="1100"/>
          </a:p>
        </p:txBody>
      </p:sp>
      <p:sp>
        <p:nvSpPr>
          <p:cNvPr name="GraphCompose Text Line" id="28"/>
          <p:cNvSpPr txBox="true"/>
          <p:nvPr/>
        </p:nvSpPr>
        <p:spPr>
          <a:xfrm>
            <a:off x="2926400" y="3572916"/>
            <a:ext cx="638787" cy="10102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60" b="false" i="false" u="none" strike="noStrike" kern="0">
                <a:solidFill>
                  <a:srgbClr val="787C8A"/>
                </a:solidFill>
                <a:latin typeface="Arial"/>
              </a:rPr>
              <a:t>engagement.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>
            <a:off x="4989200" y="2275840"/>
            <a:ext cx="1545333" cy="1596358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cxnSp>
        <p:nvCxnSpPr>
          <p:cNvPr name="Connector 30" id="30"/>
          <p:cNvCxnSpPr/>
          <p:nvPr/>
        </p:nvCxnSpPr>
        <p:spPr>
          <a:xfrm>
            <a:off x="4989200" y="2275840"/>
            <a:ext cx="1545333" cy="0"/>
          </a:xfrm>
          <a:prstGeom prst="line">
            <a:avLst/>
          </a:prstGeom>
          <a:ln w="19050">
            <a:solidFill>
              <a:srgbClr val="BA9A64"/>
            </a:solidFill>
          </a:ln>
        </p:spPr>
      </p:cxnSp>
      <p:sp>
        <p:nvSpPr>
          <p:cNvPr name="AutoShape 31" id="31"/>
          <p:cNvSpPr/>
          <p:nvPr/>
        </p:nvSpPr>
        <p:spPr>
          <a:xfrm>
            <a:off x="5167000" y="2453640"/>
            <a:ext cx="431800" cy="4318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BA9A64"/>
            </a:solidFill>
          </a:ln>
        </p:spPr>
      </p:sp>
      <p:sp>
        <p:nvSpPr>
          <p:cNvPr name="GraphCompose Text Line" id="32"/>
          <p:cNvSpPr txBox="true"/>
          <p:nvPr/>
        </p:nvSpPr>
        <p:spPr>
          <a:xfrm>
            <a:off x="5309513" y="2562262"/>
            <a:ext cx="148044" cy="152718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00" b="true" i="false" u="none" strike="noStrike" kern="0">
                <a:solidFill>
                  <a:srgbClr val="1C2646"/>
                </a:solidFill>
                <a:latin typeface="Arial"/>
              </a:rPr>
              <a:t>%</a:t>
            </a:r>
            <a:endParaRPr lang="en-US" sz="1100"/>
          </a:p>
        </p:txBody>
      </p:sp>
      <p:sp>
        <p:nvSpPr>
          <p:cNvPr name="GraphCompose Text Line" id="33"/>
          <p:cNvSpPr txBox="true"/>
          <p:nvPr/>
        </p:nvSpPr>
        <p:spPr>
          <a:xfrm>
            <a:off x="5167000" y="2923607"/>
            <a:ext cx="839470" cy="27432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b="true" i="false" u="none" strike="noStrike" kern="0">
                <a:solidFill>
                  <a:srgbClr val="1C2030"/>
                </a:solidFill>
                <a:latin typeface="Times New Roman"/>
              </a:rPr>
              <a:t>98.6%</a:t>
            </a:r>
            <a:endParaRPr lang="en-US" sz="1100"/>
          </a:p>
        </p:txBody>
      </p:sp>
      <p:sp>
        <p:nvSpPr>
          <p:cNvPr name="GraphCompose Text Line" id="34"/>
          <p:cNvSpPr txBox="true"/>
          <p:nvPr/>
        </p:nvSpPr>
        <p:spPr>
          <a:xfrm>
            <a:off x="5167000" y="3264165"/>
            <a:ext cx="959955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50" b="true" i="false" u="none" strike="noStrike" kern="0">
                <a:solidFill>
                  <a:srgbClr val="787C8A"/>
                </a:solidFill>
                <a:latin typeface="Arial"/>
              </a:rPr>
              <a:t>SLA Compliance</a:t>
            </a:r>
            <a:endParaRPr lang="en-US" sz="1100"/>
          </a:p>
        </p:txBody>
      </p:sp>
      <p:sp>
        <p:nvSpPr>
          <p:cNvPr name="GraphCompose Text Line" id="35"/>
          <p:cNvSpPr txBox="true"/>
          <p:nvPr/>
        </p:nvSpPr>
        <p:spPr>
          <a:xfrm>
            <a:off x="5167000" y="3454107"/>
            <a:ext cx="1045195" cy="10102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60" b="false" i="false" u="none" strike="noStrike" kern="0">
                <a:solidFill>
                  <a:srgbClr val="787C8A"/>
                </a:solidFill>
                <a:latin typeface="Arial"/>
              </a:rPr>
              <a:t>Reliable platform with</a:t>
            </a:r>
            <a:endParaRPr lang="en-US" sz="1100"/>
          </a:p>
        </p:txBody>
      </p:sp>
      <p:sp>
        <p:nvSpPr>
          <p:cNvPr name="GraphCompose Text Line" id="36"/>
          <p:cNvSpPr txBox="true"/>
          <p:nvPr/>
        </p:nvSpPr>
        <p:spPr>
          <a:xfrm>
            <a:off x="5167000" y="3572916"/>
            <a:ext cx="1191003" cy="10102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60" b="false" i="false" u="none" strike="noStrike" kern="0">
                <a:solidFill>
                  <a:srgbClr val="787C8A"/>
                </a:solidFill>
                <a:latin typeface="Arial"/>
              </a:rPr>
              <a:t>enterprise-grade uptime.</a:t>
            </a:r>
            <a:endParaRPr lang="en-US" sz="1100"/>
          </a:p>
        </p:txBody>
      </p:sp>
      <p:sp>
        <p:nvSpPr>
          <p:cNvPr name="AutoShape 37" id="37"/>
          <p:cNvSpPr/>
          <p:nvPr/>
        </p:nvSpPr>
        <p:spPr>
          <a:xfrm>
            <a:off x="508000" y="4011898"/>
            <a:ext cx="2464810" cy="1602422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cxnSp>
        <p:nvCxnSpPr>
          <p:cNvPr name="Connector 38" id="38"/>
          <p:cNvCxnSpPr/>
          <p:nvPr/>
        </p:nvCxnSpPr>
        <p:spPr>
          <a:xfrm>
            <a:off x="508000" y="4011898"/>
            <a:ext cx="0" cy="1602422"/>
          </a:xfrm>
          <a:prstGeom prst="line">
            <a:avLst/>
          </a:prstGeom>
          <a:ln w="38100">
            <a:solidFill>
              <a:srgbClr val="1C2646"/>
            </a:solidFill>
          </a:ln>
        </p:spPr>
      </p:cxnSp>
      <p:sp>
        <p:nvSpPr>
          <p:cNvPr name="GraphCompose Text Line" id="39"/>
          <p:cNvSpPr txBox="true"/>
          <p:nvPr/>
        </p:nvSpPr>
        <p:spPr>
          <a:xfrm>
            <a:off x="711200" y="4186558"/>
            <a:ext cx="1423924" cy="14097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b="true" i="false" u="none" strike="noStrike" kern="0">
                <a:solidFill>
                  <a:srgbClr val="1C2030"/>
                </a:solidFill>
                <a:latin typeface="Arial"/>
              </a:rPr>
              <a:t>Strategic highlights</a:t>
            </a:r>
            <a:endParaRPr lang="en-US" sz="1100"/>
          </a:p>
        </p:txBody>
      </p:sp>
      <p:sp>
        <p:nvSpPr>
          <p:cNvPr name="GraphCompose Text Line" id="40"/>
          <p:cNvSpPr txBox="true"/>
          <p:nvPr/>
        </p:nvSpPr>
        <p:spPr>
          <a:xfrm>
            <a:off x="711200" y="4460474"/>
            <a:ext cx="1934566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50" b="false" i="false" u="none" strike="noStrike" kern="0">
                <a:solidFill>
                  <a:srgbClr val="1C2030"/>
                </a:solidFill>
                <a:latin typeface="Arial"/>
              </a:rPr>
              <a:t>•  Expanded market presence in key</a:t>
            </a:r>
            <a:endParaRPr lang="en-US" sz="1100"/>
          </a:p>
        </p:txBody>
      </p:sp>
      <p:sp>
        <p:nvSpPr>
          <p:cNvPr name="GraphCompose Text Line" id="41"/>
          <p:cNvSpPr txBox="true"/>
          <p:nvPr/>
        </p:nvSpPr>
        <p:spPr>
          <a:xfrm>
            <a:off x="711200" y="4590490"/>
            <a:ext cx="1731270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50" b="false" i="false" u="none" strike="noStrike" kern="0">
                <a:solidFill>
                  <a:srgbClr val="1C2030"/>
                </a:solidFill>
                <a:latin typeface="Arial"/>
              </a:rPr>
              <a:t>regions with double-digit growth.</a:t>
            </a:r>
            <a:endParaRPr lang="en-US" sz="1100"/>
          </a:p>
        </p:txBody>
      </p:sp>
      <p:sp>
        <p:nvSpPr>
          <p:cNvPr name="GraphCompose Text Line" id="42"/>
          <p:cNvSpPr txBox="true"/>
          <p:nvPr/>
        </p:nvSpPr>
        <p:spPr>
          <a:xfrm>
            <a:off x="711200" y="4803691"/>
            <a:ext cx="1994891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50" b="false" i="false" u="none" strike="noStrike" kern="0">
                <a:solidFill>
                  <a:srgbClr val="1C2030"/>
                </a:solidFill>
                <a:latin typeface="Arial"/>
              </a:rPr>
              <a:t>•  Launched new platform capabilities</a:t>
            </a:r>
            <a:endParaRPr lang="en-US" sz="1100"/>
          </a:p>
        </p:txBody>
      </p:sp>
      <p:sp>
        <p:nvSpPr>
          <p:cNvPr name="GraphCompose Text Line" id="43"/>
          <p:cNvSpPr txBox="true"/>
          <p:nvPr/>
        </p:nvSpPr>
        <p:spPr>
          <a:xfrm>
            <a:off x="711200" y="4933707"/>
            <a:ext cx="2059680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50" b="false" i="false" u="none" strike="noStrike" kern="0">
                <a:solidFill>
                  <a:srgbClr val="1C2030"/>
                </a:solidFill>
                <a:latin typeface="Arial"/>
              </a:rPr>
              <a:t>improving performance and scalability.</a:t>
            </a:r>
            <a:endParaRPr lang="en-US" sz="1100"/>
          </a:p>
        </p:txBody>
      </p:sp>
      <p:sp>
        <p:nvSpPr>
          <p:cNvPr name="GraphCompose Text Line" id="44"/>
          <p:cNvSpPr txBox="true"/>
          <p:nvPr/>
        </p:nvSpPr>
        <p:spPr>
          <a:xfrm>
            <a:off x="711200" y="5146909"/>
            <a:ext cx="1666481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50" b="false" i="false" u="none" strike="noStrike" kern="0">
                <a:solidFill>
                  <a:srgbClr val="1C2030"/>
                </a:solidFill>
                <a:latin typeface="Arial"/>
              </a:rPr>
              <a:t>•  Strengthened partnerships to</a:t>
            </a:r>
            <a:endParaRPr lang="en-US" sz="1100"/>
          </a:p>
        </p:txBody>
      </p:sp>
      <p:sp>
        <p:nvSpPr>
          <p:cNvPr name="GraphCompose Text Line" id="45"/>
          <p:cNvSpPr txBox="true"/>
          <p:nvPr/>
        </p:nvSpPr>
        <p:spPr>
          <a:xfrm>
            <a:off x="711200" y="5276925"/>
            <a:ext cx="1858797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50" b="false" i="false" u="none" strike="noStrike" kern="0">
                <a:solidFill>
                  <a:srgbClr val="1C2030"/>
                </a:solidFill>
                <a:latin typeface="Arial"/>
              </a:rPr>
              <a:t>accelerate innovation and delivery.</a:t>
            </a:r>
            <a:endParaRPr lang="en-US" sz="1100"/>
          </a:p>
        </p:txBody>
      </p:sp>
      <p:sp>
        <p:nvSpPr>
          <p:cNvPr name="AutoShape 46" id="46"/>
          <p:cNvSpPr/>
          <p:nvPr/>
        </p:nvSpPr>
        <p:spPr>
          <a:xfrm>
            <a:off x="3262760" y="4011898"/>
            <a:ext cx="3789240" cy="2278697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cxnSp>
        <p:nvCxnSpPr>
          <p:cNvPr name="Connector 47" id="47"/>
          <p:cNvCxnSpPr/>
          <p:nvPr/>
        </p:nvCxnSpPr>
        <p:spPr>
          <a:xfrm>
            <a:off x="3262760" y="4011898"/>
            <a:ext cx="0" cy="2278697"/>
          </a:xfrm>
          <a:prstGeom prst="line">
            <a:avLst/>
          </a:prstGeom>
          <a:ln w="38100">
            <a:solidFill>
              <a:srgbClr val="BA9A64"/>
            </a:solidFill>
          </a:ln>
        </p:spPr>
      </p:cxnSp>
      <p:sp>
        <p:nvSpPr>
          <p:cNvPr name="GraphCompose Text Line" id="48"/>
          <p:cNvSpPr txBox="true"/>
          <p:nvPr/>
        </p:nvSpPr>
        <p:spPr>
          <a:xfrm>
            <a:off x="3440560" y="4161158"/>
            <a:ext cx="1627530" cy="14097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b="true" i="false" u="none" strike="noStrike" kern="0">
                <a:solidFill>
                  <a:srgbClr val="1C2030"/>
                </a:solidFill>
                <a:latin typeface="Arial"/>
              </a:rPr>
              <a:t>Performance overview</a:t>
            </a:r>
            <a:endParaRPr lang="en-US" sz="1100"/>
          </a:p>
        </p:txBody>
      </p:sp>
      <p:sp>
        <p:nvSpPr>
          <p:cNvPr name="GraphCompose Text Line" id="49"/>
          <p:cNvSpPr txBox="true"/>
          <p:nvPr/>
        </p:nvSpPr>
        <p:spPr>
          <a:xfrm>
            <a:off x="3440560" y="4385463"/>
            <a:ext cx="903211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b="true" i="false" u="none" strike="noStrike" kern="0">
                <a:solidFill>
                  <a:srgbClr val="1C2646"/>
                </a:solidFill>
                <a:latin typeface="Arial"/>
              </a:rPr>
              <a:t>Revenue</a:t>
            </a:r>
            <a:r>
              <a:rPr lang="en-US" sz="900" b="false" i="false" u="none" strike="noStrike" kern="0">
                <a:solidFill>
                  <a:srgbClr val="787C8A"/>
                </a:solidFill>
                <a:latin typeface="Arial"/>
              </a:rPr>
              <a:t>    </a:t>
            </a:r>
            <a:r>
              <a:rPr lang="en-US" sz="900" b="true" i="false" u="none" strike="noStrike" kern="0">
                <a:solidFill>
                  <a:srgbClr val="BA9A64"/>
                </a:solidFill>
                <a:latin typeface="Arial"/>
              </a:rPr>
              <a:t>Profit</a:t>
            </a:r>
            <a:endParaRPr lang="en-US" sz="1100"/>
          </a:p>
        </p:txBody>
      </p:sp>
      <p:cxnSp>
        <p:nvCxnSpPr>
          <p:cNvPr name="Connector 50" id="50"/>
          <p:cNvCxnSpPr/>
          <p:nvPr/>
        </p:nvCxnSpPr>
        <p:spPr>
          <a:xfrm flipV="false">
            <a:off x="3660829" y="5968016"/>
            <a:ext cx="3213372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51"/>
          <p:cNvSpPr txBox="true"/>
          <p:nvPr/>
        </p:nvSpPr>
        <p:spPr>
          <a:xfrm>
            <a:off x="3553539" y="5911600"/>
            <a:ext cx="57760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0</a:t>
            </a:r>
            <a:endParaRPr lang="en-US" sz="1100"/>
          </a:p>
        </p:txBody>
      </p:sp>
      <p:cxnSp>
        <p:nvCxnSpPr>
          <p:cNvPr name="Connector 52" id="52"/>
          <p:cNvCxnSpPr/>
          <p:nvPr/>
        </p:nvCxnSpPr>
        <p:spPr>
          <a:xfrm flipV="false">
            <a:off x="3660829" y="5701570"/>
            <a:ext cx="3213372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53"/>
          <p:cNvSpPr txBox="true"/>
          <p:nvPr/>
        </p:nvSpPr>
        <p:spPr>
          <a:xfrm>
            <a:off x="3497050" y="5645154"/>
            <a:ext cx="114249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20</a:t>
            </a:r>
            <a:endParaRPr lang="en-US" sz="1100"/>
          </a:p>
        </p:txBody>
      </p:sp>
      <p:cxnSp>
        <p:nvCxnSpPr>
          <p:cNvPr name="Connector 54" id="54"/>
          <p:cNvCxnSpPr/>
          <p:nvPr/>
        </p:nvCxnSpPr>
        <p:spPr>
          <a:xfrm flipV="false">
            <a:off x="3660829" y="5435124"/>
            <a:ext cx="3213372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55"/>
          <p:cNvSpPr txBox="true"/>
          <p:nvPr/>
        </p:nvSpPr>
        <p:spPr>
          <a:xfrm>
            <a:off x="3497050" y="5378708"/>
            <a:ext cx="114249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40</a:t>
            </a:r>
            <a:endParaRPr lang="en-US" sz="1100"/>
          </a:p>
        </p:txBody>
      </p:sp>
      <p:cxnSp>
        <p:nvCxnSpPr>
          <p:cNvPr name="Connector 56" id="56"/>
          <p:cNvCxnSpPr/>
          <p:nvPr/>
        </p:nvCxnSpPr>
        <p:spPr>
          <a:xfrm flipV="false">
            <a:off x="3660829" y="5168678"/>
            <a:ext cx="3213372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57"/>
          <p:cNvSpPr txBox="true"/>
          <p:nvPr/>
        </p:nvSpPr>
        <p:spPr>
          <a:xfrm>
            <a:off x="3497050" y="5112262"/>
            <a:ext cx="114249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60</a:t>
            </a:r>
            <a:endParaRPr lang="en-US" sz="1100"/>
          </a:p>
        </p:txBody>
      </p:sp>
      <p:cxnSp>
        <p:nvCxnSpPr>
          <p:cNvPr name="Connector 58" id="58"/>
          <p:cNvCxnSpPr/>
          <p:nvPr/>
        </p:nvCxnSpPr>
        <p:spPr>
          <a:xfrm flipV="false">
            <a:off x="3660829" y="4902232"/>
            <a:ext cx="3213372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59"/>
          <p:cNvSpPr txBox="true"/>
          <p:nvPr/>
        </p:nvSpPr>
        <p:spPr>
          <a:xfrm>
            <a:off x="3497050" y="4845816"/>
            <a:ext cx="114249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80</a:t>
            </a:r>
            <a:endParaRPr lang="en-US" sz="1100"/>
          </a:p>
        </p:txBody>
      </p:sp>
      <p:cxnSp>
        <p:nvCxnSpPr>
          <p:cNvPr name="Connector 60" id="60"/>
          <p:cNvCxnSpPr/>
          <p:nvPr/>
        </p:nvCxnSpPr>
        <p:spPr>
          <a:xfrm flipV="false">
            <a:off x="3660829" y="4635786"/>
            <a:ext cx="3213372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61"/>
          <p:cNvSpPr txBox="true"/>
          <p:nvPr/>
        </p:nvSpPr>
        <p:spPr>
          <a:xfrm>
            <a:off x="3440560" y="4579370"/>
            <a:ext cx="170739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100</a:t>
            </a:r>
            <a:endParaRPr lang="en-US" sz="1100"/>
          </a:p>
        </p:txBody>
      </p:sp>
      <p:sp>
        <p:nvSpPr>
          <p:cNvPr name="AutoShape 62" id="62"/>
          <p:cNvSpPr/>
          <p:nvPr/>
        </p:nvSpPr>
        <p:spPr>
          <a:xfrm>
            <a:off x="3766999" y="5099402"/>
            <a:ext cx="198972" cy="868614"/>
          </a:xfrm>
          <a:prstGeom prst="rect">
            <a:avLst/>
          </a:prstGeom>
          <a:solidFill>
            <a:srgbClr val="1C2646"/>
          </a:solidFill>
          <a:ln>
            <a:noFill/>
          </a:ln>
        </p:spPr>
      </p:sp>
      <p:sp>
        <p:nvSpPr>
          <p:cNvPr name="AutoShape 63" id="63"/>
          <p:cNvSpPr/>
          <p:nvPr/>
        </p:nvSpPr>
        <p:spPr>
          <a:xfrm>
            <a:off x="3998362" y="5593659"/>
            <a:ext cx="198972" cy="374357"/>
          </a:xfrm>
          <a:prstGeom prst="rect">
            <a:avLst/>
          </a:prstGeom>
          <a:solidFill>
            <a:srgbClr val="BA9A64"/>
          </a:solidFill>
          <a:ln>
            <a:noFill/>
          </a:ln>
        </p:spPr>
      </p:sp>
      <p:sp>
        <p:nvSpPr>
          <p:cNvPr name="AutoShape 64" id="64"/>
          <p:cNvSpPr/>
          <p:nvPr/>
        </p:nvSpPr>
        <p:spPr>
          <a:xfrm>
            <a:off x="4409673" y="5038119"/>
            <a:ext cx="198972" cy="929897"/>
          </a:xfrm>
          <a:prstGeom prst="rect">
            <a:avLst/>
          </a:prstGeom>
          <a:solidFill>
            <a:srgbClr val="1C2646"/>
          </a:solidFill>
          <a:ln>
            <a:noFill/>
          </a:ln>
        </p:spPr>
      </p:sp>
      <p:sp>
        <p:nvSpPr>
          <p:cNvPr name="AutoShape 65" id="65"/>
          <p:cNvSpPr/>
          <p:nvPr/>
        </p:nvSpPr>
        <p:spPr>
          <a:xfrm>
            <a:off x="4641036" y="5559021"/>
            <a:ext cx="198972" cy="408995"/>
          </a:xfrm>
          <a:prstGeom prst="rect">
            <a:avLst/>
          </a:prstGeom>
          <a:solidFill>
            <a:srgbClr val="BA9A64"/>
          </a:solidFill>
          <a:ln>
            <a:noFill/>
          </a:ln>
        </p:spPr>
      </p:sp>
      <p:sp>
        <p:nvSpPr>
          <p:cNvPr name="AutoShape 66" id="66"/>
          <p:cNvSpPr/>
          <p:nvPr/>
        </p:nvSpPr>
        <p:spPr>
          <a:xfrm>
            <a:off x="5052347" y="4980833"/>
            <a:ext cx="198972" cy="987182"/>
          </a:xfrm>
          <a:prstGeom prst="rect">
            <a:avLst/>
          </a:prstGeom>
          <a:solidFill>
            <a:srgbClr val="1C2646"/>
          </a:solidFill>
          <a:ln>
            <a:noFill/>
          </a:ln>
        </p:spPr>
      </p:sp>
      <p:sp>
        <p:nvSpPr>
          <p:cNvPr name="AutoShape 67" id="67"/>
          <p:cNvSpPr/>
          <p:nvPr/>
        </p:nvSpPr>
        <p:spPr>
          <a:xfrm>
            <a:off x="5283710" y="5529712"/>
            <a:ext cx="198972" cy="438304"/>
          </a:xfrm>
          <a:prstGeom prst="rect">
            <a:avLst/>
          </a:prstGeom>
          <a:solidFill>
            <a:srgbClr val="BA9A64"/>
          </a:solidFill>
          <a:ln>
            <a:noFill/>
          </a:ln>
        </p:spPr>
      </p:sp>
      <p:sp>
        <p:nvSpPr>
          <p:cNvPr name="AutoShape 68" id="68"/>
          <p:cNvSpPr/>
          <p:nvPr/>
        </p:nvSpPr>
        <p:spPr>
          <a:xfrm>
            <a:off x="5695022" y="4884913"/>
            <a:ext cx="198972" cy="1083103"/>
          </a:xfrm>
          <a:prstGeom prst="rect">
            <a:avLst/>
          </a:prstGeom>
          <a:solidFill>
            <a:srgbClr val="1C2646"/>
          </a:solidFill>
          <a:ln>
            <a:noFill/>
          </a:ln>
        </p:spPr>
      </p:sp>
      <p:sp>
        <p:nvSpPr>
          <p:cNvPr name="AutoShape 69" id="69"/>
          <p:cNvSpPr/>
          <p:nvPr/>
        </p:nvSpPr>
        <p:spPr>
          <a:xfrm>
            <a:off x="5926384" y="5483084"/>
            <a:ext cx="198972" cy="484932"/>
          </a:xfrm>
          <a:prstGeom prst="rect">
            <a:avLst/>
          </a:prstGeom>
          <a:solidFill>
            <a:srgbClr val="BA9A64"/>
          </a:solidFill>
          <a:ln>
            <a:noFill/>
          </a:ln>
        </p:spPr>
      </p:sp>
      <p:sp>
        <p:nvSpPr>
          <p:cNvPr name="AutoShape 70" id="70"/>
          <p:cNvSpPr/>
          <p:nvPr/>
        </p:nvSpPr>
        <p:spPr>
          <a:xfrm>
            <a:off x="6337696" y="4792989"/>
            <a:ext cx="198972" cy="1175027"/>
          </a:xfrm>
          <a:prstGeom prst="rect">
            <a:avLst/>
          </a:prstGeom>
          <a:solidFill>
            <a:srgbClr val="1C2646"/>
          </a:solidFill>
          <a:ln>
            <a:noFill/>
          </a:ln>
        </p:spPr>
      </p:sp>
      <p:sp>
        <p:nvSpPr>
          <p:cNvPr name="AutoShape 71" id="71"/>
          <p:cNvSpPr/>
          <p:nvPr/>
        </p:nvSpPr>
        <p:spPr>
          <a:xfrm>
            <a:off x="6569059" y="5441785"/>
            <a:ext cx="198972" cy="526231"/>
          </a:xfrm>
          <a:prstGeom prst="rect">
            <a:avLst/>
          </a:prstGeom>
          <a:solidFill>
            <a:srgbClr val="BA9A64"/>
          </a:solidFill>
          <a:ln>
            <a:noFill/>
          </a:ln>
        </p:spPr>
      </p:sp>
      <p:sp>
        <p:nvSpPr>
          <p:cNvPr name="GraphCompose Text Line" id="72"/>
          <p:cNvSpPr txBox="true"/>
          <p:nvPr/>
        </p:nvSpPr>
        <p:spPr>
          <a:xfrm>
            <a:off x="3787297" y="5999789"/>
            <a:ext cx="391008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Q1 2023</a:t>
            </a:r>
            <a:endParaRPr lang="en-US" sz="1100"/>
          </a:p>
        </p:txBody>
      </p:sp>
      <p:sp>
        <p:nvSpPr>
          <p:cNvPr name="GraphCompose Text Line" id="73"/>
          <p:cNvSpPr txBox="true"/>
          <p:nvPr/>
        </p:nvSpPr>
        <p:spPr>
          <a:xfrm>
            <a:off x="4429972" y="5999789"/>
            <a:ext cx="391008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Q2 2023</a:t>
            </a:r>
            <a:endParaRPr lang="en-US" sz="1100"/>
          </a:p>
        </p:txBody>
      </p:sp>
      <p:sp>
        <p:nvSpPr>
          <p:cNvPr name="GraphCompose Text Line" id="74"/>
          <p:cNvSpPr txBox="true"/>
          <p:nvPr/>
        </p:nvSpPr>
        <p:spPr>
          <a:xfrm>
            <a:off x="5072646" y="5999789"/>
            <a:ext cx="391008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Q3 2023</a:t>
            </a:r>
            <a:endParaRPr lang="en-US" sz="1100"/>
          </a:p>
        </p:txBody>
      </p:sp>
      <p:sp>
        <p:nvSpPr>
          <p:cNvPr name="GraphCompose Text Line" id="75"/>
          <p:cNvSpPr txBox="true"/>
          <p:nvPr/>
        </p:nvSpPr>
        <p:spPr>
          <a:xfrm>
            <a:off x="5715320" y="5999789"/>
            <a:ext cx="391008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Q4 2023</a:t>
            </a:r>
            <a:endParaRPr lang="en-US" sz="1100"/>
          </a:p>
        </p:txBody>
      </p:sp>
      <p:sp>
        <p:nvSpPr>
          <p:cNvPr name="GraphCompose Text Line" id="76"/>
          <p:cNvSpPr txBox="true"/>
          <p:nvPr/>
        </p:nvSpPr>
        <p:spPr>
          <a:xfrm>
            <a:off x="6357995" y="5999789"/>
            <a:ext cx="391008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Q1 2024</a:t>
            </a:r>
            <a:endParaRPr lang="en-US" sz="1100"/>
          </a:p>
        </p:txBody>
      </p:sp>
      <p:sp>
        <p:nvSpPr>
          <p:cNvPr name="AutoShape 77" id="77"/>
          <p:cNvSpPr/>
          <p:nvPr/>
        </p:nvSpPr>
        <p:spPr>
          <a:xfrm>
            <a:off x="508000" y="6430296"/>
            <a:ext cx="5994400" cy="223958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cxnSp>
        <p:nvCxnSpPr>
          <p:cNvPr name="Connector 78" id="78"/>
          <p:cNvCxnSpPr/>
          <p:nvPr/>
        </p:nvCxnSpPr>
        <p:spPr>
          <a:xfrm>
            <a:off x="508000" y="6430296"/>
            <a:ext cx="5994400" cy="0"/>
          </a:xfrm>
          <a:prstGeom prst="line">
            <a:avLst/>
          </a:prstGeom>
          <a:ln w="19050">
            <a:solidFill>
              <a:srgbClr val="BA9A64"/>
            </a:solidFill>
          </a:ln>
        </p:spPr>
      </p:cxnSp>
      <p:sp>
        <p:nvSpPr>
          <p:cNvPr name="GraphCompose Text Line" id="79"/>
          <p:cNvSpPr txBox="true"/>
          <p:nvPr/>
        </p:nvSpPr>
        <p:spPr>
          <a:xfrm>
            <a:off x="660400" y="6554155"/>
            <a:ext cx="865226" cy="14097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b="true" i="false" u="none" strike="noStrike" kern="0">
                <a:solidFill>
                  <a:srgbClr val="1C2030"/>
                </a:solidFill>
                <a:latin typeface="Arial"/>
              </a:rPr>
              <a:t>Key metrics</a:t>
            </a:r>
            <a:endParaRPr lang="en-US" sz="1100"/>
          </a:p>
        </p:txBody>
      </p:sp>
      <p:sp>
        <p:nvSpPr>
          <p:cNvPr name="GraphCompose Text Line" id="80"/>
          <p:cNvSpPr txBox="true"/>
          <p:nvPr/>
        </p:nvSpPr>
        <p:spPr>
          <a:xfrm>
            <a:off x="660400" y="6754487"/>
            <a:ext cx="3837589" cy="9867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40" b="false" i="false" u="none" strike="noStrike" kern="0">
                <a:solidFill>
                  <a:srgbClr val="787C8A"/>
                </a:solidFill>
                <a:latin typeface="Arial"/>
              </a:rPr>
              <a:t>Year-over-year delta in the right column. Retention reported in percentage points.</a:t>
            </a:r>
            <a:endParaRPr lang="en-US" sz="1100"/>
          </a:p>
        </p:txBody>
      </p:sp>
      <p:sp>
        <p:nvSpPr>
          <p:cNvPr name="GraphCompose Table Cell Fill" id="81"/>
          <p:cNvSpPr/>
          <p:nvPr/>
        </p:nvSpPr>
        <p:spPr>
          <a:xfrm>
            <a:off x="660400" y="6949345"/>
            <a:ext cx="1346200" cy="308927"/>
          </a:xfrm>
          <a:prstGeom prst="rect">
            <a:avLst/>
          </a:prstGeom>
          <a:solidFill>
            <a:srgbClr val="1C2646"/>
          </a:solidFill>
          <a:ln>
            <a:noFill/>
          </a:ln>
        </p:spPr>
      </p:sp>
      <p:sp>
        <p:nvSpPr>
          <p:cNvPr name="GraphCompose Table Cell Fill" id="82"/>
          <p:cNvSpPr/>
          <p:nvPr/>
        </p:nvSpPr>
        <p:spPr>
          <a:xfrm>
            <a:off x="2006600" y="6949345"/>
            <a:ext cx="685800" cy="308927"/>
          </a:xfrm>
          <a:prstGeom prst="rect">
            <a:avLst/>
          </a:prstGeom>
          <a:solidFill>
            <a:srgbClr val="1C2646"/>
          </a:solidFill>
          <a:ln>
            <a:noFill/>
          </a:ln>
        </p:spPr>
      </p:sp>
      <p:sp>
        <p:nvSpPr>
          <p:cNvPr name="GraphCompose Table Cell Fill" id="83"/>
          <p:cNvSpPr/>
          <p:nvPr/>
        </p:nvSpPr>
        <p:spPr>
          <a:xfrm>
            <a:off x="2692400" y="6949345"/>
            <a:ext cx="685800" cy="308927"/>
          </a:xfrm>
          <a:prstGeom prst="rect">
            <a:avLst/>
          </a:prstGeom>
          <a:solidFill>
            <a:srgbClr val="1C2646"/>
          </a:solidFill>
          <a:ln>
            <a:noFill/>
          </a:ln>
        </p:spPr>
      </p:sp>
      <p:sp>
        <p:nvSpPr>
          <p:cNvPr name="GraphCompose Table Cell Fill" id="84"/>
          <p:cNvSpPr/>
          <p:nvPr/>
        </p:nvSpPr>
        <p:spPr>
          <a:xfrm>
            <a:off x="3378200" y="6949345"/>
            <a:ext cx="685800" cy="308927"/>
          </a:xfrm>
          <a:prstGeom prst="rect">
            <a:avLst/>
          </a:prstGeom>
          <a:solidFill>
            <a:srgbClr val="1C2646"/>
          </a:solidFill>
          <a:ln>
            <a:noFill/>
          </a:ln>
        </p:spPr>
      </p:sp>
      <p:sp>
        <p:nvSpPr>
          <p:cNvPr name="GraphCompose Table Cell Fill" id="85"/>
          <p:cNvSpPr/>
          <p:nvPr/>
        </p:nvSpPr>
        <p:spPr>
          <a:xfrm>
            <a:off x="4064000" y="6949345"/>
            <a:ext cx="685800" cy="308927"/>
          </a:xfrm>
          <a:prstGeom prst="rect">
            <a:avLst/>
          </a:prstGeom>
          <a:solidFill>
            <a:srgbClr val="1C2646"/>
          </a:solidFill>
          <a:ln>
            <a:noFill/>
          </a:ln>
        </p:spPr>
      </p:sp>
      <p:sp>
        <p:nvSpPr>
          <p:cNvPr name="GraphCompose Table Cell Fill" id="86"/>
          <p:cNvSpPr/>
          <p:nvPr/>
        </p:nvSpPr>
        <p:spPr>
          <a:xfrm>
            <a:off x="4749800" y="6949345"/>
            <a:ext cx="685800" cy="308927"/>
          </a:xfrm>
          <a:prstGeom prst="rect">
            <a:avLst/>
          </a:prstGeom>
          <a:solidFill>
            <a:srgbClr val="1C2646"/>
          </a:solidFill>
          <a:ln>
            <a:noFill/>
          </a:ln>
        </p:spPr>
      </p:sp>
      <p:sp>
        <p:nvSpPr>
          <p:cNvPr name="GraphCompose Table Cell Fill" id="87"/>
          <p:cNvSpPr/>
          <p:nvPr/>
        </p:nvSpPr>
        <p:spPr>
          <a:xfrm>
            <a:off x="5435600" y="6949345"/>
            <a:ext cx="914400" cy="308927"/>
          </a:xfrm>
          <a:prstGeom prst="rect">
            <a:avLst/>
          </a:prstGeom>
          <a:solidFill>
            <a:srgbClr val="1C2646"/>
          </a:solidFill>
          <a:ln>
            <a:noFill/>
          </a:ln>
        </p:spPr>
      </p:sp>
      <p:sp>
        <p:nvSpPr>
          <p:cNvPr name="GraphCompose Table Cell Fill" id="88"/>
          <p:cNvSpPr/>
          <p:nvPr/>
        </p:nvSpPr>
        <p:spPr>
          <a:xfrm>
            <a:off x="660400" y="7258272"/>
            <a:ext cx="1346200" cy="314801"/>
          </a:xfrm>
          <a:prstGeom prst="rect">
            <a:avLst/>
          </a:prstGeom>
          <a:solidFill>
            <a:srgbClr val="FCFAF4"/>
          </a:solidFill>
          <a:ln>
            <a:noFill/>
          </a:ln>
        </p:spPr>
      </p:sp>
      <p:sp>
        <p:nvSpPr>
          <p:cNvPr name="GraphCompose Table Cell Fill" id="89"/>
          <p:cNvSpPr/>
          <p:nvPr/>
        </p:nvSpPr>
        <p:spPr>
          <a:xfrm>
            <a:off x="2006600" y="7258272"/>
            <a:ext cx="685800" cy="314801"/>
          </a:xfrm>
          <a:prstGeom prst="rect">
            <a:avLst/>
          </a:prstGeom>
          <a:solidFill>
            <a:srgbClr val="FCFAF4"/>
          </a:solidFill>
          <a:ln>
            <a:noFill/>
          </a:ln>
        </p:spPr>
      </p:sp>
      <p:sp>
        <p:nvSpPr>
          <p:cNvPr name="GraphCompose Table Cell Fill" id="90"/>
          <p:cNvSpPr/>
          <p:nvPr/>
        </p:nvSpPr>
        <p:spPr>
          <a:xfrm>
            <a:off x="2692400" y="7258272"/>
            <a:ext cx="685800" cy="314801"/>
          </a:xfrm>
          <a:prstGeom prst="rect">
            <a:avLst/>
          </a:prstGeom>
          <a:solidFill>
            <a:srgbClr val="FCFAF4"/>
          </a:solidFill>
          <a:ln>
            <a:noFill/>
          </a:ln>
        </p:spPr>
      </p:sp>
      <p:sp>
        <p:nvSpPr>
          <p:cNvPr name="GraphCompose Table Cell Fill" id="91"/>
          <p:cNvSpPr/>
          <p:nvPr/>
        </p:nvSpPr>
        <p:spPr>
          <a:xfrm>
            <a:off x="3378200" y="7258272"/>
            <a:ext cx="685800" cy="314801"/>
          </a:xfrm>
          <a:prstGeom prst="rect">
            <a:avLst/>
          </a:prstGeom>
          <a:solidFill>
            <a:srgbClr val="FCFAF4"/>
          </a:solidFill>
          <a:ln>
            <a:noFill/>
          </a:ln>
        </p:spPr>
      </p:sp>
      <p:sp>
        <p:nvSpPr>
          <p:cNvPr name="GraphCompose Table Cell Fill" id="92"/>
          <p:cNvSpPr/>
          <p:nvPr/>
        </p:nvSpPr>
        <p:spPr>
          <a:xfrm>
            <a:off x="4064000" y="7258272"/>
            <a:ext cx="685800" cy="314801"/>
          </a:xfrm>
          <a:prstGeom prst="rect">
            <a:avLst/>
          </a:prstGeom>
          <a:solidFill>
            <a:srgbClr val="FCFAF4"/>
          </a:solidFill>
          <a:ln>
            <a:noFill/>
          </a:ln>
        </p:spPr>
      </p:sp>
      <p:sp>
        <p:nvSpPr>
          <p:cNvPr name="GraphCompose Table Cell Fill" id="93"/>
          <p:cNvSpPr/>
          <p:nvPr/>
        </p:nvSpPr>
        <p:spPr>
          <a:xfrm>
            <a:off x="4749800" y="7258272"/>
            <a:ext cx="685800" cy="314801"/>
          </a:xfrm>
          <a:prstGeom prst="rect">
            <a:avLst/>
          </a:prstGeom>
          <a:solidFill>
            <a:srgbClr val="FCFAF4"/>
          </a:solidFill>
          <a:ln>
            <a:noFill/>
          </a:ln>
        </p:spPr>
      </p:sp>
      <p:sp>
        <p:nvSpPr>
          <p:cNvPr name="GraphCompose Table Cell Fill" id="94"/>
          <p:cNvSpPr/>
          <p:nvPr/>
        </p:nvSpPr>
        <p:spPr>
          <a:xfrm>
            <a:off x="5435600" y="7258272"/>
            <a:ext cx="914400" cy="314801"/>
          </a:xfrm>
          <a:prstGeom prst="rect">
            <a:avLst/>
          </a:prstGeom>
          <a:solidFill>
            <a:srgbClr val="FCFAF4"/>
          </a:solidFill>
          <a:ln>
            <a:noFill/>
          </a:ln>
        </p:spPr>
      </p:sp>
      <p:sp>
        <p:nvSpPr>
          <p:cNvPr name="GraphCompose Table Cell Fill" id="95"/>
          <p:cNvSpPr/>
          <p:nvPr/>
        </p:nvSpPr>
        <p:spPr>
          <a:xfrm>
            <a:off x="660400" y="7573073"/>
            <a:ext cx="1346200" cy="3148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96"/>
          <p:cNvSpPr/>
          <p:nvPr/>
        </p:nvSpPr>
        <p:spPr>
          <a:xfrm>
            <a:off x="2006600" y="7573073"/>
            <a:ext cx="685800" cy="3148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97"/>
          <p:cNvSpPr/>
          <p:nvPr/>
        </p:nvSpPr>
        <p:spPr>
          <a:xfrm>
            <a:off x="2692400" y="7573073"/>
            <a:ext cx="685800" cy="3148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98"/>
          <p:cNvSpPr/>
          <p:nvPr/>
        </p:nvSpPr>
        <p:spPr>
          <a:xfrm>
            <a:off x="3378200" y="7573073"/>
            <a:ext cx="685800" cy="3148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99"/>
          <p:cNvSpPr/>
          <p:nvPr/>
        </p:nvSpPr>
        <p:spPr>
          <a:xfrm>
            <a:off x="4064000" y="7573073"/>
            <a:ext cx="685800" cy="3148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100"/>
          <p:cNvSpPr/>
          <p:nvPr/>
        </p:nvSpPr>
        <p:spPr>
          <a:xfrm>
            <a:off x="4749800" y="7573073"/>
            <a:ext cx="685800" cy="3148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101"/>
          <p:cNvSpPr/>
          <p:nvPr/>
        </p:nvSpPr>
        <p:spPr>
          <a:xfrm>
            <a:off x="5435600" y="7573073"/>
            <a:ext cx="914400" cy="3148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102"/>
          <p:cNvSpPr/>
          <p:nvPr/>
        </p:nvSpPr>
        <p:spPr>
          <a:xfrm>
            <a:off x="660400" y="7887875"/>
            <a:ext cx="1346200" cy="314801"/>
          </a:xfrm>
          <a:prstGeom prst="rect">
            <a:avLst/>
          </a:prstGeom>
          <a:solidFill>
            <a:srgbClr val="FCFAF4"/>
          </a:solidFill>
          <a:ln>
            <a:noFill/>
          </a:ln>
        </p:spPr>
      </p:sp>
      <p:sp>
        <p:nvSpPr>
          <p:cNvPr name="GraphCompose Table Cell Fill" id="103"/>
          <p:cNvSpPr/>
          <p:nvPr/>
        </p:nvSpPr>
        <p:spPr>
          <a:xfrm>
            <a:off x="2006600" y="7887875"/>
            <a:ext cx="685800" cy="314801"/>
          </a:xfrm>
          <a:prstGeom prst="rect">
            <a:avLst/>
          </a:prstGeom>
          <a:solidFill>
            <a:srgbClr val="FCFAF4"/>
          </a:solidFill>
          <a:ln>
            <a:noFill/>
          </a:ln>
        </p:spPr>
      </p:sp>
      <p:sp>
        <p:nvSpPr>
          <p:cNvPr name="GraphCompose Table Cell Fill" id="104"/>
          <p:cNvSpPr/>
          <p:nvPr/>
        </p:nvSpPr>
        <p:spPr>
          <a:xfrm>
            <a:off x="2692400" y="7887875"/>
            <a:ext cx="685800" cy="314801"/>
          </a:xfrm>
          <a:prstGeom prst="rect">
            <a:avLst/>
          </a:prstGeom>
          <a:solidFill>
            <a:srgbClr val="FCFAF4"/>
          </a:solidFill>
          <a:ln>
            <a:noFill/>
          </a:ln>
        </p:spPr>
      </p:sp>
      <p:sp>
        <p:nvSpPr>
          <p:cNvPr name="GraphCompose Table Cell Fill" id="105"/>
          <p:cNvSpPr/>
          <p:nvPr/>
        </p:nvSpPr>
        <p:spPr>
          <a:xfrm>
            <a:off x="3378200" y="7887875"/>
            <a:ext cx="685800" cy="314801"/>
          </a:xfrm>
          <a:prstGeom prst="rect">
            <a:avLst/>
          </a:prstGeom>
          <a:solidFill>
            <a:srgbClr val="FCFAF4"/>
          </a:solidFill>
          <a:ln>
            <a:noFill/>
          </a:ln>
        </p:spPr>
      </p:sp>
      <p:sp>
        <p:nvSpPr>
          <p:cNvPr name="GraphCompose Table Cell Fill" id="106"/>
          <p:cNvSpPr/>
          <p:nvPr/>
        </p:nvSpPr>
        <p:spPr>
          <a:xfrm>
            <a:off x="4064000" y="7887875"/>
            <a:ext cx="685800" cy="314801"/>
          </a:xfrm>
          <a:prstGeom prst="rect">
            <a:avLst/>
          </a:prstGeom>
          <a:solidFill>
            <a:srgbClr val="FCFAF4"/>
          </a:solidFill>
          <a:ln>
            <a:noFill/>
          </a:ln>
        </p:spPr>
      </p:sp>
      <p:sp>
        <p:nvSpPr>
          <p:cNvPr name="GraphCompose Table Cell Fill" id="107"/>
          <p:cNvSpPr/>
          <p:nvPr/>
        </p:nvSpPr>
        <p:spPr>
          <a:xfrm>
            <a:off x="4749800" y="7887875"/>
            <a:ext cx="685800" cy="314801"/>
          </a:xfrm>
          <a:prstGeom prst="rect">
            <a:avLst/>
          </a:prstGeom>
          <a:solidFill>
            <a:srgbClr val="FCFAF4"/>
          </a:solidFill>
          <a:ln>
            <a:noFill/>
          </a:ln>
        </p:spPr>
      </p:sp>
      <p:sp>
        <p:nvSpPr>
          <p:cNvPr name="GraphCompose Table Cell Fill" id="108"/>
          <p:cNvSpPr/>
          <p:nvPr/>
        </p:nvSpPr>
        <p:spPr>
          <a:xfrm>
            <a:off x="5435600" y="7887875"/>
            <a:ext cx="914400" cy="314801"/>
          </a:xfrm>
          <a:prstGeom prst="rect">
            <a:avLst/>
          </a:prstGeom>
          <a:solidFill>
            <a:srgbClr val="FCFAF4"/>
          </a:solidFill>
          <a:ln>
            <a:noFill/>
          </a:ln>
        </p:spPr>
      </p:sp>
      <p:sp>
        <p:nvSpPr>
          <p:cNvPr name="GraphCompose Table Cell Fill" id="109"/>
          <p:cNvSpPr/>
          <p:nvPr/>
        </p:nvSpPr>
        <p:spPr>
          <a:xfrm>
            <a:off x="660400" y="8202676"/>
            <a:ext cx="1346200" cy="3148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110"/>
          <p:cNvSpPr/>
          <p:nvPr/>
        </p:nvSpPr>
        <p:spPr>
          <a:xfrm>
            <a:off x="2006600" y="8202676"/>
            <a:ext cx="685800" cy="3148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111"/>
          <p:cNvSpPr/>
          <p:nvPr/>
        </p:nvSpPr>
        <p:spPr>
          <a:xfrm>
            <a:off x="2692400" y="8202676"/>
            <a:ext cx="685800" cy="3148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112"/>
          <p:cNvSpPr/>
          <p:nvPr/>
        </p:nvSpPr>
        <p:spPr>
          <a:xfrm>
            <a:off x="3378200" y="8202676"/>
            <a:ext cx="685800" cy="3148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113"/>
          <p:cNvSpPr/>
          <p:nvPr/>
        </p:nvSpPr>
        <p:spPr>
          <a:xfrm>
            <a:off x="4064000" y="8202676"/>
            <a:ext cx="685800" cy="3148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114"/>
          <p:cNvSpPr/>
          <p:nvPr/>
        </p:nvSpPr>
        <p:spPr>
          <a:xfrm>
            <a:off x="4749800" y="8202676"/>
            <a:ext cx="685800" cy="3148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115"/>
          <p:cNvSpPr/>
          <p:nvPr/>
        </p:nvSpPr>
        <p:spPr>
          <a:xfrm>
            <a:off x="5435600" y="8202676"/>
            <a:ext cx="914400" cy="3148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cxnSp>
        <p:nvCxnSpPr>
          <p:cNvPr name="GraphCompose Table Cell Border" id="116"/>
          <p:cNvCxnSpPr/>
          <p:nvPr/>
        </p:nvCxnSpPr>
        <p:spPr>
          <a:xfrm>
            <a:off x="660400" y="6949345"/>
            <a:ext cx="1348105" cy="0"/>
          </a:xfrm>
          <a:prstGeom prst="line">
            <a:avLst/>
          </a:prstGeom>
          <a:ln w="3810">
            <a:solidFill>
              <a:srgbClr val="1C2646"/>
            </a:solidFill>
          </a:ln>
        </p:spPr>
      </p:cxnSp>
      <p:cxnSp>
        <p:nvCxnSpPr>
          <p:cNvPr name="GraphCompose Table Cell Border" id="117"/>
          <p:cNvCxnSpPr/>
          <p:nvPr/>
        </p:nvCxnSpPr>
        <p:spPr>
          <a:xfrm>
            <a:off x="660400" y="7258272"/>
            <a:ext cx="1348105" cy="0"/>
          </a:xfrm>
          <a:prstGeom prst="line">
            <a:avLst/>
          </a:prstGeom>
          <a:ln w="3810">
            <a:solidFill>
              <a:srgbClr val="1C2646"/>
            </a:solidFill>
          </a:ln>
        </p:spPr>
      </p:cxnSp>
      <p:cxnSp>
        <p:nvCxnSpPr>
          <p:cNvPr name="GraphCompose Table Cell Border" id="118"/>
          <p:cNvCxnSpPr/>
          <p:nvPr/>
        </p:nvCxnSpPr>
        <p:spPr>
          <a:xfrm>
            <a:off x="660400" y="6949345"/>
            <a:ext cx="0" cy="308927"/>
          </a:xfrm>
          <a:prstGeom prst="line">
            <a:avLst/>
          </a:prstGeom>
          <a:ln w="3810">
            <a:solidFill>
              <a:srgbClr val="1C2646"/>
            </a:solidFill>
          </a:ln>
        </p:spPr>
      </p:cxnSp>
      <p:cxnSp>
        <p:nvCxnSpPr>
          <p:cNvPr name="GraphCompose Table Cell Border" id="119"/>
          <p:cNvCxnSpPr/>
          <p:nvPr/>
        </p:nvCxnSpPr>
        <p:spPr>
          <a:xfrm>
            <a:off x="2006600" y="6949345"/>
            <a:ext cx="0" cy="308927"/>
          </a:xfrm>
          <a:prstGeom prst="line">
            <a:avLst/>
          </a:prstGeom>
          <a:ln w="3810">
            <a:solidFill>
              <a:srgbClr val="1C2646"/>
            </a:solidFill>
          </a:ln>
        </p:spPr>
      </p:cxnSp>
      <p:sp>
        <p:nvSpPr>
          <p:cNvPr name="GraphCompose Table Cell Text" id="120"/>
          <p:cNvSpPr txBox="true"/>
          <p:nvPr/>
        </p:nvSpPr>
        <p:spPr>
          <a:xfrm>
            <a:off x="762000" y="7029539"/>
            <a:ext cx="337884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00" b="true" i="false" u="none" strike="noStrike" kern="0">
                <a:solidFill>
                  <a:srgbClr val="FFFFFF"/>
                </a:solidFill>
                <a:latin typeface="Arial"/>
              </a:rPr>
              <a:t>Metric</a:t>
            </a:r>
            <a:endParaRPr lang="en-US" sz="1100"/>
          </a:p>
        </p:txBody>
      </p:sp>
      <p:cxnSp>
        <p:nvCxnSpPr>
          <p:cNvPr name="GraphCompose Table Cell Border" id="121"/>
          <p:cNvCxnSpPr/>
          <p:nvPr/>
        </p:nvCxnSpPr>
        <p:spPr>
          <a:xfrm>
            <a:off x="2004695" y="6949345"/>
            <a:ext cx="689610" cy="0"/>
          </a:xfrm>
          <a:prstGeom prst="line">
            <a:avLst/>
          </a:prstGeom>
          <a:ln w="3810">
            <a:solidFill>
              <a:srgbClr val="1C2646"/>
            </a:solidFill>
          </a:ln>
        </p:spPr>
      </p:cxnSp>
      <p:cxnSp>
        <p:nvCxnSpPr>
          <p:cNvPr name="GraphCompose Table Cell Border" id="122"/>
          <p:cNvCxnSpPr/>
          <p:nvPr/>
        </p:nvCxnSpPr>
        <p:spPr>
          <a:xfrm>
            <a:off x="2004695" y="7258272"/>
            <a:ext cx="689610" cy="0"/>
          </a:xfrm>
          <a:prstGeom prst="line">
            <a:avLst/>
          </a:prstGeom>
          <a:ln w="3810">
            <a:solidFill>
              <a:srgbClr val="1C2646"/>
            </a:solidFill>
          </a:ln>
        </p:spPr>
      </p:cxnSp>
      <p:cxnSp>
        <p:nvCxnSpPr>
          <p:cNvPr name="GraphCompose Table Cell Border" id="123"/>
          <p:cNvCxnSpPr/>
          <p:nvPr/>
        </p:nvCxnSpPr>
        <p:spPr>
          <a:xfrm>
            <a:off x="2692400" y="6949345"/>
            <a:ext cx="0" cy="308927"/>
          </a:xfrm>
          <a:prstGeom prst="line">
            <a:avLst/>
          </a:prstGeom>
          <a:ln w="3810">
            <a:solidFill>
              <a:srgbClr val="1C2646"/>
            </a:solidFill>
          </a:ln>
        </p:spPr>
      </p:cxnSp>
      <p:sp>
        <p:nvSpPr>
          <p:cNvPr name="GraphCompose Table Cell Text" id="124"/>
          <p:cNvSpPr txBox="true"/>
          <p:nvPr/>
        </p:nvSpPr>
        <p:spPr>
          <a:xfrm>
            <a:off x="2108200" y="7029539"/>
            <a:ext cx="439725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00" b="true" i="false" u="none" strike="noStrike" kern="0">
                <a:solidFill>
                  <a:srgbClr val="FFFFFF"/>
                </a:solidFill>
                <a:latin typeface="Arial"/>
              </a:rPr>
              <a:t>Q1 2023</a:t>
            </a:r>
            <a:endParaRPr lang="en-US" sz="1100"/>
          </a:p>
        </p:txBody>
      </p:sp>
      <p:cxnSp>
        <p:nvCxnSpPr>
          <p:cNvPr name="GraphCompose Table Cell Border" id="125"/>
          <p:cNvCxnSpPr/>
          <p:nvPr/>
        </p:nvCxnSpPr>
        <p:spPr>
          <a:xfrm>
            <a:off x="2690495" y="6949345"/>
            <a:ext cx="689610" cy="0"/>
          </a:xfrm>
          <a:prstGeom prst="line">
            <a:avLst/>
          </a:prstGeom>
          <a:ln w="3810">
            <a:solidFill>
              <a:srgbClr val="1C2646"/>
            </a:solidFill>
          </a:ln>
        </p:spPr>
      </p:cxnSp>
      <p:cxnSp>
        <p:nvCxnSpPr>
          <p:cNvPr name="GraphCompose Table Cell Border" id="126"/>
          <p:cNvCxnSpPr/>
          <p:nvPr/>
        </p:nvCxnSpPr>
        <p:spPr>
          <a:xfrm>
            <a:off x="2690495" y="7258272"/>
            <a:ext cx="689610" cy="0"/>
          </a:xfrm>
          <a:prstGeom prst="line">
            <a:avLst/>
          </a:prstGeom>
          <a:ln w="3810">
            <a:solidFill>
              <a:srgbClr val="1C2646"/>
            </a:solidFill>
          </a:ln>
        </p:spPr>
      </p:cxnSp>
      <p:cxnSp>
        <p:nvCxnSpPr>
          <p:cNvPr name="GraphCompose Table Cell Border" id="127"/>
          <p:cNvCxnSpPr/>
          <p:nvPr/>
        </p:nvCxnSpPr>
        <p:spPr>
          <a:xfrm>
            <a:off x="3378200" y="6949345"/>
            <a:ext cx="0" cy="308927"/>
          </a:xfrm>
          <a:prstGeom prst="line">
            <a:avLst/>
          </a:prstGeom>
          <a:ln w="3810">
            <a:solidFill>
              <a:srgbClr val="1C2646"/>
            </a:solidFill>
          </a:ln>
        </p:spPr>
      </p:cxnSp>
      <p:sp>
        <p:nvSpPr>
          <p:cNvPr name="GraphCompose Table Cell Text" id="128"/>
          <p:cNvSpPr txBox="true"/>
          <p:nvPr/>
        </p:nvSpPr>
        <p:spPr>
          <a:xfrm>
            <a:off x="2794000" y="7029539"/>
            <a:ext cx="439725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00" b="true" i="false" u="none" strike="noStrike" kern="0">
                <a:solidFill>
                  <a:srgbClr val="FFFFFF"/>
                </a:solidFill>
                <a:latin typeface="Arial"/>
              </a:rPr>
              <a:t>Q2 2023</a:t>
            </a:r>
            <a:endParaRPr lang="en-US" sz="1100"/>
          </a:p>
        </p:txBody>
      </p:sp>
      <p:cxnSp>
        <p:nvCxnSpPr>
          <p:cNvPr name="GraphCompose Table Cell Border" id="129"/>
          <p:cNvCxnSpPr/>
          <p:nvPr/>
        </p:nvCxnSpPr>
        <p:spPr>
          <a:xfrm>
            <a:off x="3376295" y="6949345"/>
            <a:ext cx="689610" cy="0"/>
          </a:xfrm>
          <a:prstGeom prst="line">
            <a:avLst/>
          </a:prstGeom>
          <a:ln w="3810">
            <a:solidFill>
              <a:srgbClr val="1C2646"/>
            </a:solidFill>
          </a:ln>
        </p:spPr>
      </p:cxnSp>
      <p:cxnSp>
        <p:nvCxnSpPr>
          <p:cNvPr name="GraphCompose Table Cell Border" id="130"/>
          <p:cNvCxnSpPr/>
          <p:nvPr/>
        </p:nvCxnSpPr>
        <p:spPr>
          <a:xfrm>
            <a:off x="3376295" y="7258272"/>
            <a:ext cx="689610" cy="0"/>
          </a:xfrm>
          <a:prstGeom prst="line">
            <a:avLst/>
          </a:prstGeom>
          <a:ln w="3810">
            <a:solidFill>
              <a:srgbClr val="1C2646"/>
            </a:solidFill>
          </a:ln>
        </p:spPr>
      </p:cxnSp>
      <p:cxnSp>
        <p:nvCxnSpPr>
          <p:cNvPr name="GraphCompose Table Cell Border" id="131"/>
          <p:cNvCxnSpPr/>
          <p:nvPr/>
        </p:nvCxnSpPr>
        <p:spPr>
          <a:xfrm>
            <a:off x="4064000" y="6949345"/>
            <a:ext cx="0" cy="308927"/>
          </a:xfrm>
          <a:prstGeom prst="line">
            <a:avLst/>
          </a:prstGeom>
          <a:ln w="3810">
            <a:solidFill>
              <a:srgbClr val="1C2646"/>
            </a:solidFill>
          </a:ln>
        </p:spPr>
      </p:cxnSp>
      <p:sp>
        <p:nvSpPr>
          <p:cNvPr name="GraphCompose Table Cell Text" id="132"/>
          <p:cNvSpPr txBox="true"/>
          <p:nvPr/>
        </p:nvSpPr>
        <p:spPr>
          <a:xfrm>
            <a:off x="3479800" y="7029539"/>
            <a:ext cx="439725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00" b="true" i="false" u="none" strike="noStrike" kern="0">
                <a:solidFill>
                  <a:srgbClr val="FFFFFF"/>
                </a:solidFill>
                <a:latin typeface="Arial"/>
              </a:rPr>
              <a:t>Q3 2023</a:t>
            </a:r>
            <a:endParaRPr lang="en-US" sz="1100"/>
          </a:p>
        </p:txBody>
      </p:sp>
      <p:cxnSp>
        <p:nvCxnSpPr>
          <p:cNvPr name="GraphCompose Table Cell Border" id="133"/>
          <p:cNvCxnSpPr/>
          <p:nvPr/>
        </p:nvCxnSpPr>
        <p:spPr>
          <a:xfrm>
            <a:off x="4062095" y="6949345"/>
            <a:ext cx="689610" cy="0"/>
          </a:xfrm>
          <a:prstGeom prst="line">
            <a:avLst/>
          </a:prstGeom>
          <a:ln w="3810">
            <a:solidFill>
              <a:srgbClr val="1C2646"/>
            </a:solidFill>
          </a:ln>
        </p:spPr>
      </p:cxnSp>
      <p:cxnSp>
        <p:nvCxnSpPr>
          <p:cNvPr name="GraphCompose Table Cell Border" id="134"/>
          <p:cNvCxnSpPr/>
          <p:nvPr/>
        </p:nvCxnSpPr>
        <p:spPr>
          <a:xfrm>
            <a:off x="4062095" y="7258272"/>
            <a:ext cx="689610" cy="0"/>
          </a:xfrm>
          <a:prstGeom prst="line">
            <a:avLst/>
          </a:prstGeom>
          <a:ln w="3810">
            <a:solidFill>
              <a:srgbClr val="1C2646"/>
            </a:solidFill>
          </a:ln>
        </p:spPr>
      </p:cxnSp>
      <p:cxnSp>
        <p:nvCxnSpPr>
          <p:cNvPr name="GraphCompose Table Cell Border" id="135"/>
          <p:cNvCxnSpPr/>
          <p:nvPr/>
        </p:nvCxnSpPr>
        <p:spPr>
          <a:xfrm>
            <a:off x="4749800" y="6949345"/>
            <a:ext cx="0" cy="308927"/>
          </a:xfrm>
          <a:prstGeom prst="line">
            <a:avLst/>
          </a:prstGeom>
          <a:ln w="3810">
            <a:solidFill>
              <a:srgbClr val="1C2646"/>
            </a:solidFill>
          </a:ln>
        </p:spPr>
      </p:cxnSp>
      <p:sp>
        <p:nvSpPr>
          <p:cNvPr name="GraphCompose Table Cell Text" id="136"/>
          <p:cNvSpPr txBox="true"/>
          <p:nvPr/>
        </p:nvSpPr>
        <p:spPr>
          <a:xfrm>
            <a:off x="4165600" y="7029539"/>
            <a:ext cx="439725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00" b="true" i="false" u="none" strike="noStrike" kern="0">
                <a:solidFill>
                  <a:srgbClr val="FFFFFF"/>
                </a:solidFill>
                <a:latin typeface="Arial"/>
              </a:rPr>
              <a:t>Q4 2023</a:t>
            </a:r>
            <a:endParaRPr lang="en-US" sz="1100"/>
          </a:p>
        </p:txBody>
      </p:sp>
      <p:cxnSp>
        <p:nvCxnSpPr>
          <p:cNvPr name="GraphCompose Table Cell Border" id="137"/>
          <p:cNvCxnSpPr/>
          <p:nvPr/>
        </p:nvCxnSpPr>
        <p:spPr>
          <a:xfrm>
            <a:off x="4747895" y="6949345"/>
            <a:ext cx="689610" cy="0"/>
          </a:xfrm>
          <a:prstGeom prst="line">
            <a:avLst/>
          </a:prstGeom>
          <a:ln w="3810">
            <a:solidFill>
              <a:srgbClr val="1C2646"/>
            </a:solidFill>
          </a:ln>
        </p:spPr>
      </p:cxnSp>
      <p:cxnSp>
        <p:nvCxnSpPr>
          <p:cNvPr name="GraphCompose Table Cell Border" id="138"/>
          <p:cNvCxnSpPr/>
          <p:nvPr/>
        </p:nvCxnSpPr>
        <p:spPr>
          <a:xfrm>
            <a:off x="4747895" y="7258272"/>
            <a:ext cx="689610" cy="0"/>
          </a:xfrm>
          <a:prstGeom prst="line">
            <a:avLst/>
          </a:prstGeom>
          <a:ln w="3810">
            <a:solidFill>
              <a:srgbClr val="1C2646"/>
            </a:solidFill>
          </a:ln>
        </p:spPr>
      </p:cxnSp>
      <p:cxnSp>
        <p:nvCxnSpPr>
          <p:cNvPr name="GraphCompose Table Cell Border" id="139"/>
          <p:cNvCxnSpPr/>
          <p:nvPr/>
        </p:nvCxnSpPr>
        <p:spPr>
          <a:xfrm>
            <a:off x="5435600" y="6949345"/>
            <a:ext cx="0" cy="308927"/>
          </a:xfrm>
          <a:prstGeom prst="line">
            <a:avLst/>
          </a:prstGeom>
          <a:ln w="3810">
            <a:solidFill>
              <a:srgbClr val="1C2646"/>
            </a:solidFill>
          </a:ln>
        </p:spPr>
      </p:cxnSp>
      <p:sp>
        <p:nvSpPr>
          <p:cNvPr name="GraphCompose Table Cell Text" id="140"/>
          <p:cNvSpPr txBox="true"/>
          <p:nvPr/>
        </p:nvSpPr>
        <p:spPr>
          <a:xfrm>
            <a:off x="4851400" y="7029539"/>
            <a:ext cx="439725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00" b="true" i="false" u="none" strike="noStrike" kern="0">
                <a:solidFill>
                  <a:srgbClr val="FFFFFF"/>
                </a:solidFill>
                <a:latin typeface="Arial"/>
              </a:rPr>
              <a:t>Q1 2024</a:t>
            </a:r>
            <a:endParaRPr lang="en-US" sz="1100"/>
          </a:p>
        </p:txBody>
      </p:sp>
      <p:cxnSp>
        <p:nvCxnSpPr>
          <p:cNvPr name="GraphCompose Table Cell Border" id="141"/>
          <p:cNvCxnSpPr/>
          <p:nvPr/>
        </p:nvCxnSpPr>
        <p:spPr>
          <a:xfrm>
            <a:off x="5433695" y="6949345"/>
            <a:ext cx="916305" cy="0"/>
          </a:xfrm>
          <a:prstGeom prst="line">
            <a:avLst/>
          </a:prstGeom>
          <a:ln w="3810">
            <a:solidFill>
              <a:srgbClr val="1C2646"/>
            </a:solidFill>
          </a:ln>
        </p:spPr>
      </p:cxnSp>
      <p:cxnSp>
        <p:nvCxnSpPr>
          <p:cNvPr name="GraphCompose Table Cell Border" id="142"/>
          <p:cNvCxnSpPr/>
          <p:nvPr/>
        </p:nvCxnSpPr>
        <p:spPr>
          <a:xfrm>
            <a:off x="5433695" y="7258272"/>
            <a:ext cx="916305" cy="0"/>
          </a:xfrm>
          <a:prstGeom prst="line">
            <a:avLst/>
          </a:prstGeom>
          <a:ln w="3810">
            <a:solidFill>
              <a:srgbClr val="1C2646"/>
            </a:solidFill>
          </a:ln>
        </p:spPr>
      </p:cxnSp>
      <p:cxnSp>
        <p:nvCxnSpPr>
          <p:cNvPr name="GraphCompose Table Cell Border" id="143"/>
          <p:cNvCxnSpPr/>
          <p:nvPr/>
        </p:nvCxnSpPr>
        <p:spPr>
          <a:xfrm>
            <a:off x="6350000" y="6949345"/>
            <a:ext cx="0" cy="308927"/>
          </a:xfrm>
          <a:prstGeom prst="line">
            <a:avLst/>
          </a:prstGeom>
          <a:ln w="3810">
            <a:solidFill>
              <a:srgbClr val="1C2646"/>
            </a:solidFill>
          </a:ln>
        </p:spPr>
      </p:cxnSp>
      <p:sp>
        <p:nvSpPr>
          <p:cNvPr name="GraphCompose Table Cell Text" id="144"/>
          <p:cNvSpPr txBox="true"/>
          <p:nvPr/>
        </p:nvSpPr>
        <p:spPr>
          <a:xfrm>
            <a:off x="5537200" y="7029539"/>
            <a:ext cx="674497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00" b="true" i="false" u="none" strike="noStrike" kern="0">
                <a:solidFill>
                  <a:srgbClr val="FFFFFF"/>
                </a:solidFill>
                <a:latin typeface="Arial"/>
              </a:rPr>
              <a:t>YoY Change</a:t>
            </a:r>
            <a:endParaRPr lang="en-US" sz="1100"/>
          </a:p>
        </p:txBody>
      </p:sp>
      <p:cxnSp>
        <p:nvCxnSpPr>
          <p:cNvPr name="GraphCompose Table Cell Border" id="145"/>
          <p:cNvCxnSpPr/>
          <p:nvPr/>
        </p:nvCxnSpPr>
        <p:spPr>
          <a:xfrm>
            <a:off x="660400" y="7573073"/>
            <a:ext cx="1348105" cy="0"/>
          </a:xfrm>
          <a:prstGeom prst="line">
            <a:avLst/>
          </a:prstGeom>
          <a:ln w="3810">
            <a:solidFill>
              <a:srgbClr val="D4D7DE"/>
            </a:solidFill>
          </a:ln>
        </p:spPr>
      </p:cxnSp>
      <p:cxnSp>
        <p:nvCxnSpPr>
          <p:cNvPr name="GraphCompose Table Cell Border" id="146"/>
          <p:cNvCxnSpPr/>
          <p:nvPr/>
        </p:nvCxnSpPr>
        <p:spPr>
          <a:xfrm>
            <a:off x="660400" y="7258272"/>
            <a:ext cx="0" cy="314801"/>
          </a:xfrm>
          <a:prstGeom prst="line">
            <a:avLst/>
          </a:prstGeom>
          <a:ln w="3810">
            <a:solidFill>
              <a:srgbClr val="D4D7DE"/>
            </a:solidFill>
          </a:ln>
        </p:spPr>
      </p:cxnSp>
      <p:cxnSp>
        <p:nvCxnSpPr>
          <p:cNvPr name="GraphCompose Table Cell Border" id="147"/>
          <p:cNvCxnSpPr/>
          <p:nvPr/>
        </p:nvCxnSpPr>
        <p:spPr>
          <a:xfrm>
            <a:off x="2006600" y="7258272"/>
            <a:ext cx="0" cy="314801"/>
          </a:xfrm>
          <a:prstGeom prst="line">
            <a:avLst/>
          </a:prstGeom>
          <a:ln w="3810">
            <a:solidFill>
              <a:srgbClr val="D4D7DE"/>
            </a:solidFill>
          </a:ln>
        </p:spPr>
      </p:cxnSp>
      <p:sp>
        <p:nvSpPr>
          <p:cNvPr name="GraphCompose Table Cell Text" id="148"/>
          <p:cNvSpPr txBox="true"/>
          <p:nvPr/>
        </p:nvSpPr>
        <p:spPr>
          <a:xfrm>
            <a:off x="762000" y="7337278"/>
            <a:ext cx="698506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1C2030"/>
                </a:solidFill>
                <a:latin typeface="Arial"/>
              </a:rPr>
              <a:t>Revenue (M)</a:t>
            </a:r>
            <a:endParaRPr lang="en-US" sz="1100"/>
          </a:p>
        </p:txBody>
      </p:sp>
      <p:cxnSp>
        <p:nvCxnSpPr>
          <p:cNvPr name="GraphCompose Table Cell Border" id="149"/>
          <p:cNvCxnSpPr/>
          <p:nvPr/>
        </p:nvCxnSpPr>
        <p:spPr>
          <a:xfrm>
            <a:off x="2004695" y="7573073"/>
            <a:ext cx="689610" cy="0"/>
          </a:xfrm>
          <a:prstGeom prst="line">
            <a:avLst/>
          </a:prstGeom>
          <a:ln w="3810">
            <a:solidFill>
              <a:srgbClr val="D4D7DE"/>
            </a:solidFill>
          </a:ln>
        </p:spPr>
      </p:cxnSp>
      <p:cxnSp>
        <p:nvCxnSpPr>
          <p:cNvPr name="GraphCompose Table Cell Border" id="150"/>
          <p:cNvCxnSpPr/>
          <p:nvPr/>
        </p:nvCxnSpPr>
        <p:spPr>
          <a:xfrm>
            <a:off x="2692400" y="7258272"/>
            <a:ext cx="0" cy="314801"/>
          </a:xfrm>
          <a:prstGeom prst="line">
            <a:avLst/>
          </a:prstGeom>
          <a:ln w="3810">
            <a:solidFill>
              <a:srgbClr val="D4D7DE"/>
            </a:solidFill>
          </a:ln>
        </p:spPr>
      </p:cxnSp>
      <p:sp>
        <p:nvSpPr>
          <p:cNvPr name="GraphCompose Table Cell Text" id="151"/>
          <p:cNvSpPr txBox="true"/>
          <p:nvPr/>
        </p:nvSpPr>
        <p:spPr>
          <a:xfrm>
            <a:off x="2108200" y="7337278"/>
            <a:ext cx="236055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1C2030"/>
                </a:solidFill>
                <a:latin typeface="Arial"/>
              </a:rPr>
              <a:t>65.2</a:t>
            </a:r>
            <a:endParaRPr lang="en-US" sz="1100"/>
          </a:p>
        </p:txBody>
      </p:sp>
      <p:cxnSp>
        <p:nvCxnSpPr>
          <p:cNvPr name="GraphCompose Table Cell Border" id="152"/>
          <p:cNvCxnSpPr/>
          <p:nvPr/>
        </p:nvCxnSpPr>
        <p:spPr>
          <a:xfrm>
            <a:off x="2690495" y="7573073"/>
            <a:ext cx="689610" cy="0"/>
          </a:xfrm>
          <a:prstGeom prst="line">
            <a:avLst/>
          </a:prstGeom>
          <a:ln w="3810">
            <a:solidFill>
              <a:srgbClr val="D4D7DE"/>
            </a:solidFill>
          </a:ln>
        </p:spPr>
      </p:cxnSp>
      <p:cxnSp>
        <p:nvCxnSpPr>
          <p:cNvPr name="GraphCompose Table Cell Border" id="153"/>
          <p:cNvCxnSpPr/>
          <p:nvPr/>
        </p:nvCxnSpPr>
        <p:spPr>
          <a:xfrm>
            <a:off x="3378200" y="7258272"/>
            <a:ext cx="0" cy="314801"/>
          </a:xfrm>
          <a:prstGeom prst="line">
            <a:avLst/>
          </a:prstGeom>
          <a:ln w="3810">
            <a:solidFill>
              <a:srgbClr val="D4D7DE"/>
            </a:solidFill>
          </a:ln>
        </p:spPr>
      </p:cxnSp>
      <p:sp>
        <p:nvSpPr>
          <p:cNvPr name="GraphCompose Table Cell Text" id="154"/>
          <p:cNvSpPr txBox="true"/>
          <p:nvPr/>
        </p:nvSpPr>
        <p:spPr>
          <a:xfrm>
            <a:off x="2794000" y="7337278"/>
            <a:ext cx="236055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1C2030"/>
                </a:solidFill>
                <a:latin typeface="Arial"/>
              </a:rPr>
              <a:t>69.8</a:t>
            </a:r>
            <a:endParaRPr lang="en-US" sz="1100"/>
          </a:p>
        </p:txBody>
      </p:sp>
      <p:cxnSp>
        <p:nvCxnSpPr>
          <p:cNvPr name="GraphCompose Table Cell Border" id="155"/>
          <p:cNvCxnSpPr/>
          <p:nvPr/>
        </p:nvCxnSpPr>
        <p:spPr>
          <a:xfrm>
            <a:off x="3376295" y="7573073"/>
            <a:ext cx="689610" cy="0"/>
          </a:xfrm>
          <a:prstGeom prst="line">
            <a:avLst/>
          </a:prstGeom>
          <a:ln w="3810">
            <a:solidFill>
              <a:srgbClr val="D4D7DE"/>
            </a:solidFill>
          </a:ln>
        </p:spPr>
      </p:cxnSp>
      <p:cxnSp>
        <p:nvCxnSpPr>
          <p:cNvPr name="GraphCompose Table Cell Border" id="156"/>
          <p:cNvCxnSpPr/>
          <p:nvPr/>
        </p:nvCxnSpPr>
        <p:spPr>
          <a:xfrm>
            <a:off x="4064000" y="7258272"/>
            <a:ext cx="0" cy="314801"/>
          </a:xfrm>
          <a:prstGeom prst="line">
            <a:avLst/>
          </a:prstGeom>
          <a:ln w="3810">
            <a:solidFill>
              <a:srgbClr val="D4D7DE"/>
            </a:solidFill>
          </a:ln>
        </p:spPr>
      </p:cxnSp>
      <p:sp>
        <p:nvSpPr>
          <p:cNvPr name="GraphCompose Table Cell Text" id="157"/>
          <p:cNvSpPr txBox="true"/>
          <p:nvPr/>
        </p:nvSpPr>
        <p:spPr>
          <a:xfrm>
            <a:off x="3479800" y="7337278"/>
            <a:ext cx="236055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1C2030"/>
                </a:solidFill>
                <a:latin typeface="Arial"/>
              </a:rPr>
              <a:t>74.1</a:t>
            </a:r>
            <a:endParaRPr lang="en-US" sz="1100"/>
          </a:p>
        </p:txBody>
      </p:sp>
      <p:cxnSp>
        <p:nvCxnSpPr>
          <p:cNvPr name="GraphCompose Table Cell Border" id="158"/>
          <p:cNvCxnSpPr/>
          <p:nvPr/>
        </p:nvCxnSpPr>
        <p:spPr>
          <a:xfrm>
            <a:off x="4062095" y="7573073"/>
            <a:ext cx="689610" cy="0"/>
          </a:xfrm>
          <a:prstGeom prst="line">
            <a:avLst/>
          </a:prstGeom>
          <a:ln w="3810">
            <a:solidFill>
              <a:srgbClr val="D4D7DE"/>
            </a:solidFill>
          </a:ln>
        </p:spPr>
      </p:cxnSp>
      <p:cxnSp>
        <p:nvCxnSpPr>
          <p:cNvPr name="GraphCompose Table Cell Border" id="159"/>
          <p:cNvCxnSpPr/>
          <p:nvPr/>
        </p:nvCxnSpPr>
        <p:spPr>
          <a:xfrm>
            <a:off x="4749800" y="7258272"/>
            <a:ext cx="0" cy="314801"/>
          </a:xfrm>
          <a:prstGeom prst="line">
            <a:avLst/>
          </a:prstGeom>
          <a:ln w="3810">
            <a:solidFill>
              <a:srgbClr val="D4D7DE"/>
            </a:solidFill>
          </a:ln>
        </p:spPr>
      </p:cxnSp>
      <p:sp>
        <p:nvSpPr>
          <p:cNvPr name="GraphCompose Table Cell Text" id="160"/>
          <p:cNvSpPr txBox="true"/>
          <p:nvPr/>
        </p:nvSpPr>
        <p:spPr>
          <a:xfrm>
            <a:off x="4165600" y="7337278"/>
            <a:ext cx="236055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1C2030"/>
                </a:solidFill>
                <a:latin typeface="Arial"/>
              </a:rPr>
              <a:t>81.3</a:t>
            </a:r>
            <a:endParaRPr lang="en-US" sz="1100"/>
          </a:p>
        </p:txBody>
      </p:sp>
      <p:cxnSp>
        <p:nvCxnSpPr>
          <p:cNvPr name="GraphCompose Table Cell Border" id="161"/>
          <p:cNvCxnSpPr/>
          <p:nvPr/>
        </p:nvCxnSpPr>
        <p:spPr>
          <a:xfrm>
            <a:off x="4747895" y="7573073"/>
            <a:ext cx="689610" cy="0"/>
          </a:xfrm>
          <a:prstGeom prst="line">
            <a:avLst/>
          </a:prstGeom>
          <a:ln w="3810">
            <a:solidFill>
              <a:srgbClr val="D4D7DE"/>
            </a:solidFill>
          </a:ln>
        </p:spPr>
      </p:cxnSp>
      <p:cxnSp>
        <p:nvCxnSpPr>
          <p:cNvPr name="GraphCompose Table Cell Border" id="162"/>
          <p:cNvCxnSpPr/>
          <p:nvPr/>
        </p:nvCxnSpPr>
        <p:spPr>
          <a:xfrm>
            <a:off x="5435600" y="7258272"/>
            <a:ext cx="0" cy="314801"/>
          </a:xfrm>
          <a:prstGeom prst="line">
            <a:avLst/>
          </a:prstGeom>
          <a:ln w="3810">
            <a:solidFill>
              <a:srgbClr val="D4D7DE"/>
            </a:solidFill>
          </a:ln>
        </p:spPr>
      </p:cxnSp>
      <p:sp>
        <p:nvSpPr>
          <p:cNvPr name="GraphCompose Table Cell Text" id="163"/>
          <p:cNvSpPr txBox="true"/>
          <p:nvPr/>
        </p:nvSpPr>
        <p:spPr>
          <a:xfrm>
            <a:off x="4851400" y="7337278"/>
            <a:ext cx="236055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1C2030"/>
                </a:solidFill>
                <a:latin typeface="Arial"/>
              </a:rPr>
              <a:t>88.2</a:t>
            </a:r>
            <a:endParaRPr lang="en-US" sz="1100"/>
          </a:p>
        </p:txBody>
      </p:sp>
      <p:cxnSp>
        <p:nvCxnSpPr>
          <p:cNvPr name="GraphCompose Table Cell Border" id="164"/>
          <p:cNvCxnSpPr/>
          <p:nvPr/>
        </p:nvCxnSpPr>
        <p:spPr>
          <a:xfrm>
            <a:off x="5433695" y="7573073"/>
            <a:ext cx="916305" cy="0"/>
          </a:xfrm>
          <a:prstGeom prst="line">
            <a:avLst/>
          </a:prstGeom>
          <a:ln w="3810">
            <a:solidFill>
              <a:srgbClr val="D4D7DE"/>
            </a:solidFill>
          </a:ln>
        </p:spPr>
      </p:cxnSp>
      <p:cxnSp>
        <p:nvCxnSpPr>
          <p:cNvPr name="GraphCompose Table Cell Border" id="165"/>
          <p:cNvCxnSpPr/>
          <p:nvPr/>
        </p:nvCxnSpPr>
        <p:spPr>
          <a:xfrm>
            <a:off x="6350000" y="7258272"/>
            <a:ext cx="0" cy="314801"/>
          </a:xfrm>
          <a:prstGeom prst="line">
            <a:avLst/>
          </a:prstGeom>
          <a:ln w="3810">
            <a:solidFill>
              <a:srgbClr val="D4D7DE"/>
            </a:solidFill>
          </a:ln>
        </p:spPr>
      </p:cxnSp>
      <p:sp>
        <p:nvSpPr>
          <p:cNvPr name="GraphCompose Table Cell Text" id="166"/>
          <p:cNvSpPr txBox="true"/>
          <p:nvPr/>
        </p:nvSpPr>
        <p:spPr>
          <a:xfrm>
            <a:off x="5537200" y="7337278"/>
            <a:ext cx="413772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1C2030"/>
                </a:solidFill>
                <a:latin typeface="Arial"/>
              </a:rPr>
              <a:t>+35.3%</a:t>
            </a:r>
            <a:endParaRPr lang="en-US" sz="1100"/>
          </a:p>
        </p:txBody>
      </p:sp>
      <p:cxnSp>
        <p:nvCxnSpPr>
          <p:cNvPr name="GraphCompose Table Cell Border" id="167"/>
          <p:cNvCxnSpPr/>
          <p:nvPr/>
        </p:nvCxnSpPr>
        <p:spPr>
          <a:xfrm>
            <a:off x="660400" y="7887875"/>
            <a:ext cx="1348105" cy="0"/>
          </a:xfrm>
          <a:prstGeom prst="line">
            <a:avLst/>
          </a:prstGeom>
          <a:ln w="3810">
            <a:solidFill>
              <a:srgbClr val="D4D7DE"/>
            </a:solidFill>
          </a:ln>
        </p:spPr>
      </p:cxnSp>
      <p:cxnSp>
        <p:nvCxnSpPr>
          <p:cNvPr name="GraphCompose Table Cell Border" id="168"/>
          <p:cNvCxnSpPr/>
          <p:nvPr/>
        </p:nvCxnSpPr>
        <p:spPr>
          <a:xfrm>
            <a:off x="660400" y="7573073"/>
            <a:ext cx="0" cy="314801"/>
          </a:xfrm>
          <a:prstGeom prst="line">
            <a:avLst/>
          </a:prstGeom>
          <a:ln w="3810">
            <a:solidFill>
              <a:srgbClr val="D4D7DE"/>
            </a:solidFill>
          </a:ln>
        </p:spPr>
      </p:cxnSp>
      <p:cxnSp>
        <p:nvCxnSpPr>
          <p:cNvPr name="GraphCompose Table Cell Border" id="169"/>
          <p:cNvCxnSpPr/>
          <p:nvPr/>
        </p:nvCxnSpPr>
        <p:spPr>
          <a:xfrm>
            <a:off x="2006600" y="7573073"/>
            <a:ext cx="0" cy="314801"/>
          </a:xfrm>
          <a:prstGeom prst="line">
            <a:avLst/>
          </a:prstGeom>
          <a:ln w="3810">
            <a:solidFill>
              <a:srgbClr val="D4D7DE"/>
            </a:solidFill>
          </a:ln>
        </p:spPr>
      </p:cxnSp>
      <p:sp>
        <p:nvSpPr>
          <p:cNvPr name="GraphCompose Table Cell Text" id="170"/>
          <p:cNvSpPr txBox="true"/>
          <p:nvPr/>
        </p:nvSpPr>
        <p:spPr>
          <a:xfrm>
            <a:off x="762000" y="7652079"/>
            <a:ext cx="852576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1C2030"/>
                </a:solidFill>
                <a:latin typeface="Arial"/>
              </a:rPr>
              <a:t>Gross Profit (M)</a:t>
            </a:r>
            <a:endParaRPr lang="en-US" sz="1100"/>
          </a:p>
        </p:txBody>
      </p:sp>
      <p:cxnSp>
        <p:nvCxnSpPr>
          <p:cNvPr name="GraphCompose Table Cell Border" id="171"/>
          <p:cNvCxnSpPr/>
          <p:nvPr/>
        </p:nvCxnSpPr>
        <p:spPr>
          <a:xfrm>
            <a:off x="2004695" y="7887875"/>
            <a:ext cx="689610" cy="0"/>
          </a:xfrm>
          <a:prstGeom prst="line">
            <a:avLst/>
          </a:prstGeom>
          <a:ln w="3810">
            <a:solidFill>
              <a:srgbClr val="D4D7DE"/>
            </a:solidFill>
          </a:ln>
        </p:spPr>
      </p:cxnSp>
      <p:cxnSp>
        <p:nvCxnSpPr>
          <p:cNvPr name="GraphCompose Table Cell Border" id="172"/>
          <p:cNvCxnSpPr/>
          <p:nvPr/>
        </p:nvCxnSpPr>
        <p:spPr>
          <a:xfrm>
            <a:off x="2692400" y="7573073"/>
            <a:ext cx="0" cy="314801"/>
          </a:xfrm>
          <a:prstGeom prst="line">
            <a:avLst/>
          </a:prstGeom>
          <a:ln w="3810">
            <a:solidFill>
              <a:srgbClr val="D4D7DE"/>
            </a:solidFill>
          </a:ln>
        </p:spPr>
      </p:cxnSp>
      <p:sp>
        <p:nvSpPr>
          <p:cNvPr name="GraphCompose Table Cell Text" id="173"/>
          <p:cNvSpPr txBox="true"/>
          <p:nvPr/>
        </p:nvSpPr>
        <p:spPr>
          <a:xfrm>
            <a:off x="2108200" y="7652079"/>
            <a:ext cx="236055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1C2030"/>
                </a:solidFill>
                <a:latin typeface="Arial"/>
              </a:rPr>
              <a:t>28.1</a:t>
            </a:r>
            <a:endParaRPr lang="en-US" sz="1100"/>
          </a:p>
        </p:txBody>
      </p:sp>
      <p:cxnSp>
        <p:nvCxnSpPr>
          <p:cNvPr name="GraphCompose Table Cell Border" id="174"/>
          <p:cNvCxnSpPr/>
          <p:nvPr/>
        </p:nvCxnSpPr>
        <p:spPr>
          <a:xfrm>
            <a:off x="2690495" y="7887875"/>
            <a:ext cx="689610" cy="0"/>
          </a:xfrm>
          <a:prstGeom prst="line">
            <a:avLst/>
          </a:prstGeom>
          <a:ln w="3810">
            <a:solidFill>
              <a:srgbClr val="D4D7DE"/>
            </a:solidFill>
          </a:ln>
        </p:spPr>
      </p:cxnSp>
      <p:cxnSp>
        <p:nvCxnSpPr>
          <p:cNvPr name="GraphCompose Table Cell Border" id="175"/>
          <p:cNvCxnSpPr/>
          <p:nvPr/>
        </p:nvCxnSpPr>
        <p:spPr>
          <a:xfrm>
            <a:off x="3378200" y="7573073"/>
            <a:ext cx="0" cy="314801"/>
          </a:xfrm>
          <a:prstGeom prst="line">
            <a:avLst/>
          </a:prstGeom>
          <a:ln w="3810">
            <a:solidFill>
              <a:srgbClr val="D4D7DE"/>
            </a:solidFill>
          </a:ln>
        </p:spPr>
      </p:cxnSp>
      <p:sp>
        <p:nvSpPr>
          <p:cNvPr name="GraphCompose Table Cell Text" id="176"/>
          <p:cNvSpPr txBox="true"/>
          <p:nvPr/>
        </p:nvSpPr>
        <p:spPr>
          <a:xfrm>
            <a:off x="2794000" y="7652079"/>
            <a:ext cx="236055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1C2030"/>
                </a:solidFill>
                <a:latin typeface="Arial"/>
              </a:rPr>
              <a:t>30.7</a:t>
            </a:r>
            <a:endParaRPr lang="en-US" sz="1100"/>
          </a:p>
        </p:txBody>
      </p:sp>
      <p:cxnSp>
        <p:nvCxnSpPr>
          <p:cNvPr name="GraphCompose Table Cell Border" id="177"/>
          <p:cNvCxnSpPr/>
          <p:nvPr/>
        </p:nvCxnSpPr>
        <p:spPr>
          <a:xfrm>
            <a:off x="3376295" y="7887875"/>
            <a:ext cx="689610" cy="0"/>
          </a:xfrm>
          <a:prstGeom prst="line">
            <a:avLst/>
          </a:prstGeom>
          <a:ln w="3810">
            <a:solidFill>
              <a:srgbClr val="D4D7DE"/>
            </a:solidFill>
          </a:ln>
        </p:spPr>
      </p:cxnSp>
      <p:cxnSp>
        <p:nvCxnSpPr>
          <p:cNvPr name="GraphCompose Table Cell Border" id="178"/>
          <p:cNvCxnSpPr/>
          <p:nvPr/>
        </p:nvCxnSpPr>
        <p:spPr>
          <a:xfrm>
            <a:off x="4064000" y="7573073"/>
            <a:ext cx="0" cy="314801"/>
          </a:xfrm>
          <a:prstGeom prst="line">
            <a:avLst/>
          </a:prstGeom>
          <a:ln w="3810">
            <a:solidFill>
              <a:srgbClr val="D4D7DE"/>
            </a:solidFill>
          </a:ln>
        </p:spPr>
      </p:cxnSp>
      <p:sp>
        <p:nvSpPr>
          <p:cNvPr name="GraphCompose Table Cell Text" id="179"/>
          <p:cNvSpPr txBox="true"/>
          <p:nvPr/>
        </p:nvSpPr>
        <p:spPr>
          <a:xfrm>
            <a:off x="3479800" y="7652079"/>
            <a:ext cx="236055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1C2030"/>
                </a:solidFill>
                <a:latin typeface="Arial"/>
              </a:rPr>
              <a:t>32.9</a:t>
            </a:r>
            <a:endParaRPr lang="en-US" sz="1100"/>
          </a:p>
        </p:txBody>
      </p:sp>
      <p:cxnSp>
        <p:nvCxnSpPr>
          <p:cNvPr name="GraphCompose Table Cell Border" id="180"/>
          <p:cNvCxnSpPr/>
          <p:nvPr/>
        </p:nvCxnSpPr>
        <p:spPr>
          <a:xfrm>
            <a:off x="4062095" y="7887875"/>
            <a:ext cx="689610" cy="0"/>
          </a:xfrm>
          <a:prstGeom prst="line">
            <a:avLst/>
          </a:prstGeom>
          <a:ln w="3810">
            <a:solidFill>
              <a:srgbClr val="D4D7DE"/>
            </a:solidFill>
          </a:ln>
        </p:spPr>
      </p:cxnSp>
      <p:cxnSp>
        <p:nvCxnSpPr>
          <p:cNvPr name="GraphCompose Table Cell Border" id="181"/>
          <p:cNvCxnSpPr/>
          <p:nvPr/>
        </p:nvCxnSpPr>
        <p:spPr>
          <a:xfrm>
            <a:off x="4749800" y="7573073"/>
            <a:ext cx="0" cy="314801"/>
          </a:xfrm>
          <a:prstGeom prst="line">
            <a:avLst/>
          </a:prstGeom>
          <a:ln w="3810">
            <a:solidFill>
              <a:srgbClr val="D4D7DE"/>
            </a:solidFill>
          </a:ln>
        </p:spPr>
      </p:cxnSp>
      <p:sp>
        <p:nvSpPr>
          <p:cNvPr name="GraphCompose Table Cell Text" id="182"/>
          <p:cNvSpPr txBox="true"/>
          <p:nvPr/>
        </p:nvSpPr>
        <p:spPr>
          <a:xfrm>
            <a:off x="4165600" y="7652079"/>
            <a:ext cx="236055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1C2030"/>
                </a:solidFill>
                <a:latin typeface="Arial"/>
              </a:rPr>
              <a:t>36.4</a:t>
            </a:r>
            <a:endParaRPr lang="en-US" sz="1100"/>
          </a:p>
        </p:txBody>
      </p:sp>
      <p:cxnSp>
        <p:nvCxnSpPr>
          <p:cNvPr name="GraphCompose Table Cell Border" id="183"/>
          <p:cNvCxnSpPr/>
          <p:nvPr/>
        </p:nvCxnSpPr>
        <p:spPr>
          <a:xfrm>
            <a:off x="4747895" y="7887875"/>
            <a:ext cx="689610" cy="0"/>
          </a:xfrm>
          <a:prstGeom prst="line">
            <a:avLst/>
          </a:prstGeom>
          <a:ln w="3810">
            <a:solidFill>
              <a:srgbClr val="D4D7DE"/>
            </a:solidFill>
          </a:ln>
        </p:spPr>
      </p:cxnSp>
      <p:cxnSp>
        <p:nvCxnSpPr>
          <p:cNvPr name="GraphCompose Table Cell Border" id="184"/>
          <p:cNvCxnSpPr/>
          <p:nvPr/>
        </p:nvCxnSpPr>
        <p:spPr>
          <a:xfrm>
            <a:off x="5435600" y="7573073"/>
            <a:ext cx="0" cy="314801"/>
          </a:xfrm>
          <a:prstGeom prst="line">
            <a:avLst/>
          </a:prstGeom>
          <a:ln w="3810">
            <a:solidFill>
              <a:srgbClr val="D4D7DE"/>
            </a:solidFill>
          </a:ln>
        </p:spPr>
      </p:cxnSp>
      <p:sp>
        <p:nvSpPr>
          <p:cNvPr name="GraphCompose Table Cell Text" id="185"/>
          <p:cNvSpPr txBox="true"/>
          <p:nvPr/>
        </p:nvSpPr>
        <p:spPr>
          <a:xfrm>
            <a:off x="4851400" y="7652079"/>
            <a:ext cx="236055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1C2030"/>
                </a:solidFill>
                <a:latin typeface="Arial"/>
              </a:rPr>
              <a:t>39.5</a:t>
            </a:r>
            <a:endParaRPr lang="en-US" sz="1100"/>
          </a:p>
        </p:txBody>
      </p:sp>
      <p:cxnSp>
        <p:nvCxnSpPr>
          <p:cNvPr name="GraphCompose Table Cell Border" id="186"/>
          <p:cNvCxnSpPr/>
          <p:nvPr/>
        </p:nvCxnSpPr>
        <p:spPr>
          <a:xfrm>
            <a:off x="5433695" y="7887875"/>
            <a:ext cx="916305" cy="0"/>
          </a:xfrm>
          <a:prstGeom prst="line">
            <a:avLst/>
          </a:prstGeom>
          <a:ln w="3810">
            <a:solidFill>
              <a:srgbClr val="D4D7DE"/>
            </a:solidFill>
          </a:ln>
        </p:spPr>
      </p:cxnSp>
      <p:cxnSp>
        <p:nvCxnSpPr>
          <p:cNvPr name="GraphCompose Table Cell Border" id="187"/>
          <p:cNvCxnSpPr/>
          <p:nvPr/>
        </p:nvCxnSpPr>
        <p:spPr>
          <a:xfrm>
            <a:off x="6350000" y="7573073"/>
            <a:ext cx="0" cy="314801"/>
          </a:xfrm>
          <a:prstGeom prst="line">
            <a:avLst/>
          </a:prstGeom>
          <a:ln w="3810">
            <a:solidFill>
              <a:srgbClr val="D4D7DE"/>
            </a:solidFill>
          </a:ln>
        </p:spPr>
      </p:cxnSp>
      <p:sp>
        <p:nvSpPr>
          <p:cNvPr name="GraphCompose Table Cell Text" id="188"/>
          <p:cNvSpPr txBox="true"/>
          <p:nvPr/>
        </p:nvSpPr>
        <p:spPr>
          <a:xfrm>
            <a:off x="5537200" y="7652079"/>
            <a:ext cx="413772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1C2030"/>
                </a:solidFill>
                <a:latin typeface="Arial"/>
              </a:rPr>
              <a:t>+40.6%</a:t>
            </a:r>
            <a:endParaRPr lang="en-US" sz="1100"/>
          </a:p>
        </p:txBody>
      </p:sp>
      <p:cxnSp>
        <p:nvCxnSpPr>
          <p:cNvPr name="GraphCompose Table Cell Border" id="189"/>
          <p:cNvCxnSpPr/>
          <p:nvPr/>
        </p:nvCxnSpPr>
        <p:spPr>
          <a:xfrm>
            <a:off x="660400" y="8202676"/>
            <a:ext cx="1348105" cy="0"/>
          </a:xfrm>
          <a:prstGeom prst="line">
            <a:avLst/>
          </a:prstGeom>
          <a:ln w="3810">
            <a:solidFill>
              <a:srgbClr val="D4D7DE"/>
            </a:solidFill>
          </a:ln>
        </p:spPr>
      </p:cxnSp>
      <p:cxnSp>
        <p:nvCxnSpPr>
          <p:cNvPr name="GraphCompose Table Cell Border" id="190"/>
          <p:cNvCxnSpPr/>
          <p:nvPr/>
        </p:nvCxnSpPr>
        <p:spPr>
          <a:xfrm>
            <a:off x="660400" y="7887875"/>
            <a:ext cx="0" cy="314801"/>
          </a:xfrm>
          <a:prstGeom prst="line">
            <a:avLst/>
          </a:prstGeom>
          <a:ln w="3810">
            <a:solidFill>
              <a:srgbClr val="D4D7DE"/>
            </a:solidFill>
          </a:ln>
        </p:spPr>
      </p:cxnSp>
      <p:cxnSp>
        <p:nvCxnSpPr>
          <p:cNvPr name="GraphCompose Table Cell Border" id="191"/>
          <p:cNvCxnSpPr/>
          <p:nvPr/>
        </p:nvCxnSpPr>
        <p:spPr>
          <a:xfrm>
            <a:off x="2006600" y="7887875"/>
            <a:ext cx="0" cy="314801"/>
          </a:xfrm>
          <a:prstGeom prst="line">
            <a:avLst/>
          </a:prstGeom>
          <a:ln w="3810">
            <a:solidFill>
              <a:srgbClr val="D4D7DE"/>
            </a:solidFill>
          </a:ln>
        </p:spPr>
      </p:cxnSp>
      <p:sp>
        <p:nvSpPr>
          <p:cNvPr name="GraphCompose Table Cell Text" id="192"/>
          <p:cNvSpPr txBox="true"/>
          <p:nvPr/>
        </p:nvSpPr>
        <p:spPr>
          <a:xfrm>
            <a:off x="762000" y="7966880"/>
            <a:ext cx="584492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1C2030"/>
                </a:solidFill>
                <a:latin typeface="Arial"/>
              </a:rPr>
              <a:t>Customers</a:t>
            </a:r>
            <a:endParaRPr lang="en-US" sz="1100"/>
          </a:p>
        </p:txBody>
      </p:sp>
      <p:cxnSp>
        <p:nvCxnSpPr>
          <p:cNvPr name="GraphCompose Table Cell Border" id="193"/>
          <p:cNvCxnSpPr/>
          <p:nvPr/>
        </p:nvCxnSpPr>
        <p:spPr>
          <a:xfrm>
            <a:off x="2004695" y="8202676"/>
            <a:ext cx="689610" cy="0"/>
          </a:xfrm>
          <a:prstGeom prst="line">
            <a:avLst/>
          </a:prstGeom>
          <a:ln w="3810">
            <a:solidFill>
              <a:srgbClr val="D4D7DE"/>
            </a:solidFill>
          </a:ln>
        </p:spPr>
      </p:cxnSp>
      <p:cxnSp>
        <p:nvCxnSpPr>
          <p:cNvPr name="GraphCompose Table Cell Border" id="194"/>
          <p:cNvCxnSpPr/>
          <p:nvPr/>
        </p:nvCxnSpPr>
        <p:spPr>
          <a:xfrm>
            <a:off x="2692400" y="7887875"/>
            <a:ext cx="0" cy="314801"/>
          </a:xfrm>
          <a:prstGeom prst="line">
            <a:avLst/>
          </a:prstGeom>
          <a:ln w="3810">
            <a:solidFill>
              <a:srgbClr val="D4D7DE"/>
            </a:solidFill>
          </a:ln>
        </p:spPr>
      </p:cxnSp>
      <p:sp>
        <p:nvSpPr>
          <p:cNvPr name="GraphCompose Table Cell Text" id="195"/>
          <p:cNvSpPr txBox="true"/>
          <p:nvPr/>
        </p:nvSpPr>
        <p:spPr>
          <a:xfrm>
            <a:off x="2108200" y="7966880"/>
            <a:ext cx="370218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1C2030"/>
                </a:solidFill>
                <a:latin typeface="Arial"/>
              </a:rPr>
              <a:t>12,650</a:t>
            </a:r>
            <a:endParaRPr lang="en-US" sz="1100"/>
          </a:p>
        </p:txBody>
      </p:sp>
      <p:cxnSp>
        <p:nvCxnSpPr>
          <p:cNvPr name="GraphCompose Table Cell Border" id="196"/>
          <p:cNvCxnSpPr/>
          <p:nvPr/>
        </p:nvCxnSpPr>
        <p:spPr>
          <a:xfrm>
            <a:off x="2690495" y="8202676"/>
            <a:ext cx="689610" cy="0"/>
          </a:xfrm>
          <a:prstGeom prst="line">
            <a:avLst/>
          </a:prstGeom>
          <a:ln w="3810">
            <a:solidFill>
              <a:srgbClr val="D4D7DE"/>
            </a:solidFill>
          </a:ln>
        </p:spPr>
      </p:cxnSp>
      <p:cxnSp>
        <p:nvCxnSpPr>
          <p:cNvPr name="GraphCompose Table Cell Border" id="197"/>
          <p:cNvCxnSpPr/>
          <p:nvPr/>
        </p:nvCxnSpPr>
        <p:spPr>
          <a:xfrm>
            <a:off x="3378200" y="7887875"/>
            <a:ext cx="0" cy="314801"/>
          </a:xfrm>
          <a:prstGeom prst="line">
            <a:avLst/>
          </a:prstGeom>
          <a:ln w="3810">
            <a:solidFill>
              <a:srgbClr val="D4D7DE"/>
            </a:solidFill>
          </a:ln>
        </p:spPr>
      </p:cxnSp>
      <p:sp>
        <p:nvSpPr>
          <p:cNvPr name="GraphCompose Table Cell Text" id="198"/>
          <p:cNvSpPr txBox="true"/>
          <p:nvPr/>
        </p:nvSpPr>
        <p:spPr>
          <a:xfrm>
            <a:off x="2794000" y="7966880"/>
            <a:ext cx="370218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1C2030"/>
                </a:solidFill>
                <a:latin typeface="Arial"/>
              </a:rPr>
              <a:t>13,870</a:t>
            </a:r>
            <a:endParaRPr lang="en-US" sz="1100"/>
          </a:p>
        </p:txBody>
      </p:sp>
      <p:cxnSp>
        <p:nvCxnSpPr>
          <p:cNvPr name="GraphCompose Table Cell Border" id="199"/>
          <p:cNvCxnSpPr/>
          <p:nvPr/>
        </p:nvCxnSpPr>
        <p:spPr>
          <a:xfrm>
            <a:off x="3376295" y="8202676"/>
            <a:ext cx="689610" cy="0"/>
          </a:xfrm>
          <a:prstGeom prst="line">
            <a:avLst/>
          </a:prstGeom>
          <a:ln w="3810">
            <a:solidFill>
              <a:srgbClr val="D4D7DE"/>
            </a:solidFill>
          </a:ln>
        </p:spPr>
      </p:cxnSp>
      <p:cxnSp>
        <p:nvCxnSpPr>
          <p:cNvPr name="GraphCompose Table Cell Border" id="200"/>
          <p:cNvCxnSpPr/>
          <p:nvPr/>
        </p:nvCxnSpPr>
        <p:spPr>
          <a:xfrm>
            <a:off x="4064000" y="7887875"/>
            <a:ext cx="0" cy="314801"/>
          </a:xfrm>
          <a:prstGeom prst="line">
            <a:avLst/>
          </a:prstGeom>
          <a:ln w="3810">
            <a:solidFill>
              <a:srgbClr val="D4D7DE"/>
            </a:solidFill>
          </a:ln>
        </p:spPr>
      </p:cxnSp>
      <p:sp>
        <p:nvSpPr>
          <p:cNvPr name="GraphCompose Table Cell Text" id="201"/>
          <p:cNvSpPr txBox="true"/>
          <p:nvPr/>
        </p:nvSpPr>
        <p:spPr>
          <a:xfrm>
            <a:off x="3479800" y="7966880"/>
            <a:ext cx="370218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1C2030"/>
                </a:solidFill>
                <a:latin typeface="Arial"/>
              </a:rPr>
              <a:t>15,230</a:t>
            </a:r>
            <a:endParaRPr lang="en-US" sz="1100"/>
          </a:p>
        </p:txBody>
      </p:sp>
      <p:cxnSp>
        <p:nvCxnSpPr>
          <p:cNvPr name="GraphCompose Table Cell Border" id="202"/>
          <p:cNvCxnSpPr/>
          <p:nvPr/>
        </p:nvCxnSpPr>
        <p:spPr>
          <a:xfrm>
            <a:off x="4062095" y="8202676"/>
            <a:ext cx="689610" cy="0"/>
          </a:xfrm>
          <a:prstGeom prst="line">
            <a:avLst/>
          </a:prstGeom>
          <a:ln w="3810">
            <a:solidFill>
              <a:srgbClr val="D4D7DE"/>
            </a:solidFill>
          </a:ln>
        </p:spPr>
      </p:cxnSp>
      <p:cxnSp>
        <p:nvCxnSpPr>
          <p:cNvPr name="GraphCompose Table Cell Border" id="203"/>
          <p:cNvCxnSpPr/>
          <p:nvPr/>
        </p:nvCxnSpPr>
        <p:spPr>
          <a:xfrm>
            <a:off x="4749800" y="7887875"/>
            <a:ext cx="0" cy="314801"/>
          </a:xfrm>
          <a:prstGeom prst="line">
            <a:avLst/>
          </a:prstGeom>
          <a:ln w="3810">
            <a:solidFill>
              <a:srgbClr val="D4D7DE"/>
            </a:solidFill>
          </a:ln>
        </p:spPr>
      </p:cxnSp>
      <p:sp>
        <p:nvSpPr>
          <p:cNvPr name="GraphCompose Table Cell Text" id="204"/>
          <p:cNvSpPr txBox="true"/>
          <p:nvPr/>
        </p:nvSpPr>
        <p:spPr>
          <a:xfrm>
            <a:off x="4165600" y="7966880"/>
            <a:ext cx="370218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1C2030"/>
                </a:solidFill>
                <a:latin typeface="Arial"/>
              </a:rPr>
              <a:t>16,710</a:t>
            </a:r>
            <a:endParaRPr lang="en-US" sz="1100"/>
          </a:p>
        </p:txBody>
      </p:sp>
      <p:cxnSp>
        <p:nvCxnSpPr>
          <p:cNvPr name="GraphCompose Table Cell Border" id="205"/>
          <p:cNvCxnSpPr/>
          <p:nvPr/>
        </p:nvCxnSpPr>
        <p:spPr>
          <a:xfrm>
            <a:off x="4747895" y="8202676"/>
            <a:ext cx="689610" cy="0"/>
          </a:xfrm>
          <a:prstGeom prst="line">
            <a:avLst/>
          </a:prstGeom>
          <a:ln w="3810">
            <a:solidFill>
              <a:srgbClr val="D4D7DE"/>
            </a:solidFill>
          </a:ln>
        </p:spPr>
      </p:cxnSp>
      <p:cxnSp>
        <p:nvCxnSpPr>
          <p:cNvPr name="GraphCompose Table Cell Border" id="206"/>
          <p:cNvCxnSpPr/>
          <p:nvPr/>
        </p:nvCxnSpPr>
        <p:spPr>
          <a:xfrm>
            <a:off x="5435600" y="7887875"/>
            <a:ext cx="0" cy="314801"/>
          </a:xfrm>
          <a:prstGeom prst="line">
            <a:avLst/>
          </a:prstGeom>
          <a:ln w="3810">
            <a:solidFill>
              <a:srgbClr val="D4D7DE"/>
            </a:solidFill>
          </a:ln>
        </p:spPr>
      </p:cxnSp>
      <p:sp>
        <p:nvSpPr>
          <p:cNvPr name="GraphCompose Table Cell Text" id="207"/>
          <p:cNvSpPr txBox="true"/>
          <p:nvPr/>
        </p:nvSpPr>
        <p:spPr>
          <a:xfrm>
            <a:off x="4851400" y="7966880"/>
            <a:ext cx="370218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1C2030"/>
                </a:solidFill>
                <a:latin typeface="Arial"/>
              </a:rPr>
              <a:t>18,420</a:t>
            </a:r>
            <a:endParaRPr lang="en-US" sz="1100"/>
          </a:p>
        </p:txBody>
      </p:sp>
      <p:cxnSp>
        <p:nvCxnSpPr>
          <p:cNvPr name="GraphCompose Table Cell Border" id="208"/>
          <p:cNvCxnSpPr/>
          <p:nvPr/>
        </p:nvCxnSpPr>
        <p:spPr>
          <a:xfrm>
            <a:off x="5433695" y="8202676"/>
            <a:ext cx="916305" cy="0"/>
          </a:xfrm>
          <a:prstGeom prst="line">
            <a:avLst/>
          </a:prstGeom>
          <a:ln w="3810">
            <a:solidFill>
              <a:srgbClr val="D4D7DE"/>
            </a:solidFill>
          </a:ln>
        </p:spPr>
      </p:cxnSp>
      <p:cxnSp>
        <p:nvCxnSpPr>
          <p:cNvPr name="GraphCompose Table Cell Border" id="209"/>
          <p:cNvCxnSpPr/>
          <p:nvPr/>
        </p:nvCxnSpPr>
        <p:spPr>
          <a:xfrm>
            <a:off x="6350000" y="7887875"/>
            <a:ext cx="0" cy="314801"/>
          </a:xfrm>
          <a:prstGeom prst="line">
            <a:avLst/>
          </a:prstGeom>
          <a:ln w="3810">
            <a:solidFill>
              <a:srgbClr val="D4D7DE"/>
            </a:solidFill>
          </a:ln>
        </p:spPr>
      </p:cxnSp>
      <p:sp>
        <p:nvSpPr>
          <p:cNvPr name="GraphCompose Table Cell Text" id="210"/>
          <p:cNvSpPr txBox="true"/>
          <p:nvPr/>
        </p:nvSpPr>
        <p:spPr>
          <a:xfrm>
            <a:off x="5537200" y="7966880"/>
            <a:ext cx="413772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1C2030"/>
                </a:solidFill>
                <a:latin typeface="Arial"/>
              </a:rPr>
              <a:t>+45.6%</a:t>
            </a:r>
            <a:endParaRPr lang="en-US" sz="1100"/>
          </a:p>
        </p:txBody>
      </p:sp>
      <p:cxnSp>
        <p:nvCxnSpPr>
          <p:cNvPr name="GraphCompose Table Cell Border" id="211"/>
          <p:cNvCxnSpPr/>
          <p:nvPr/>
        </p:nvCxnSpPr>
        <p:spPr>
          <a:xfrm>
            <a:off x="660400" y="8517477"/>
            <a:ext cx="1348105" cy="0"/>
          </a:xfrm>
          <a:prstGeom prst="line">
            <a:avLst/>
          </a:prstGeom>
          <a:ln w="3810">
            <a:solidFill>
              <a:srgbClr val="D4D7DE"/>
            </a:solidFill>
          </a:ln>
        </p:spPr>
      </p:cxnSp>
      <p:cxnSp>
        <p:nvCxnSpPr>
          <p:cNvPr name="GraphCompose Table Cell Border" id="212"/>
          <p:cNvCxnSpPr/>
          <p:nvPr/>
        </p:nvCxnSpPr>
        <p:spPr>
          <a:xfrm>
            <a:off x="660400" y="8202676"/>
            <a:ext cx="0" cy="314801"/>
          </a:xfrm>
          <a:prstGeom prst="line">
            <a:avLst/>
          </a:prstGeom>
          <a:ln w="3810">
            <a:solidFill>
              <a:srgbClr val="D4D7DE"/>
            </a:solidFill>
          </a:ln>
        </p:spPr>
      </p:cxnSp>
      <p:cxnSp>
        <p:nvCxnSpPr>
          <p:cNvPr name="GraphCompose Table Cell Border" id="213"/>
          <p:cNvCxnSpPr/>
          <p:nvPr/>
        </p:nvCxnSpPr>
        <p:spPr>
          <a:xfrm>
            <a:off x="2006600" y="8202676"/>
            <a:ext cx="0" cy="314801"/>
          </a:xfrm>
          <a:prstGeom prst="line">
            <a:avLst/>
          </a:prstGeom>
          <a:ln w="3810">
            <a:solidFill>
              <a:srgbClr val="D4D7DE"/>
            </a:solidFill>
          </a:ln>
        </p:spPr>
      </p:cxnSp>
      <p:sp>
        <p:nvSpPr>
          <p:cNvPr name="GraphCompose Table Cell Text" id="214"/>
          <p:cNvSpPr txBox="true"/>
          <p:nvPr/>
        </p:nvSpPr>
        <p:spPr>
          <a:xfrm>
            <a:off x="762000" y="8281681"/>
            <a:ext cx="806006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1C2030"/>
                </a:solidFill>
                <a:latin typeface="Arial"/>
              </a:rPr>
              <a:t>Retention Rate</a:t>
            </a:r>
            <a:endParaRPr lang="en-US" sz="1100"/>
          </a:p>
        </p:txBody>
      </p:sp>
      <p:cxnSp>
        <p:nvCxnSpPr>
          <p:cNvPr name="GraphCompose Table Cell Border" id="215"/>
          <p:cNvCxnSpPr/>
          <p:nvPr/>
        </p:nvCxnSpPr>
        <p:spPr>
          <a:xfrm>
            <a:off x="2004695" y="8517477"/>
            <a:ext cx="689610" cy="0"/>
          </a:xfrm>
          <a:prstGeom prst="line">
            <a:avLst/>
          </a:prstGeom>
          <a:ln w="3810">
            <a:solidFill>
              <a:srgbClr val="D4D7DE"/>
            </a:solidFill>
          </a:ln>
        </p:spPr>
      </p:cxnSp>
      <p:cxnSp>
        <p:nvCxnSpPr>
          <p:cNvPr name="GraphCompose Table Cell Border" id="216"/>
          <p:cNvCxnSpPr/>
          <p:nvPr/>
        </p:nvCxnSpPr>
        <p:spPr>
          <a:xfrm>
            <a:off x="2692400" y="8202676"/>
            <a:ext cx="0" cy="314801"/>
          </a:xfrm>
          <a:prstGeom prst="line">
            <a:avLst/>
          </a:prstGeom>
          <a:ln w="3810">
            <a:solidFill>
              <a:srgbClr val="D4D7DE"/>
            </a:solidFill>
          </a:ln>
        </p:spPr>
      </p:cxnSp>
      <p:sp>
        <p:nvSpPr>
          <p:cNvPr name="GraphCompose Table Cell Text" id="217"/>
          <p:cNvSpPr txBox="true"/>
          <p:nvPr/>
        </p:nvSpPr>
        <p:spPr>
          <a:xfrm>
            <a:off x="2108200" y="8281681"/>
            <a:ext cx="343313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1C2030"/>
                </a:solidFill>
                <a:latin typeface="Arial"/>
              </a:rPr>
              <a:t>95.1%</a:t>
            </a:r>
            <a:endParaRPr lang="en-US" sz="1100"/>
          </a:p>
        </p:txBody>
      </p:sp>
      <p:cxnSp>
        <p:nvCxnSpPr>
          <p:cNvPr name="GraphCompose Table Cell Border" id="218"/>
          <p:cNvCxnSpPr/>
          <p:nvPr/>
        </p:nvCxnSpPr>
        <p:spPr>
          <a:xfrm>
            <a:off x="2690495" y="8517477"/>
            <a:ext cx="689610" cy="0"/>
          </a:xfrm>
          <a:prstGeom prst="line">
            <a:avLst/>
          </a:prstGeom>
          <a:ln w="3810">
            <a:solidFill>
              <a:srgbClr val="D4D7DE"/>
            </a:solidFill>
          </a:ln>
        </p:spPr>
      </p:cxnSp>
      <p:cxnSp>
        <p:nvCxnSpPr>
          <p:cNvPr name="GraphCompose Table Cell Border" id="219"/>
          <p:cNvCxnSpPr/>
          <p:nvPr/>
        </p:nvCxnSpPr>
        <p:spPr>
          <a:xfrm>
            <a:off x="3378200" y="8202676"/>
            <a:ext cx="0" cy="314801"/>
          </a:xfrm>
          <a:prstGeom prst="line">
            <a:avLst/>
          </a:prstGeom>
          <a:ln w="3810">
            <a:solidFill>
              <a:srgbClr val="D4D7DE"/>
            </a:solidFill>
          </a:ln>
        </p:spPr>
      </p:cxnSp>
      <p:sp>
        <p:nvSpPr>
          <p:cNvPr name="GraphCompose Table Cell Text" id="220"/>
          <p:cNvSpPr txBox="true"/>
          <p:nvPr/>
        </p:nvSpPr>
        <p:spPr>
          <a:xfrm>
            <a:off x="2794000" y="8281681"/>
            <a:ext cx="343313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1C2030"/>
                </a:solidFill>
                <a:latin typeface="Arial"/>
              </a:rPr>
              <a:t>95.4%</a:t>
            </a:r>
            <a:endParaRPr lang="en-US" sz="1100"/>
          </a:p>
        </p:txBody>
      </p:sp>
      <p:cxnSp>
        <p:nvCxnSpPr>
          <p:cNvPr name="GraphCompose Table Cell Border" id="221"/>
          <p:cNvCxnSpPr/>
          <p:nvPr/>
        </p:nvCxnSpPr>
        <p:spPr>
          <a:xfrm>
            <a:off x="3376295" y="8517477"/>
            <a:ext cx="689610" cy="0"/>
          </a:xfrm>
          <a:prstGeom prst="line">
            <a:avLst/>
          </a:prstGeom>
          <a:ln w="3810">
            <a:solidFill>
              <a:srgbClr val="D4D7DE"/>
            </a:solidFill>
          </a:ln>
        </p:spPr>
      </p:cxnSp>
      <p:cxnSp>
        <p:nvCxnSpPr>
          <p:cNvPr name="GraphCompose Table Cell Border" id="222"/>
          <p:cNvCxnSpPr/>
          <p:nvPr/>
        </p:nvCxnSpPr>
        <p:spPr>
          <a:xfrm>
            <a:off x="4064000" y="8202676"/>
            <a:ext cx="0" cy="314801"/>
          </a:xfrm>
          <a:prstGeom prst="line">
            <a:avLst/>
          </a:prstGeom>
          <a:ln w="3810">
            <a:solidFill>
              <a:srgbClr val="D4D7DE"/>
            </a:solidFill>
          </a:ln>
        </p:spPr>
      </p:cxnSp>
      <p:sp>
        <p:nvSpPr>
          <p:cNvPr name="GraphCompose Table Cell Text" id="223"/>
          <p:cNvSpPr txBox="true"/>
          <p:nvPr/>
        </p:nvSpPr>
        <p:spPr>
          <a:xfrm>
            <a:off x="3479800" y="8281681"/>
            <a:ext cx="343313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1C2030"/>
                </a:solidFill>
                <a:latin typeface="Arial"/>
              </a:rPr>
              <a:t>96.0%</a:t>
            </a:r>
            <a:endParaRPr lang="en-US" sz="1100"/>
          </a:p>
        </p:txBody>
      </p:sp>
      <p:cxnSp>
        <p:nvCxnSpPr>
          <p:cNvPr name="GraphCompose Table Cell Border" id="224"/>
          <p:cNvCxnSpPr/>
          <p:nvPr/>
        </p:nvCxnSpPr>
        <p:spPr>
          <a:xfrm>
            <a:off x="4062095" y="8517477"/>
            <a:ext cx="689610" cy="0"/>
          </a:xfrm>
          <a:prstGeom prst="line">
            <a:avLst/>
          </a:prstGeom>
          <a:ln w="3810">
            <a:solidFill>
              <a:srgbClr val="D4D7DE"/>
            </a:solidFill>
          </a:ln>
        </p:spPr>
      </p:cxnSp>
      <p:cxnSp>
        <p:nvCxnSpPr>
          <p:cNvPr name="GraphCompose Table Cell Border" id="225"/>
          <p:cNvCxnSpPr/>
          <p:nvPr/>
        </p:nvCxnSpPr>
        <p:spPr>
          <a:xfrm>
            <a:off x="4749800" y="8202676"/>
            <a:ext cx="0" cy="314801"/>
          </a:xfrm>
          <a:prstGeom prst="line">
            <a:avLst/>
          </a:prstGeom>
          <a:ln w="3810">
            <a:solidFill>
              <a:srgbClr val="D4D7DE"/>
            </a:solidFill>
          </a:ln>
        </p:spPr>
      </p:cxnSp>
      <p:sp>
        <p:nvSpPr>
          <p:cNvPr name="GraphCompose Table Cell Text" id="226"/>
          <p:cNvSpPr txBox="true"/>
          <p:nvPr/>
        </p:nvSpPr>
        <p:spPr>
          <a:xfrm>
            <a:off x="4165600" y="8281681"/>
            <a:ext cx="343313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1C2030"/>
                </a:solidFill>
                <a:latin typeface="Arial"/>
              </a:rPr>
              <a:t>96.2%</a:t>
            </a:r>
            <a:endParaRPr lang="en-US" sz="1100"/>
          </a:p>
        </p:txBody>
      </p:sp>
      <p:cxnSp>
        <p:nvCxnSpPr>
          <p:cNvPr name="GraphCompose Table Cell Border" id="227"/>
          <p:cNvCxnSpPr/>
          <p:nvPr/>
        </p:nvCxnSpPr>
        <p:spPr>
          <a:xfrm>
            <a:off x="4747895" y="8517477"/>
            <a:ext cx="689610" cy="0"/>
          </a:xfrm>
          <a:prstGeom prst="line">
            <a:avLst/>
          </a:prstGeom>
          <a:ln w="3810">
            <a:solidFill>
              <a:srgbClr val="D4D7DE"/>
            </a:solidFill>
          </a:ln>
        </p:spPr>
      </p:cxnSp>
      <p:cxnSp>
        <p:nvCxnSpPr>
          <p:cNvPr name="GraphCompose Table Cell Border" id="228"/>
          <p:cNvCxnSpPr/>
          <p:nvPr/>
        </p:nvCxnSpPr>
        <p:spPr>
          <a:xfrm>
            <a:off x="5435600" y="8202676"/>
            <a:ext cx="0" cy="314801"/>
          </a:xfrm>
          <a:prstGeom prst="line">
            <a:avLst/>
          </a:prstGeom>
          <a:ln w="3810">
            <a:solidFill>
              <a:srgbClr val="D4D7DE"/>
            </a:solidFill>
          </a:ln>
        </p:spPr>
      </p:cxnSp>
      <p:sp>
        <p:nvSpPr>
          <p:cNvPr name="GraphCompose Table Cell Text" id="229"/>
          <p:cNvSpPr txBox="true"/>
          <p:nvPr/>
        </p:nvSpPr>
        <p:spPr>
          <a:xfrm>
            <a:off x="4851400" y="8281681"/>
            <a:ext cx="343313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1C2030"/>
                </a:solidFill>
                <a:latin typeface="Arial"/>
              </a:rPr>
              <a:t>96.8%</a:t>
            </a:r>
            <a:endParaRPr lang="en-US" sz="1100"/>
          </a:p>
        </p:txBody>
      </p:sp>
      <p:cxnSp>
        <p:nvCxnSpPr>
          <p:cNvPr name="GraphCompose Table Cell Border" id="230"/>
          <p:cNvCxnSpPr/>
          <p:nvPr/>
        </p:nvCxnSpPr>
        <p:spPr>
          <a:xfrm>
            <a:off x="5433695" y="8517477"/>
            <a:ext cx="916305" cy="0"/>
          </a:xfrm>
          <a:prstGeom prst="line">
            <a:avLst/>
          </a:prstGeom>
          <a:ln w="3810">
            <a:solidFill>
              <a:srgbClr val="D4D7DE"/>
            </a:solidFill>
          </a:ln>
        </p:spPr>
      </p:cxnSp>
      <p:cxnSp>
        <p:nvCxnSpPr>
          <p:cNvPr name="GraphCompose Table Cell Border" id="231"/>
          <p:cNvCxnSpPr/>
          <p:nvPr/>
        </p:nvCxnSpPr>
        <p:spPr>
          <a:xfrm>
            <a:off x="6350000" y="8202676"/>
            <a:ext cx="0" cy="314801"/>
          </a:xfrm>
          <a:prstGeom prst="line">
            <a:avLst/>
          </a:prstGeom>
          <a:ln w="3810">
            <a:solidFill>
              <a:srgbClr val="D4D7DE"/>
            </a:solidFill>
          </a:ln>
        </p:spPr>
      </p:cxnSp>
      <p:sp>
        <p:nvSpPr>
          <p:cNvPr name="GraphCompose Table Cell Text" id="232"/>
          <p:cNvSpPr txBox="true"/>
          <p:nvPr/>
        </p:nvSpPr>
        <p:spPr>
          <a:xfrm>
            <a:off x="5537200" y="8281681"/>
            <a:ext cx="407137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1C2030"/>
                </a:solidFill>
                <a:latin typeface="Arial"/>
              </a:rPr>
              <a:t>+1.7 pp</a:t>
            </a:r>
            <a:endParaRPr lang="en-US" sz="1100"/>
          </a:p>
        </p:txBody>
      </p:sp>
      <p:sp>
        <p:nvSpPr>
          <p:cNvPr name="GraphCompose Footer" id="233"/>
          <p:cNvSpPr txBox="true"/>
          <p:nvPr/>
        </p:nvSpPr>
        <p:spPr>
          <a:xfrm>
            <a:off x="508000" y="10320624"/>
            <a:ext cx="1249223" cy="1320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800" b="false" i="false" u="none" strike="noStrike" kern="0">
                <a:solidFill>
                  <a:srgbClr val="787C8A"/>
                </a:solidFill>
                <a:latin typeface="Arial"/>
              </a:rPr>
              <a:t>Confidential and proprietary</a:t>
            </a:r>
            <a:endParaRPr lang="en-US" sz="1100"/>
          </a:p>
        </p:txBody>
      </p:sp>
      <p:sp>
        <p:nvSpPr>
          <p:cNvPr name="GraphCompose Footer" id="234"/>
          <p:cNvSpPr txBox="true"/>
          <p:nvPr/>
        </p:nvSpPr>
        <p:spPr>
          <a:xfrm>
            <a:off x="6532317" y="10320624"/>
            <a:ext cx="520954" cy="1320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800" b="false" i="false" u="none" strike="noStrike" kern="0">
                <a:solidFill>
                  <a:srgbClr val="787C8A"/>
                </a:solidFill>
                <a:latin typeface="Arial"/>
              </a:rPr>
              <a:t>Page 1 of 1</a:t>
            </a:r>
            <a:endParaRPr lang="en-US" sz="1100"/>
          </a:p>
        </p:txBody>
      </p:sp>
      <p:cxnSp>
        <p:nvCxnSpPr>
          <p:cNvPr name="GraphCompose Footer Separator" id="235"/>
          <p:cNvCxnSpPr/>
          <p:nvPr/>
        </p:nvCxnSpPr>
        <p:spPr>
          <a:xfrm>
            <a:off x="508000" y="10311000"/>
            <a:ext cx="6544001" cy="0"/>
          </a:xfrm>
          <a:prstGeom prst="line">
            <a:avLst/>
          </a:prstGeom>
          <a:ln w="6350">
            <a:solidFill>
              <a:srgbClr val="D4D7DE"/>
            </a:solidFill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