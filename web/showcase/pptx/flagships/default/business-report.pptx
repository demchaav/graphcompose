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AF5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508000" y="336573"/>
            <a:ext cx="145232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true" i="false" u="none" strike="noStrike" kern="0">
                <a:solidFill>
                  <a:srgbClr val="787C8A"/>
                </a:solidFill>
                <a:latin typeface="Arial"/>
              </a:rPr>
              <a:t>Q1 2024 - BUSINESS REPORT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492997" y="336573"/>
            <a:ext cx="5602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true" i="false" u="none" strike="noStrike" kern="0">
                <a:solidFill>
                  <a:srgbClr val="787C8A"/>
                </a:solidFill>
                <a:latin typeface="Arial"/>
              </a:rPr>
              <a:t>APRIL 2024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508000" y="589280"/>
            <a:ext cx="6350000" cy="10160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508000" y="726507"/>
            <a:ext cx="2490876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Building the future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508000" y="1051627"/>
            <a:ext cx="3193440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with clarity and purpose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508000" y="1463228"/>
            <a:ext cx="3012180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We combine strategy, design, and engineering to deliver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508000" y="1601023"/>
            <a:ext cx="3245809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impactful digital products that drive real business results and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508000" y="1738818"/>
            <a:ext cx="1234624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lasting customer value.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>
            <a:off x="4210070" y="739140"/>
            <a:ext cx="2667000" cy="1397000"/>
          </a:xfrm>
          <a:prstGeom prst="roundRect">
            <a:avLst>
              <a:gd name="adj" fmla="val 10909"/>
            </a:avLst>
          </a:prstGeom>
          <a:solidFill>
            <a:srgbClr val="121830"/>
          </a:solidFill>
          <a:ln w="19050">
            <a:solidFill>
              <a:srgbClr val="BA9A64"/>
            </a:solidFill>
          </a:ln>
        </p:spPr>
      </p:sp>
      <p:pic>
        <p:nvPicPr>
          <p:cNvPr name="GraphCompose Clipped Composite" id="1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070" y="739140"/>
            <a:ext cx="2667000" cy="1397000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>
            <a:off x="508000" y="2275840"/>
            <a:ext cx="2055172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508000" y="2275840"/>
            <a:ext cx="2055172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15" id="15"/>
          <p:cNvSpPr/>
          <p:nvPr/>
        </p:nvSpPr>
        <p:spPr>
          <a:xfrm>
            <a:off x="6858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16"/>
          <p:cNvSpPr txBox="true"/>
          <p:nvPr/>
        </p:nvSpPr>
        <p:spPr>
          <a:xfrm>
            <a:off x="855802" y="2562262"/>
            <a:ext cx="9306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1C2646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85800" y="2923607"/>
            <a:ext cx="610870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24%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85800" y="3264165"/>
            <a:ext cx="9599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787C8A"/>
                </a:solidFill>
                <a:latin typeface="Arial"/>
              </a:rPr>
              <a:t>Revenue Growth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85800" y="3454107"/>
            <a:ext cx="1700842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Strong performance across all core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85800" y="3572916"/>
            <a:ext cx="7236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business units.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2748600" y="2275840"/>
            <a:ext cx="1533101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2748600" y="2275840"/>
            <a:ext cx="1533101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23" id="23"/>
          <p:cNvSpPr/>
          <p:nvPr/>
        </p:nvSpPr>
        <p:spPr>
          <a:xfrm>
            <a:off x="29264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3082699" y="2562262"/>
            <a:ext cx="12047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1C2646"/>
                </a:solidFill>
                <a:latin typeface="Arial"/>
              </a:rPr>
              <a:t>U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2926400" y="2923607"/>
            <a:ext cx="649275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18k+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2926400" y="3264165"/>
            <a:ext cx="10270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787C8A"/>
                </a:solidFill>
                <a:latin typeface="Arial"/>
              </a:rPr>
              <a:t>Active Customers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2926400" y="3454107"/>
            <a:ext cx="117877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Growing community and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2926400" y="3572916"/>
            <a:ext cx="63878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engagement.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4989200" y="2275840"/>
            <a:ext cx="1545333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30" id="30"/>
          <p:cNvCxnSpPr/>
          <p:nvPr/>
        </p:nvCxnSpPr>
        <p:spPr>
          <a:xfrm>
            <a:off x="4989200" y="2275840"/>
            <a:ext cx="1545333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31" id="31"/>
          <p:cNvSpPr/>
          <p:nvPr/>
        </p:nvSpPr>
        <p:spPr>
          <a:xfrm>
            <a:off x="51670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32"/>
          <p:cNvSpPr txBox="true"/>
          <p:nvPr/>
        </p:nvSpPr>
        <p:spPr>
          <a:xfrm>
            <a:off x="5309513" y="2562262"/>
            <a:ext cx="1480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1C2646"/>
                </a:solidFill>
                <a:latin typeface="Arial"/>
              </a:rPr>
              <a:t>%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5167000" y="2923607"/>
            <a:ext cx="839470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98.6%</a:t>
            </a:r>
            <a:endParaRPr lang="en-US" sz="1100"/>
          </a:p>
        </p:txBody>
      </p:sp>
      <p:sp>
        <p:nvSpPr>
          <p:cNvPr name="GraphCompose Text Line" id="34"/>
          <p:cNvSpPr txBox="true"/>
          <p:nvPr/>
        </p:nvSpPr>
        <p:spPr>
          <a:xfrm>
            <a:off x="5167000" y="3264165"/>
            <a:ext cx="9599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787C8A"/>
                </a:solidFill>
                <a:latin typeface="Arial"/>
              </a:rPr>
              <a:t>SLA Compliance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5167000" y="3454107"/>
            <a:ext cx="10451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Reliable platform with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5167000" y="3572916"/>
            <a:ext cx="119100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enterprise-grade uptime.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508000" y="4011898"/>
            <a:ext cx="2464810" cy="160242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38" id="38"/>
          <p:cNvCxnSpPr/>
          <p:nvPr/>
        </p:nvCxnSpPr>
        <p:spPr>
          <a:xfrm>
            <a:off x="508000" y="4011898"/>
            <a:ext cx="0" cy="1602422"/>
          </a:xfrm>
          <a:prstGeom prst="line">
            <a:avLst/>
          </a:prstGeom>
          <a:ln w="38100">
            <a:solidFill>
              <a:srgbClr val="1C2646"/>
            </a:solidFill>
          </a:ln>
        </p:spPr>
      </p:cxnSp>
      <p:sp>
        <p:nvSpPr>
          <p:cNvPr name="GraphCompose Text Line" id="39"/>
          <p:cNvSpPr txBox="true"/>
          <p:nvPr/>
        </p:nvSpPr>
        <p:spPr>
          <a:xfrm>
            <a:off x="711200" y="4186558"/>
            <a:ext cx="1423924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1C2030"/>
                </a:solidFill>
                <a:latin typeface="Arial"/>
              </a:rPr>
              <a:t>Strategic highlights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711200" y="4460474"/>
            <a:ext cx="193456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Expanded market presence in key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711200" y="4590490"/>
            <a:ext cx="173127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regions with double-digit growth.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711200" y="4803691"/>
            <a:ext cx="199489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Launched new platform capabilities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711200" y="4933707"/>
            <a:ext cx="205968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improving performance and scalability.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11200" y="5146909"/>
            <a:ext cx="16664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Strengthened partnerships to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11200" y="5276925"/>
            <a:ext cx="185879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accelerate innovation and delivery.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3262760" y="4011898"/>
            <a:ext cx="3789240" cy="227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47" id="47"/>
          <p:cNvCxnSpPr/>
          <p:nvPr/>
        </p:nvCxnSpPr>
        <p:spPr>
          <a:xfrm>
            <a:off x="3262760" y="4011898"/>
            <a:ext cx="0" cy="2278697"/>
          </a:xfrm>
          <a:prstGeom prst="line">
            <a:avLst/>
          </a:prstGeom>
          <a:ln w="38100">
            <a:solidFill>
              <a:srgbClr val="BA9A64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440560" y="4161158"/>
            <a:ext cx="16275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1C2030"/>
                </a:solidFill>
                <a:latin typeface="Arial"/>
              </a:rPr>
              <a:t>Performance overview</a:t>
            </a:r>
            <a:endParaRPr lang="en-US" sz="1100"/>
          </a:p>
        </p:txBody>
      </p:sp>
      <p:sp>
        <p:nvSpPr>
          <p:cNvPr name="GraphCompose Text Line" id="49"/>
          <p:cNvSpPr txBox="true"/>
          <p:nvPr/>
        </p:nvSpPr>
        <p:spPr>
          <a:xfrm>
            <a:off x="3440560" y="4385463"/>
            <a:ext cx="903211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1C2646"/>
                </a:solidFill>
                <a:latin typeface="Arial"/>
              </a:rPr>
              <a:t>Revenue</a:t>
            </a:r>
            <a:r>
              <a:rPr lang="en-US" sz="900" b="false" i="false" u="none" strike="noStrike" kern="0">
                <a:solidFill>
                  <a:srgbClr val="787C8A"/>
                </a:solidFill>
                <a:latin typeface="Arial"/>
              </a:rPr>
              <a:t>    </a:t>
            </a:r>
            <a:r>
              <a:rPr lang="en-US" sz="900" b="true" i="false" u="none" strike="noStrike" kern="0">
                <a:solidFill>
                  <a:srgbClr val="BA9A64"/>
                </a:solidFill>
                <a:latin typeface="Arial"/>
              </a:rPr>
              <a:t>Profit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3660829" y="5968016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3553539" y="5911600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3660829" y="5701570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3497050" y="5645154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3660829" y="5435124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3497050" y="5378708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cxnSp>
        <p:nvCxnSpPr>
          <p:cNvPr name="Connector 56" id="56"/>
          <p:cNvCxnSpPr/>
          <p:nvPr/>
        </p:nvCxnSpPr>
        <p:spPr>
          <a:xfrm flipV="false">
            <a:off x="3660829" y="5168678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7"/>
          <p:cNvSpPr txBox="true"/>
          <p:nvPr/>
        </p:nvSpPr>
        <p:spPr>
          <a:xfrm>
            <a:off x="3497050" y="5112262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</a:t>
            </a:r>
            <a:endParaRPr lang="en-US" sz="1100"/>
          </a:p>
        </p:txBody>
      </p:sp>
      <p:cxnSp>
        <p:nvCxnSpPr>
          <p:cNvPr name="Connector 58" id="58"/>
          <p:cNvCxnSpPr/>
          <p:nvPr/>
        </p:nvCxnSpPr>
        <p:spPr>
          <a:xfrm flipV="false">
            <a:off x="3660829" y="4902232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9"/>
          <p:cNvSpPr txBox="true"/>
          <p:nvPr/>
        </p:nvSpPr>
        <p:spPr>
          <a:xfrm>
            <a:off x="3497050" y="4845816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</a:t>
            </a:r>
            <a:endParaRPr lang="en-US" sz="1100"/>
          </a:p>
        </p:txBody>
      </p:sp>
      <p:cxnSp>
        <p:nvCxnSpPr>
          <p:cNvPr name="Connector 60" id="60"/>
          <p:cNvCxnSpPr/>
          <p:nvPr/>
        </p:nvCxnSpPr>
        <p:spPr>
          <a:xfrm flipV="false">
            <a:off x="3660829" y="4635786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61"/>
          <p:cNvSpPr txBox="true"/>
          <p:nvPr/>
        </p:nvSpPr>
        <p:spPr>
          <a:xfrm>
            <a:off x="3440560" y="4579370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3766999" y="5099402"/>
            <a:ext cx="198972" cy="868614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3998362" y="5593659"/>
            <a:ext cx="198972" cy="374357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4409673" y="5038119"/>
            <a:ext cx="198972" cy="92989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41036" y="5559021"/>
            <a:ext cx="198972" cy="408995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5052347" y="4980833"/>
            <a:ext cx="198972" cy="987182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283710" y="5529712"/>
            <a:ext cx="198972" cy="438304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5695022" y="4884913"/>
            <a:ext cx="198972" cy="1083103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926384" y="5483084"/>
            <a:ext cx="198972" cy="484932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6337696" y="4792989"/>
            <a:ext cx="198972" cy="11750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6569059" y="5441785"/>
            <a:ext cx="198972" cy="526231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GraphCompose Text Line" id="72"/>
          <p:cNvSpPr txBox="true"/>
          <p:nvPr/>
        </p:nvSpPr>
        <p:spPr>
          <a:xfrm>
            <a:off x="3787297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Q1 2023</a:t>
            </a:r>
            <a:endParaRPr lang="en-US" sz="1100"/>
          </a:p>
        </p:txBody>
      </p:sp>
      <p:sp>
        <p:nvSpPr>
          <p:cNvPr name="GraphCompose Text Line" id="73"/>
          <p:cNvSpPr txBox="true"/>
          <p:nvPr/>
        </p:nvSpPr>
        <p:spPr>
          <a:xfrm>
            <a:off x="4429972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Q2 2023</a:t>
            </a:r>
            <a:endParaRPr lang="en-US" sz="1100"/>
          </a:p>
        </p:txBody>
      </p:sp>
      <p:sp>
        <p:nvSpPr>
          <p:cNvPr name="GraphCompose Text Line" id="74"/>
          <p:cNvSpPr txBox="true"/>
          <p:nvPr/>
        </p:nvSpPr>
        <p:spPr>
          <a:xfrm>
            <a:off x="5072646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Q3 2023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5715320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Q4 2023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6357995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Q1 2024</a:t>
            </a:r>
            <a:endParaRPr lang="en-US" sz="1100"/>
          </a:p>
        </p:txBody>
      </p:sp>
      <p:sp>
        <p:nvSpPr>
          <p:cNvPr name="AutoShape 77" id="77"/>
          <p:cNvSpPr/>
          <p:nvPr/>
        </p:nvSpPr>
        <p:spPr>
          <a:xfrm>
            <a:off x="508000" y="6430296"/>
            <a:ext cx="5994400" cy="223958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78" id="78"/>
          <p:cNvCxnSpPr/>
          <p:nvPr/>
        </p:nvCxnSpPr>
        <p:spPr>
          <a:xfrm>
            <a:off x="508000" y="6430296"/>
            <a:ext cx="5994400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GraphCompose Text Line" id="79"/>
          <p:cNvSpPr txBox="true"/>
          <p:nvPr/>
        </p:nvSpPr>
        <p:spPr>
          <a:xfrm>
            <a:off x="660400" y="6554155"/>
            <a:ext cx="86522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1C2030"/>
                </a:solidFill>
                <a:latin typeface="Arial"/>
              </a:rPr>
              <a:t>Key metrics</a:t>
            </a:r>
            <a:endParaRPr lang="en-US" sz="1100"/>
          </a:p>
        </p:txBody>
      </p:sp>
      <p:sp>
        <p:nvSpPr>
          <p:cNvPr name="GraphCompose Text Line" id="80"/>
          <p:cNvSpPr txBox="true"/>
          <p:nvPr/>
        </p:nvSpPr>
        <p:spPr>
          <a:xfrm>
            <a:off x="660400" y="6754487"/>
            <a:ext cx="3837589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87C8A"/>
                </a:solidFill>
                <a:latin typeface="Arial"/>
              </a:rPr>
              <a:t>Year-over-year delta in the right column. Retention reported in percentage points.</a:t>
            </a:r>
            <a:endParaRPr lang="en-US" sz="1100"/>
          </a:p>
        </p:txBody>
      </p:sp>
      <p:sp>
        <p:nvSpPr>
          <p:cNvPr name="GraphCompose Table Cell Fill" id="81"/>
          <p:cNvSpPr/>
          <p:nvPr/>
        </p:nvSpPr>
        <p:spPr>
          <a:xfrm>
            <a:off x="660400" y="6949345"/>
            <a:ext cx="13462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20066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26924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33782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40640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7498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35600" y="6949345"/>
            <a:ext cx="9144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660400" y="7258272"/>
            <a:ext cx="13462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20066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26924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33782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40640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7498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5435600" y="7258272"/>
            <a:ext cx="9144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660400" y="7573073"/>
            <a:ext cx="13462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20066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26924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8"/>
          <p:cNvSpPr/>
          <p:nvPr/>
        </p:nvSpPr>
        <p:spPr>
          <a:xfrm>
            <a:off x="33782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9"/>
          <p:cNvSpPr/>
          <p:nvPr/>
        </p:nvSpPr>
        <p:spPr>
          <a:xfrm>
            <a:off x="40640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0"/>
          <p:cNvSpPr/>
          <p:nvPr/>
        </p:nvSpPr>
        <p:spPr>
          <a:xfrm>
            <a:off x="47498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1"/>
          <p:cNvSpPr/>
          <p:nvPr/>
        </p:nvSpPr>
        <p:spPr>
          <a:xfrm>
            <a:off x="5435600" y="7573073"/>
            <a:ext cx="9144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2"/>
          <p:cNvSpPr/>
          <p:nvPr/>
        </p:nvSpPr>
        <p:spPr>
          <a:xfrm>
            <a:off x="660400" y="7887875"/>
            <a:ext cx="13462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3"/>
          <p:cNvSpPr/>
          <p:nvPr/>
        </p:nvSpPr>
        <p:spPr>
          <a:xfrm>
            <a:off x="20066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4"/>
          <p:cNvSpPr/>
          <p:nvPr/>
        </p:nvSpPr>
        <p:spPr>
          <a:xfrm>
            <a:off x="26924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5"/>
          <p:cNvSpPr/>
          <p:nvPr/>
        </p:nvSpPr>
        <p:spPr>
          <a:xfrm>
            <a:off x="33782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6"/>
          <p:cNvSpPr/>
          <p:nvPr/>
        </p:nvSpPr>
        <p:spPr>
          <a:xfrm>
            <a:off x="40640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7"/>
          <p:cNvSpPr/>
          <p:nvPr/>
        </p:nvSpPr>
        <p:spPr>
          <a:xfrm>
            <a:off x="47498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8"/>
          <p:cNvSpPr/>
          <p:nvPr/>
        </p:nvSpPr>
        <p:spPr>
          <a:xfrm>
            <a:off x="5435600" y="7887875"/>
            <a:ext cx="9144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9"/>
          <p:cNvSpPr/>
          <p:nvPr/>
        </p:nvSpPr>
        <p:spPr>
          <a:xfrm>
            <a:off x="660400" y="8202676"/>
            <a:ext cx="13462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0"/>
          <p:cNvSpPr/>
          <p:nvPr/>
        </p:nvSpPr>
        <p:spPr>
          <a:xfrm>
            <a:off x="20066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1"/>
          <p:cNvSpPr/>
          <p:nvPr/>
        </p:nvSpPr>
        <p:spPr>
          <a:xfrm>
            <a:off x="26924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2"/>
          <p:cNvSpPr/>
          <p:nvPr/>
        </p:nvSpPr>
        <p:spPr>
          <a:xfrm>
            <a:off x="33782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3"/>
          <p:cNvSpPr/>
          <p:nvPr/>
        </p:nvSpPr>
        <p:spPr>
          <a:xfrm>
            <a:off x="40640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4"/>
          <p:cNvSpPr/>
          <p:nvPr/>
        </p:nvSpPr>
        <p:spPr>
          <a:xfrm>
            <a:off x="47498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5"/>
          <p:cNvSpPr/>
          <p:nvPr/>
        </p:nvSpPr>
        <p:spPr>
          <a:xfrm>
            <a:off x="5435600" y="8202676"/>
            <a:ext cx="9144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116"/>
          <p:cNvCxnSpPr/>
          <p:nvPr/>
        </p:nvCxnSpPr>
        <p:spPr>
          <a:xfrm>
            <a:off x="660400" y="6949345"/>
            <a:ext cx="13481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60400" y="7258272"/>
            <a:ext cx="13481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604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9"/>
          <p:cNvCxnSpPr/>
          <p:nvPr/>
        </p:nvCxnSpPr>
        <p:spPr>
          <a:xfrm>
            <a:off x="20066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0"/>
          <p:cNvSpPr txBox="true"/>
          <p:nvPr/>
        </p:nvSpPr>
        <p:spPr>
          <a:xfrm>
            <a:off x="762000" y="7029539"/>
            <a:ext cx="3378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Metric</a:t>
            </a:r>
            <a:endParaRPr lang="en-US" sz="1100"/>
          </a:p>
        </p:txBody>
      </p:sp>
      <p:cxnSp>
        <p:nvCxnSpPr>
          <p:cNvPr name="GraphCompose Table Cell Border" id="121"/>
          <p:cNvCxnSpPr/>
          <p:nvPr/>
        </p:nvCxnSpPr>
        <p:spPr>
          <a:xfrm>
            <a:off x="20046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20046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3"/>
          <p:cNvCxnSpPr/>
          <p:nvPr/>
        </p:nvCxnSpPr>
        <p:spPr>
          <a:xfrm>
            <a:off x="26924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4"/>
          <p:cNvSpPr txBox="true"/>
          <p:nvPr/>
        </p:nvSpPr>
        <p:spPr>
          <a:xfrm>
            <a:off x="21082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Q1 2023</a:t>
            </a:r>
            <a:endParaRPr lang="en-US" sz="1100"/>
          </a:p>
        </p:txBody>
      </p:sp>
      <p:cxnSp>
        <p:nvCxnSpPr>
          <p:cNvPr name="GraphCompose Table Cell Border" id="125"/>
          <p:cNvCxnSpPr/>
          <p:nvPr/>
        </p:nvCxnSpPr>
        <p:spPr>
          <a:xfrm>
            <a:off x="26904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6"/>
          <p:cNvCxnSpPr/>
          <p:nvPr/>
        </p:nvCxnSpPr>
        <p:spPr>
          <a:xfrm>
            <a:off x="26904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33782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27940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Q2 2023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33762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33762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40640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34798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Q3 2023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40620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40620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5"/>
          <p:cNvCxnSpPr/>
          <p:nvPr/>
        </p:nvCxnSpPr>
        <p:spPr>
          <a:xfrm>
            <a:off x="47498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36"/>
          <p:cNvSpPr txBox="true"/>
          <p:nvPr/>
        </p:nvSpPr>
        <p:spPr>
          <a:xfrm>
            <a:off x="41656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Q4 2023</a:t>
            </a:r>
            <a:endParaRPr lang="en-US" sz="1100"/>
          </a:p>
        </p:txBody>
      </p:sp>
      <p:cxnSp>
        <p:nvCxnSpPr>
          <p:cNvPr name="GraphCompose Table Cell Border" id="137"/>
          <p:cNvCxnSpPr/>
          <p:nvPr/>
        </p:nvCxnSpPr>
        <p:spPr>
          <a:xfrm>
            <a:off x="47478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47478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9"/>
          <p:cNvCxnSpPr/>
          <p:nvPr/>
        </p:nvCxnSpPr>
        <p:spPr>
          <a:xfrm>
            <a:off x="54356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40"/>
          <p:cNvSpPr txBox="true"/>
          <p:nvPr/>
        </p:nvSpPr>
        <p:spPr>
          <a:xfrm>
            <a:off x="48514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Q1 2024</a:t>
            </a:r>
            <a:endParaRPr lang="en-US" sz="1100"/>
          </a:p>
        </p:txBody>
      </p:sp>
      <p:cxnSp>
        <p:nvCxnSpPr>
          <p:cNvPr name="GraphCompose Table Cell Border" id="141"/>
          <p:cNvCxnSpPr/>
          <p:nvPr/>
        </p:nvCxnSpPr>
        <p:spPr>
          <a:xfrm>
            <a:off x="5433695" y="6949345"/>
            <a:ext cx="9163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42"/>
          <p:cNvCxnSpPr/>
          <p:nvPr/>
        </p:nvCxnSpPr>
        <p:spPr>
          <a:xfrm>
            <a:off x="5433695" y="7258272"/>
            <a:ext cx="9163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63500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5537200" y="7029539"/>
            <a:ext cx="67449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YoY Change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660400" y="7573073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6604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20066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762000" y="7337278"/>
            <a:ext cx="69850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Revenue (M)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20046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26924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21082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65.2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26904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33782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27940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69.8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33762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40640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34798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74.1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40620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7498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41656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81.3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7478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356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8514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88.2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33695" y="7573073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3500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37200" y="7337278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+35.3%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660400" y="7887875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6604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20066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762000" y="7652079"/>
            <a:ext cx="85257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Gross Profit (M)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20046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26924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21082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28.1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26904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33782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27940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30.7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33762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40640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34798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32.9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40620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47498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41656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36.4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7478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54356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5"/>
          <p:cNvSpPr txBox="true"/>
          <p:nvPr/>
        </p:nvSpPr>
        <p:spPr>
          <a:xfrm>
            <a:off x="48514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39.5</a:t>
            </a:r>
            <a:endParaRPr lang="en-US" sz="1100"/>
          </a:p>
        </p:txBody>
      </p:sp>
      <p:cxnSp>
        <p:nvCxnSpPr>
          <p:cNvPr name="GraphCompose Table Cell Border" id="186"/>
          <p:cNvCxnSpPr/>
          <p:nvPr/>
        </p:nvCxnSpPr>
        <p:spPr>
          <a:xfrm>
            <a:off x="5433695" y="7887875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7"/>
          <p:cNvCxnSpPr/>
          <p:nvPr/>
        </p:nvCxnSpPr>
        <p:spPr>
          <a:xfrm>
            <a:off x="63500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8"/>
          <p:cNvSpPr txBox="true"/>
          <p:nvPr/>
        </p:nvSpPr>
        <p:spPr>
          <a:xfrm>
            <a:off x="5537200" y="7652079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+40.6%</a:t>
            </a:r>
            <a:endParaRPr lang="en-US" sz="1100"/>
          </a:p>
        </p:txBody>
      </p:sp>
      <p:cxnSp>
        <p:nvCxnSpPr>
          <p:cNvPr name="GraphCompose Table Cell Border" id="189"/>
          <p:cNvCxnSpPr/>
          <p:nvPr/>
        </p:nvCxnSpPr>
        <p:spPr>
          <a:xfrm>
            <a:off x="660400" y="8202676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0"/>
          <p:cNvCxnSpPr/>
          <p:nvPr/>
        </p:nvCxnSpPr>
        <p:spPr>
          <a:xfrm>
            <a:off x="6604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20066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762000" y="7966880"/>
            <a:ext cx="58449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Customers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20046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26924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21082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12,650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26904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33782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27940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13,870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33762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0640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1"/>
          <p:cNvSpPr txBox="true"/>
          <p:nvPr/>
        </p:nvSpPr>
        <p:spPr>
          <a:xfrm>
            <a:off x="34798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15,230</a:t>
            </a:r>
            <a:endParaRPr lang="en-US" sz="1100"/>
          </a:p>
        </p:txBody>
      </p:sp>
      <p:cxnSp>
        <p:nvCxnSpPr>
          <p:cNvPr name="GraphCompose Table Cell Border" id="202"/>
          <p:cNvCxnSpPr/>
          <p:nvPr/>
        </p:nvCxnSpPr>
        <p:spPr>
          <a:xfrm>
            <a:off x="40620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3"/>
          <p:cNvCxnSpPr/>
          <p:nvPr/>
        </p:nvCxnSpPr>
        <p:spPr>
          <a:xfrm>
            <a:off x="47498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4"/>
          <p:cNvSpPr txBox="true"/>
          <p:nvPr/>
        </p:nvSpPr>
        <p:spPr>
          <a:xfrm>
            <a:off x="41656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16,710</a:t>
            </a:r>
            <a:endParaRPr lang="en-US" sz="1100"/>
          </a:p>
        </p:txBody>
      </p:sp>
      <p:cxnSp>
        <p:nvCxnSpPr>
          <p:cNvPr name="GraphCompose Table Cell Border" id="205"/>
          <p:cNvCxnSpPr/>
          <p:nvPr/>
        </p:nvCxnSpPr>
        <p:spPr>
          <a:xfrm>
            <a:off x="47478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6"/>
          <p:cNvCxnSpPr/>
          <p:nvPr/>
        </p:nvCxnSpPr>
        <p:spPr>
          <a:xfrm>
            <a:off x="54356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7"/>
          <p:cNvSpPr txBox="true"/>
          <p:nvPr/>
        </p:nvSpPr>
        <p:spPr>
          <a:xfrm>
            <a:off x="48514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18,420</a:t>
            </a:r>
            <a:endParaRPr lang="en-US" sz="1100"/>
          </a:p>
        </p:txBody>
      </p:sp>
      <p:cxnSp>
        <p:nvCxnSpPr>
          <p:cNvPr name="GraphCompose Table Cell Border" id="208"/>
          <p:cNvCxnSpPr/>
          <p:nvPr/>
        </p:nvCxnSpPr>
        <p:spPr>
          <a:xfrm>
            <a:off x="5433695" y="8202676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9"/>
          <p:cNvCxnSpPr/>
          <p:nvPr/>
        </p:nvCxnSpPr>
        <p:spPr>
          <a:xfrm>
            <a:off x="63500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0"/>
          <p:cNvSpPr txBox="true"/>
          <p:nvPr/>
        </p:nvSpPr>
        <p:spPr>
          <a:xfrm>
            <a:off x="5537200" y="7966880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+45.6%</a:t>
            </a:r>
            <a:endParaRPr lang="en-US" sz="1100"/>
          </a:p>
        </p:txBody>
      </p:sp>
      <p:cxnSp>
        <p:nvCxnSpPr>
          <p:cNvPr name="GraphCompose Table Cell Border" id="211"/>
          <p:cNvCxnSpPr/>
          <p:nvPr/>
        </p:nvCxnSpPr>
        <p:spPr>
          <a:xfrm>
            <a:off x="660400" y="8517477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2"/>
          <p:cNvCxnSpPr/>
          <p:nvPr/>
        </p:nvCxnSpPr>
        <p:spPr>
          <a:xfrm>
            <a:off x="6604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20066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762000" y="8281681"/>
            <a:ext cx="80600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Retention Rate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20046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26924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7"/>
          <p:cNvSpPr txBox="true"/>
          <p:nvPr/>
        </p:nvSpPr>
        <p:spPr>
          <a:xfrm>
            <a:off x="21082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95.1%</a:t>
            </a:r>
            <a:endParaRPr lang="en-US" sz="1100"/>
          </a:p>
        </p:txBody>
      </p:sp>
      <p:cxnSp>
        <p:nvCxnSpPr>
          <p:cNvPr name="GraphCompose Table Cell Border" id="218"/>
          <p:cNvCxnSpPr/>
          <p:nvPr/>
        </p:nvCxnSpPr>
        <p:spPr>
          <a:xfrm>
            <a:off x="26904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9"/>
          <p:cNvCxnSpPr/>
          <p:nvPr/>
        </p:nvCxnSpPr>
        <p:spPr>
          <a:xfrm>
            <a:off x="33782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0"/>
          <p:cNvSpPr txBox="true"/>
          <p:nvPr/>
        </p:nvSpPr>
        <p:spPr>
          <a:xfrm>
            <a:off x="27940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95.4%</a:t>
            </a:r>
            <a:endParaRPr lang="en-US" sz="1100"/>
          </a:p>
        </p:txBody>
      </p:sp>
      <p:cxnSp>
        <p:nvCxnSpPr>
          <p:cNvPr name="GraphCompose Table Cell Border" id="221"/>
          <p:cNvCxnSpPr/>
          <p:nvPr/>
        </p:nvCxnSpPr>
        <p:spPr>
          <a:xfrm>
            <a:off x="33762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2"/>
          <p:cNvCxnSpPr/>
          <p:nvPr/>
        </p:nvCxnSpPr>
        <p:spPr>
          <a:xfrm>
            <a:off x="40640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3"/>
          <p:cNvSpPr txBox="true"/>
          <p:nvPr/>
        </p:nvSpPr>
        <p:spPr>
          <a:xfrm>
            <a:off x="34798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96.0%</a:t>
            </a:r>
            <a:endParaRPr lang="en-US" sz="1100"/>
          </a:p>
        </p:txBody>
      </p:sp>
      <p:cxnSp>
        <p:nvCxnSpPr>
          <p:cNvPr name="GraphCompose Table Cell Border" id="224"/>
          <p:cNvCxnSpPr/>
          <p:nvPr/>
        </p:nvCxnSpPr>
        <p:spPr>
          <a:xfrm>
            <a:off x="40620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5"/>
          <p:cNvCxnSpPr/>
          <p:nvPr/>
        </p:nvCxnSpPr>
        <p:spPr>
          <a:xfrm>
            <a:off x="47498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6"/>
          <p:cNvSpPr txBox="true"/>
          <p:nvPr/>
        </p:nvSpPr>
        <p:spPr>
          <a:xfrm>
            <a:off x="41656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96.2%</a:t>
            </a:r>
            <a:endParaRPr lang="en-US" sz="1100"/>
          </a:p>
        </p:txBody>
      </p:sp>
      <p:cxnSp>
        <p:nvCxnSpPr>
          <p:cNvPr name="GraphCompose Table Cell Border" id="227"/>
          <p:cNvCxnSpPr/>
          <p:nvPr/>
        </p:nvCxnSpPr>
        <p:spPr>
          <a:xfrm>
            <a:off x="47478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8"/>
          <p:cNvCxnSpPr/>
          <p:nvPr/>
        </p:nvCxnSpPr>
        <p:spPr>
          <a:xfrm>
            <a:off x="54356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9"/>
          <p:cNvSpPr txBox="true"/>
          <p:nvPr/>
        </p:nvSpPr>
        <p:spPr>
          <a:xfrm>
            <a:off x="48514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96.8%</a:t>
            </a:r>
            <a:endParaRPr lang="en-US" sz="1100"/>
          </a:p>
        </p:txBody>
      </p:sp>
      <p:cxnSp>
        <p:nvCxnSpPr>
          <p:cNvPr name="GraphCompose Table Cell Border" id="230"/>
          <p:cNvCxnSpPr/>
          <p:nvPr/>
        </p:nvCxnSpPr>
        <p:spPr>
          <a:xfrm>
            <a:off x="5433695" y="8517477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31"/>
          <p:cNvCxnSpPr/>
          <p:nvPr/>
        </p:nvCxnSpPr>
        <p:spPr>
          <a:xfrm>
            <a:off x="63500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32"/>
          <p:cNvSpPr txBox="true"/>
          <p:nvPr/>
        </p:nvSpPr>
        <p:spPr>
          <a:xfrm>
            <a:off x="5537200" y="8281681"/>
            <a:ext cx="4071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+1.7 pp</a:t>
            </a:r>
            <a:endParaRPr lang="en-US" sz="1100"/>
          </a:p>
        </p:txBody>
      </p:sp>
      <p:sp>
        <p:nvSpPr>
          <p:cNvPr name="GraphCompose Footer" id="233"/>
          <p:cNvSpPr txBox="true"/>
          <p:nvPr/>
        </p:nvSpPr>
        <p:spPr>
          <a:xfrm>
            <a:off x="508000" y="10320624"/>
            <a:ext cx="1249223" cy="1320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Confidential and proprietary</a:t>
            </a:r>
            <a:endParaRPr lang="en-US" sz="1100"/>
          </a:p>
        </p:txBody>
      </p:sp>
      <p:sp>
        <p:nvSpPr>
          <p:cNvPr name="GraphCompose Footer" id="234"/>
          <p:cNvSpPr txBox="true"/>
          <p:nvPr/>
        </p:nvSpPr>
        <p:spPr>
          <a:xfrm>
            <a:off x="6532317" y="10320624"/>
            <a:ext cx="520954" cy="1320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Page 1 of 1</a:t>
            </a:r>
            <a:endParaRPr lang="en-US" sz="1100"/>
          </a:p>
        </p:txBody>
      </p:sp>
      <p:cxnSp>
        <p:nvCxnSpPr>
          <p:cNvPr name="GraphCompose Footer Separator" id="235"/>
          <p:cNvCxnSpPr/>
          <p:nvPr/>
        </p:nvCxnSpPr>
        <p:spPr>
          <a:xfrm>
            <a:off x="508000" y="10311000"/>
            <a:ext cx="6544001" cy="0"/>
          </a:xfrm>
          <a:prstGeom prst="line">
            <a:avLst/>
          </a:prstGeom>
          <a:ln w="6350">
            <a:solidFill>
              <a:srgbClr val="D4D7D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