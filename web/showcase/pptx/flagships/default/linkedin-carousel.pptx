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6256000" cy="2032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101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203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304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406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7" id="7"/>
          <p:cNvSpPr/>
          <p:nvPr/>
        </p:nvSpPr>
        <p:spPr>
          <a:xfrm>
            <a:off x="508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609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711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0" id="10"/>
          <p:cNvSpPr/>
          <p:nvPr/>
        </p:nvSpPr>
        <p:spPr>
          <a:xfrm>
            <a:off x="812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1" id="11"/>
          <p:cNvSpPr/>
          <p:nvPr/>
        </p:nvSpPr>
        <p:spPr>
          <a:xfrm>
            <a:off x="914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2" id="12"/>
          <p:cNvSpPr/>
          <p:nvPr/>
        </p:nvSpPr>
        <p:spPr>
          <a:xfrm>
            <a:off x="1016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1117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4" id="14"/>
          <p:cNvSpPr/>
          <p:nvPr/>
        </p:nvSpPr>
        <p:spPr>
          <a:xfrm>
            <a:off x="1219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5" id="15"/>
          <p:cNvSpPr/>
          <p:nvPr/>
        </p:nvSpPr>
        <p:spPr>
          <a:xfrm>
            <a:off x="1320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6" id="16"/>
          <p:cNvSpPr/>
          <p:nvPr/>
        </p:nvSpPr>
        <p:spPr>
          <a:xfrm>
            <a:off x="1422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1524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0" y="711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9" id="19"/>
          <p:cNvSpPr/>
          <p:nvPr/>
        </p:nvSpPr>
        <p:spPr>
          <a:xfrm>
            <a:off x="0" y="8128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0" id="20"/>
          <p:cNvSpPr/>
          <p:nvPr/>
        </p:nvSpPr>
        <p:spPr>
          <a:xfrm>
            <a:off x="0" y="9144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0" y="10160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2" id="22"/>
          <p:cNvSpPr/>
          <p:nvPr/>
        </p:nvSpPr>
        <p:spPr>
          <a:xfrm>
            <a:off x="0" y="11176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3" id="23"/>
          <p:cNvSpPr/>
          <p:nvPr/>
        </p:nvSpPr>
        <p:spPr>
          <a:xfrm>
            <a:off x="0" y="1219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0" y="13208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5" id="25"/>
          <p:cNvSpPr/>
          <p:nvPr/>
        </p:nvSpPr>
        <p:spPr>
          <a:xfrm>
            <a:off x="711200" y="6527800"/>
            <a:ext cx="4318000" cy="93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name="GraphCompose Clipped Composite" id="2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77000"/>
            <a:ext cx="4191000" cy="987992"/>
          </a:xfrm>
          <a:prstGeom prst="rect">
            <a:avLst/>
          </a:prstGeom>
        </p:spPr>
      </p:pic>
      <p:sp>
        <p:nvSpPr>
          <p:cNvPr name="GraphCompose Text Line" id="27"/>
          <p:cNvSpPr txBox="true"/>
          <p:nvPr/>
        </p:nvSpPr>
        <p:spPr>
          <a:xfrm>
            <a:off x="762000" y="7373989"/>
            <a:ext cx="3316656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F5F7FC"/>
                </a:solidFill>
                <a:latin typeface="Arial"/>
              </a:rPr>
              <a:t>One layout pass. Two outputs.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762000" y="13508476"/>
            <a:ext cx="3331210" cy="11479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37D6A1"/>
                </a:solidFill>
                <a:latin typeface="Courier New"/>
              </a:rPr>
              <a:t>Java 17+   ·   MIT   ·   Maven Central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787400" y="9906000"/>
            <a:ext cx="1498600" cy="1422400"/>
          </a:xfrm>
          <a:prstGeom prst="roundRect">
            <a:avLst>
              <a:gd name="adj" fmla="val 5357"/>
            </a:avLst>
          </a:prstGeom>
          <a:solidFill>
            <a:srgbClr val="000000">
              <a:alpha val="0"/>
            </a:srgbClr>
          </a:solidFill>
          <a:ln w="11430">
            <a:solidFill>
              <a:srgbClr val="37D6A1">
                <a:alpha val="45098"/>
              </a:srgbClr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990600" y="101600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104900" y="103124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2" id="32"/>
          <p:cNvSpPr/>
          <p:nvPr/>
        </p:nvSpPr>
        <p:spPr>
          <a:xfrm>
            <a:off x="1104900" y="104140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1104900" y="105156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1104900" y="10617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1143000" y="102489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6" id="36"/>
          <p:cNvSpPr/>
          <p:nvPr/>
        </p:nvSpPr>
        <p:spPr>
          <a:xfrm>
            <a:off x="1257300" y="104013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1257300" y="105029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1257300" y="106045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1257300" y="107061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0" id="40"/>
          <p:cNvSpPr/>
          <p:nvPr/>
        </p:nvSpPr>
        <p:spPr>
          <a:xfrm>
            <a:off x="1295400" y="103378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41" id="41"/>
          <p:cNvSpPr/>
          <p:nvPr/>
        </p:nvSpPr>
        <p:spPr>
          <a:xfrm>
            <a:off x="1409700" y="10490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2" id="42"/>
          <p:cNvSpPr/>
          <p:nvPr/>
        </p:nvSpPr>
        <p:spPr>
          <a:xfrm>
            <a:off x="1409700" y="105918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3" id="43"/>
          <p:cNvSpPr/>
          <p:nvPr/>
        </p:nvSpPr>
        <p:spPr>
          <a:xfrm>
            <a:off x="1409700" y="106934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4" id="44"/>
          <p:cNvSpPr/>
          <p:nvPr/>
        </p:nvSpPr>
        <p:spPr>
          <a:xfrm>
            <a:off x="1409700" y="107950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5" id="45"/>
          <p:cNvSpPr/>
          <p:nvPr/>
        </p:nvSpPr>
        <p:spPr>
          <a:xfrm>
            <a:off x="2489200" y="10617200"/>
            <a:ext cx="584200" cy="12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46" id="46"/>
          <p:cNvSpPr/>
          <p:nvPr/>
        </p:nvSpPr>
        <p:spPr>
          <a:xfrm>
            <a:off x="2489200" y="10674350"/>
            <a:ext cx="482600" cy="13970"/>
          </a:xfrm>
          <a:prstGeom prst="rect">
            <a:avLst/>
          </a:prstGeom>
          <a:solidFill>
            <a:srgbClr val="37D6A1">
              <a:alpha val="74902"/>
            </a:srgbClr>
          </a:solidFill>
          <a:ln>
            <a:noFill/>
          </a:ln>
        </p:spPr>
      </p:sp>
      <p:sp>
        <p:nvSpPr>
          <p:cNvPr name="AutoShape 47" id="47"/>
          <p:cNvSpPr/>
          <p:nvPr/>
        </p:nvSpPr>
        <p:spPr>
          <a:xfrm>
            <a:off x="2971800" y="10648950"/>
            <a:ext cx="63500" cy="635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48" id="48"/>
          <p:cNvSpPr/>
          <p:nvPr/>
        </p:nvSpPr>
        <p:spPr>
          <a:xfrm>
            <a:off x="3225800" y="8001000"/>
            <a:ext cx="5283200" cy="5029200"/>
          </a:xfrm>
          <a:prstGeom prst="roundRect">
            <a:avLst>
              <a:gd name="adj" fmla="val 2020"/>
            </a:avLst>
          </a:prstGeom>
          <a:solidFill>
            <a:srgbClr val="0F1428">
              <a:alpha val="66667"/>
            </a:srgbClr>
          </a:solidFill>
          <a:ln w="12700">
            <a:solidFill>
              <a:srgbClr val="7C5CFC">
                <a:alpha val="41961"/>
              </a:srgbClr>
            </a:solidFill>
          </a:ln>
        </p:spPr>
      </p:sp>
      <p:sp>
        <p:nvSpPr>
          <p:cNvPr name="AutoShape 49" id="49"/>
          <p:cNvSpPr/>
          <p:nvPr/>
        </p:nvSpPr>
        <p:spPr>
          <a:xfrm>
            <a:off x="5406644" y="8331200"/>
            <a:ext cx="863600" cy="381000"/>
          </a:xfrm>
          <a:prstGeom prst="roundRect">
            <a:avLst>
              <a:gd name="adj" fmla="val 13333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B59FFF"/>
            </a:solidFill>
          </a:ln>
        </p:spPr>
      </p:sp>
      <p:sp>
        <p:nvSpPr>
          <p:cNvPr name="AutoShape 50" id="50"/>
          <p:cNvSpPr/>
          <p:nvPr/>
        </p:nvSpPr>
        <p:spPr>
          <a:xfrm>
            <a:off x="5508244" y="8432800"/>
            <a:ext cx="474980" cy="38100"/>
          </a:xfrm>
          <a:prstGeom prst="rect">
            <a:avLst/>
          </a:prstGeom>
          <a:solidFill>
            <a:srgbClr val="B59FFF">
              <a:alpha val="54902"/>
            </a:srgbClr>
          </a:solidFill>
          <a:ln>
            <a:noFill/>
          </a:ln>
        </p:spPr>
      </p:sp>
      <p:sp>
        <p:nvSpPr>
          <p:cNvPr name="AutoShape 51" id="51"/>
          <p:cNvSpPr/>
          <p:nvPr/>
        </p:nvSpPr>
        <p:spPr>
          <a:xfrm>
            <a:off x="5508244" y="8534400"/>
            <a:ext cx="310896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2" id="52"/>
          <p:cNvSpPr/>
          <p:nvPr/>
        </p:nvSpPr>
        <p:spPr>
          <a:xfrm>
            <a:off x="5838444" y="8712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3" id="53"/>
          <p:cNvSpPr/>
          <p:nvPr/>
        </p:nvSpPr>
        <p:spPr>
          <a:xfrm>
            <a:off x="4359148" y="8966200"/>
            <a:ext cx="2958592" cy="127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4" id="54"/>
          <p:cNvSpPr/>
          <p:nvPr/>
        </p:nvSpPr>
        <p:spPr>
          <a:xfrm>
            <a:off x="4359148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5" id="55"/>
          <p:cNvSpPr/>
          <p:nvPr/>
        </p:nvSpPr>
        <p:spPr>
          <a:xfrm>
            <a:off x="3965448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56" id="56"/>
          <p:cNvSpPr/>
          <p:nvPr/>
        </p:nvSpPr>
        <p:spPr>
          <a:xfrm>
            <a:off x="4067048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57" id="57"/>
          <p:cNvSpPr/>
          <p:nvPr/>
        </p:nvSpPr>
        <p:spPr>
          <a:xfrm>
            <a:off x="4067048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4359148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3990848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39908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38765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2" id="62"/>
          <p:cNvSpPr/>
          <p:nvPr/>
        </p:nvSpPr>
        <p:spPr>
          <a:xfrm>
            <a:off x="43591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42448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4" id="64"/>
          <p:cNvSpPr/>
          <p:nvPr/>
        </p:nvSpPr>
        <p:spPr>
          <a:xfrm>
            <a:off x="47274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46131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6" id="66"/>
          <p:cNvSpPr/>
          <p:nvPr/>
        </p:nvSpPr>
        <p:spPr>
          <a:xfrm>
            <a:off x="5838444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5444744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68" id="68"/>
          <p:cNvSpPr/>
          <p:nvPr/>
        </p:nvSpPr>
        <p:spPr>
          <a:xfrm>
            <a:off x="5546344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5546344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5838444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5470144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2" id="72"/>
          <p:cNvSpPr/>
          <p:nvPr/>
        </p:nvSpPr>
        <p:spPr>
          <a:xfrm>
            <a:off x="54701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3" id="73"/>
          <p:cNvSpPr/>
          <p:nvPr/>
        </p:nvSpPr>
        <p:spPr>
          <a:xfrm>
            <a:off x="53558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4" id="74"/>
          <p:cNvSpPr/>
          <p:nvPr/>
        </p:nvSpPr>
        <p:spPr>
          <a:xfrm>
            <a:off x="58384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5" id="75"/>
          <p:cNvSpPr/>
          <p:nvPr/>
        </p:nvSpPr>
        <p:spPr>
          <a:xfrm>
            <a:off x="57241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6" id="76"/>
          <p:cNvSpPr/>
          <p:nvPr/>
        </p:nvSpPr>
        <p:spPr>
          <a:xfrm>
            <a:off x="62067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7" id="77"/>
          <p:cNvSpPr/>
          <p:nvPr/>
        </p:nvSpPr>
        <p:spPr>
          <a:xfrm>
            <a:off x="60924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8" id="78"/>
          <p:cNvSpPr/>
          <p:nvPr/>
        </p:nvSpPr>
        <p:spPr>
          <a:xfrm>
            <a:off x="7317740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79" id="79"/>
          <p:cNvSpPr/>
          <p:nvPr/>
        </p:nvSpPr>
        <p:spPr>
          <a:xfrm>
            <a:off x="6924040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80" id="80"/>
          <p:cNvSpPr/>
          <p:nvPr/>
        </p:nvSpPr>
        <p:spPr>
          <a:xfrm>
            <a:off x="7025640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81" id="81"/>
          <p:cNvSpPr/>
          <p:nvPr/>
        </p:nvSpPr>
        <p:spPr>
          <a:xfrm>
            <a:off x="7025640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82" id="82"/>
          <p:cNvSpPr/>
          <p:nvPr/>
        </p:nvSpPr>
        <p:spPr>
          <a:xfrm>
            <a:off x="7317740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3" id="83"/>
          <p:cNvSpPr/>
          <p:nvPr/>
        </p:nvSpPr>
        <p:spPr>
          <a:xfrm>
            <a:off x="6949440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69494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68351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6" id="86"/>
          <p:cNvSpPr/>
          <p:nvPr/>
        </p:nvSpPr>
        <p:spPr>
          <a:xfrm>
            <a:off x="73177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72034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8" id="88"/>
          <p:cNvSpPr/>
          <p:nvPr/>
        </p:nvSpPr>
        <p:spPr>
          <a:xfrm>
            <a:off x="76860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75717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90" id="90"/>
          <p:cNvSpPr/>
          <p:nvPr/>
        </p:nvSpPr>
        <p:spPr>
          <a:xfrm>
            <a:off x="3581400" y="10744200"/>
            <a:ext cx="4572000" cy="12700"/>
          </a:xfrm>
          <a:prstGeom prst="rect">
            <a:avLst/>
          </a:prstGeom>
          <a:solidFill>
            <a:srgbClr val="7C5CFC">
              <a:alpha val="27843"/>
            </a:srgbClr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3606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4114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3" id="93"/>
          <p:cNvSpPr/>
          <p:nvPr/>
        </p:nvSpPr>
        <p:spPr>
          <a:xfrm>
            <a:off x="4622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4" id="94"/>
          <p:cNvSpPr/>
          <p:nvPr/>
        </p:nvSpPr>
        <p:spPr>
          <a:xfrm>
            <a:off x="5130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5" id="95"/>
          <p:cNvSpPr/>
          <p:nvPr/>
        </p:nvSpPr>
        <p:spPr>
          <a:xfrm>
            <a:off x="5638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6" id="96"/>
          <p:cNvSpPr/>
          <p:nvPr/>
        </p:nvSpPr>
        <p:spPr>
          <a:xfrm>
            <a:off x="6146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7" id="97"/>
          <p:cNvSpPr/>
          <p:nvPr/>
        </p:nvSpPr>
        <p:spPr>
          <a:xfrm>
            <a:off x="6654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8" id="98"/>
          <p:cNvSpPr/>
          <p:nvPr/>
        </p:nvSpPr>
        <p:spPr>
          <a:xfrm>
            <a:off x="7162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9" id="99"/>
          <p:cNvSpPr/>
          <p:nvPr/>
        </p:nvSpPr>
        <p:spPr>
          <a:xfrm>
            <a:off x="7670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100" id="100"/>
          <p:cNvSpPr/>
          <p:nvPr/>
        </p:nvSpPr>
        <p:spPr>
          <a:xfrm>
            <a:off x="36068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1" id="101"/>
          <p:cNvSpPr/>
          <p:nvPr/>
        </p:nvSpPr>
        <p:spPr>
          <a:xfrm>
            <a:off x="42672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49276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3" id="103"/>
          <p:cNvSpPr/>
          <p:nvPr/>
        </p:nvSpPr>
        <p:spPr>
          <a:xfrm>
            <a:off x="55880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4" id="104"/>
          <p:cNvSpPr/>
          <p:nvPr/>
        </p:nvSpPr>
        <p:spPr>
          <a:xfrm>
            <a:off x="62484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69088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6" id="106"/>
          <p:cNvSpPr/>
          <p:nvPr/>
        </p:nvSpPr>
        <p:spPr>
          <a:xfrm>
            <a:off x="75692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7" id="107"/>
          <p:cNvSpPr/>
          <p:nvPr/>
        </p:nvSpPr>
        <p:spPr>
          <a:xfrm>
            <a:off x="36068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45212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54356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0" id="110"/>
          <p:cNvSpPr/>
          <p:nvPr/>
        </p:nvSpPr>
        <p:spPr>
          <a:xfrm>
            <a:off x="63500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1" id="111"/>
          <p:cNvSpPr/>
          <p:nvPr/>
        </p:nvSpPr>
        <p:spPr>
          <a:xfrm>
            <a:off x="72644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3581400" y="11963400"/>
            <a:ext cx="4572000" cy="12700"/>
          </a:xfrm>
          <a:prstGeom prst="rect">
            <a:avLst/>
          </a:prstGeom>
          <a:solidFill>
            <a:srgbClr val="7C5CFC">
              <a:alpha val="21961"/>
            </a:srgbClr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3581400" y="12116645"/>
            <a:ext cx="217297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Courier New"/>
              </a:rPr>
              <a:t>measure  ·  paginate  ·  place</a:t>
            </a:r>
            <a:endParaRPr lang="en-US" sz="1100"/>
          </a:p>
        </p:txBody>
      </p:sp>
      <p:sp>
        <p:nvSpPr>
          <p:cNvPr name="GraphCompose Text Line" id="114"/>
          <p:cNvSpPr txBox="true"/>
          <p:nvPr/>
        </p:nvSpPr>
        <p:spPr>
          <a:xfrm>
            <a:off x="3276600" y="7642368"/>
            <a:ext cx="176149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B59FFF"/>
                </a:solidFill>
                <a:latin typeface="Courier New"/>
              </a:rPr>
              <a:t>RESOLVED LAYOUT GRAPH</a:t>
            </a:r>
            <a:endParaRPr lang="en-US" sz="1100"/>
          </a:p>
        </p:txBody>
      </p:sp>
      <p:sp>
        <p:nvSpPr>
          <p:cNvPr name="Freeform 115" id="115"/>
          <p:cNvSpPr/>
          <p:nvPr/>
        </p:nvSpPr>
        <p:spPr>
          <a:xfrm>
            <a:off x="8509000" y="7289800"/>
            <a:ext cx="1422400" cy="2921000"/>
          </a:xfrm>
          <a:custGeom>
            <a:avLst/>
            <a:gdLst/>
            <a:ahLst/>
            <a:cxnLst/>
            <a:rect r="r" b="b" t="t" l="l"/>
            <a:pathLst>
              <a:path h="2921000" w="1422400">
                <a:moveTo>
                  <a:pt x="0" y="1968500"/>
                </a:moveTo>
                <a:lnTo>
                  <a:pt x="1422400" y="0"/>
                </a:lnTo>
                <a:lnTo>
                  <a:pt x="1422400" y="2921000"/>
                </a:lnTo>
                <a:close/>
              </a:path>
            </a:pathLst>
          </a:custGeom>
          <a:solidFill>
            <a:srgbClr val="7C5CFC">
              <a:alpha val="14902"/>
            </a:srgbClr>
          </a:solidFill>
          <a:ln cap="flat">
            <a:noFill/>
            <a:miter/>
          </a:ln>
        </p:spPr>
      </p:sp>
      <p:sp>
        <p:nvSpPr>
          <p:cNvPr name="Freeform 116" id="116"/>
          <p:cNvSpPr/>
          <p:nvPr/>
        </p:nvSpPr>
        <p:spPr>
          <a:xfrm>
            <a:off x="8509000" y="11249660"/>
            <a:ext cx="1422400" cy="2240280"/>
          </a:xfrm>
          <a:custGeom>
            <a:avLst/>
            <a:gdLst/>
            <a:ahLst/>
            <a:cxnLst/>
            <a:rect r="r" b="b" t="t" l="l"/>
            <a:pathLst>
              <a:path h="2240280" w="1422400">
                <a:moveTo>
                  <a:pt x="0" y="572516"/>
                </a:moveTo>
                <a:lnTo>
                  <a:pt x="1422400" y="0"/>
                </a:lnTo>
                <a:lnTo>
                  <a:pt x="1422400" y="2240280"/>
                </a:lnTo>
                <a:close/>
              </a:path>
            </a:pathLst>
          </a:custGeom>
          <a:solidFill>
            <a:srgbClr val="37D6A1">
              <a:alpha val="12941"/>
            </a:srgbClr>
          </a:solidFill>
          <a:ln cap="flat">
            <a:noFill/>
            <a:miter/>
          </a:ln>
        </p:spPr>
      </p:sp>
      <p:sp>
        <p:nvSpPr>
          <p:cNvPr name="AutoShape 117" id="117"/>
          <p:cNvSpPr/>
          <p:nvPr/>
        </p:nvSpPr>
        <p:spPr>
          <a:xfrm>
            <a:off x="8458200" y="9220200"/>
            <a:ext cx="101600" cy="1016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AutoShape 118" id="118"/>
          <p:cNvSpPr/>
          <p:nvPr/>
        </p:nvSpPr>
        <p:spPr>
          <a:xfrm>
            <a:off x="8458200" y="11785600"/>
            <a:ext cx="101600" cy="1016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119" id="119"/>
          <p:cNvSpPr/>
          <p:nvPr/>
        </p:nvSpPr>
        <p:spPr>
          <a:xfrm>
            <a:off x="9931400" y="7162800"/>
            <a:ext cx="2413000" cy="3175000"/>
          </a:xfrm>
          <a:prstGeom prst="roundRect">
            <a:avLst>
              <a:gd name="adj" fmla="val 3158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7C5CFC"/>
            </a:solidFill>
          </a:ln>
        </p:spPr>
      </p:sp>
      <p:sp>
        <p:nvSpPr>
          <p:cNvPr name="AutoShape 120" id="120"/>
          <p:cNvSpPr/>
          <p:nvPr/>
        </p:nvSpPr>
        <p:spPr>
          <a:xfrm>
            <a:off x="10109200" y="7340600"/>
            <a:ext cx="2057400" cy="281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10109200" y="73096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22"/>
          <p:cNvSpPr txBox="true"/>
          <p:nvPr/>
        </p:nvSpPr>
        <p:spPr>
          <a:xfrm>
            <a:off x="10109200" y="7562715"/>
            <a:ext cx="1940357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</a:t>
            </a:r>
            <a:endParaRPr lang="en-US" sz="1100"/>
          </a:p>
        </p:txBody>
      </p:sp>
      <p:sp>
        <p:nvSpPr>
          <p:cNvPr name="GraphCompose Text Line" id="123"/>
          <p:cNvSpPr txBox="true"/>
          <p:nvPr/>
        </p:nvSpPr>
        <p:spPr>
          <a:xfrm>
            <a:off x="10109200" y="7659044"/>
            <a:ext cx="267452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twice.</a:t>
            </a:r>
            <a:endParaRPr lang="en-US" sz="1100"/>
          </a:p>
        </p:txBody>
      </p:sp>
      <p:cxnSp>
        <p:nvCxnSpPr>
          <p:cNvPr name="Connector 124" id="124"/>
          <p:cNvCxnSpPr/>
          <p:nvPr/>
        </p:nvCxnSpPr>
        <p:spPr>
          <a:xfrm flipV="false">
            <a:off x="10274300" y="93129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5"/>
          <p:cNvSpPr txBox="true"/>
          <p:nvPr/>
        </p:nvSpPr>
        <p:spPr>
          <a:xfrm>
            <a:off x="10166350" y="9266950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26" id="126"/>
          <p:cNvCxnSpPr/>
          <p:nvPr/>
        </p:nvCxnSpPr>
        <p:spPr>
          <a:xfrm flipV="false">
            <a:off x="10274300" y="895998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7"/>
          <p:cNvSpPr txBox="true"/>
          <p:nvPr/>
        </p:nvSpPr>
        <p:spPr>
          <a:xfrm>
            <a:off x="10109200" y="89140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28" id="128"/>
          <p:cNvCxnSpPr/>
          <p:nvPr/>
        </p:nvCxnSpPr>
        <p:spPr>
          <a:xfrm flipV="false">
            <a:off x="10274300" y="860706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9"/>
          <p:cNvSpPr txBox="true"/>
          <p:nvPr/>
        </p:nvSpPr>
        <p:spPr>
          <a:xfrm>
            <a:off x="10109200" y="856110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30" id="130"/>
          <p:cNvCxnSpPr/>
          <p:nvPr/>
        </p:nvCxnSpPr>
        <p:spPr>
          <a:xfrm flipV="false">
            <a:off x="10274300" y="825413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1"/>
          <p:cNvSpPr txBox="true"/>
          <p:nvPr/>
        </p:nvSpPr>
        <p:spPr>
          <a:xfrm>
            <a:off x="10109200" y="820817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32" id="132"/>
          <p:cNvCxnSpPr/>
          <p:nvPr/>
        </p:nvCxnSpPr>
        <p:spPr>
          <a:xfrm flipV="false">
            <a:off x="10274300" y="79012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3"/>
          <p:cNvSpPr txBox="true"/>
          <p:nvPr/>
        </p:nvSpPr>
        <p:spPr>
          <a:xfrm>
            <a:off x="10109200" y="785525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34" id="134"/>
          <p:cNvSpPr/>
          <p:nvPr/>
        </p:nvSpPr>
        <p:spPr>
          <a:xfrm>
            <a:off x="10398955" y="8571767"/>
            <a:ext cx="223764" cy="74114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5" id="135"/>
          <p:cNvSpPr/>
          <p:nvPr/>
        </p:nvSpPr>
        <p:spPr>
          <a:xfrm>
            <a:off x="10872030" y="8289427"/>
            <a:ext cx="223764" cy="102348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6" id="136"/>
          <p:cNvSpPr/>
          <p:nvPr/>
        </p:nvSpPr>
        <p:spPr>
          <a:xfrm>
            <a:off x="11345105" y="8412951"/>
            <a:ext cx="223764" cy="899959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7" id="137"/>
          <p:cNvSpPr/>
          <p:nvPr/>
        </p:nvSpPr>
        <p:spPr>
          <a:xfrm>
            <a:off x="11818180" y="8007087"/>
            <a:ext cx="223764" cy="130582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GraphCompose Text Line" id="138"/>
          <p:cNvSpPr txBox="true"/>
          <p:nvPr/>
        </p:nvSpPr>
        <p:spPr>
          <a:xfrm>
            <a:off x="10453688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39"/>
          <p:cNvSpPr txBox="true"/>
          <p:nvPr/>
        </p:nvSpPr>
        <p:spPr>
          <a:xfrm>
            <a:off x="10926762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40"/>
          <p:cNvSpPr txBox="true"/>
          <p:nvPr/>
        </p:nvSpPr>
        <p:spPr>
          <a:xfrm>
            <a:off x="11399838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41"/>
          <p:cNvSpPr txBox="true"/>
          <p:nvPr/>
        </p:nvSpPr>
        <p:spPr>
          <a:xfrm>
            <a:off x="11872912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42" id="142"/>
          <p:cNvSpPr/>
          <p:nvPr/>
        </p:nvSpPr>
        <p:spPr>
          <a:xfrm>
            <a:off x="10109200" y="9527477"/>
            <a:ext cx="2057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43" id="143"/>
          <p:cNvSpPr/>
          <p:nvPr/>
        </p:nvSpPr>
        <p:spPr>
          <a:xfrm>
            <a:off x="10109200" y="9527477"/>
            <a:ext cx="2057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10109200" y="9667177"/>
            <a:ext cx="193395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5" id="145"/>
          <p:cNvSpPr/>
          <p:nvPr/>
        </p:nvSpPr>
        <p:spPr>
          <a:xfrm>
            <a:off x="10109200" y="9806877"/>
            <a:ext cx="199567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10109200" y="9946577"/>
            <a:ext cx="127558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7" id="147"/>
          <p:cNvSpPr/>
          <p:nvPr/>
        </p:nvSpPr>
        <p:spPr>
          <a:xfrm>
            <a:off x="9931400" y="11125200"/>
            <a:ext cx="5080000" cy="2489200"/>
          </a:xfrm>
          <a:prstGeom prst="roundRect">
            <a:avLst>
              <a:gd name="adj" fmla="val 3061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37D6A1"/>
            </a:solidFill>
          </a:ln>
        </p:spPr>
      </p:sp>
      <p:sp>
        <p:nvSpPr>
          <p:cNvPr name="AutoShape 148" id="148"/>
          <p:cNvSpPr/>
          <p:nvPr/>
        </p:nvSpPr>
        <p:spPr>
          <a:xfrm>
            <a:off x="10109200" y="11303000"/>
            <a:ext cx="4724400" cy="213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49"/>
          <p:cNvSpPr txBox="true"/>
          <p:nvPr/>
        </p:nvSpPr>
        <p:spPr>
          <a:xfrm>
            <a:off x="10109200" y="112720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50"/>
          <p:cNvSpPr txBox="true"/>
          <p:nvPr/>
        </p:nvSpPr>
        <p:spPr>
          <a:xfrm>
            <a:off x="10109200" y="11525115"/>
            <a:ext cx="2235490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 twice.</a:t>
            </a:r>
            <a:endParaRPr lang="en-US" sz="1100"/>
          </a:p>
        </p:txBody>
      </p:sp>
      <p:cxnSp>
        <p:nvCxnSpPr>
          <p:cNvPr name="Connector 151" id="151"/>
          <p:cNvCxnSpPr/>
          <p:nvPr/>
        </p:nvCxnSpPr>
        <p:spPr>
          <a:xfrm flipV="false">
            <a:off x="10274300" y="12493181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2"/>
          <p:cNvSpPr txBox="true"/>
          <p:nvPr/>
        </p:nvSpPr>
        <p:spPr>
          <a:xfrm>
            <a:off x="10166350" y="12447221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53" id="153"/>
          <p:cNvCxnSpPr/>
          <p:nvPr/>
        </p:nvCxnSpPr>
        <p:spPr>
          <a:xfrm flipV="false">
            <a:off x="10274300" y="1231170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4"/>
          <p:cNvSpPr txBox="true"/>
          <p:nvPr/>
        </p:nvSpPr>
        <p:spPr>
          <a:xfrm>
            <a:off x="10109200" y="1226574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55" id="155"/>
          <p:cNvCxnSpPr/>
          <p:nvPr/>
        </p:nvCxnSpPr>
        <p:spPr>
          <a:xfrm flipV="false">
            <a:off x="10274300" y="1213023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6"/>
          <p:cNvSpPr txBox="true"/>
          <p:nvPr/>
        </p:nvSpPr>
        <p:spPr>
          <a:xfrm>
            <a:off x="10109200" y="1208427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57" id="157"/>
          <p:cNvCxnSpPr/>
          <p:nvPr/>
        </p:nvCxnSpPr>
        <p:spPr>
          <a:xfrm flipV="false">
            <a:off x="10274300" y="1194875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8"/>
          <p:cNvSpPr txBox="true"/>
          <p:nvPr/>
        </p:nvSpPr>
        <p:spPr>
          <a:xfrm>
            <a:off x="10109200" y="119027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59" id="159"/>
          <p:cNvCxnSpPr/>
          <p:nvPr/>
        </p:nvCxnSpPr>
        <p:spPr>
          <a:xfrm flipV="false">
            <a:off x="10274300" y="1176728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0"/>
          <p:cNvSpPr txBox="true"/>
          <p:nvPr/>
        </p:nvSpPr>
        <p:spPr>
          <a:xfrm>
            <a:off x="10109200" y="1172132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61" id="161"/>
          <p:cNvSpPr/>
          <p:nvPr/>
        </p:nvSpPr>
        <p:spPr>
          <a:xfrm>
            <a:off x="10574644" y="12112083"/>
            <a:ext cx="539137" cy="381098"/>
          </a:xfrm>
          <a:prstGeom prst="roundRect">
            <a:avLst>
              <a:gd name="adj" fmla="val 4999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2" id="162"/>
          <p:cNvSpPr/>
          <p:nvPr/>
        </p:nvSpPr>
        <p:spPr>
          <a:xfrm>
            <a:off x="11714469" y="11966903"/>
            <a:ext cx="539137" cy="526278"/>
          </a:xfrm>
          <a:prstGeom prst="roundRect">
            <a:avLst>
              <a:gd name="adj" fmla="val 3620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3" id="163"/>
          <p:cNvSpPr/>
          <p:nvPr/>
        </p:nvSpPr>
        <p:spPr>
          <a:xfrm>
            <a:off x="12854294" y="12030419"/>
            <a:ext cx="539137" cy="462761"/>
          </a:xfrm>
          <a:prstGeom prst="roundRect">
            <a:avLst>
              <a:gd name="adj" fmla="val 4117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4" id="164"/>
          <p:cNvSpPr/>
          <p:nvPr/>
        </p:nvSpPr>
        <p:spPr>
          <a:xfrm>
            <a:off x="13994119" y="11821723"/>
            <a:ext cx="539137" cy="671458"/>
          </a:xfrm>
          <a:prstGeom prst="roundRect">
            <a:avLst>
              <a:gd name="adj" fmla="val 3533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165"/>
          <p:cNvSpPr txBox="true"/>
          <p:nvPr/>
        </p:nvSpPr>
        <p:spPr>
          <a:xfrm>
            <a:off x="10787062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66"/>
          <p:cNvSpPr txBox="true"/>
          <p:nvPr/>
        </p:nvSpPr>
        <p:spPr>
          <a:xfrm>
            <a:off x="11926888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67"/>
          <p:cNvSpPr txBox="true"/>
          <p:nvPr/>
        </p:nvSpPr>
        <p:spPr>
          <a:xfrm>
            <a:off x="13066712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68"/>
          <p:cNvSpPr txBox="true"/>
          <p:nvPr/>
        </p:nvSpPr>
        <p:spPr>
          <a:xfrm>
            <a:off x="14206538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69" id="169"/>
          <p:cNvSpPr/>
          <p:nvPr/>
        </p:nvSpPr>
        <p:spPr>
          <a:xfrm>
            <a:off x="10109200" y="12707747"/>
            <a:ext cx="4724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70" id="170"/>
          <p:cNvSpPr/>
          <p:nvPr/>
        </p:nvSpPr>
        <p:spPr>
          <a:xfrm>
            <a:off x="10109200" y="12707747"/>
            <a:ext cx="4724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1" id="171"/>
          <p:cNvSpPr/>
          <p:nvPr/>
        </p:nvSpPr>
        <p:spPr>
          <a:xfrm>
            <a:off x="10109200" y="12847447"/>
            <a:ext cx="444093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2" id="172"/>
          <p:cNvSpPr/>
          <p:nvPr/>
        </p:nvSpPr>
        <p:spPr>
          <a:xfrm>
            <a:off x="10109200" y="12987147"/>
            <a:ext cx="458266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3" id="173"/>
          <p:cNvSpPr/>
          <p:nvPr/>
        </p:nvSpPr>
        <p:spPr>
          <a:xfrm>
            <a:off x="10109200" y="13126847"/>
            <a:ext cx="292912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GraphCompose Text Line" id="174"/>
          <p:cNvSpPr txBox="true"/>
          <p:nvPr/>
        </p:nvSpPr>
        <p:spPr>
          <a:xfrm>
            <a:off x="9982200" y="6776184"/>
            <a:ext cx="27559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B59FFF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GraphCompose Text Line" id="175"/>
          <p:cNvSpPr txBox="true"/>
          <p:nvPr/>
        </p:nvSpPr>
        <p:spPr>
          <a:xfrm>
            <a:off x="9982200" y="10738584"/>
            <a:ext cx="36703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37D6A1"/>
                </a:solidFill>
                <a:latin typeface="Courier New"/>
              </a:rPr>
              <a:t>PPTX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758212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B59FFF"/>
                </a:solidFill>
                <a:latin typeface="Courier New"/>
              </a:rPr>
              <a:t>GRAPHCOMPOSE 2.1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982568"/>
            <a:ext cx="3756406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false" i="false" u="none" strike="noStrike" kern="0">
                <a:solidFill>
                  <a:srgbClr val="F5F7FC"/>
                </a:solidFill>
                <a:latin typeface="Arial"/>
              </a:rPr>
              <a:t>One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3833480"/>
            <a:ext cx="11153428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false" i="false" u="none" strike="noStrike" kern="0">
                <a:solidFill>
                  <a:srgbClr val="F5F7FC"/>
                </a:solidFill>
                <a:latin typeface="Arial"/>
              </a:rPr>
              <a:t>composition.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1204148" y="5684393"/>
            <a:ext cx="11483244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false" i="false" u="none" strike="noStrike" kern="0">
                <a:solidFill>
                  <a:srgbClr val="F5F7FC"/>
                </a:solidFill>
                <a:latin typeface="Arial"/>
              </a:rPr>
              <a:t>Two formats.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204148" y="8915011"/>
            <a:ext cx="2408296" cy="105363"/>
          </a:xfrm>
          <a:prstGeom prst="rect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8"/>
          <p:cNvSpPr txBox="true"/>
          <p:nvPr/>
        </p:nvSpPr>
        <p:spPr>
          <a:xfrm>
            <a:off x="1204148" y="9928325"/>
            <a:ext cx="13086146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A Java DSL describes the document. The engine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204148" y="10503658"/>
            <a:ext cx="1291997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resolves layout and pagination once, then hands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204148" y="11078992"/>
            <a:ext cx="13018111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the same fragments to every backend — so PDF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204148" y="11654325"/>
            <a:ext cx="1288505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and PowerPoint are the same geometry, not two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204148" y="12229659"/>
            <a:ext cx="5088194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hand-kept designs.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204148" y="13742233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14"/>
          <p:cNvSpPr txBox="true"/>
          <p:nvPr/>
        </p:nvSpPr>
        <p:spPr>
          <a:xfrm>
            <a:off x="2598953" y="13889180"/>
            <a:ext cx="1687077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false" i="false" u="none" strike="noStrike" kern="0">
                <a:solidFill>
                  <a:srgbClr val="37D6A1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978817" y="14774113"/>
            <a:ext cx="292735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fixed layout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2818710" y="15196108"/>
            <a:ext cx="1247563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PDFBox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5890291" y="13742233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18"/>
          <p:cNvSpPr txBox="true"/>
          <p:nvPr/>
        </p:nvSpPr>
        <p:spPr>
          <a:xfrm>
            <a:off x="7027168" y="13889180"/>
            <a:ext cx="2202934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false" i="false" u="none" strike="noStrike" kern="0">
                <a:solidFill>
                  <a:srgbClr val="B59FFF"/>
                </a:solidFill>
                <a:latin typeface="Arial"/>
              </a:rPr>
              <a:t>PPTX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664960" y="14774113"/>
            <a:ext cx="292735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fixed layout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7089422" y="15196108"/>
            <a:ext cx="2078426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Apache POI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10576435" y="13742233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22"/>
          <p:cNvSpPr txBox="true"/>
          <p:nvPr/>
        </p:nvSpPr>
        <p:spPr>
          <a:xfrm>
            <a:off x="11596569" y="13889180"/>
            <a:ext cx="2436419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false" i="false" u="none" strike="noStrike" kern="0">
                <a:solidFill>
                  <a:srgbClr val="E6A044"/>
                </a:solidFill>
                <a:latin typeface="Arial"/>
              </a:rPr>
              <a:t>DOCX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1838783" y="14774113"/>
            <a:ext cx="195199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semantic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11775565" y="15196108"/>
            <a:ext cx="2078426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Apache POI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1204148" y="16714673"/>
            <a:ext cx="10289151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This carousel is a GraphCompose document. So is the deck it links to.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053786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37D6A1"/>
                </a:solidFill>
                <a:latin typeface="Courier New"/>
              </a:rPr>
              <a:t>WHAT 2.1 ADDS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732161"/>
            <a:ext cx="8575618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false" i="false" u="none" strike="noStrike" kern="0">
                <a:solidFill>
                  <a:srgbClr val="F5F7FC"/>
                </a:solidFill>
                <a:latin typeface="Arial"/>
              </a:rPr>
              <a:t>PowerPoint is a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2887306"/>
            <a:ext cx="10563997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false" i="false" u="none" strike="noStrike" kern="0">
                <a:solidFill>
                  <a:srgbClr val="F5F7FC"/>
                </a:solidFill>
                <a:latin typeface="Arial"/>
              </a:rPr>
              <a:t>first-class backend.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4711687"/>
            <a:ext cx="13847704" cy="3253364"/>
          </a:xfrm>
          <a:prstGeom prst="roundRect">
            <a:avLst>
              <a:gd name="adj" fmla="val 12029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1204148" y="4711687"/>
            <a:ext cx="0" cy="3253364"/>
          </a:xfrm>
          <a:prstGeom prst="line">
            <a:avLst/>
          </a:prstGeom>
          <a:ln w="60207">
            <a:solidFill>
              <a:srgbClr val="37D6A1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655704" y="5140801"/>
            <a:ext cx="6259228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Fixed layout, not export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655704" y="5821856"/>
            <a:ext cx="8902333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PptxFixedLayoutBackend implements the same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655704" y="6229479"/>
            <a:ext cx="1084691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FixedLayoutRenderer contract as the PDF backend and is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655704" y="6637102"/>
            <a:ext cx="12931834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discovered through the same ServiceLoader SPI. It consumes placed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655704" y="7044725"/>
            <a:ext cx="8667584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fragments, so it never re-flows your document.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204148" y="8416606"/>
            <a:ext cx="13847704" cy="2845741"/>
          </a:xfrm>
          <a:prstGeom prst="roundRect">
            <a:avLst>
              <a:gd name="adj" fmla="val 13752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14" id="14"/>
          <p:cNvCxnSpPr/>
          <p:nvPr/>
        </p:nvCxnSpPr>
        <p:spPr>
          <a:xfrm>
            <a:off x="1204148" y="8416606"/>
            <a:ext cx="0" cy="2845741"/>
          </a:xfrm>
          <a:prstGeom prst="line">
            <a:avLst/>
          </a:prstGeom>
          <a:ln w="60207">
            <a:solidFill>
              <a:srgbClr val="B59FFF"/>
            </a:solidFill>
          </a:ln>
        </p:spPr>
      </p:cxnSp>
      <p:sp>
        <p:nvSpPr>
          <p:cNvPr name="GraphCompose Text Line" id="15"/>
          <p:cNvSpPr txBox="true"/>
          <p:nvPr/>
        </p:nvSpPr>
        <p:spPr>
          <a:xfrm>
            <a:off x="1655704" y="8845720"/>
            <a:ext cx="8400805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Native shapes, not screenshots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526776"/>
            <a:ext cx="11385106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Text stays text, rectangles stay rectangles, charts stay drawn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9934399"/>
            <a:ext cx="1274428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geometry. The deck opens editable in PowerPoint instead of arriving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655704" y="10342021"/>
            <a:ext cx="358571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as a picture of one.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204148" y="11713902"/>
            <a:ext cx="13847704" cy="2438118"/>
          </a:xfrm>
          <a:prstGeom prst="roundRect">
            <a:avLst>
              <a:gd name="adj" fmla="val 16051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0" id="20"/>
          <p:cNvCxnSpPr/>
          <p:nvPr/>
        </p:nvCxnSpPr>
        <p:spPr>
          <a:xfrm>
            <a:off x="1204148" y="11713902"/>
            <a:ext cx="0" cy="2438118"/>
          </a:xfrm>
          <a:prstGeom prst="line">
            <a:avLst/>
          </a:prstGeom>
          <a:ln w="60207">
            <a:solidFill>
              <a:srgbClr val="E6A044"/>
            </a:solidFill>
          </a:ln>
        </p:spPr>
      </p:cxnSp>
      <p:sp>
        <p:nvSpPr>
          <p:cNvPr name="GraphCompose Text Line" id="21"/>
          <p:cNvSpPr txBox="true"/>
          <p:nvPr/>
        </p:nvSpPr>
        <p:spPr>
          <a:xfrm>
            <a:off x="1655704" y="12143016"/>
            <a:ext cx="5622836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One source, two files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1655704" y="12824072"/>
            <a:ext cx="12813406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The same compose(...) call writes the PDF and the PPTX. Nothing is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655704" y="13231695"/>
            <a:ext cx="829417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authored twice, so the two cannot drift apart.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204148" y="14603576"/>
            <a:ext cx="13847704" cy="2845741"/>
          </a:xfrm>
          <a:prstGeom prst="roundRect">
            <a:avLst>
              <a:gd name="adj" fmla="val 13752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5" id="25"/>
          <p:cNvCxnSpPr/>
          <p:nvPr/>
        </p:nvCxnSpPr>
        <p:spPr>
          <a:xfrm>
            <a:off x="1204148" y="14603576"/>
            <a:ext cx="0" cy="2845741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26"/>
          <p:cNvSpPr txBox="true"/>
          <p:nvPr/>
        </p:nvSpPr>
        <p:spPr>
          <a:xfrm>
            <a:off x="1655704" y="15032690"/>
            <a:ext cx="7196055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It tells you what it swapped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1655704" y="15713745"/>
            <a:ext cx="11805715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PowerPoint has no Helvetica or Courier. When a PDF built-in is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1655704" y="16121368"/>
            <a:ext cx="1232325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substituted the render logs the family, the replacement and how to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1655704" y="16528991"/>
            <a:ext cx="10706147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get identical glyphs - rather than silently shifting your text.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4932257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E6A044"/>
                </a:solidFill>
                <a:latin typeface="Courier New"/>
              </a:rPr>
              <a:t>MEASURED, NOT CLAIMED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882679"/>
            <a:ext cx="9878988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false" i="false" u="none" strike="noStrike" kern="0">
                <a:solidFill>
                  <a:srgbClr val="F5F7FC"/>
                </a:solidFill>
                <a:latin typeface="Arial"/>
              </a:rPr>
              <a:t>A 1000-row report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3773015"/>
            <a:ext cx="10992584" cy="41768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A8B1CA"/>
                </a:solidFill>
                <a:latin typeface="Arial"/>
              </a:rPr>
              <a:t>Average render latency, milliseconds — lower is faster.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5027860"/>
            <a:ext cx="13847704" cy="7857067"/>
          </a:xfrm>
          <a:prstGeom prst="roundRect">
            <a:avLst>
              <a:gd name="adj" fmla="val 3831"/>
            </a:avLst>
          </a:prstGeom>
          <a:solidFill>
            <a:srgbClr val="141B33"/>
          </a:solidFill>
          <a:ln w="15052">
            <a:solidFill>
              <a:srgbClr val="303860"/>
            </a:solidFill>
          </a:ln>
        </p:spPr>
      </p:sp>
      <p:cxnSp>
        <p:nvCxnSpPr>
          <p:cNvPr name="Connector 7" id="7"/>
          <p:cNvCxnSpPr/>
          <p:nvPr/>
        </p:nvCxnSpPr>
        <p:spPr>
          <a:xfrm flipV="false">
            <a:off x="2242350" y="12182502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992865" y="12022720"/>
            <a:ext cx="199954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V="false">
            <a:off x="2242350" y="10052061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"/>
          <p:cNvSpPr txBox="true"/>
          <p:nvPr/>
        </p:nvSpPr>
        <p:spPr>
          <a:xfrm>
            <a:off x="1595496" y="9892279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100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2242350" y="7921619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1595496" y="7761837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200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2242350" y="5791177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1595496" y="5631396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300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3422074" y="10817315"/>
            <a:ext cx="1779935" cy="1365187"/>
          </a:xfrm>
          <a:prstGeom prst="roundRect">
            <a:avLst>
              <a:gd name="adj" fmla="val 4410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6"/>
          <p:cNvSpPr txBox="true"/>
          <p:nvPr/>
        </p:nvSpPr>
        <p:spPr>
          <a:xfrm>
            <a:off x="3747598" y="10419563"/>
            <a:ext cx="1130159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F5F7FC"/>
                </a:solidFill>
                <a:latin typeface="Courier New"/>
              </a:rPr>
              <a:t>64.08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7561459" y="5982278"/>
            <a:ext cx="1779935" cy="6200224"/>
          </a:xfrm>
          <a:prstGeom prst="roundRect">
            <a:avLst>
              <a:gd name="adj" fmla="val 338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7774093" y="5584525"/>
            <a:ext cx="1355937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F5F7FC"/>
                </a:solidFill>
                <a:latin typeface="Courier New"/>
              </a:rPr>
              <a:t>291.03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1700844" y="10802615"/>
            <a:ext cx="1779935" cy="1379887"/>
          </a:xfrm>
          <a:prstGeom prst="roundRect">
            <a:avLst>
              <a:gd name="adj" fmla="val 436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20"/>
          <p:cNvSpPr txBox="true"/>
          <p:nvPr/>
        </p:nvSpPr>
        <p:spPr>
          <a:xfrm>
            <a:off x="12026367" y="10404863"/>
            <a:ext cx="1130159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F5F7FC"/>
                </a:solidFill>
                <a:latin typeface="Courier New"/>
              </a:rPr>
              <a:t>64.77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3119935" y="12165909"/>
            <a:ext cx="238548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7756031" y="12165909"/>
            <a:ext cx="1392061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iText 9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1299362" y="12165909"/>
            <a:ext cx="2584168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JasperReports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204148" y="13487001"/>
            <a:ext cx="3613889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25" id="25"/>
          <p:cNvCxnSpPr/>
          <p:nvPr/>
        </p:nvCxnSpPr>
        <p:spPr>
          <a:xfrm>
            <a:off x="1204148" y="13487001"/>
            <a:ext cx="3613889" cy="0"/>
          </a:xfrm>
          <a:prstGeom prst="line">
            <a:avLst/>
          </a:prstGeom>
          <a:ln w="45156">
            <a:solidFill>
              <a:srgbClr val="B59FFF"/>
            </a:solidFill>
          </a:ln>
        </p:spPr>
      </p:cxnSp>
      <p:sp>
        <p:nvSpPr>
          <p:cNvPr name="GraphCompose Text Line" id="26"/>
          <p:cNvSpPr txBox="true"/>
          <p:nvPr/>
        </p:nvSpPr>
        <p:spPr>
          <a:xfrm>
            <a:off x="1565393" y="13667842"/>
            <a:ext cx="1821942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false" i="false" u="none" strike="noStrike" kern="0">
                <a:solidFill>
                  <a:srgbClr val="B59FFF"/>
                </a:solidFill>
                <a:latin typeface="Arial"/>
              </a:rPr>
              <a:t>4.5x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1565393" y="14701767"/>
            <a:ext cx="2892671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faster than iText 9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5890291" y="13487001"/>
            <a:ext cx="3694086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29" id="29"/>
          <p:cNvCxnSpPr/>
          <p:nvPr/>
        </p:nvCxnSpPr>
        <p:spPr>
          <a:xfrm>
            <a:off x="5890291" y="13487001"/>
            <a:ext cx="3694086" cy="0"/>
          </a:xfrm>
          <a:prstGeom prst="line">
            <a:avLst/>
          </a:prstGeom>
          <a:ln w="45156">
            <a:solidFill>
              <a:srgbClr val="37D6A1"/>
            </a:solidFill>
          </a:ln>
        </p:spPr>
      </p:cxnSp>
      <p:sp>
        <p:nvSpPr>
          <p:cNvPr name="GraphCompose Text Line" id="30"/>
          <p:cNvSpPr txBox="true"/>
          <p:nvPr/>
        </p:nvSpPr>
        <p:spPr>
          <a:xfrm>
            <a:off x="6251536" y="13667842"/>
            <a:ext cx="1821942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false" i="false" u="none" strike="noStrike" kern="0">
                <a:solidFill>
                  <a:srgbClr val="37D6A1"/>
                </a:solidFill>
                <a:latin typeface="Arial"/>
              </a:rPr>
              <a:t>3.6x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6251536" y="14701767"/>
            <a:ext cx="2972867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lighter than iText 9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10576435" y="13487001"/>
            <a:ext cx="3694086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33" id="33"/>
          <p:cNvCxnSpPr/>
          <p:nvPr/>
        </p:nvCxnSpPr>
        <p:spPr>
          <a:xfrm>
            <a:off x="10576435" y="13487001"/>
            <a:ext cx="3694086" cy="0"/>
          </a:xfrm>
          <a:prstGeom prst="line">
            <a:avLst/>
          </a:prstGeom>
          <a:ln w="45156">
            <a:solidFill>
              <a:srgbClr val="E6A044"/>
            </a:solidFill>
          </a:ln>
        </p:spPr>
      </p:cxnSp>
      <p:sp>
        <p:nvSpPr>
          <p:cNvPr name="GraphCompose Text Line" id="34"/>
          <p:cNvSpPr txBox="true"/>
          <p:nvPr/>
        </p:nvSpPr>
        <p:spPr>
          <a:xfrm>
            <a:off x="10937679" y="13667842"/>
            <a:ext cx="1821942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false" i="false" u="none" strike="noStrike" kern="0">
                <a:solidFill>
                  <a:srgbClr val="E6A044"/>
                </a:solidFill>
                <a:latin typeface="Arial"/>
              </a:rPr>
              <a:t>2.7x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10937679" y="14701767"/>
            <a:ext cx="2972867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lighter than Jasper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1204148" y="16095186"/>
            <a:ext cx="13363461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One machine, single run, 2026-07-26. Read the ratios rather than the timings: both libraries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1204148" y="16419271"/>
            <a:ext cx="13142259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are measured in the same run, so their proportions survive a change of machine while the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1204148" y="16743356"/>
            <a:ext cx="9258309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milliseconds do not. On time, Jasper reaches parity at this size.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4462639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B59FFF"/>
                </a:solidFill>
                <a:latin typeface="Courier New"/>
              </a:rPr>
              <a:t>HOW IT STAYS HONEST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732161"/>
            <a:ext cx="8782972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false" i="false" u="none" strike="noStrike" kern="0">
                <a:solidFill>
                  <a:srgbClr val="F5F7FC"/>
                </a:solidFill>
                <a:latin typeface="Arial"/>
              </a:rPr>
              <a:t>Guarantees you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2887306"/>
            <a:ext cx="4460622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false" i="false" u="none" strike="noStrike" kern="0">
                <a:solidFill>
                  <a:srgbClr val="F5F7FC"/>
                </a:solidFill>
                <a:latin typeface="Arial"/>
              </a:rPr>
              <a:t>can run.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4711687"/>
            <a:ext cx="13847704" cy="2845741"/>
          </a:xfrm>
          <a:prstGeom prst="roundRect">
            <a:avLst>
              <a:gd name="adj" fmla="val 13752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1204148" y="4711687"/>
            <a:ext cx="0" cy="2845741"/>
          </a:xfrm>
          <a:prstGeom prst="line">
            <a:avLst/>
          </a:prstGeom>
          <a:ln w="60207">
            <a:solidFill>
              <a:srgbClr val="B59FFF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655704" y="5140801"/>
            <a:ext cx="8165394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Deterministic layout snapshots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655704" y="5821856"/>
            <a:ext cx="1192372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Every flagship document has its geometry recorded as JSON. A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655704" y="6229479"/>
            <a:ext cx="1279191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layout change that moves a fragment fails the build instead of quietly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655704" y="6637102"/>
            <a:ext cx="1687920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shipping.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1204148" y="8008983"/>
            <a:ext cx="13847704" cy="3253364"/>
          </a:xfrm>
          <a:prstGeom prst="roundRect">
            <a:avLst>
              <a:gd name="adj" fmla="val 12029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13" id="13"/>
          <p:cNvCxnSpPr/>
          <p:nvPr/>
        </p:nvCxnSpPr>
        <p:spPr>
          <a:xfrm>
            <a:off x="1204148" y="8008983"/>
            <a:ext cx="0" cy="3253364"/>
          </a:xfrm>
          <a:prstGeom prst="line">
            <a:avLst/>
          </a:prstGeom>
          <a:ln w="60207">
            <a:solidFill>
              <a:srgbClr val="37D6A1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1655704" y="8438097"/>
            <a:ext cx="10308176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Measurement counts, not stopwatches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655704" y="9119153"/>
            <a:ext cx="1272110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 CI gate asserts the exact number of text measurements the layout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526776"/>
            <a:ext cx="1255674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pass costs. Those are integers, identical on every machine, so they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9934399"/>
            <a:ext cx="12906969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separate a slower engine from a slower laptop — which a millisecond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655704" y="10342021"/>
            <a:ext cx="2695190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ceiling cannot.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204148" y="11713902"/>
            <a:ext cx="13847704" cy="2438118"/>
          </a:xfrm>
          <a:prstGeom prst="roundRect">
            <a:avLst>
              <a:gd name="adj" fmla="val 16051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0" id="20"/>
          <p:cNvCxnSpPr/>
          <p:nvPr/>
        </p:nvCxnSpPr>
        <p:spPr>
          <a:xfrm>
            <a:off x="1204148" y="11713902"/>
            <a:ext cx="0" cy="2438118"/>
          </a:xfrm>
          <a:prstGeom prst="line">
            <a:avLst/>
          </a:prstGeom>
          <a:ln w="60207">
            <a:solidFill>
              <a:srgbClr val="E6A044"/>
            </a:solidFill>
          </a:ln>
        </p:spPr>
      </p:cxnSp>
      <p:sp>
        <p:nvSpPr>
          <p:cNvPr name="GraphCompose Text Line" id="21"/>
          <p:cNvSpPr txBox="true"/>
          <p:nvPr/>
        </p:nvSpPr>
        <p:spPr>
          <a:xfrm>
            <a:off x="1655704" y="12143016"/>
            <a:ext cx="8600092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A capability matrix, written down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1655704" y="12824072"/>
            <a:ext cx="10543045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Where a backend cannot do something, the difference is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655704" y="13231695"/>
            <a:ext cx="1173786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documented per payload rather than discovered in your output.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204148" y="14603576"/>
            <a:ext cx="13847704" cy="2438118"/>
          </a:xfrm>
          <a:prstGeom prst="roundRect">
            <a:avLst>
              <a:gd name="adj" fmla="val 16051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5" id="25"/>
          <p:cNvCxnSpPr/>
          <p:nvPr/>
        </p:nvCxnSpPr>
        <p:spPr>
          <a:xfrm>
            <a:off x="1204148" y="14603576"/>
            <a:ext cx="0" cy="2438118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26"/>
          <p:cNvSpPr txBox="true"/>
          <p:nvPr/>
        </p:nvSpPr>
        <p:spPr>
          <a:xfrm>
            <a:off x="1655704" y="15032690"/>
            <a:ext cx="7028077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Arial"/>
              </a:rPr>
              <a:t>Binary compatibility, gated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1655704" y="15713745"/>
            <a:ext cx="1279149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japicmp checks every build against the published 2.0 baseline, so an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1655704" y="16121368"/>
            <a:ext cx="1176019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accidental break in a minor release fails CI instead of your app.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993021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37D6A1"/>
                </a:solidFill>
                <a:latin typeface="Courier New"/>
              </a:rPr>
              <a:t>OPEN SOURCE · MIT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591220"/>
            <a:ext cx="4968381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false" i="false" u="none" strike="noStrike" kern="0">
                <a:solidFill>
                  <a:srgbClr val="F5F7FC"/>
                </a:solidFill>
                <a:latin typeface="Arial"/>
              </a:rPr>
              <a:t>Try it.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204148" y="4252690"/>
            <a:ext cx="13847704" cy="2243147"/>
          </a:xfrm>
          <a:prstGeom prst="roundRect">
            <a:avLst>
              <a:gd name="adj" fmla="val 13420"/>
            </a:avLst>
          </a:prstGeom>
          <a:solidFill>
            <a:srgbClr val="141B33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6"/>
          <p:cNvSpPr txBox="true"/>
          <p:nvPr/>
        </p:nvSpPr>
        <p:spPr>
          <a:xfrm>
            <a:off x="1655704" y="4669489"/>
            <a:ext cx="5040630" cy="36675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74" b="false" i="false" u="none" strike="noStrike" kern="0">
                <a:solidFill>
                  <a:srgbClr val="A8B1CA"/>
                </a:solidFill>
                <a:latin typeface="Courier New"/>
              </a:rPr>
              <a:t>io.github.demchaav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1655704" y="5068880"/>
            <a:ext cx="7226159" cy="4732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Courier New"/>
              </a:rPr>
              <a:t>graph-compose-bundle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1655704" y="5642141"/>
            <a:ext cx="756031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37D6A1"/>
                </a:solidFill>
                <a:latin typeface="Courier New"/>
              </a:rPr>
              <a:t>latest release on Maven Central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204148" y="6947393"/>
            <a:ext cx="13847704" cy="3598296"/>
          </a:xfrm>
          <a:prstGeom prst="roundRect">
            <a:avLst>
              <a:gd name="adj" fmla="val 8366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10" id="10"/>
          <p:cNvCxnSpPr/>
          <p:nvPr/>
        </p:nvCxnSpPr>
        <p:spPr>
          <a:xfrm>
            <a:off x="1204148" y="6947393"/>
            <a:ext cx="0" cy="3598296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11"/>
          <p:cNvSpPr txBox="true"/>
          <p:nvPr/>
        </p:nvSpPr>
        <p:spPr>
          <a:xfrm>
            <a:off x="1655704" y="7337152"/>
            <a:ext cx="7045537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try (DocumentSession doc =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655704" y="7722178"/>
            <a:ext cx="12464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 GraphCompose.document(out).create()) {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1655704" y="8107205"/>
            <a:ext cx="4878070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doc.pageFlow()</a:t>
            </a:r>
            <a:endParaRPr lang="en-US" sz="1100"/>
          </a:p>
        </p:txBody>
      </p:sp>
      <p:sp>
        <p:nvSpPr>
          <p:cNvPr name="GraphCompose Text Line" id="14"/>
          <p:cNvSpPr txBox="true"/>
          <p:nvPr/>
        </p:nvSpPr>
        <p:spPr>
          <a:xfrm>
            <a:off x="1655704" y="8492231"/>
            <a:ext cx="116514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.addParagraph(p -&gt; p.text("Hello."))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655704" y="8877257"/>
            <a:ext cx="4336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.build();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262284"/>
            <a:ext cx="12193270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doc.buildPdf();      // or buildPptx(out)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9647310"/>
            <a:ext cx="272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204148" y="10927786"/>
            <a:ext cx="12160939" cy="64045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451" b="false" i="false" u="none" strike="noStrike" kern="0">
                <a:solidFill>
                  <a:srgbClr val="B59FFF"/>
                </a:solidFill>
                <a:latin typeface="Arial"/>
              </a:rPr>
              <a:t>github.com/DemchaAV/GraphCompose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1204148" y="12177761"/>
            <a:ext cx="13611154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Java 17+. Every slide in this carousel was composed with the library and rendered by its own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1204148" y="12501846"/>
            <a:ext cx="10270607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PDF backend - the PPTX beside it comes from the same composition.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subject>One composition, rendered to PDF and PowerPoint</dc:subject>
  <dc:title>GraphCompose 2.1</dc:title>
</cp:coreProperties>
</file>