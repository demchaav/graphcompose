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0692000" cy="7560001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203200" y="203200"/>
            <a:ext cx="10285600" cy="6357189"/>
          </a:xfrm>
          <a:prstGeom prst="roundRect">
            <a:avLst>
              <a:gd name="adj" fmla="val 2397"/>
            </a:avLst>
          </a:prstGeom>
          <a:solidFill>
            <a:srgbClr val="1212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431800"/>
            <a:ext cx="8509000" cy="1317323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431800"/>
            <a:ext cx="8509000" cy="1317323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431800" y="1968637"/>
            <a:ext cx="8199076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Open-source Java library for generating structured business PDF documents with a declarative DSL.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431800" y="2478262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GraphCompose Inline Text Span" id="7"/>
          <p:cNvSpPr txBox="true"/>
          <p:nvPr/>
        </p:nvSpPr>
        <p:spPr>
          <a:xfrm>
            <a:off x="431800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sp>
        <p:nvSpPr>
          <p:cNvPr name="GraphCompose Inline Text Span" id="8"/>
          <p:cNvSpPr txBox="true"/>
          <p:nvPr/>
        </p:nvSpPr>
        <p:spPr>
          <a:xfrm>
            <a:off x="544779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682473" y="2693139"/>
            <a:ext cx="3499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Java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1031164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077062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·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1122959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1168857" y="2693139"/>
            <a:ext cx="82693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Declarative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1994522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2040420" y="2693139"/>
            <a:ext cx="32239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>
            <a:off x="431800" y="3011662"/>
            <a:ext cx="1884680" cy="1466190"/>
          </a:xfrm>
          <a:prstGeom prst="roundRect">
            <a:avLst>
              <a:gd name="adj" fmla="val 6930"/>
            </a:avLst>
          </a:prstGeom>
          <a:solidFill>
            <a:srgbClr val="0C0C16"/>
          </a:solidFill>
          <a:ln>
            <a:noFill/>
          </a:ln>
        </p:spPr>
      </p:sp>
      <p:sp>
        <p:nvSpPr>
          <p:cNvPr name="GraphCompose Text Line" id="17"/>
          <p:cNvSpPr txBox="true"/>
          <p:nvPr/>
        </p:nvSpPr>
        <p:spPr>
          <a:xfrm>
            <a:off x="596900" y="3159186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out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Path.of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"deck.pdf"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596900" y="3277865"/>
            <a:ext cx="140030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try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96900" y="3396544"/>
            <a:ext cx="72669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.document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(out)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96900" y="3515223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.A4)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596900" y="3633902"/>
            <a:ext cx="62306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.create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())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596900" y="3752581"/>
            <a:ext cx="129667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pageFlow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(page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-&gt;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page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596900" y="3871260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"GraphCompose"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596900" y="3989939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"Cinematic."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));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596900" y="4108618"/>
            <a:ext cx="77851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buildPdf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596900" y="4227297"/>
            <a:ext cx="53086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431800" y="4662025"/>
            <a:ext cx="214736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You describe the document intent — the engine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431800" y="4772515"/>
            <a:ext cx="77485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resolves the rest.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2775167" y="3854064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30"/>
          <p:cNvSpPr txBox="true"/>
          <p:nvPr/>
        </p:nvSpPr>
        <p:spPr>
          <a:xfrm>
            <a:off x="3054681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GraphCompose Inline Text Span" id="31"/>
          <p:cNvSpPr txBox="true"/>
          <p:nvPr/>
        </p:nvSpPr>
        <p:spPr>
          <a:xfrm>
            <a:off x="3167660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32"/>
          <p:cNvSpPr txBox="true"/>
          <p:nvPr/>
        </p:nvSpPr>
        <p:spPr>
          <a:xfrm>
            <a:off x="3305354" y="2693139"/>
            <a:ext cx="116654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Inline Text Span" id="33"/>
          <p:cNvSpPr txBox="true"/>
          <p:nvPr/>
        </p:nvSpPr>
        <p:spPr>
          <a:xfrm>
            <a:off x="4470630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34"/>
          <p:cNvSpPr txBox="true"/>
          <p:nvPr/>
        </p:nvSpPr>
        <p:spPr>
          <a:xfrm>
            <a:off x="4516527" y="2693139"/>
            <a:ext cx="51522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Engine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3054681" y="2991446"/>
            <a:ext cx="1771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989CB2"/>
                </a:solidFill>
                <a:latin typeface="Arial"/>
              </a:rPr>
              <a:t>Semantic graph · deterministic layout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3054681" y="3441716"/>
            <a:ext cx="2514600" cy="1397000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3080081" y="34671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38" id="38"/>
          <p:cNvSpPr/>
          <p:nvPr/>
        </p:nvSpPr>
        <p:spPr>
          <a:xfrm>
            <a:off x="3207081" y="3568716"/>
            <a:ext cx="177800" cy="177800"/>
          </a:xfrm>
          <a:custGeom>
            <a:avLst/>
            <a:gdLst/>
            <a:ahLst/>
            <a:cxnLst/>
            <a:rect r="r" b="b" t="t" l="l"/>
            <a:pathLst>
              <a:path h="177800" w="177800">
                <a:moveTo>
                  <a:pt x="0" y="28575"/>
                </a:moveTo>
                <a:cubicBezTo>
                  <a:pt x="0" y="12793"/>
                  <a:pt x="12794" y="0"/>
                  <a:pt x="28575" y="0"/>
                </a:cubicBezTo>
                <a:lnTo>
                  <a:pt x="149225" y="0"/>
                </a:lnTo>
                <a:cubicBezTo>
                  <a:pt x="165007" y="0"/>
                  <a:pt x="177800" y="12793"/>
                  <a:pt x="177800" y="28575"/>
                </a:cubicBezTo>
                <a:lnTo>
                  <a:pt x="177800" y="149225"/>
                </a:lnTo>
                <a:cubicBezTo>
                  <a:pt x="177800" y="165006"/>
                  <a:pt x="165007" y="177800"/>
                  <a:pt x="149225" y="177800"/>
                </a:cubicBezTo>
                <a:lnTo>
                  <a:pt x="28575" y="177800"/>
                </a:lnTo>
                <a:cubicBezTo>
                  <a:pt x="12794" y="177800"/>
                  <a:pt x="0" y="165006"/>
                  <a:pt x="0" y="149225"/>
                </a:cubicBezTo>
                <a:lnTo>
                  <a:pt x="0" y="28575"/>
                </a:lnTo>
                <a:close/>
                <a:moveTo>
                  <a:pt x="69850" y="158750"/>
                </a:moveTo>
                <a:lnTo>
                  <a:pt x="149225" y="158750"/>
                </a:lnTo>
                <a:cubicBezTo>
                  <a:pt x="154486" y="158750"/>
                  <a:pt x="158750" y="154485"/>
                  <a:pt x="158750" y="149225"/>
                </a:cubicBezTo>
                <a:lnTo>
                  <a:pt x="158750" y="69850"/>
                </a:lnTo>
                <a:lnTo>
                  <a:pt x="69850" y="69850"/>
                </a:lnTo>
                <a:lnTo>
                  <a:pt x="69850" y="158750"/>
                </a:lnTo>
                <a:close/>
                <a:moveTo>
                  <a:pt x="50800" y="69850"/>
                </a:moveTo>
                <a:lnTo>
                  <a:pt x="50800" y="158750"/>
                </a:lnTo>
                <a:lnTo>
                  <a:pt x="28575" y="158750"/>
                </a:lnTo>
                <a:cubicBezTo>
                  <a:pt x="23315" y="158750"/>
                  <a:pt x="19050" y="154485"/>
                  <a:pt x="19050" y="149225"/>
                </a:cubicBezTo>
                <a:lnTo>
                  <a:pt x="19050" y="69850"/>
                </a:lnTo>
                <a:lnTo>
                  <a:pt x="50800" y="69850"/>
                </a:lnTo>
                <a:close/>
                <a:moveTo>
                  <a:pt x="158750" y="50800"/>
                </a:moveTo>
                <a:lnTo>
                  <a:pt x="158750" y="28575"/>
                </a:lnTo>
                <a:cubicBezTo>
                  <a:pt x="158750" y="23314"/>
                  <a:pt x="154486" y="19050"/>
                  <a:pt x="149225" y="19050"/>
                </a:cubicBezTo>
                <a:lnTo>
                  <a:pt x="28575" y="19050"/>
                </a:lnTo>
                <a:cubicBezTo>
                  <a:pt x="23315" y="19050"/>
                  <a:pt x="19050" y="23314"/>
                  <a:pt x="19050" y="28575"/>
                </a:cubicBezTo>
                <a:lnTo>
                  <a:pt x="19050" y="50800"/>
                </a:lnTo>
                <a:lnTo>
                  <a:pt x="158750" y="508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39"/>
          <p:cNvSpPr txBox="true"/>
          <p:nvPr/>
        </p:nvSpPr>
        <p:spPr>
          <a:xfrm>
            <a:off x="3461081" y="3587473"/>
            <a:ext cx="325336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>
            <a:off x="3080081" y="39497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381" y="4038616"/>
            <a:ext cx="203200" cy="203200"/>
          </a:xfrm>
          <a:prstGeom prst="rect">
            <a:avLst/>
          </a:prstGeom>
        </p:spPr>
      </p:pic>
      <p:sp>
        <p:nvSpPr>
          <p:cNvPr name="GraphCompose Text Line" id="42"/>
          <p:cNvSpPr txBox="true"/>
          <p:nvPr/>
        </p:nvSpPr>
        <p:spPr>
          <a:xfrm>
            <a:off x="3461081" y="4070073"/>
            <a:ext cx="511334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Pagination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>
            <a:off x="3080081" y="44323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44" id="44"/>
          <p:cNvSpPr/>
          <p:nvPr/>
        </p:nvSpPr>
        <p:spPr>
          <a:xfrm>
            <a:off x="3214701" y="4546684"/>
            <a:ext cx="162560" cy="157412"/>
          </a:xfrm>
          <a:custGeom>
            <a:avLst/>
            <a:gdLst/>
            <a:ahLst/>
            <a:cxnLst/>
            <a:rect r="r" b="b" t="t" l="l"/>
            <a:pathLst>
              <a:path h="157412" w="162560">
                <a:moveTo>
                  <a:pt x="152651" y="11"/>
                </a:moveTo>
                <a:cubicBezTo>
                  <a:pt x="147909" y="381"/>
                  <a:pt x="135226" y="9804"/>
                  <a:pt x="121894" y="23136"/>
                </a:cubicBezTo>
                <a:lnTo>
                  <a:pt x="71596" y="73433"/>
                </a:lnTo>
                <a:cubicBezTo>
                  <a:pt x="73847" y="74268"/>
                  <a:pt x="75945" y="75453"/>
                  <a:pt x="77682" y="77190"/>
                </a:cubicBezTo>
                <a:cubicBezTo>
                  <a:pt x="79322" y="78831"/>
                  <a:pt x="80445" y="80801"/>
                  <a:pt x="81280" y="82905"/>
                </a:cubicBezTo>
                <a:lnTo>
                  <a:pt x="131472" y="32714"/>
                </a:lnTo>
                <a:cubicBezTo>
                  <a:pt x="146708" y="17477"/>
                  <a:pt x="156826" y="3075"/>
                  <a:pt x="154173" y="421"/>
                </a:cubicBezTo>
                <a:cubicBezTo>
                  <a:pt x="153841" y="90"/>
                  <a:pt x="153329" y="-42"/>
                  <a:pt x="152651" y="11"/>
                </a:cubicBezTo>
                <a:close/>
                <a:moveTo>
                  <a:pt x="81412" y="30928"/>
                </a:moveTo>
                <a:cubicBezTo>
                  <a:pt x="36451" y="30928"/>
                  <a:pt x="0" y="59249"/>
                  <a:pt x="0" y="94176"/>
                </a:cubicBezTo>
                <a:cubicBezTo>
                  <a:pt x="0" y="129103"/>
                  <a:pt x="36451" y="157412"/>
                  <a:pt x="81412" y="157412"/>
                </a:cubicBezTo>
                <a:cubicBezTo>
                  <a:pt x="99415" y="157412"/>
                  <a:pt x="113682" y="153686"/>
                  <a:pt x="126908" y="148217"/>
                </a:cubicBezTo>
                <a:cubicBezTo>
                  <a:pt x="136075" y="144427"/>
                  <a:pt x="145068" y="137367"/>
                  <a:pt x="146593" y="128030"/>
                </a:cubicBezTo>
                <a:cubicBezTo>
                  <a:pt x="146959" y="125787"/>
                  <a:pt x="145948" y="121225"/>
                  <a:pt x="142663" y="115846"/>
                </a:cubicBezTo>
                <a:cubicBezTo>
                  <a:pt x="137943" y="108115"/>
                  <a:pt x="129430" y="99161"/>
                  <a:pt x="129752" y="96610"/>
                </a:cubicBezTo>
                <a:cubicBezTo>
                  <a:pt x="130279" y="92425"/>
                  <a:pt x="136313" y="95412"/>
                  <a:pt x="144542" y="96544"/>
                </a:cubicBezTo>
                <a:cubicBezTo>
                  <a:pt x="152771" y="97677"/>
                  <a:pt x="162560" y="103730"/>
                  <a:pt x="162560" y="84400"/>
                </a:cubicBezTo>
                <a:cubicBezTo>
                  <a:pt x="162560" y="74001"/>
                  <a:pt x="152025" y="59344"/>
                  <a:pt x="135348" y="47993"/>
                </a:cubicBezTo>
                <a:lnTo>
                  <a:pt x="86850" y="96491"/>
                </a:lnTo>
                <a:cubicBezTo>
                  <a:pt x="86844" y="96542"/>
                  <a:pt x="86868" y="96597"/>
                  <a:pt x="86863" y="96650"/>
                </a:cubicBezTo>
                <a:cubicBezTo>
                  <a:pt x="85967" y="103922"/>
                  <a:pt x="82536" y="110647"/>
                  <a:pt x="77126" y="116057"/>
                </a:cubicBezTo>
                <a:cubicBezTo>
                  <a:pt x="69164" y="124020"/>
                  <a:pt x="60886" y="125120"/>
                  <a:pt x="53763" y="126694"/>
                </a:cubicBezTo>
                <a:cubicBezTo>
                  <a:pt x="46641" y="128267"/>
                  <a:pt x="40548" y="128850"/>
                  <a:pt x="40548" y="128850"/>
                </a:cubicBezTo>
                <a:lnTo>
                  <a:pt x="23905" y="130490"/>
                </a:lnTo>
                <a:lnTo>
                  <a:pt x="25771" y="113875"/>
                </a:lnTo>
                <a:cubicBezTo>
                  <a:pt x="25771" y="113875"/>
                  <a:pt x="26425" y="107848"/>
                  <a:pt x="28072" y="100804"/>
                </a:cubicBezTo>
                <a:cubicBezTo>
                  <a:pt x="29720" y="93760"/>
                  <a:pt x="30975" y="85585"/>
                  <a:pt x="38815" y="77746"/>
                </a:cubicBezTo>
                <a:cubicBezTo>
                  <a:pt x="44090" y="72470"/>
                  <a:pt x="50641" y="69164"/>
                  <a:pt x="57706" y="68168"/>
                </a:cubicBezTo>
                <a:lnTo>
                  <a:pt x="93954" y="31907"/>
                </a:lnTo>
                <a:cubicBezTo>
                  <a:pt x="89857" y="31330"/>
                  <a:pt x="85692" y="30928"/>
                  <a:pt x="81412" y="30928"/>
                </a:cubicBezTo>
                <a:close/>
                <a:moveTo>
                  <a:pt x="62786" y="81370"/>
                </a:moveTo>
                <a:cubicBezTo>
                  <a:pt x="58033" y="81027"/>
                  <a:pt x="52630" y="83086"/>
                  <a:pt x="48392" y="87324"/>
                </a:cubicBezTo>
                <a:cubicBezTo>
                  <a:pt x="41612" y="94104"/>
                  <a:pt x="39238" y="115369"/>
                  <a:pt x="39238" y="115369"/>
                </a:cubicBezTo>
                <a:cubicBezTo>
                  <a:pt x="39238" y="115369"/>
                  <a:pt x="60767" y="113260"/>
                  <a:pt x="67548" y="106479"/>
                </a:cubicBezTo>
                <a:cubicBezTo>
                  <a:pt x="74329" y="99699"/>
                  <a:pt x="75537" y="89915"/>
                  <a:pt x="70247" y="84625"/>
                </a:cubicBezTo>
                <a:cubicBezTo>
                  <a:pt x="68263" y="82641"/>
                  <a:pt x="65638" y="81576"/>
                  <a:pt x="62786" y="8137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5"/>
          <p:cNvSpPr txBox="true"/>
          <p:nvPr/>
        </p:nvSpPr>
        <p:spPr>
          <a:xfrm>
            <a:off x="3461081" y="4552673"/>
            <a:ext cx="391185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Themes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>
            <a:off x="4362781" y="34671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7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081" y="3556016"/>
            <a:ext cx="203200" cy="203200"/>
          </a:xfrm>
          <a:prstGeom prst="rect">
            <a:avLst/>
          </a:prstGeom>
        </p:spPr>
      </p:pic>
      <p:sp>
        <p:nvSpPr>
          <p:cNvPr name="GraphCompose Text Line" id="48"/>
          <p:cNvSpPr txBox="true"/>
          <p:nvPr/>
        </p:nvSpPr>
        <p:spPr>
          <a:xfrm>
            <a:off x="4743781" y="3587473"/>
            <a:ext cx="613239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Components</a:t>
            </a:r>
            <a:endParaRPr lang="en-US" sz="1100"/>
          </a:p>
        </p:txBody>
      </p:sp>
      <p:sp>
        <p:nvSpPr>
          <p:cNvPr name="AutoShape 49" id="49"/>
          <p:cNvSpPr/>
          <p:nvPr/>
        </p:nvSpPr>
        <p:spPr>
          <a:xfrm>
            <a:off x="4362781" y="39497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50" id="50"/>
          <p:cNvSpPr/>
          <p:nvPr/>
        </p:nvSpPr>
        <p:spPr>
          <a:xfrm>
            <a:off x="4541722" y="4197349"/>
            <a:ext cx="73916" cy="34148"/>
          </a:xfrm>
          <a:custGeom>
            <a:avLst/>
            <a:gdLst/>
            <a:ahLst/>
            <a:cxnLst/>
            <a:rect r="r" b="b" t="t" l="l"/>
            <a:pathLst>
              <a:path h="34148" w="73916">
                <a:moveTo>
                  <a:pt x="66163" y="18640"/>
                </a:moveTo>
                <a:lnTo>
                  <a:pt x="44712" y="18640"/>
                </a:lnTo>
                <a:lnTo>
                  <a:pt x="44712" y="0"/>
                </a:lnTo>
                <a:lnTo>
                  <a:pt x="29204" y="0"/>
                </a:lnTo>
                <a:lnTo>
                  <a:pt x="29204" y="18640"/>
                </a:lnTo>
                <a:lnTo>
                  <a:pt x="7754" y="18640"/>
                </a:lnTo>
                <a:cubicBezTo>
                  <a:pt x="3472" y="18640"/>
                  <a:pt x="0" y="22112"/>
                  <a:pt x="0" y="26394"/>
                </a:cubicBezTo>
                <a:cubicBezTo>
                  <a:pt x="0" y="30676"/>
                  <a:pt x="3472" y="34148"/>
                  <a:pt x="7754" y="34148"/>
                </a:cubicBezTo>
                <a:lnTo>
                  <a:pt x="66162" y="34148"/>
                </a:lnTo>
                <a:cubicBezTo>
                  <a:pt x="70445" y="34148"/>
                  <a:pt x="73917" y="30676"/>
                  <a:pt x="73917" y="26394"/>
                </a:cubicBezTo>
                <a:cubicBezTo>
                  <a:pt x="73917" y="22112"/>
                  <a:pt x="70445" y="18640"/>
                  <a:pt x="66163" y="1864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1" id="51"/>
          <p:cNvSpPr/>
          <p:nvPr/>
        </p:nvSpPr>
        <p:spPr>
          <a:xfrm>
            <a:off x="4477081" y="4171633"/>
            <a:ext cx="203200" cy="15377"/>
          </a:xfrm>
          <a:custGeom>
            <a:avLst/>
            <a:gdLst/>
            <a:ahLst/>
            <a:cxnLst/>
            <a:rect r="r" b="b" t="t" l="l"/>
            <a:pathLst>
              <a:path h="15377" w="203200">
                <a:moveTo>
                  <a:pt x="116074" y="0"/>
                </a:moveTo>
                <a:lnTo>
                  <a:pt x="87126" y="0"/>
                </a:lnTo>
                <a:lnTo>
                  <a:pt x="0" y="0"/>
                </a:lnTo>
                <a:lnTo>
                  <a:pt x="0" y="9263"/>
                </a:lnTo>
                <a:cubicBezTo>
                  <a:pt x="0" y="12634"/>
                  <a:pt x="2743" y="15377"/>
                  <a:pt x="6114" y="15377"/>
                </a:cubicBezTo>
                <a:lnTo>
                  <a:pt x="197086" y="15377"/>
                </a:lnTo>
                <a:cubicBezTo>
                  <a:pt x="200457" y="15377"/>
                  <a:pt x="203200" y="12634"/>
                  <a:pt x="203200" y="9263"/>
                </a:cubicBezTo>
                <a:lnTo>
                  <a:pt x="203200" y="0"/>
                </a:lnTo>
                <a:lnTo>
                  <a:pt x="116074" y="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2" id="52"/>
          <p:cNvSpPr/>
          <p:nvPr/>
        </p:nvSpPr>
        <p:spPr>
          <a:xfrm>
            <a:off x="4477081" y="4048935"/>
            <a:ext cx="203199" cy="112360"/>
          </a:xfrm>
          <a:custGeom>
            <a:avLst/>
            <a:gdLst/>
            <a:ahLst/>
            <a:cxnLst/>
            <a:rect r="r" b="b" t="t" l="l"/>
            <a:pathLst>
              <a:path h="112360" w="203199">
                <a:moveTo>
                  <a:pt x="197085" y="0"/>
                </a:moveTo>
                <a:lnTo>
                  <a:pt x="6114" y="0"/>
                </a:lnTo>
                <a:cubicBezTo>
                  <a:pt x="2743" y="0"/>
                  <a:pt x="0" y="2743"/>
                  <a:pt x="0" y="6114"/>
                </a:cubicBezTo>
                <a:lnTo>
                  <a:pt x="0" y="112360"/>
                </a:lnTo>
                <a:lnTo>
                  <a:pt x="14299" y="112360"/>
                </a:lnTo>
                <a:cubicBezTo>
                  <a:pt x="15213" y="64996"/>
                  <a:pt x="54022" y="26746"/>
                  <a:pt x="101600" y="26746"/>
                </a:cubicBezTo>
                <a:cubicBezTo>
                  <a:pt x="118026" y="26746"/>
                  <a:pt x="133406" y="31308"/>
                  <a:pt x="146544" y="39227"/>
                </a:cubicBezTo>
                <a:lnTo>
                  <a:pt x="151672" y="32221"/>
                </a:lnTo>
                <a:cubicBezTo>
                  <a:pt x="153359" y="29918"/>
                  <a:pt x="156593" y="29417"/>
                  <a:pt x="158897" y="31104"/>
                </a:cubicBezTo>
                <a:cubicBezTo>
                  <a:pt x="161201" y="32790"/>
                  <a:pt x="161701" y="36025"/>
                  <a:pt x="160015" y="38329"/>
                </a:cubicBezTo>
                <a:lnTo>
                  <a:pt x="155071" y="45082"/>
                </a:lnTo>
                <a:cubicBezTo>
                  <a:pt x="175233" y="60745"/>
                  <a:pt x="188373" y="85034"/>
                  <a:pt x="188900" y="112360"/>
                </a:cubicBezTo>
                <a:lnTo>
                  <a:pt x="203199" y="112360"/>
                </a:lnTo>
                <a:lnTo>
                  <a:pt x="203199" y="6114"/>
                </a:lnTo>
                <a:cubicBezTo>
                  <a:pt x="203200" y="2743"/>
                  <a:pt x="200457" y="0"/>
                  <a:pt x="197085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3" id="53"/>
          <p:cNvSpPr/>
          <p:nvPr/>
        </p:nvSpPr>
        <p:spPr>
          <a:xfrm>
            <a:off x="4591404" y="4128647"/>
            <a:ext cx="31885" cy="29187"/>
          </a:xfrm>
          <a:custGeom>
            <a:avLst/>
            <a:gdLst/>
            <a:ahLst/>
            <a:cxnLst/>
            <a:rect r="r" b="b" t="t" l="l"/>
            <a:pathLst>
              <a:path h="29187" w="31885">
                <a:moveTo>
                  <a:pt x="31038" y="27090"/>
                </a:moveTo>
                <a:cubicBezTo>
                  <a:pt x="29215" y="16073"/>
                  <a:pt x="23483" y="6612"/>
                  <a:pt x="15399" y="0"/>
                </a:cubicBezTo>
                <a:lnTo>
                  <a:pt x="0" y="21035"/>
                </a:lnTo>
                <a:cubicBezTo>
                  <a:pt x="2541" y="23201"/>
                  <a:pt x="4527" y="25999"/>
                  <a:pt x="5707" y="29186"/>
                </a:cubicBezTo>
                <a:lnTo>
                  <a:pt x="31885" y="29186"/>
                </a:lnTo>
                <a:cubicBezTo>
                  <a:pt x="31463" y="28578"/>
                  <a:pt x="31166" y="27869"/>
                  <a:pt x="31038" y="270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4" id="54"/>
          <p:cNvSpPr/>
          <p:nvPr/>
        </p:nvSpPr>
        <p:spPr>
          <a:xfrm>
            <a:off x="4534073" y="4118649"/>
            <a:ext cx="63997" cy="39185"/>
          </a:xfrm>
          <a:custGeom>
            <a:avLst/>
            <a:gdLst/>
            <a:ahLst/>
            <a:cxnLst/>
            <a:rect r="r" b="b" t="t" l="l"/>
            <a:pathLst>
              <a:path h="39185" w="63997">
                <a:moveTo>
                  <a:pt x="44608" y="0"/>
                </a:moveTo>
                <a:cubicBezTo>
                  <a:pt x="31903" y="0"/>
                  <a:pt x="20360" y="5303"/>
                  <a:pt x="12228" y="13976"/>
                </a:cubicBezTo>
                <a:cubicBezTo>
                  <a:pt x="12191" y="14032"/>
                  <a:pt x="12158" y="14090"/>
                  <a:pt x="12118" y="14146"/>
                </a:cubicBezTo>
                <a:cubicBezTo>
                  <a:pt x="11850" y="14513"/>
                  <a:pt x="11541" y="14833"/>
                  <a:pt x="11205" y="15108"/>
                </a:cubicBezTo>
                <a:cubicBezTo>
                  <a:pt x="5930" y="21138"/>
                  <a:pt x="2242" y="28656"/>
                  <a:pt x="847" y="37088"/>
                </a:cubicBezTo>
                <a:cubicBezTo>
                  <a:pt x="718" y="37867"/>
                  <a:pt x="421" y="38576"/>
                  <a:pt x="0" y="39184"/>
                </a:cubicBezTo>
                <a:lnTo>
                  <a:pt x="26178" y="39184"/>
                </a:lnTo>
                <a:cubicBezTo>
                  <a:pt x="28950" y="31693"/>
                  <a:pt x="36165" y="26338"/>
                  <a:pt x="44607" y="26338"/>
                </a:cubicBezTo>
                <a:cubicBezTo>
                  <a:pt x="45682" y="26338"/>
                  <a:pt x="46737" y="26428"/>
                  <a:pt x="47765" y="26596"/>
                </a:cubicBezTo>
                <a:lnTo>
                  <a:pt x="63997" y="4421"/>
                </a:lnTo>
                <a:cubicBezTo>
                  <a:pt x="58122" y="1581"/>
                  <a:pt x="51538" y="0"/>
                  <a:pt x="44608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5" id="55"/>
          <p:cNvSpPr/>
          <p:nvPr/>
        </p:nvSpPr>
        <p:spPr>
          <a:xfrm>
            <a:off x="4612872" y="4102356"/>
            <a:ext cx="42622" cy="55478"/>
          </a:xfrm>
          <a:custGeom>
            <a:avLst/>
            <a:gdLst/>
            <a:ahLst/>
            <a:cxnLst/>
            <a:rect r="r" b="b" t="t" l="l"/>
            <a:pathLst>
              <a:path h="55478" w="42622">
                <a:moveTo>
                  <a:pt x="42622" y="55478"/>
                </a:moveTo>
                <a:cubicBezTo>
                  <a:pt x="41124" y="32985"/>
                  <a:pt x="29922" y="13107"/>
                  <a:pt x="13176" y="0"/>
                </a:cubicBezTo>
                <a:lnTo>
                  <a:pt x="0" y="18000"/>
                </a:lnTo>
                <a:cubicBezTo>
                  <a:pt x="454" y="18364"/>
                  <a:pt x="909" y="18728"/>
                  <a:pt x="1352" y="19107"/>
                </a:cubicBezTo>
                <a:cubicBezTo>
                  <a:pt x="11139" y="27493"/>
                  <a:pt x="17680" y="39065"/>
                  <a:pt x="19769" y="51694"/>
                </a:cubicBezTo>
                <a:cubicBezTo>
                  <a:pt x="19997" y="53073"/>
                  <a:pt x="19658" y="54414"/>
                  <a:pt x="18921" y="55478"/>
                </a:cubicBezTo>
                <a:lnTo>
                  <a:pt x="42622" y="55478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6" id="56"/>
          <p:cNvSpPr/>
          <p:nvPr/>
        </p:nvSpPr>
        <p:spPr>
          <a:xfrm>
            <a:off x="4501869" y="4117616"/>
            <a:ext cx="32695" cy="40217"/>
          </a:xfrm>
          <a:custGeom>
            <a:avLst/>
            <a:gdLst/>
            <a:ahLst/>
            <a:cxnLst/>
            <a:rect r="r" b="b" t="t" l="l"/>
            <a:pathLst>
              <a:path h="40217" w="32695">
                <a:moveTo>
                  <a:pt x="22851" y="36434"/>
                </a:moveTo>
                <a:cubicBezTo>
                  <a:pt x="24251" y="27971"/>
                  <a:pt x="27659" y="19988"/>
                  <a:pt x="32694" y="13116"/>
                </a:cubicBezTo>
                <a:lnTo>
                  <a:pt x="14719" y="45"/>
                </a:lnTo>
                <a:cubicBezTo>
                  <a:pt x="14700" y="31"/>
                  <a:pt x="14683" y="14"/>
                  <a:pt x="14665" y="0"/>
                </a:cubicBezTo>
                <a:cubicBezTo>
                  <a:pt x="6295" y="11430"/>
                  <a:pt x="996" y="25244"/>
                  <a:pt x="0" y="40218"/>
                </a:cubicBezTo>
                <a:lnTo>
                  <a:pt x="23700" y="40218"/>
                </a:lnTo>
                <a:cubicBezTo>
                  <a:pt x="22963" y="39153"/>
                  <a:pt x="22624" y="37812"/>
                  <a:pt x="22851" y="36434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4523202" y="4086196"/>
            <a:ext cx="50309" cy="36768"/>
          </a:xfrm>
          <a:custGeom>
            <a:avLst/>
            <a:gdLst/>
            <a:ahLst/>
            <a:cxnLst/>
            <a:rect r="r" b="b" t="t" l="l"/>
            <a:pathLst>
              <a:path h="36768" w="50309">
                <a:moveTo>
                  <a:pt x="0" y="23490"/>
                </a:moveTo>
                <a:lnTo>
                  <a:pt x="18260" y="36768"/>
                </a:lnTo>
                <a:cubicBezTo>
                  <a:pt x="18808" y="36258"/>
                  <a:pt x="19366" y="35755"/>
                  <a:pt x="19937" y="35266"/>
                </a:cubicBezTo>
                <a:cubicBezTo>
                  <a:pt x="28519" y="27914"/>
                  <a:pt x="39150" y="23431"/>
                  <a:pt x="50310" y="22366"/>
                </a:cubicBezTo>
                <a:lnTo>
                  <a:pt x="50310" y="0"/>
                </a:lnTo>
                <a:cubicBezTo>
                  <a:pt x="30600" y="1313"/>
                  <a:pt x="12898" y="10075"/>
                  <a:pt x="0" y="234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8" id="58"/>
          <p:cNvSpPr/>
          <p:nvPr/>
        </p:nvSpPr>
        <p:spPr>
          <a:xfrm>
            <a:off x="4583850" y="4086197"/>
            <a:ext cx="33642" cy="28464"/>
          </a:xfrm>
          <a:custGeom>
            <a:avLst/>
            <a:gdLst/>
            <a:ahLst/>
            <a:cxnLst/>
            <a:rect r="r" b="b" t="t" l="l"/>
            <a:pathLst>
              <a:path h="28464" w="33642">
                <a:moveTo>
                  <a:pt x="0" y="0"/>
                </a:moveTo>
                <a:lnTo>
                  <a:pt x="0" y="22366"/>
                </a:lnTo>
                <a:cubicBezTo>
                  <a:pt x="7143" y="23046"/>
                  <a:pt x="14068" y="25124"/>
                  <a:pt x="20378" y="28464"/>
                </a:cubicBezTo>
                <a:lnTo>
                  <a:pt x="33642" y="10344"/>
                </a:lnTo>
                <a:cubicBezTo>
                  <a:pt x="23640" y="4482"/>
                  <a:pt x="12205" y="813"/>
                  <a:pt x="0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59"/>
          <p:cNvSpPr txBox="true"/>
          <p:nvPr/>
        </p:nvSpPr>
        <p:spPr>
          <a:xfrm>
            <a:off x="4743781" y="4070073"/>
            <a:ext cx="751307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Snapshot Tests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4362781" y="44323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61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4477081" y="4521216"/>
            <a:ext cx="203200" cy="203200"/>
          </a:xfrm>
          <a:prstGeom prst="rect">
            <a:avLst/>
          </a:prstGeom>
        </p:spPr>
      </p:pic>
      <p:sp>
        <p:nvSpPr>
          <p:cNvPr name="GraphCompose Text Line" id="62"/>
          <p:cNvSpPr txBox="true"/>
          <p:nvPr/>
        </p:nvSpPr>
        <p:spPr>
          <a:xfrm>
            <a:off x="4743781" y="4552673"/>
            <a:ext cx="211233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5754367" y="3854064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64"/>
          <p:cNvSpPr txBox="true"/>
          <p:nvPr/>
        </p:nvSpPr>
        <p:spPr>
          <a:xfrm>
            <a:off x="6033882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sp>
        <p:nvSpPr>
          <p:cNvPr name="GraphCompose Inline Text Span" id="65"/>
          <p:cNvSpPr txBox="true"/>
          <p:nvPr/>
        </p:nvSpPr>
        <p:spPr>
          <a:xfrm>
            <a:off x="6146861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66"/>
          <p:cNvSpPr txBox="true"/>
          <p:nvPr/>
        </p:nvSpPr>
        <p:spPr>
          <a:xfrm>
            <a:off x="6284554" y="2693139"/>
            <a:ext cx="49690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GraphCompose Inline Text Span" id="67"/>
          <p:cNvSpPr txBox="true"/>
          <p:nvPr/>
        </p:nvSpPr>
        <p:spPr>
          <a:xfrm>
            <a:off x="6780184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68"/>
          <p:cNvSpPr txBox="true"/>
          <p:nvPr/>
        </p:nvSpPr>
        <p:spPr>
          <a:xfrm>
            <a:off x="6826082" y="2693139"/>
            <a:ext cx="72622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Backends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6033882" y="3011662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0" id="70"/>
          <p:cNvSpPr/>
          <p:nvPr/>
        </p:nvSpPr>
        <p:spPr>
          <a:xfrm>
            <a:off x="6242482" y="3317776"/>
            <a:ext cx="11138" cy="12786"/>
          </a:xfrm>
          <a:custGeom>
            <a:avLst/>
            <a:gdLst/>
            <a:ahLst/>
            <a:cxnLst/>
            <a:rect r="r" b="b" t="t" l="l"/>
            <a:pathLst>
              <a:path h="12786" w="11138">
                <a:moveTo>
                  <a:pt x="11138" y="6060"/>
                </a:moveTo>
                <a:cubicBezTo>
                  <a:pt x="11138" y="2264"/>
                  <a:pt x="8504" y="0"/>
                  <a:pt x="3856" y="0"/>
                </a:cubicBezTo>
                <a:cubicBezTo>
                  <a:pt x="1958" y="0"/>
                  <a:pt x="673" y="187"/>
                  <a:pt x="0" y="366"/>
                </a:cubicBezTo>
                <a:lnTo>
                  <a:pt x="0" y="12547"/>
                </a:lnTo>
                <a:cubicBezTo>
                  <a:pt x="797" y="12726"/>
                  <a:pt x="1775" y="12786"/>
                  <a:pt x="3124" y="12786"/>
                </a:cubicBezTo>
                <a:cubicBezTo>
                  <a:pt x="8078" y="12786"/>
                  <a:pt x="11138" y="10283"/>
                  <a:pt x="11138" y="606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1" id="71"/>
          <p:cNvSpPr/>
          <p:nvPr/>
        </p:nvSpPr>
        <p:spPr>
          <a:xfrm>
            <a:off x="6278171" y="3317903"/>
            <a:ext cx="17195" cy="27530"/>
          </a:xfrm>
          <a:custGeom>
            <a:avLst/>
            <a:gdLst/>
            <a:ahLst/>
            <a:cxnLst/>
            <a:rect r="r" b="b" t="t" l="l"/>
            <a:pathLst>
              <a:path h="27530" w="17195">
                <a:moveTo>
                  <a:pt x="4222" y="0"/>
                </a:moveTo>
                <a:cubicBezTo>
                  <a:pt x="2141" y="0"/>
                  <a:pt x="796" y="180"/>
                  <a:pt x="0" y="366"/>
                </a:cubicBezTo>
                <a:lnTo>
                  <a:pt x="0" y="27343"/>
                </a:lnTo>
                <a:cubicBezTo>
                  <a:pt x="796" y="27530"/>
                  <a:pt x="2082" y="27530"/>
                  <a:pt x="3244" y="27530"/>
                </a:cubicBezTo>
                <a:cubicBezTo>
                  <a:pt x="11688" y="27589"/>
                  <a:pt x="17195" y="22941"/>
                  <a:pt x="17195" y="13093"/>
                </a:cubicBezTo>
                <a:cubicBezTo>
                  <a:pt x="17254" y="4528"/>
                  <a:pt x="12236" y="0"/>
                  <a:pt x="4222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2" id="72"/>
          <p:cNvSpPr/>
          <p:nvPr/>
        </p:nvSpPr>
        <p:spPr>
          <a:xfrm>
            <a:off x="6207526" y="3176762"/>
            <a:ext cx="186112" cy="228600"/>
          </a:xfrm>
          <a:custGeom>
            <a:avLst/>
            <a:gdLst/>
            <a:ahLst/>
            <a:cxnLst/>
            <a:rect r="r" b="b" t="t" l="l"/>
            <a:pathLst>
              <a:path h="228600" w="186112">
                <a:moveTo>
                  <a:pt x="128326" y="0"/>
                </a:moveTo>
                <a:lnTo>
                  <a:pt x="36511" y="0"/>
                </a:lnTo>
                <a:cubicBezTo>
                  <a:pt x="23097" y="0"/>
                  <a:pt x="12180" y="10925"/>
                  <a:pt x="12180" y="24330"/>
                </a:cubicBezTo>
                <a:lnTo>
                  <a:pt x="12180" y="114299"/>
                </a:lnTo>
                <a:lnTo>
                  <a:pt x="9804" y="114299"/>
                </a:lnTo>
                <a:cubicBezTo>
                  <a:pt x="4390" y="114299"/>
                  <a:pt x="0" y="118686"/>
                  <a:pt x="0" y="124104"/>
                </a:cubicBezTo>
                <a:lnTo>
                  <a:pt x="0" y="183563"/>
                </a:lnTo>
                <a:cubicBezTo>
                  <a:pt x="0" y="188981"/>
                  <a:pt x="4390" y="193366"/>
                  <a:pt x="9804" y="193366"/>
                </a:cubicBezTo>
                <a:lnTo>
                  <a:pt x="12180" y="193366"/>
                </a:lnTo>
                <a:lnTo>
                  <a:pt x="12180" y="204269"/>
                </a:lnTo>
                <a:cubicBezTo>
                  <a:pt x="12180" y="217690"/>
                  <a:pt x="23097" y="228599"/>
                  <a:pt x="36511" y="228599"/>
                </a:cubicBezTo>
                <a:lnTo>
                  <a:pt x="161788" y="228599"/>
                </a:lnTo>
                <a:cubicBezTo>
                  <a:pt x="175193" y="228599"/>
                  <a:pt x="186112" y="217689"/>
                  <a:pt x="186112" y="204269"/>
                </a:cubicBezTo>
                <a:lnTo>
                  <a:pt x="186112" y="57583"/>
                </a:lnTo>
                <a:lnTo>
                  <a:pt x="128326" y="0"/>
                </a:lnTo>
                <a:close/>
                <a:moveTo>
                  <a:pt x="25720" y="134834"/>
                </a:moveTo>
                <a:cubicBezTo>
                  <a:pt x="28594" y="134349"/>
                  <a:pt x="32632" y="133983"/>
                  <a:pt x="38322" y="133983"/>
                </a:cubicBezTo>
                <a:cubicBezTo>
                  <a:pt x="44073" y="133983"/>
                  <a:pt x="48171" y="135080"/>
                  <a:pt x="50925" y="137285"/>
                </a:cubicBezTo>
                <a:cubicBezTo>
                  <a:pt x="53555" y="139363"/>
                  <a:pt x="55331" y="142792"/>
                  <a:pt x="55331" y="146828"/>
                </a:cubicBezTo>
                <a:cubicBezTo>
                  <a:pt x="55331" y="150863"/>
                  <a:pt x="53985" y="154293"/>
                  <a:pt x="51538" y="156617"/>
                </a:cubicBezTo>
                <a:cubicBezTo>
                  <a:pt x="48355" y="159614"/>
                  <a:pt x="43647" y="160959"/>
                  <a:pt x="38140" y="160959"/>
                </a:cubicBezTo>
                <a:cubicBezTo>
                  <a:pt x="36914" y="160959"/>
                  <a:pt x="35816" y="160898"/>
                  <a:pt x="34956" y="160779"/>
                </a:cubicBezTo>
                <a:lnTo>
                  <a:pt x="34956" y="175523"/>
                </a:lnTo>
                <a:lnTo>
                  <a:pt x="25720" y="175523"/>
                </a:lnTo>
                <a:lnTo>
                  <a:pt x="25720" y="134834"/>
                </a:lnTo>
                <a:close/>
                <a:moveTo>
                  <a:pt x="161788" y="213699"/>
                </a:moveTo>
                <a:lnTo>
                  <a:pt x="36511" y="213699"/>
                </a:lnTo>
                <a:cubicBezTo>
                  <a:pt x="31317" y="213699"/>
                  <a:pt x="27088" y="209470"/>
                  <a:pt x="27088" y="204269"/>
                </a:cubicBezTo>
                <a:lnTo>
                  <a:pt x="27088" y="193366"/>
                </a:lnTo>
                <a:lnTo>
                  <a:pt x="143872" y="193366"/>
                </a:lnTo>
                <a:cubicBezTo>
                  <a:pt x="149287" y="193366"/>
                  <a:pt x="153677" y="188981"/>
                  <a:pt x="153677" y="183563"/>
                </a:cubicBezTo>
                <a:lnTo>
                  <a:pt x="153677" y="124104"/>
                </a:lnTo>
                <a:cubicBezTo>
                  <a:pt x="153677" y="118686"/>
                  <a:pt x="149287" y="114299"/>
                  <a:pt x="143872" y="114299"/>
                </a:cubicBezTo>
                <a:lnTo>
                  <a:pt x="27088" y="114299"/>
                </a:lnTo>
                <a:lnTo>
                  <a:pt x="27088" y="24330"/>
                </a:lnTo>
                <a:cubicBezTo>
                  <a:pt x="27088" y="19144"/>
                  <a:pt x="31317" y="14915"/>
                  <a:pt x="36511" y="14915"/>
                </a:cubicBezTo>
                <a:lnTo>
                  <a:pt x="122751" y="14825"/>
                </a:lnTo>
                <a:lnTo>
                  <a:pt x="122751" y="46702"/>
                </a:lnTo>
                <a:cubicBezTo>
                  <a:pt x="122751" y="56013"/>
                  <a:pt x="130306" y="63575"/>
                  <a:pt x="139624" y="63575"/>
                </a:cubicBezTo>
                <a:lnTo>
                  <a:pt x="170852" y="63486"/>
                </a:lnTo>
                <a:lnTo>
                  <a:pt x="171203" y="204269"/>
                </a:lnTo>
                <a:cubicBezTo>
                  <a:pt x="171203" y="209470"/>
                  <a:pt x="166982" y="213699"/>
                  <a:pt x="161788" y="213699"/>
                </a:cubicBezTo>
                <a:close/>
                <a:moveTo>
                  <a:pt x="61286" y="175336"/>
                </a:moveTo>
                <a:lnTo>
                  <a:pt x="61286" y="134834"/>
                </a:lnTo>
                <a:cubicBezTo>
                  <a:pt x="64712" y="134289"/>
                  <a:pt x="69177" y="133983"/>
                  <a:pt x="73889" y="133983"/>
                </a:cubicBezTo>
                <a:cubicBezTo>
                  <a:pt x="81720" y="133983"/>
                  <a:pt x="86798" y="135388"/>
                  <a:pt x="90776" y="138384"/>
                </a:cubicBezTo>
                <a:cubicBezTo>
                  <a:pt x="95058" y="141567"/>
                  <a:pt x="97748" y="146641"/>
                  <a:pt x="97748" y="153926"/>
                </a:cubicBezTo>
                <a:cubicBezTo>
                  <a:pt x="97748" y="161817"/>
                  <a:pt x="94875" y="167265"/>
                  <a:pt x="90896" y="170627"/>
                </a:cubicBezTo>
                <a:cubicBezTo>
                  <a:pt x="86554" y="174236"/>
                  <a:pt x="79945" y="175948"/>
                  <a:pt x="71871" y="175948"/>
                </a:cubicBezTo>
                <a:cubicBezTo>
                  <a:pt x="67036" y="175948"/>
                  <a:pt x="63610" y="175642"/>
                  <a:pt x="61286" y="175336"/>
                </a:cubicBezTo>
                <a:close/>
                <a:moveTo>
                  <a:pt x="128057" y="151357"/>
                </a:moveTo>
                <a:lnTo>
                  <a:pt x="128057" y="158941"/>
                </a:lnTo>
                <a:lnTo>
                  <a:pt x="113250" y="158941"/>
                </a:lnTo>
                <a:lnTo>
                  <a:pt x="113250" y="175523"/>
                </a:lnTo>
                <a:lnTo>
                  <a:pt x="103891" y="175523"/>
                </a:lnTo>
                <a:lnTo>
                  <a:pt x="103891" y="134289"/>
                </a:lnTo>
                <a:lnTo>
                  <a:pt x="129096" y="134289"/>
                </a:lnTo>
                <a:lnTo>
                  <a:pt x="129096" y="141933"/>
                </a:lnTo>
                <a:lnTo>
                  <a:pt x="113250" y="141933"/>
                </a:lnTo>
                <a:lnTo>
                  <a:pt x="113250" y="151357"/>
                </a:lnTo>
                <a:lnTo>
                  <a:pt x="128057" y="151357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3"/>
          <p:cNvSpPr txBox="true"/>
          <p:nvPr/>
        </p:nvSpPr>
        <p:spPr>
          <a:xfrm>
            <a:off x="6503782" y="3123767"/>
            <a:ext cx="65169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PDFBox 3.0</a:t>
            </a:r>
            <a:endParaRPr lang="en-US" sz="1100"/>
          </a:p>
        </p:txBody>
      </p:sp>
      <p:sp>
        <p:nvSpPr>
          <p:cNvPr name="GraphCompose Text Line" id="74"/>
          <p:cNvSpPr txBox="true"/>
          <p:nvPr/>
        </p:nvSpPr>
        <p:spPr>
          <a:xfrm>
            <a:off x="6503782" y="3330771"/>
            <a:ext cx="843089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2EC48A"/>
                </a:solidFill>
                <a:latin typeface="Arial"/>
              </a:rPr>
              <a:t>Production backend</a:t>
            </a:r>
            <a:endParaRPr lang="en-US" sz="1100"/>
          </a:p>
        </p:txBody>
      </p:sp>
      <p:sp>
        <p:nvSpPr>
          <p:cNvPr name="AutoShape 75" id="75"/>
          <p:cNvSpPr/>
          <p:nvPr/>
        </p:nvSpPr>
        <p:spPr>
          <a:xfrm>
            <a:off x="6033882" y="3697462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6" id="76"/>
          <p:cNvSpPr/>
          <p:nvPr/>
        </p:nvSpPr>
        <p:spPr>
          <a:xfrm>
            <a:off x="6199357" y="3862562"/>
            <a:ext cx="202449" cy="228600"/>
          </a:xfrm>
          <a:custGeom>
            <a:avLst/>
            <a:gdLst/>
            <a:ahLst/>
            <a:cxnLst/>
            <a:rect r="r" b="b" t="t" l="l"/>
            <a:pathLst>
              <a:path h="228600" w="202449">
                <a:moveTo>
                  <a:pt x="189637" y="81769"/>
                </a:moveTo>
                <a:lnTo>
                  <a:pt x="184148" y="81769"/>
                </a:lnTo>
                <a:lnTo>
                  <a:pt x="184148" y="55283"/>
                </a:lnTo>
                <a:cubicBezTo>
                  <a:pt x="184148" y="55117"/>
                  <a:pt x="184122" y="54952"/>
                  <a:pt x="184100" y="54783"/>
                </a:cubicBezTo>
                <a:cubicBezTo>
                  <a:pt x="184091" y="53732"/>
                  <a:pt x="183756" y="52698"/>
                  <a:pt x="183036" y="51881"/>
                </a:cubicBezTo>
                <a:lnTo>
                  <a:pt x="138962" y="1532"/>
                </a:lnTo>
                <a:cubicBezTo>
                  <a:pt x="138948" y="1519"/>
                  <a:pt x="138935" y="1515"/>
                  <a:pt x="138926" y="1502"/>
                </a:cubicBezTo>
                <a:cubicBezTo>
                  <a:pt x="138664" y="1208"/>
                  <a:pt x="138358" y="963"/>
                  <a:pt x="138033" y="753"/>
                </a:cubicBezTo>
                <a:cubicBezTo>
                  <a:pt x="137937" y="687"/>
                  <a:pt x="137841" y="634"/>
                  <a:pt x="137740" y="578"/>
                </a:cubicBezTo>
                <a:cubicBezTo>
                  <a:pt x="137460" y="426"/>
                  <a:pt x="137162" y="298"/>
                  <a:pt x="136856" y="206"/>
                </a:cubicBezTo>
                <a:cubicBezTo>
                  <a:pt x="136772" y="184"/>
                  <a:pt x="136698" y="150"/>
                  <a:pt x="136615" y="128"/>
                </a:cubicBezTo>
                <a:cubicBezTo>
                  <a:pt x="136282" y="49"/>
                  <a:pt x="135937" y="0"/>
                  <a:pt x="135587" y="0"/>
                </a:cubicBezTo>
                <a:lnTo>
                  <a:pt x="27266" y="0"/>
                </a:lnTo>
                <a:cubicBezTo>
                  <a:pt x="22320" y="0"/>
                  <a:pt x="18301" y="4023"/>
                  <a:pt x="18301" y="8965"/>
                </a:cubicBezTo>
                <a:lnTo>
                  <a:pt x="18301" y="81767"/>
                </a:lnTo>
                <a:lnTo>
                  <a:pt x="12813" y="81767"/>
                </a:lnTo>
                <a:cubicBezTo>
                  <a:pt x="5737" y="81767"/>
                  <a:pt x="0" y="87502"/>
                  <a:pt x="0" y="94579"/>
                </a:cubicBezTo>
                <a:lnTo>
                  <a:pt x="0" y="161209"/>
                </a:lnTo>
                <a:cubicBezTo>
                  <a:pt x="0" y="168282"/>
                  <a:pt x="5737" y="174024"/>
                  <a:pt x="12813" y="174024"/>
                </a:cubicBezTo>
                <a:lnTo>
                  <a:pt x="18301" y="174024"/>
                </a:lnTo>
                <a:lnTo>
                  <a:pt x="18301" y="219635"/>
                </a:lnTo>
                <a:cubicBezTo>
                  <a:pt x="18301" y="224578"/>
                  <a:pt x="22320" y="228600"/>
                  <a:pt x="27266" y="228600"/>
                </a:cubicBezTo>
                <a:lnTo>
                  <a:pt x="175183" y="228600"/>
                </a:lnTo>
                <a:cubicBezTo>
                  <a:pt x="180125" y="228600"/>
                  <a:pt x="184148" y="224578"/>
                  <a:pt x="184148" y="219635"/>
                </a:cubicBezTo>
                <a:lnTo>
                  <a:pt x="184148" y="174024"/>
                </a:lnTo>
                <a:lnTo>
                  <a:pt x="189637" y="174024"/>
                </a:lnTo>
                <a:cubicBezTo>
                  <a:pt x="196711" y="174024"/>
                  <a:pt x="202449" y="168285"/>
                  <a:pt x="202449" y="161211"/>
                </a:cubicBezTo>
                <a:lnTo>
                  <a:pt x="202449" y="94581"/>
                </a:lnTo>
                <a:cubicBezTo>
                  <a:pt x="202449" y="87504"/>
                  <a:pt x="196711" y="81769"/>
                  <a:pt x="189637" y="81769"/>
                </a:cubicBezTo>
                <a:close/>
                <a:moveTo>
                  <a:pt x="27266" y="8967"/>
                </a:moveTo>
                <a:lnTo>
                  <a:pt x="131104" y="8967"/>
                </a:lnTo>
                <a:lnTo>
                  <a:pt x="131104" y="54832"/>
                </a:lnTo>
                <a:cubicBezTo>
                  <a:pt x="131104" y="57308"/>
                  <a:pt x="133113" y="59314"/>
                  <a:pt x="135587" y="59314"/>
                </a:cubicBezTo>
                <a:lnTo>
                  <a:pt x="175184" y="59314"/>
                </a:lnTo>
                <a:lnTo>
                  <a:pt x="175184" y="81771"/>
                </a:lnTo>
                <a:lnTo>
                  <a:pt x="27266" y="81771"/>
                </a:lnTo>
                <a:lnTo>
                  <a:pt x="27266" y="8967"/>
                </a:lnTo>
                <a:close/>
                <a:moveTo>
                  <a:pt x="140167" y="140025"/>
                </a:moveTo>
                <a:cubicBezTo>
                  <a:pt x="143437" y="140025"/>
                  <a:pt x="147066" y="139316"/>
                  <a:pt x="149200" y="138458"/>
                </a:cubicBezTo>
                <a:lnTo>
                  <a:pt x="150833" y="146922"/>
                </a:lnTo>
                <a:cubicBezTo>
                  <a:pt x="148845" y="147913"/>
                  <a:pt x="144366" y="148986"/>
                  <a:pt x="138536" y="148986"/>
                </a:cubicBezTo>
                <a:cubicBezTo>
                  <a:pt x="121964" y="148986"/>
                  <a:pt x="113435" y="138675"/>
                  <a:pt x="113435" y="125024"/>
                </a:cubicBezTo>
                <a:cubicBezTo>
                  <a:pt x="113435" y="108669"/>
                  <a:pt x="125096" y="99568"/>
                  <a:pt x="139603" y="99568"/>
                </a:cubicBezTo>
                <a:cubicBezTo>
                  <a:pt x="145217" y="99568"/>
                  <a:pt x="149486" y="100709"/>
                  <a:pt x="151406" y="101702"/>
                </a:cubicBezTo>
                <a:lnTo>
                  <a:pt x="149202" y="110308"/>
                </a:lnTo>
                <a:cubicBezTo>
                  <a:pt x="146998" y="109380"/>
                  <a:pt x="143943" y="108530"/>
                  <a:pt x="140100" y="108530"/>
                </a:cubicBezTo>
                <a:cubicBezTo>
                  <a:pt x="131494" y="108530"/>
                  <a:pt x="124814" y="113719"/>
                  <a:pt x="124814" y="124385"/>
                </a:cubicBezTo>
                <a:cubicBezTo>
                  <a:pt x="124812" y="133976"/>
                  <a:pt x="130500" y="140025"/>
                  <a:pt x="140167" y="140025"/>
                </a:cubicBezTo>
                <a:close/>
                <a:moveTo>
                  <a:pt x="108522" y="123816"/>
                </a:moveTo>
                <a:cubicBezTo>
                  <a:pt x="108522" y="139528"/>
                  <a:pt x="98993" y="149056"/>
                  <a:pt x="84988" y="149056"/>
                </a:cubicBezTo>
                <a:cubicBezTo>
                  <a:pt x="70765" y="149056"/>
                  <a:pt x="62446" y="138316"/>
                  <a:pt x="62446" y="124668"/>
                </a:cubicBezTo>
                <a:cubicBezTo>
                  <a:pt x="62446" y="110306"/>
                  <a:pt x="71617" y="99566"/>
                  <a:pt x="85770" y="99566"/>
                </a:cubicBezTo>
                <a:cubicBezTo>
                  <a:pt x="100493" y="99566"/>
                  <a:pt x="108522" y="110590"/>
                  <a:pt x="108522" y="123816"/>
                </a:cubicBezTo>
                <a:close/>
                <a:moveTo>
                  <a:pt x="15159" y="148062"/>
                </a:moveTo>
                <a:lnTo>
                  <a:pt x="15159" y="100990"/>
                </a:lnTo>
                <a:cubicBezTo>
                  <a:pt x="19142" y="100351"/>
                  <a:pt x="24331" y="99999"/>
                  <a:pt x="29806" y="99999"/>
                </a:cubicBezTo>
                <a:cubicBezTo>
                  <a:pt x="38908" y="99999"/>
                  <a:pt x="44808" y="101632"/>
                  <a:pt x="49425" y="105118"/>
                </a:cubicBezTo>
                <a:cubicBezTo>
                  <a:pt x="54405" y="108813"/>
                  <a:pt x="57536" y="114716"/>
                  <a:pt x="57536" y="123175"/>
                </a:cubicBezTo>
                <a:cubicBezTo>
                  <a:pt x="57536" y="132345"/>
                  <a:pt x="54194" y="138677"/>
                  <a:pt x="49571" y="142586"/>
                </a:cubicBezTo>
                <a:cubicBezTo>
                  <a:pt x="44521" y="146780"/>
                  <a:pt x="36843" y="148774"/>
                  <a:pt x="27455" y="148774"/>
                </a:cubicBezTo>
                <a:cubicBezTo>
                  <a:pt x="21842" y="148772"/>
                  <a:pt x="17860" y="148414"/>
                  <a:pt x="15159" y="148062"/>
                </a:cubicBezTo>
                <a:close/>
                <a:moveTo>
                  <a:pt x="175184" y="217208"/>
                </a:moveTo>
                <a:lnTo>
                  <a:pt x="27266" y="217208"/>
                </a:lnTo>
                <a:lnTo>
                  <a:pt x="27266" y="174024"/>
                </a:lnTo>
                <a:lnTo>
                  <a:pt x="175183" y="174024"/>
                </a:lnTo>
                <a:lnTo>
                  <a:pt x="175183" y="217208"/>
                </a:lnTo>
                <a:close/>
                <a:moveTo>
                  <a:pt x="183402" y="148272"/>
                </a:moveTo>
                <a:lnTo>
                  <a:pt x="179062" y="139598"/>
                </a:lnTo>
                <a:cubicBezTo>
                  <a:pt x="177285" y="136258"/>
                  <a:pt x="176147" y="133765"/>
                  <a:pt x="174796" y="130995"/>
                </a:cubicBezTo>
                <a:lnTo>
                  <a:pt x="174654" y="130995"/>
                </a:lnTo>
                <a:cubicBezTo>
                  <a:pt x="173658" y="133770"/>
                  <a:pt x="172452" y="136258"/>
                  <a:pt x="170959" y="139598"/>
                </a:cubicBezTo>
                <a:lnTo>
                  <a:pt x="166977" y="148272"/>
                </a:lnTo>
                <a:lnTo>
                  <a:pt x="154604" y="148272"/>
                </a:lnTo>
                <a:lnTo>
                  <a:pt x="168469" y="124024"/>
                </a:lnTo>
                <a:lnTo>
                  <a:pt x="155105" y="100348"/>
                </a:lnTo>
                <a:lnTo>
                  <a:pt x="167550" y="100348"/>
                </a:lnTo>
                <a:lnTo>
                  <a:pt x="171743" y="109097"/>
                </a:lnTo>
                <a:cubicBezTo>
                  <a:pt x="173166" y="112007"/>
                  <a:pt x="174229" y="114356"/>
                  <a:pt x="175368" y="117057"/>
                </a:cubicBezTo>
                <a:lnTo>
                  <a:pt x="175508" y="117057"/>
                </a:lnTo>
                <a:cubicBezTo>
                  <a:pt x="176645" y="114000"/>
                  <a:pt x="177573" y="111868"/>
                  <a:pt x="178778" y="109097"/>
                </a:cubicBezTo>
                <a:lnTo>
                  <a:pt x="182831" y="100348"/>
                </a:lnTo>
                <a:lnTo>
                  <a:pt x="195206" y="100348"/>
                </a:lnTo>
                <a:lnTo>
                  <a:pt x="181695" y="123739"/>
                </a:lnTo>
                <a:lnTo>
                  <a:pt x="195915" y="148272"/>
                </a:lnTo>
                <a:lnTo>
                  <a:pt x="183402" y="14827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7" id="77"/>
          <p:cNvSpPr/>
          <p:nvPr/>
        </p:nvSpPr>
        <p:spPr>
          <a:xfrm>
            <a:off x="6225393" y="3970874"/>
            <a:ext cx="19981" cy="31994"/>
          </a:xfrm>
          <a:custGeom>
            <a:avLst/>
            <a:gdLst/>
            <a:ahLst/>
            <a:cxnLst/>
            <a:rect r="r" b="b" t="t" l="l"/>
            <a:pathLst>
              <a:path h="31994" w="19981">
                <a:moveTo>
                  <a:pt x="19980" y="15215"/>
                </a:moveTo>
                <a:cubicBezTo>
                  <a:pt x="20049" y="5264"/>
                  <a:pt x="14221" y="0"/>
                  <a:pt x="4908" y="0"/>
                </a:cubicBezTo>
                <a:cubicBezTo>
                  <a:pt x="2487" y="0"/>
                  <a:pt x="925" y="214"/>
                  <a:pt x="0" y="428"/>
                </a:cubicBezTo>
                <a:lnTo>
                  <a:pt x="0" y="31781"/>
                </a:lnTo>
                <a:cubicBezTo>
                  <a:pt x="928" y="31993"/>
                  <a:pt x="2421" y="31993"/>
                  <a:pt x="3772" y="31993"/>
                </a:cubicBezTo>
                <a:cubicBezTo>
                  <a:pt x="13584" y="32068"/>
                  <a:pt x="19980" y="26667"/>
                  <a:pt x="19980" y="15215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8" id="78"/>
          <p:cNvSpPr/>
          <p:nvPr/>
        </p:nvSpPr>
        <p:spPr>
          <a:xfrm>
            <a:off x="6273255" y="3970732"/>
            <a:ext cx="23176" cy="32280"/>
          </a:xfrm>
          <a:custGeom>
            <a:avLst/>
            <a:gdLst/>
            <a:ahLst/>
            <a:cxnLst/>
            <a:rect r="r" b="b" t="t" l="l"/>
            <a:pathLst>
              <a:path h="32280" w="23176">
                <a:moveTo>
                  <a:pt x="0" y="16281"/>
                </a:moveTo>
                <a:cubicBezTo>
                  <a:pt x="0" y="25668"/>
                  <a:pt x="4409" y="32280"/>
                  <a:pt x="11661" y="32280"/>
                </a:cubicBezTo>
                <a:cubicBezTo>
                  <a:pt x="18986" y="32280"/>
                  <a:pt x="23176" y="25316"/>
                  <a:pt x="23176" y="16001"/>
                </a:cubicBezTo>
                <a:cubicBezTo>
                  <a:pt x="23176" y="7395"/>
                  <a:pt x="19055" y="0"/>
                  <a:pt x="11585" y="0"/>
                </a:cubicBezTo>
                <a:cubicBezTo>
                  <a:pt x="4263" y="2"/>
                  <a:pt x="0" y="6971"/>
                  <a:pt x="0" y="1628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9"/>
          <p:cNvSpPr txBox="true"/>
          <p:nvPr/>
        </p:nvSpPr>
        <p:spPr>
          <a:xfrm>
            <a:off x="6503782" y="3809567"/>
            <a:ext cx="7186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DOCX export</a:t>
            </a:r>
            <a:endParaRPr lang="en-US" sz="1100"/>
          </a:p>
        </p:txBody>
      </p:sp>
      <p:sp>
        <p:nvSpPr>
          <p:cNvPr name="GraphCompose Text Line" id="80"/>
          <p:cNvSpPr txBox="true"/>
          <p:nvPr/>
        </p:nvSpPr>
        <p:spPr>
          <a:xfrm>
            <a:off x="6503782" y="4016571"/>
            <a:ext cx="689451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767E94"/>
                </a:solidFill>
                <a:latin typeface="Arial"/>
              </a:rPr>
              <a:t>Semantic export</a:t>
            </a:r>
            <a:endParaRPr lang="en-US" sz="1100"/>
          </a:p>
        </p:txBody>
      </p:sp>
      <p:sp>
        <p:nvSpPr>
          <p:cNvPr name="AutoShape 81" id="81"/>
          <p:cNvSpPr/>
          <p:nvPr/>
        </p:nvSpPr>
        <p:spPr>
          <a:xfrm>
            <a:off x="6033882" y="4383262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82" id="82"/>
          <p:cNvSpPr/>
          <p:nvPr/>
        </p:nvSpPr>
        <p:spPr>
          <a:xfrm>
            <a:off x="6253179" y="4598180"/>
            <a:ext cx="11135" cy="12786"/>
          </a:xfrm>
          <a:custGeom>
            <a:avLst/>
            <a:gdLst/>
            <a:ahLst/>
            <a:cxnLst/>
            <a:rect r="r" b="b" t="t" l="l"/>
            <a:pathLst>
              <a:path h="12786" w="11135">
                <a:moveTo>
                  <a:pt x="11135" y="6061"/>
                </a:moveTo>
                <a:cubicBezTo>
                  <a:pt x="11135" y="2265"/>
                  <a:pt x="8504" y="0"/>
                  <a:pt x="3841" y="0"/>
                </a:cubicBezTo>
                <a:cubicBezTo>
                  <a:pt x="1957" y="0"/>
                  <a:pt x="673" y="188"/>
                  <a:pt x="0" y="367"/>
                </a:cubicBezTo>
                <a:lnTo>
                  <a:pt x="0" y="12548"/>
                </a:lnTo>
                <a:cubicBezTo>
                  <a:pt x="792" y="12727"/>
                  <a:pt x="1764" y="12787"/>
                  <a:pt x="3109" y="12787"/>
                </a:cubicBezTo>
                <a:cubicBezTo>
                  <a:pt x="8071" y="12787"/>
                  <a:pt x="11135" y="10284"/>
                  <a:pt x="11135" y="606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3" id="83"/>
          <p:cNvSpPr/>
          <p:nvPr/>
        </p:nvSpPr>
        <p:spPr>
          <a:xfrm>
            <a:off x="6217610" y="4598180"/>
            <a:ext cx="11134" cy="12786"/>
          </a:xfrm>
          <a:custGeom>
            <a:avLst/>
            <a:gdLst/>
            <a:ahLst/>
            <a:cxnLst/>
            <a:rect r="r" b="b" t="t" l="l"/>
            <a:pathLst>
              <a:path h="12786" w="11134">
                <a:moveTo>
                  <a:pt x="3856" y="0"/>
                </a:moveTo>
                <a:cubicBezTo>
                  <a:pt x="1958" y="0"/>
                  <a:pt x="672" y="188"/>
                  <a:pt x="0" y="367"/>
                </a:cubicBezTo>
                <a:lnTo>
                  <a:pt x="0" y="12548"/>
                </a:lnTo>
                <a:cubicBezTo>
                  <a:pt x="792" y="12727"/>
                  <a:pt x="1771" y="12787"/>
                  <a:pt x="3124" y="12787"/>
                </a:cubicBezTo>
                <a:cubicBezTo>
                  <a:pt x="8070" y="12787"/>
                  <a:pt x="11134" y="10284"/>
                  <a:pt x="11134" y="6061"/>
                </a:cubicBezTo>
                <a:cubicBezTo>
                  <a:pt x="11134" y="2265"/>
                  <a:pt x="8504" y="0"/>
                  <a:pt x="3856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4" id="84"/>
          <p:cNvSpPr/>
          <p:nvPr/>
        </p:nvSpPr>
        <p:spPr>
          <a:xfrm>
            <a:off x="6187750" y="4548362"/>
            <a:ext cx="225664" cy="228600"/>
          </a:xfrm>
          <a:custGeom>
            <a:avLst/>
            <a:gdLst/>
            <a:ahLst/>
            <a:cxnLst/>
            <a:rect r="r" b="b" t="t" l="l"/>
            <a:pathLst>
              <a:path h="228600" w="225664">
                <a:moveTo>
                  <a:pt x="167878" y="0"/>
                </a:moveTo>
                <a:lnTo>
                  <a:pt x="76063" y="0"/>
                </a:lnTo>
                <a:cubicBezTo>
                  <a:pt x="62650" y="0"/>
                  <a:pt x="51732" y="10925"/>
                  <a:pt x="51732" y="24330"/>
                </a:cubicBezTo>
                <a:lnTo>
                  <a:pt x="51732" y="28836"/>
                </a:lnTo>
                <a:lnTo>
                  <a:pt x="9804" y="28836"/>
                </a:lnTo>
                <a:cubicBezTo>
                  <a:pt x="4386" y="28836"/>
                  <a:pt x="0" y="33223"/>
                  <a:pt x="0" y="38640"/>
                </a:cubicBezTo>
                <a:lnTo>
                  <a:pt x="0" y="88564"/>
                </a:lnTo>
                <a:cubicBezTo>
                  <a:pt x="0" y="93982"/>
                  <a:pt x="4386" y="98369"/>
                  <a:pt x="9804" y="98369"/>
                </a:cubicBezTo>
                <a:lnTo>
                  <a:pt x="51732" y="98369"/>
                </a:lnTo>
                <a:lnTo>
                  <a:pt x="51732" y="204270"/>
                </a:lnTo>
                <a:cubicBezTo>
                  <a:pt x="51732" y="217690"/>
                  <a:pt x="62650" y="228600"/>
                  <a:pt x="76063" y="228600"/>
                </a:cubicBezTo>
                <a:lnTo>
                  <a:pt x="201341" y="228600"/>
                </a:lnTo>
                <a:cubicBezTo>
                  <a:pt x="214746" y="228600"/>
                  <a:pt x="225664" y="217690"/>
                  <a:pt x="225664" y="204270"/>
                </a:cubicBezTo>
                <a:lnTo>
                  <a:pt x="225664" y="57583"/>
                </a:lnTo>
                <a:lnTo>
                  <a:pt x="167878" y="0"/>
                </a:lnTo>
                <a:close/>
                <a:moveTo>
                  <a:pt x="46434" y="65421"/>
                </a:moveTo>
                <a:cubicBezTo>
                  <a:pt x="43251" y="68418"/>
                  <a:pt x="38543" y="69764"/>
                  <a:pt x="33044" y="69764"/>
                </a:cubicBezTo>
                <a:cubicBezTo>
                  <a:pt x="31818" y="69764"/>
                  <a:pt x="30712" y="69703"/>
                  <a:pt x="29860" y="69584"/>
                </a:cubicBezTo>
                <a:lnTo>
                  <a:pt x="29860" y="84327"/>
                </a:lnTo>
                <a:lnTo>
                  <a:pt x="20624" y="84327"/>
                </a:lnTo>
                <a:lnTo>
                  <a:pt x="20624" y="43639"/>
                </a:lnTo>
                <a:cubicBezTo>
                  <a:pt x="23493" y="43154"/>
                  <a:pt x="27529" y="42788"/>
                  <a:pt x="33223" y="42788"/>
                </a:cubicBezTo>
                <a:cubicBezTo>
                  <a:pt x="38977" y="42788"/>
                  <a:pt x="43071" y="43886"/>
                  <a:pt x="45821" y="46090"/>
                </a:cubicBezTo>
                <a:cubicBezTo>
                  <a:pt x="48451" y="48168"/>
                  <a:pt x="50231" y="51598"/>
                  <a:pt x="50231" y="55633"/>
                </a:cubicBezTo>
                <a:cubicBezTo>
                  <a:pt x="50231" y="59669"/>
                  <a:pt x="48885" y="63098"/>
                  <a:pt x="46434" y="65421"/>
                </a:cubicBezTo>
                <a:close/>
                <a:moveTo>
                  <a:pt x="65430" y="84328"/>
                </a:moveTo>
                <a:lnTo>
                  <a:pt x="56178" y="84328"/>
                </a:lnTo>
                <a:lnTo>
                  <a:pt x="56178" y="43639"/>
                </a:lnTo>
                <a:cubicBezTo>
                  <a:pt x="59063" y="43154"/>
                  <a:pt x="63098" y="42788"/>
                  <a:pt x="68792" y="42788"/>
                </a:cubicBezTo>
                <a:cubicBezTo>
                  <a:pt x="74546" y="42788"/>
                  <a:pt x="78641" y="43886"/>
                  <a:pt x="81390" y="46090"/>
                </a:cubicBezTo>
                <a:cubicBezTo>
                  <a:pt x="84021" y="48168"/>
                  <a:pt x="85799" y="51598"/>
                  <a:pt x="85799" y="55633"/>
                </a:cubicBezTo>
                <a:cubicBezTo>
                  <a:pt x="85799" y="59669"/>
                  <a:pt x="84454" y="63098"/>
                  <a:pt x="82004" y="65421"/>
                </a:cubicBezTo>
                <a:cubicBezTo>
                  <a:pt x="78820" y="68418"/>
                  <a:pt x="74113" y="69764"/>
                  <a:pt x="68598" y="69764"/>
                </a:cubicBezTo>
                <a:cubicBezTo>
                  <a:pt x="67387" y="69764"/>
                  <a:pt x="66281" y="69703"/>
                  <a:pt x="65430" y="69584"/>
                </a:cubicBezTo>
                <a:lnTo>
                  <a:pt x="65430" y="84328"/>
                </a:lnTo>
                <a:close/>
                <a:moveTo>
                  <a:pt x="201340" y="213700"/>
                </a:moveTo>
                <a:lnTo>
                  <a:pt x="76063" y="213700"/>
                </a:lnTo>
                <a:cubicBezTo>
                  <a:pt x="70869" y="213700"/>
                  <a:pt x="66641" y="209470"/>
                  <a:pt x="66641" y="204270"/>
                </a:cubicBezTo>
                <a:lnTo>
                  <a:pt x="66641" y="98369"/>
                </a:lnTo>
                <a:lnTo>
                  <a:pt x="132892" y="98369"/>
                </a:lnTo>
                <a:cubicBezTo>
                  <a:pt x="138309" y="98369"/>
                  <a:pt x="142695" y="93982"/>
                  <a:pt x="142695" y="88564"/>
                </a:cubicBezTo>
                <a:lnTo>
                  <a:pt x="142695" y="38640"/>
                </a:lnTo>
                <a:cubicBezTo>
                  <a:pt x="142695" y="33223"/>
                  <a:pt x="138309" y="28836"/>
                  <a:pt x="132892" y="28836"/>
                </a:cubicBezTo>
                <a:lnTo>
                  <a:pt x="66641" y="28836"/>
                </a:lnTo>
                <a:lnTo>
                  <a:pt x="66641" y="24330"/>
                </a:lnTo>
                <a:cubicBezTo>
                  <a:pt x="66641" y="19144"/>
                  <a:pt x="70869" y="14915"/>
                  <a:pt x="76063" y="14915"/>
                </a:cubicBezTo>
                <a:lnTo>
                  <a:pt x="162304" y="14825"/>
                </a:lnTo>
                <a:lnTo>
                  <a:pt x="162304" y="46703"/>
                </a:lnTo>
                <a:cubicBezTo>
                  <a:pt x="162304" y="56014"/>
                  <a:pt x="169858" y="63576"/>
                  <a:pt x="179177" y="63576"/>
                </a:cubicBezTo>
                <a:lnTo>
                  <a:pt x="210405" y="63486"/>
                </a:lnTo>
                <a:lnTo>
                  <a:pt x="210756" y="204270"/>
                </a:lnTo>
                <a:cubicBezTo>
                  <a:pt x="210756" y="209470"/>
                  <a:pt x="206534" y="213700"/>
                  <a:pt x="201340" y="213700"/>
                </a:cubicBezTo>
                <a:close/>
                <a:moveTo>
                  <a:pt x="88640" y="50925"/>
                </a:moveTo>
                <a:lnTo>
                  <a:pt x="88640" y="43094"/>
                </a:lnTo>
                <a:lnTo>
                  <a:pt x="120322" y="43094"/>
                </a:lnTo>
                <a:lnTo>
                  <a:pt x="120322" y="50925"/>
                </a:lnTo>
                <a:lnTo>
                  <a:pt x="109069" y="50925"/>
                </a:lnTo>
                <a:lnTo>
                  <a:pt x="109069" y="84327"/>
                </a:lnTo>
                <a:lnTo>
                  <a:pt x="99713" y="84327"/>
                </a:lnTo>
                <a:lnTo>
                  <a:pt x="99713" y="50925"/>
                </a:lnTo>
                <a:lnTo>
                  <a:pt x="88640" y="5092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5" id="85"/>
          <p:cNvSpPr/>
          <p:nvPr/>
        </p:nvSpPr>
        <p:spPr>
          <a:xfrm>
            <a:off x="6275552" y="4659022"/>
            <a:ext cx="92353" cy="92354"/>
          </a:xfrm>
          <a:custGeom>
            <a:avLst/>
            <a:gdLst/>
            <a:ahLst/>
            <a:cxnLst/>
            <a:rect r="r" b="b" t="t" l="l"/>
            <a:pathLst>
              <a:path h="92354" w="92353">
                <a:moveTo>
                  <a:pt x="89469" y="33590"/>
                </a:moveTo>
                <a:cubicBezTo>
                  <a:pt x="88588" y="33082"/>
                  <a:pt x="87534" y="32977"/>
                  <a:pt x="86577" y="33291"/>
                </a:cubicBezTo>
                <a:lnTo>
                  <a:pt x="52711" y="44104"/>
                </a:lnTo>
                <a:cubicBezTo>
                  <a:pt x="51426" y="44507"/>
                  <a:pt x="50036" y="44171"/>
                  <a:pt x="49072" y="43229"/>
                </a:cubicBezTo>
                <a:cubicBezTo>
                  <a:pt x="48115" y="42296"/>
                  <a:pt x="47750" y="40897"/>
                  <a:pt x="48137" y="39620"/>
                </a:cubicBezTo>
                <a:lnTo>
                  <a:pt x="58285" y="5560"/>
                </a:lnTo>
                <a:cubicBezTo>
                  <a:pt x="58577" y="4588"/>
                  <a:pt x="58442" y="3535"/>
                  <a:pt x="57919" y="2668"/>
                </a:cubicBezTo>
                <a:cubicBezTo>
                  <a:pt x="57411" y="1802"/>
                  <a:pt x="56545" y="1189"/>
                  <a:pt x="55558" y="979"/>
                </a:cubicBezTo>
                <a:cubicBezTo>
                  <a:pt x="52532" y="344"/>
                  <a:pt x="49393" y="0"/>
                  <a:pt x="46187" y="0"/>
                </a:cubicBezTo>
                <a:cubicBezTo>
                  <a:pt x="20676" y="0"/>
                  <a:pt x="0" y="20684"/>
                  <a:pt x="0" y="46181"/>
                </a:cubicBezTo>
                <a:cubicBezTo>
                  <a:pt x="0" y="71693"/>
                  <a:pt x="20676" y="92354"/>
                  <a:pt x="46187" y="92354"/>
                </a:cubicBezTo>
                <a:cubicBezTo>
                  <a:pt x="71676" y="92354"/>
                  <a:pt x="92353" y="71693"/>
                  <a:pt x="92353" y="46181"/>
                </a:cubicBezTo>
                <a:cubicBezTo>
                  <a:pt x="92353" y="42661"/>
                  <a:pt x="91957" y="39224"/>
                  <a:pt x="91202" y="35928"/>
                </a:cubicBezTo>
                <a:cubicBezTo>
                  <a:pt x="90979" y="34935"/>
                  <a:pt x="90350" y="34091"/>
                  <a:pt x="89469" y="335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6" id="86"/>
          <p:cNvSpPr/>
          <p:nvPr/>
        </p:nvSpPr>
        <p:spPr>
          <a:xfrm>
            <a:off x="6330316" y="4645449"/>
            <a:ext cx="50917" cy="51168"/>
          </a:xfrm>
          <a:custGeom>
            <a:avLst/>
            <a:gdLst/>
            <a:ahLst/>
            <a:cxnLst/>
            <a:rect r="r" b="b" t="t" l="l"/>
            <a:pathLst>
              <a:path h="51168" w="50917">
                <a:moveTo>
                  <a:pt x="17637" y="145"/>
                </a:moveTo>
                <a:cubicBezTo>
                  <a:pt x="15807" y="-400"/>
                  <a:pt x="13871" y="639"/>
                  <a:pt x="13326" y="2477"/>
                </a:cubicBezTo>
                <a:lnTo>
                  <a:pt x="144" y="46715"/>
                </a:lnTo>
                <a:cubicBezTo>
                  <a:pt x="-222" y="47948"/>
                  <a:pt x="122" y="49285"/>
                  <a:pt x="1041" y="50174"/>
                </a:cubicBezTo>
                <a:cubicBezTo>
                  <a:pt x="1691" y="50817"/>
                  <a:pt x="2573" y="51169"/>
                  <a:pt x="3462" y="51169"/>
                </a:cubicBezTo>
                <a:cubicBezTo>
                  <a:pt x="3821" y="51169"/>
                  <a:pt x="4172" y="51123"/>
                  <a:pt x="4516" y="51004"/>
                </a:cubicBezTo>
                <a:lnTo>
                  <a:pt x="48507" y="36963"/>
                </a:lnTo>
                <a:cubicBezTo>
                  <a:pt x="50330" y="36373"/>
                  <a:pt x="51339" y="34430"/>
                  <a:pt x="50749" y="32606"/>
                </a:cubicBezTo>
                <a:cubicBezTo>
                  <a:pt x="45765" y="16959"/>
                  <a:pt x="33390" y="4824"/>
                  <a:pt x="17637" y="145"/>
                </a:cubicBezTo>
                <a:close/>
                <a:moveTo>
                  <a:pt x="8656" y="42411"/>
                </a:moveTo>
                <a:lnTo>
                  <a:pt x="18945" y="7910"/>
                </a:lnTo>
                <a:cubicBezTo>
                  <a:pt x="29840" y="12131"/>
                  <a:pt x="38524" y="20643"/>
                  <a:pt x="42970" y="31455"/>
                </a:cubicBezTo>
                <a:lnTo>
                  <a:pt x="8656" y="4241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87"/>
          <p:cNvSpPr txBox="true"/>
          <p:nvPr/>
        </p:nvSpPr>
        <p:spPr>
          <a:xfrm>
            <a:off x="6503782" y="4495367"/>
            <a:ext cx="31640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88"/>
          <p:cNvSpPr txBox="true"/>
          <p:nvPr/>
        </p:nvSpPr>
        <p:spPr>
          <a:xfrm>
            <a:off x="6503782" y="4702371"/>
            <a:ext cx="350742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767E94"/>
                </a:solidFill>
                <a:latin typeface="Arial"/>
              </a:rPr>
              <a:t>Planned</a:t>
            </a:r>
            <a:endParaRPr lang="en-US" sz="1100"/>
          </a:p>
        </p:txBody>
      </p:sp>
      <p:sp>
        <p:nvSpPr>
          <p:cNvPr name="GraphCompose Text Line" id="89"/>
          <p:cNvSpPr txBox="true"/>
          <p:nvPr/>
        </p:nvSpPr>
        <p:spPr>
          <a:xfrm>
            <a:off x="7664610" y="3854064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90"/>
          <p:cNvSpPr txBox="true"/>
          <p:nvPr/>
        </p:nvSpPr>
        <p:spPr>
          <a:xfrm>
            <a:off x="7944124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GraphCompose Inline Text Span" id="91"/>
          <p:cNvSpPr txBox="true"/>
          <p:nvPr/>
        </p:nvSpPr>
        <p:spPr>
          <a:xfrm>
            <a:off x="8057103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92"/>
          <p:cNvSpPr txBox="true"/>
          <p:nvPr/>
        </p:nvSpPr>
        <p:spPr>
          <a:xfrm>
            <a:off x="8194797" y="2693139"/>
            <a:ext cx="34071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Real</a:t>
            </a:r>
            <a:endParaRPr lang="en-US" sz="1100"/>
          </a:p>
        </p:txBody>
      </p:sp>
      <p:sp>
        <p:nvSpPr>
          <p:cNvPr name="GraphCompose Inline Text Span" id="93"/>
          <p:cNvSpPr txBox="true"/>
          <p:nvPr/>
        </p:nvSpPr>
        <p:spPr>
          <a:xfrm>
            <a:off x="8534242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94"/>
          <p:cNvSpPr txBox="true"/>
          <p:nvPr/>
        </p:nvSpPr>
        <p:spPr>
          <a:xfrm>
            <a:off x="8580140" y="2693139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Inline Text Span" id="95"/>
          <p:cNvSpPr txBox="true"/>
          <p:nvPr/>
        </p:nvSpPr>
        <p:spPr>
          <a:xfrm>
            <a:off x="8910340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96"/>
          <p:cNvSpPr txBox="true"/>
          <p:nvPr/>
        </p:nvSpPr>
        <p:spPr>
          <a:xfrm>
            <a:off x="8956238" y="2693139"/>
            <a:ext cx="49690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AutoShape 97" id="97"/>
          <p:cNvSpPr/>
          <p:nvPr/>
        </p:nvSpPr>
        <p:spPr>
          <a:xfrm>
            <a:off x="7944124" y="3011662"/>
            <a:ext cx="2209800" cy="1855817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9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7944124" y="3011662"/>
            <a:ext cx="2209800" cy="1855817"/>
          </a:xfrm>
          <a:prstGeom prst="rect">
            <a:avLst/>
          </a:prstGeom>
        </p:spPr>
      </p:pic>
      <p:sp>
        <p:nvSpPr>
          <p:cNvPr name="GraphCompose Text Line" id="99"/>
          <p:cNvSpPr txBox="true"/>
          <p:nvPr/>
        </p:nvSpPr>
        <p:spPr>
          <a:xfrm>
            <a:off x="7944124" y="5077052"/>
            <a:ext cx="21639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CVs, invoices, reports — every one rendered by</a:t>
            </a:r>
            <a:endParaRPr lang="en-US" sz="1100"/>
          </a:p>
        </p:txBody>
      </p:sp>
      <p:sp>
        <p:nvSpPr>
          <p:cNvPr name="GraphCompose Text Line" id="100"/>
          <p:cNvSpPr txBox="true"/>
          <p:nvPr/>
        </p:nvSpPr>
        <p:spPr>
          <a:xfrm>
            <a:off x="7944124" y="5187542"/>
            <a:ext cx="102915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the engine in this repo.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431800" y="5579949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55227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103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755475" y="5928240"/>
            <a:ext cx="279400" cy="273698"/>
          </a:xfrm>
          <a:prstGeom prst="rect">
            <a:avLst/>
          </a:prstGeom>
        </p:spPr>
      </p:pic>
      <p:sp>
        <p:nvSpPr>
          <p:cNvPr name="GraphCompose Text Line" id="104"/>
          <p:cNvSpPr txBox="true"/>
          <p:nvPr/>
        </p:nvSpPr>
        <p:spPr>
          <a:xfrm>
            <a:off x="1136475" y="5986693"/>
            <a:ext cx="71214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Open Source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307922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106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3282425" y="5925389"/>
            <a:ext cx="279400" cy="279400"/>
          </a:xfrm>
          <a:prstGeom prst="rect">
            <a:avLst/>
          </a:prstGeom>
        </p:spPr>
      </p:pic>
      <p:sp>
        <p:nvSpPr>
          <p:cNvPr name="GraphCompose Text Line" id="107"/>
          <p:cNvSpPr txBox="true"/>
          <p:nvPr/>
        </p:nvSpPr>
        <p:spPr>
          <a:xfrm>
            <a:off x="3663425" y="5986693"/>
            <a:ext cx="7857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Maven Central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560617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sp>
        <p:nvSpPr>
          <p:cNvPr name="Freeform 109" id="109"/>
          <p:cNvSpPr/>
          <p:nvPr/>
        </p:nvSpPr>
        <p:spPr>
          <a:xfrm>
            <a:off x="5852519" y="5934155"/>
            <a:ext cx="193115" cy="261863"/>
          </a:xfrm>
          <a:custGeom>
            <a:avLst/>
            <a:gdLst/>
            <a:ahLst/>
            <a:cxnLst/>
            <a:rect r="r" b="b" t="t" l="l"/>
            <a:pathLst>
              <a:path h="261863" w="193115">
                <a:moveTo>
                  <a:pt x="71829" y="261038"/>
                </a:moveTo>
                <a:cubicBezTo>
                  <a:pt x="118987" y="264059"/>
                  <a:pt x="191404" y="259370"/>
                  <a:pt x="193115" y="237053"/>
                </a:cubicBezTo>
                <a:cubicBezTo>
                  <a:pt x="193115" y="237053"/>
                  <a:pt x="189823" y="245505"/>
                  <a:pt x="154139" y="252228"/>
                </a:cubicBezTo>
                <a:cubicBezTo>
                  <a:pt x="134432" y="255782"/>
                  <a:pt x="111748" y="257807"/>
                  <a:pt x="88584" y="257807"/>
                </a:cubicBezTo>
                <a:cubicBezTo>
                  <a:pt x="69611" y="257807"/>
                  <a:pt x="50961" y="256445"/>
                  <a:pt x="32722" y="253817"/>
                </a:cubicBezTo>
                <a:lnTo>
                  <a:pt x="34809" y="254062"/>
                </a:lnTo>
                <a:cubicBezTo>
                  <a:pt x="34809" y="254053"/>
                  <a:pt x="40842" y="259047"/>
                  <a:pt x="71829" y="261038"/>
                </a:cubicBezTo>
                <a:close/>
                <a:moveTo>
                  <a:pt x="122750" y="0"/>
                </a:moveTo>
                <a:cubicBezTo>
                  <a:pt x="122750" y="0"/>
                  <a:pt x="149965" y="27215"/>
                  <a:pt x="96949" y="69064"/>
                </a:cubicBezTo>
                <a:cubicBezTo>
                  <a:pt x="54436" y="102636"/>
                  <a:pt x="87257" y="121783"/>
                  <a:pt x="96940" y="143655"/>
                </a:cubicBezTo>
                <a:cubicBezTo>
                  <a:pt x="72126" y="121251"/>
                  <a:pt x="53921" y="101562"/>
                  <a:pt x="66128" y="83217"/>
                </a:cubicBezTo>
                <a:cubicBezTo>
                  <a:pt x="84062" y="56281"/>
                  <a:pt x="133742" y="43228"/>
                  <a:pt x="122759" y="0"/>
                </a:cubicBezTo>
                <a:close/>
                <a:moveTo>
                  <a:pt x="152375" y="191860"/>
                </a:moveTo>
                <a:cubicBezTo>
                  <a:pt x="201506" y="166330"/>
                  <a:pt x="178787" y="141787"/>
                  <a:pt x="162940" y="145104"/>
                </a:cubicBezTo>
                <a:cubicBezTo>
                  <a:pt x="160766" y="145515"/>
                  <a:pt x="158880" y="146039"/>
                  <a:pt x="157055" y="146694"/>
                </a:cubicBezTo>
                <a:lnTo>
                  <a:pt x="157317" y="146615"/>
                </a:lnTo>
                <a:cubicBezTo>
                  <a:pt x="158356" y="145157"/>
                  <a:pt x="159788" y="144031"/>
                  <a:pt x="161455" y="143393"/>
                </a:cubicBezTo>
                <a:lnTo>
                  <a:pt x="161517" y="143376"/>
                </a:lnTo>
                <a:cubicBezTo>
                  <a:pt x="192888" y="132348"/>
                  <a:pt x="217012" y="175900"/>
                  <a:pt x="151388" y="193153"/>
                </a:cubicBezTo>
                <a:cubicBezTo>
                  <a:pt x="151790" y="192795"/>
                  <a:pt x="152122" y="192367"/>
                  <a:pt x="152357" y="191887"/>
                </a:cubicBezTo>
                <a:lnTo>
                  <a:pt x="152366" y="191860"/>
                </a:lnTo>
                <a:close/>
                <a:moveTo>
                  <a:pt x="67009" y="144135"/>
                </a:moveTo>
                <a:cubicBezTo>
                  <a:pt x="67009" y="144135"/>
                  <a:pt x="19415" y="155442"/>
                  <a:pt x="50167" y="159537"/>
                </a:cubicBezTo>
                <a:cubicBezTo>
                  <a:pt x="58444" y="160218"/>
                  <a:pt x="68083" y="160602"/>
                  <a:pt x="77810" y="160602"/>
                </a:cubicBezTo>
                <a:cubicBezTo>
                  <a:pt x="90243" y="160602"/>
                  <a:pt x="102528" y="159965"/>
                  <a:pt x="114638" y="158734"/>
                </a:cubicBezTo>
                <a:lnTo>
                  <a:pt x="113119" y="158856"/>
                </a:lnTo>
                <a:cubicBezTo>
                  <a:pt x="132826" y="157197"/>
                  <a:pt x="152593" y="153652"/>
                  <a:pt x="152593" y="153652"/>
                </a:cubicBezTo>
                <a:cubicBezTo>
                  <a:pt x="147957" y="155678"/>
                  <a:pt x="144019" y="157817"/>
                  <a:pt x="140291" y="160253"/>
                </a:cubicBezTo>
                <a:lnTo>
                  <a:pt x="140614" y="160061"/>
                </a:lnTo>
                <a:cubicBezTo>
                  <a:pt x="92286" y="172774"/>
                  <a:pt x="-1077" y="166863"/>
                  <a:pt x="25807" y="153862"/>
                </a:cubicBezTo>
                <a:cubicBezTo>
                  <a:pt x="37655" y="147724"/>
                  <a:pt x="51677" y="144127"/>
                  <a:pt x="66538" y="144127"/>
                </a:cubicBezTo>
                <a:cubicBezTo>
                  <a:pt x="66704" y="144127"/>
                  <a:pt x="66870" y="144127"/>
                  <a:pt x="67036" y="144127"/>
                </a:cubicBezTo>
                <a:lnTo>
                  <a:pt x="67009" y="144127"/>
                </a:lnTo>
                <a:close/>
                <a:moveTo>
                  <a:pt x="176534" y="223721"/>
                </a:moveTo>
                <a:cubicBezTo>
                  <a:pt x="176534" y="223721"/>
                  <a:pt x="183947" y="229824"/>
                  <a:pt x="168388" y="234530"/>
                </a:cubicBezTo>
                <a:cubicBezTo>
                  <a:pt x="138798" y="243497"/>
                  <a:pt x="45225" y="246195"/>
                  <a:pt x="19250" y="234888"/>
                </a:cubicBezTo>
                <a:cubicBezTo>
                  <a:pt x="9907" y="230819"/>
                  <a:pt x="27431" y="225179"/>
                  <a:pt x="32931" y="224000"/>
                </a:cubicBezTo>
                <a:cubicBezTo>
                  <a:pt x="35472" y="223354"/>
                  <a:pt x="38397" y="222978"/>
                  <a:pt x="41401" y="222978"/>
                </a:cubicBezTo>
                <a:cubicBezTo>
                  <a:pt x="41602" y="222978"/>
                  <a:pt x="41794" y="222978"/>
                  <a:pt x="41994" y="222987"/>
                </a:cubicBezTo>
                <a:lnTo>
                  <a:pt x="41968" y="222987"/>
                </a:lnTo>
                <a:cubicBezTo>
                  <a:pt x="31569" y="215662"/>
                  <a:pt x="-25201" y="237359"/>
                  <a:pt x="13129" y="243576"/>
                </a:cubicBezTo>
                <a:cubicBezTo>
                  <a:pt x="117659" y="260523"/>
                  <a:pt x="203654" y="235936"/>
                  <a:pt x="176543" y="223721"/>
                </a:cubicBezTo>
                <a:close/>
                <a:moveTo>
                  <a:pt x="108736" y="125206"/>
                </a:moveTo>
                <a:cubicBezTo>
                  <a:pt x="111478" y="128498"/>
                  <a:pt x="113145" y="132785"/>
                  <a:pt x="113145" y="137447"/>
                </a:cubicBezTo>
                <a:cubicBezTo>
                  <a:pt x="113145" y="143725"/>
                  <a:pt x="110124" y="149304"/>
                  <a:pt x="105462" y="152805"/>
                </a:cubicBezTo>
                <a:lnTo>
                  <a:pt x="105410" y="152840"/>
                </a:lnTo>
                <a:cubicBezTo>
                  <a:pt x="105410" y="152840"/>
                  <a:pt x="137479" y="136277"/>
                  <a:pt x="122750" y="115549"/>
                </a:cubicBezTo>
                <a:cubicBezTo>
                  <a:pt x="108989" y="96218"/>
                  <a:pt x="98442" y="86614"/>
                  <a:pt x="155562" y="53487"/>
                </a:cubicBezTo>
                <a:cubicBezTo>
                  <a:pt x="155562" y="53479"/>
                  <a:pt x="65918" y="75866"/>
                  <a:pt x="108736" y="125206"/>
                </a:cubicBezTo>
                <a:close/>
                <a:moveTo>
                  <a:pt x="55921" y="173848"/>
                </a:moveTo>
                <a:cubicBezTo>
                  <a:pt x="55921" y="173848"/>
                  <a:pt x="44701" y="182151"/>
                  <a:pt x="61832" y="183932"/>
                </a:cubicBezTo>
                <a:cubicBezTo>
                  <a:pt x="69332" y="184875"/>
                  <a:pt x="78002" y="185408"/>
                  <a:pt x="86803" y="185408"/>
                </a:cubicBezTo>
                <a:cubicBezTo>
                  <a:pt x="102747" y="185408"/>
                  <a:pt x="118279" y="183644"/>
                  <a:pt x="133210" y="180300"/>
                </a:cubicBezTo>
                <a:lnTo>
                  <a:pt x="131795" y="180562"/>
                </a:lnTo>
                <a:cubicBezTo>
                  <a:pt x="134799" y="183374"/>
                  <a:pt x="138387" y="185609"/>
                  <a:pt x="142351" y="187058"/>
                </a:cubicBezTo>
                <a:lnTo>
                  <a:pt x="142570" y="187128"/>
                </a:lnTo>
                <a:cubicBezTo>
                  <a:pt x="80604" y="205254"/>
                  <a:pt x="11566" y="188542"/>
                  <a:pt x="55912" y="173839"/>
                </a:cubicBezTo>
                <a:close/>
                <a:moveTo>
                  <a:pt x="62199" y="202512"/>
                </a:moveTo>
                <a:cubicBezTo>
                  <a:pt x="62199" y="202512"/>
                  <a:pt x="52193" y="208336"/>
                  <a:pt x="69323" y="210301"/>
                </a:cubicBezTo>
                <a:cubicBezTo>
                  <a:pt x="75601" y="211235"/>
                  <a:pt x="82839" y="211768"/>
                  <a:pt x="90208" y="211768"/>
                </a:cubicBezTo>
                <a:cubicBezTo>
                  <a:pt x="102031" y="211768"/>
                  <a:pt x="113530" y="210397"/>
                  <a:pt x="124557" y="207795"/>
                </a:cubicBezTo>
                <a:lnTo>
                  <a:pt x="123544" y="207996"/>
                </a:lnTo>
                <a:cubicBezTo>
                  <a:pt x="127622" y="210484"/>
                  <a:pt x="132363" y="212859"/>
                  <a:pt x="137314" y="214823"/>
                </a:cubicBezTo>
                <a:lnTo>
                  <a:pt x="137960" y="215051"/>
                </a:lnTo>
                <a:cubicBezTo>
                  <a:pt x="86690" y="237018"/>
                  <a:pt x="21948" y="213767"/>
                  <a:pt x="62207" y="202512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110"/>
          <p:cNvSpPr txBox="true"/>
          <p:nvPr/>
        </p:nvSpPr>
        <p:spPr>
          <a:xfrm>
            <a:off x="6190375" y="5986693"/>
            <a:ext cx="49424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Java 17+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813312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112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>
            <a:off x="8336325" y="5925389"/>
            <a:ext cx="279400" cy="279400"/>
          </a:xfrm>
          <a:prstGeom prst="rect">
            <a:avLst/>
          </a:prstGeom>
        </p:spPr>
      </p:pic>
      <p:sp>
        <p:nvSpPr>
          <p:cNvPr name="GraphCompose Text Line" id="113"/>
          <p:cNvSpPr txBox="true"/>
          <p:nvPr/>
        </p:nvSpPr>
        <p:spPr>
          <a:xfrm>
            <a:off x="8717325" y="5986693"/>
            <a:ext cx="65833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MIT License</a:t>
            </a:r>
            <a:endParaRPr lang="en-US" sz="1100"/>
          </a:p>
        </p:txBody>
      </p:sp>
      <p:sp>
        <p:nvSpPr>
          <p:cNvPr name="GraphCompose Footer" id="114"/>
          <p:cNvSpPr txBox="true"/>
          <p:nvPr/>
        </p:nvSpPr>
        <p:spPr>
          <a:xfrm>
            <a:off x="203200" y="7189226"/>
            <a:ext cx="162116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v2.1.1 “twinned”</a:t>
            </a:r>
            <a:endParaRPr lang="en-US" sz="1100"/>
          </a:p>
        </p:txBody>
      </p:sp>
      <p:sp>
        <p:nvSpPr>
          <p:cNvPr name="GraphCompose Footer" id="115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1 of 4</a:t>
            </a:r>
            <a:endParaRPr lang="en-US" sz="1100"/>
          </a:p>
        </p:txBody>
      </p:sp>
      <p:cxnSp>
        <p:nvCxnSpPr>
          <p:cNvPr name="GraphCompose Footer Separator" id="116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77608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6128D9"/>
                </a:solidFill>
                <a:latin typeface="Arial"/>
              </a:rPr>
              <a:t>HOW IT WORKS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8383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false" i="false" u="none" strike="noStrike" kern="0">
                <a:solidFill>
                  <a:srgbClr val="1C1E2E"/>
                </a:solidFill>
                <a:latin typeface="Arial"/>
              </a:rPr>
              <a:t>From one Java file to a designed PDF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82385"/>
            <a:ext cx="1026904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You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semantically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charts,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rest: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66535"/>
            <a:ext cx="978435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measures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every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node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twice,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paginates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row-by-row,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renders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isolated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PDFBox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backend.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manual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03200" y="1350685"/>
            <a:ext cx="250149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coordinates,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XML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20320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" id="8"/>
          <p:cNvCxnSpPr/>
          <p:nvPr/>
        </p:nvCxnSpPr>
        <p:spPr>
          <a:xfrm>
            <a:off x="20320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"/>
          <p:cNvSpPr txBox="true"/>
          <p:nvPr/>
        </p:nvSpPr>
        <p:spPr>
          <a:xfrm>
            <a:off x="1241281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pic>
        <p:nvPicPr>
          <p:cNvPr name="GraphCompose Clipped Composite" id="10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27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11"/>
          <p:cNvSpPr txBox="true"/>
          <p:nvPr/>
        </p:nvSpPr>
        <p:spPr>
          <a:xfrm>
            <a:off x="104307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1E2E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59671" y="2857682"/>
            <a:ext cx="12774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Fluent DSL describes intent.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257301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290202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290202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94010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3829903" y="2230120"/>
            <a:ext cx="333375" cy="333375"/>
          </a:xfrm>
          <a:custGeom>
            <a:avLst/>
            <a:gdLst/>
            <a:ahLst/>
            <a:cxnLst/>
            <a:rect r="r" b="b" t="t" l="l"/>
            <a:pathLst>
              <a:path h="333375" w="333375">
                <a:moveTo>
                  <a:pt x="0" y="53578"/>
                </a:moveTo>
                <a:cubicBezTo>
                  <a:pt x="0" y="23988"/>
                  <a:pt x="23987" y="0"/>
                  <a:pt x="53578" y="0"/>
                </a:cubicBezTo>
                <a:lnTo>
                  <a:pt x="279796" y="0"/>
                </a:lnTo>
                <a:cubicBezTo>
                  <a:pt x="309387" y="0"/>
                  <a:pt x="333375" y="23988"/>
                  <a:pt x="333375" y="53578"/>
                </a:cubicBezTo>
                <a:lnTo>
                  <a:pt x="333375" y="279797"/>
                </a:lnTo>
                <a:cubicBezTo>
                  <a:pt x="333375" y="309387"/>
                  <a:pt x="309387" y="333375"/>
                  <a:pt x="279796" y="333375"/>
                </a:cubicBezTo>
                <a:lnTo>
                  <a:pt x="53578" y="333375"/>
                </a:lnTo>
                <a:cubicBezTo>
                  <a:pt x="23987" y="333375"/>
                  <a:pt x="0" y="309387"/>
                  <a:pt x="0" y="279797"/>
                </a:cubicBezTo>
                <a:lnTo>
                  <a:pt x="0" y="53578"/>
                </a:lnTo>
                <a:close/>
                <a:moveTo>
                  <a:pt x="130968" y="297656"/>
                </a:moveTo>
                <a:lnTo>
                  <a:pt x="279796" y="297656"/>
                </a:lnTo>
                <a:cubicBezTo>
                  <a:pt x="289660" y="297656"/>
                  <a:pt x="297656" y="289660"/>
                  <a:pt x="297656" y="279797"/>
                </a:cubicBezTo>
                <a:lnTo>
                  <a:pt x="297656" y="130969"/>
                </a:lnTo>
                <a:lnTo>
                  <a:pt x="130968" y="130969"/>
                </a:lnTo>
                <a:lnTo>
                  <a:pt x="130968" y="297656"/>
                </a:lnTo>
                <a:close/>
                <a:moveTo>
                  <a:pt x="95250" y="130969"/>
                </a:moveTo>
                <a:lnTo>
                  <a:pt x="95250" y="297656"/>
                </a:lnTo>
                <a:lnTo>
                  <a:pt x="53578" y="297656"/>
                </a:lnTo>
                <a:cubicBezTo>
                  <a:pt x="43714" y="297656"/>
                  <a:pt x="35718" y="289660"/>
                  <a:pt x="35718" y="279797"/>
                </a:cubicBezTo>
                <a:lnTo>
                  <a:pt x="35718" y="130969"/>
                </a:lnTo>
                <a:lnTo>
                  <a:pt x="95250" y="130969"/>
                </a:lnTo>
                <a:close/>
                <a:moveTo>
                  <a:pt x="297656" y="95250"/>
                </a:moveTo>
                <a:lnTo>
                  <a:pt x="297656" y="53578"/>
                </a:lnTo>
                <a:cubicBezTo>
                  <a:pt x="297656" y="43715"/>
                  <a:pt x="289660" y="35719"/>
                  <a:pt x="279796" y="35719"/>
                </a:cubicBezTo>
                <a:lnTo>
                  <a:pt x="53578" y="35719"/>
                </a:lnTo>
                <a:cubicBezTo>
                  <a:pt x="43714" y="35719"/>
                  <a:pt x="35718" y="43715"/>
                  <a:pt x="35718" y="53578"/>
                </a:cubicBezTo>
                <a:lnTo>
                  <a:pt x="35718" y="95250"/>
                </a:lnTo>
                <a:lnTo>
                  <a:pt x="297656" y="9525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18"/>
          <p:cNvSpPr txBox="true"/>
          <p:nvPr/>
        </p:nvSpPr>
        <p:spPr>
          <a:xfrm>
            <a:off x="3698283" y="2653613"/>
            <a:ext cx="59788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1E2E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3256891" y="2857682"/>
            <a:ext cx="14806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Two-pass geometry, every node.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27183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560084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560084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23"/>
          <p:cNvSpPr txBox="true"/>
          <p:nvPr/>
        </p:nvSpPr>
        <p:spPr>
          <a:xfrm>
            <a:off x="663892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pic>
        <p:nvPicPr>
          <p:cNvPr name="GraphCompose Clipped Composite" id="2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91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25"/>
          <p:cNvSpPr txBox="true"/>
          <p:nvPr/>
        </p:nvSpPr>
        <p:spPr>
          <a:xfrm>
            <a:off x="6390346" y="2653613"/>
            <a:ext cx="61139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1E2E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6077072" y="2857682"/>
            <a:ext cx="123794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Split the flow across pages.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97065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9966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829966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933774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Freeform 31" id="31"/>
          <p:cNvSpPr/>
          <p:nvPr/>
        </p:nvSpPr>
        <p:spPr>
          <a:xfrm>
            <a:off x="9297398" y="2441330"/>
            <a:ext cx="18563" cy="21310"/>
          </a:xfrm>
          <a:custGeom>
            <a:avLst/>
            <a:gdLst/>
            <a:ahLst/>
            <a:cxnLst/>
            <a:rect r="r" b="b" t="t" l="l"/>
            <a:pathLst>
              <a:path h="21310" w="18563">
                <a:moveTo>
                  <a:pt x="18563" y="10101"/>
                </a:moveTo>
                <a:cubicBezTo>
                  <a:pt x="18563" y="3774"/>
                  <a:pt x="14173" y="0"/>
                  <a:pt x="6426" y="0"/>
                </a:cubicBezTo>
                <a:cubicBezTo>
                  <a:pt x="3263" y="0"/>
                  <a:pt x="1120" y="313"/>
                  <a:pt x="0" y="611"/>
                </a:cubicBezTo>
                <a:lnTo>
                  <a:pt x="0" y="20912"/>
                </a:lnTo>
                <a:cubicBezTo>
                  <a:pt x="1327" y="21211"/>
                  <a:pt x="2958" y="21311"/>
                  <a:pt x="5206" y="21311"/>
                </a:cubicBezTo>
                <a:cubicBezTo>
                  <a:pt x="13463" y="21311"/>
                  <a:pt x="18563" y="17139"/>
                  <a:pt x="18563" y="10101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2" id="32"/>
          <p:cNvSpPr/>
          <p:nvPr/>
        </p:nvSpPr>
        <p:spPr>
          <a:xfrm>
            <a:off x="9356879" y="2441543"/>
            <a:ext cx="28658" cy="45883"/>
          </a:xfrm>
          <a:custGeom>
            <a:avLst/>
            <a:gdLst/>
            <a:ahLst/>
            <a:cxnLst/>
            <a:rect r="r" b="b" t="t" l="l"/>
            <a:pathLst>
              <a:path h="45883" w="28658">
                <a:moveTo>
                  <a:pt x="7037" y="0"/>
                </a:moveTo>
                <a:cubicBezTo>
                  <a:pt x="3568" y="0"/>
                  <a:pt x="1326" y="300"/>
                  <a:pt x="0" y="610"/>
                </a:cubicBezTo>
                <a:lnTo>
                  <a:pt x="0" y="45571"/>
                </a:lnTo>
                <a:cubicBezTo>
                  <a:pt x="1327" y="45882"/>
                  <a:pt x="3469" y="45882"/>
                  <a:pt x="5406" y="45882"/>
                </a:cubicBezTo>
                <a:cubicBezTo>
                  <a:pt x="19479" y="45982"/>
                  <a:pt x="28658" y="38235"/>
                  <a:pt x="28658" y="21821"/>
                </a:cubicBezTo>
                <a:cubicBezTo>
                  <a:pt x="28757" y="7547"/>
                  <a:pt x="20393" y="0"/>
                  <a:pt x="7037" y="0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3" id="33"/>
          <p:cNvSpPr/>
          <p:nvPr/>
        </p:nvSpPr>
        <p:spPr>
          <a:xfrm>
            <a:off x="9239137" y="2206308"/>
            <a:ext cx="310186" cy="380999"/>
          </a:xfrm>
          <a:custGeom>
            <a:avLst/>
            <a:gdLst/>
            <a:ahLst/>
            <a:cxnLst/>
            <a:rect r="r" b="b" t="t" l="l"/>
            <a:pathLst>
              <a:path h="380999" w="310186">
                <a:moveTo>
                  <a:pt x="213876" y="0"/>
                </a:moveTo>
                <a:lnTo>
                  <a:pt x="60851" y="0"/>
                </a:lnTo>
                <a:cubicBezTo>
                  <a:pt x="38496" y="0"/>
                  <a:pt x="20301" y="18207"/>
                  <a:pt x="20301" y="40550"/>
                </a:cubicBezTo>
                <a:lnTo>
                  <a:pt x="20301" y="190499"/>
                </a:lnTo>
                <a:lnTo>
                  <a:pt x="16340" y="190499"/>
                </a:lnTo>
                <a:cubicBezTo>
                  <a:pt x="7317" y="190499"/>
                  <a:pt x="0" y="197809"/>
                  <a:pt x="0" y="206840"/>
                </a:cubicBezTo>
                <a:lnTo>
                  <a:pt x="0" y="305937"/>
                </a:lnTo>
                <a:cubicBezTo>
                  <a:pt x="0" y="314967"/>
                  <a:pt x="7317" y="322277"/>
                  <a:pt x="16340" y="322277"/>
                </a:cubicBezTo>
                <a:lnTo>
                  <a:pt x="20301" y="322277"/>
                </a:lnTo>
                <a:lnTo>
                  <a:pt x="20301" y="340448"/>
                </a:lnTo>
                <a:cubicBezTo>
                  <a:pt x="20301" y="362816"/>
                  <a:pt x="38496" y="380999"/>
                  <a:pt x="60851" y="380999"/>
                </a:cubicBezTo>
                <a:lnTo>
                  <a:pt x="269647" y="380999"/>
                </a:lnTo>
                <a:cubicBezTo>
                  <a:pt x="291989" y="380999"/>
                  <a:pt x="310186" y="362815"/>
                  <a:pt x="310186" y="340448"/>
                </a:cubicBezTo>
                <a:lnTo>
                  <a:pt x="310186" y="95972"/>
                </a:lnTo>
                <a:lnTo>
                  <a:pt x="213876" y="0"/>
                </a:lnTo>
                <a:close/>
                <a:moveTo>
                  <a:pt x="42867" y="224723"/>
                </a:moveTo>
                <a:cubicBezTo>
                  <a:pt x="47656" y="223914"/>
                  <a:pt x="54387" y="223304"/>
                  <a:pt x="63871" y="223304"/>
                </a:cubicBezTo>
                <a:cubicBezTo>
                  <a:pt x="73455" y="223304"/>
                  <a:pt x="80285" y="225134"/>
                  <a:pt x="84875" y="228808"/>
                </a:cubicBezTo>
                <a:cubicBezTo>
                  <a:pt x="89259" y="232271"/>
                  <a:pt x="92218" y="237987"/>
                  <a:pt x="92218" y="244713"/>
                </a:cubicBezTo>
                <a:cubicBezTo>
                  <a:pt x="92218" y="251438"/>
                  <a:pt x="89976" y="257155"/>
                  <a:pt x="85897" y="261028"/>
                </a:cubicBezTo>
                <a:cubicBezTo>
                  <a:pt x="80591" y="266022"/>
                  <a:pt x="72745" y="268264"/>
                  <a:pt x="63566" y="268264"/>
                </a:cubicBezTo>
                <a:cubicBezTo>
                  <a:pt x="61524" y="268264"/>
                  <a:pt x="59693" y="268163"/>
                  <a:pt x="58261" y="267965"/>
                </a:cubicBezTo>
                <a:lnTo>
                  <a:pt x="58261" y="292538"/>
                </a:lnTo>
                <a:lnTo>
                  <a:pt x="42867" y="292538"/>
                </a:lnTo>
                <a:lnTo>
                  <a:pt x="42867" y="224723"/>
                </a:lnTo>
                <a:close/>
                <a:moveTo>
                  <a:pt x="269647" y="356165"/>
                </a:moveTo>
                <a:lnTo>
                  <a:pt x="60851" y="356165"/>
                </a:lnTo>
                <a:cubicBezTo>
                  <a:pt x="52195" y="356165"/>
                  <a:pt x="45146" y="349116"/>
                  <a:pt x="45146" y="340448"/>
                </a:cubicBezTo>
                <a:lnTo>
                  <a:pt x="45146" y="322277"/>
                </a:lnTo>
                <a:lnTo>
                  <a:pt x="239787" y="322277"/>
                </a:lnTo>
                <a:cubicBezTo>
                  <a:pt x="248811" y="322277"/>
                  <a:pt x="256128" y="314967"/>
                  <a:pt x="256128" y="305937"/>
                </a:cubicBezTo>
                <a:lnTo>
                  <a:pt x="256128" y="206840"/>
                </a:lnTo>
                <a:cubicBezTo>
                  <a:pt x="256128" y="197809"/>
                  <a:pt x="248811" y="190499"/>
                  <a:pt x="239787" y="190499"/>
                </a:cubicBezTo>
                <a:lnTo>
                  <a:pt x="45146" y="190499"/>
                </a:lnTo>
                <a:lnTo>
                  <a:pt x="45146" y="40550"/>
                </a:lnTo>
                <a:cubicBezTo>
                  <a:pt x="45146" y="31907"/>
                  <a:pt x="52196" y="24858"/>
                  <a:pt x="60851" y="24858"/>
                </a:cubicBezTo>
                <a:lnTo>
                  <a:pt x="204586" y="24708"/>
                </a:lnTo>
                <a:lnTo>
                  <a:pt x="204586" y="77837"/>
                </a:lnTo>
                <a:cubicBezTo>
                  <a:pt x="204586" y="93355"/>
                  <a:pt x="217177" y="105959"/>
                  <a:pt x="232707" y="105959"/>
                </a:cubicBezTo>
                <a:lnTo>
                  <a:pt x="284753" y="105809"/>
                </a:lnTo>
                <a:lnTo>
                  <a:pt x="285339" y="340447"/>
                </a:lnTo>
                <a:cubicBezTo>
                  <a:pt x="285339" y="349116"/>
                  <a:pt x="278303" y="356165"/>
                  <a:pt x="269647" y="356165"/>
                </a:cubicBezTo>
                <a:close/>
                <a:moveTo>
                  <a:pt x="102144" y="292226"/>
                </a:moveTo>
                <a:lnTo>
                  <a:pt x="102144" y="224723"/>
                </a:lnTo>
                <a:cubicBezTo>
                  <a:pt x="107853" y="223815"/>
                  <a:pt x="115295" y="223304"/>
                  <a:pt x="123148" y="223304"/>
                </a:cubicBezTo>
                <a:cubicBezTo>
                  <a:pt x="136199" y="223304"/>
                  <a:pt x="144663" y="225646"/>
                  <a:pt x="151294" y="230639"/>
                </a:cubicBezTo>
                <a:cubicBezTo>
                  <a:pt x="158431" y="235945"/>
                  <a:pt x="162914" y="244402"/>
                  <a:pt x="162914" y="256544"/>
                </a:cubicBezTo>
                <a:cubicBezTo>
                  <a:pt x="162914" y="269695"/>
                  <a:pt x="158125" y="278775"/>
                  <a:pt x="151493" y="284378"/>
                </a:cubicBezTo>
                <a:cubicBezTo>
                  <a:pt x="144257" y="290394"/>
                  <a:pt x="133242" y="293246"/>
                  <a:pt x="119785" y="293246"/>
                </a:cubicBezTo>
                <a:cubicBezTo>
                  <a:pt x="111726" y="293246"/>
                  <a:pt x="106017" y="292736"/>
                  <a:pt x="102144" y="292226"/>
                </a:cubicBezTo>
                <a:close/>
                <a:moveTo>
                  <a:pt x="213429" y="252260"/>
                </a:moveTo>
                <a:lnTo>
                  <a:pt x="213429" y="264901"/>
                </a:lnTo>
                <a:lnTo>
                  <a:pt x="188750" y="264901"/>
                </a:lnTo>
                <a:lnTo>
                  <a:pt x="188750" y="292538"/>
                </a:lnTo>
                <a:lnTo>
                  <a:pt x="173151" y="292538"/>
                </a:lnTo>
                <a:lnTo>
                  <a:pt x="173151" y="223815"/>
                </a:lnTo>
                <a:lnTo>
                  <a:pt x="215160" y="223815"/>
                </a:lnTo>
                <a:lnTo>
                  <a:pt x="215160" y="236555"/>
                </a:lnTo>
                <a:lnTo>
                  <a:pt x="188750" y="236555"/>
                </a:lnTo>
                <a:lnTo>
                  <a:pt x="188750" y="252260"/>
                </a:lnTo>
                <a:lnTo>
                  <a:pt x="213429" y="25226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34"/>
          <p:cNvSpPr txBox="true"/>
          <p:nvPr/>
        </p:nvSpPr>
        <p:spPr>
          <a:xfrm>
            <a:off x="913953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1E2E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8823949" y="2857682"/>
            <a:ext cx="114183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PDFBox writes the bytes.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203200" y="3351689"/>
            <a:ext cx="3062671" cy="855155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7" id="37"/>
          <p:cNvCxnSpPr/>
          <p:nvPr/>
        </p:nvCxnSpPr>
        <p:spPr>
          <a:xfrm>
            <a:off x="203200" y="3351689"/>
            <a:ext cx="0" cy="855155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38"/>
          <p:cNvSpPr txBox="true"/>
          <p:nvPr/>
        </p:nvSpPr>
        <p:spPr>
          <a:xfrm>
            <a:off x="406400" y="3528727"/>
            <a:ext cx="80845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06400" y="3737479"/>
            <a:ext cx="265083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406400" y="3868035"/>
            <a:ext cx="2657541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machine — layout is reproducible, not best-effort.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699467" y="3351689"/>
            <a:ext cx="3055844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3699467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3902667" y="3528727"/>
            <a:ext cx="113479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3902667" y="3737479"/>
            <a:ext cx="216303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layoutSnapshot() diffs the geometry and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3902667" y="3868035"/>
            <a:ext cx="265071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PdfVisualRegression pixel-tests fonts and colour,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3902667" y="3998591"/>
            <a:ext cx="139713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right in your pull requests.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7195733" y="3351689"/>
            <a:ext cx="3198246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8" id="48"/>
          <p:cNvCxnSpPr/>
          <p:nvPr/>
        </p:nvCxnSpPr>
        <p:spPr>
          <a:xfrm>
            <a:off x="7195733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7398933" y="3528727"/>
            <a:ext cx="10649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Production-ready</a:t>
            </a:r>
            <a:endParaRPr lang="en-US" sz="1100"/>
          </a:p>
        </p:txBody>
      </p:sp>
      <p:sp>
        <p:nvSpPr>
          <p:cNvPr name="GraphCompose Text Line" id="50"/>
          <p:cNvSpPr txBox="true"/>
          <p:nvPr/>
        </p:nvSpPr>
        <p:spPr>
          <a:xfrm>
            <a:off x="7398933" y="3737479"/>
            <a:ext cx="279311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An isolated PDFBox backend streams straight to an</a:t>
            </a:r>
            <a:endParaRPr lang="en-US" sz="1100"/>
          </a:p>
        </p:txBody>
      </p:sp>
      <p:sp>
        <p:nvSpPr>
          <p:cNvPr name="GraphCompose Text Line" id="51"/>
          <p:cNvSpPr txBox="true"/>
          <p:nvPr/>
        </p:nvSpPr>
        <p:spPr>
          <a:xfrm>
            <a:off x="7398933" y="3868035"/>
            <a:ext cx="237285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HTTP response — no temp files, no manual</a:t>
            </a:r>
            <a:endParaRPr lang="en-US" sz="1100"/>
          </a:p>
        </p:txBody>
      </p:sp>
      <p:sp>
        <p:nvSpPr>
          <p:cNvPr name="GraphCompose Text Line" id="52"/>
          <p:cNvSpPr txBox="true"/>
          <p:nvPr/>
        </p:nvSpPr>
        <p:spPr>
          <a:xfrm>
            <a:off x="7398933" y="3998591"/>
            <a:ext cx="66536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coordinates.</a:t>
            </a:r>
            <a:endParaRPr lang="en-US" sz="1100"/>
          </a:p>
        </p:txBody>
      </p:sp>
      <p:sp>
        <p:nvSpPr>
          <p:cNvPr name="GraphCompose Footer" id="53"/>
          <p:cNvSpPr txBox="true"/>
          <p:nvPr/>
        </p:nvSpPr>
        <p:spPr>
          <a:xfrm>
            <a:off x="203200" y="7189226"/>
            <a:ext cx="162116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v2.1.1 “twinned”</a:t>
            </a:r>
            <a:endParaRPr lang="en-US" sz="1100"/>
          </a:p>
        </p:txBody>
      </p:sp>
      <p:sp>
        <p:nvSpPr>
          <p:cNvPr name="GraphCompose Footer" id="54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2 of 4</a:t>
            </a:r>
            <a:endParaRPr lang="en-US" sz="1100"/>
          </a:p>
        </p:txBody>
      </p:sp>
      <p:cxnSp>
        <p:nvCxnSpPr>
          <p:cNvPr name="GraphCompose Footer Separator" id="55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9029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6128D9"/>
                </a:solidFill>
                <a:latin typeface="Arial"/>
              </a:rPr>
              <a:t>BENCHMARKED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2834538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false" i="false" u="none" strike="noStrike" kern="0">
                <a:solidFill>
                  <a:srgbClr val="1C1E2E"/>
                </a:solidFill>
                <a:latin typeface="Arial"/>
              </a:rPr>
              <a:t>GraphCompose vs. the field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01297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documents through three engines — render time and peak heap, measured by this repository's own harness. The table and charts below are drawn by GraphCompose straight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100406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from the result file.</a:t>
            </a:r>
            <a:endParaRPr lang="en-US" sz="1100"/>
          </a:p>
        </p:txBody>
      </p:sp>
      <p:sp>
        <p:nvSpPr>
          <p:cNvPr name="GraphCompose Table Cell Fill" id="6"/>
          <p:cNvSpPr/>
          <p:nvPr/>
        </p:nvSpPr>
        <p:spPr>
          <a:xfrm>
            <a:off x="203200" y="1488249"/>
            <a:ext cx="1524000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172720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2908744" y="1488249"/>
            <a:ext cx="1245095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415384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203200" y="1797177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172720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2908744" y="1797177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15384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203200" y="2080704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172720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2908744" y="2080704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415384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203200" y="2364232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72720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2908744" y="2364232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15384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203200" y="2647759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172720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2908744" y="2647759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415384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26"/>
          <p:cNvCxnSpPr/>
          <p:nvPr/>
        </p:nvCxnSpPr>
        <p:spPr>
          <a:xfrm>
            <a:off x="203200" y="1488249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7"/>
          <p:cNvCxnSpPr/>
          <p:nvPr/>
        </p:nvCxnSpPr>
        <p:spPr>
          <a:xfrm>
            <a:off x="203200" y="1797177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8"/>
          <p:cNvCxnSpPr/>
          <p:nvPr/>
        </p:nvCxnSpPr>
        <p:spPr>
          <a:xfrm>
            <a:off x="203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1727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0"/>
          <p:cNvSpPr txBox="true"/>
          <p:nvPr/>
        </p:nvSpPr>
        <p:spPr>
          <a:xfrm>
            <a:off x="330200" y="1568444"/>
            <a:ext cx="5792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1"/>
          <p:cNvCxnSpPr/>
          <p:nvPr/>
        </p:nvCxnSpPr>
        <p:spPr>
          <a:xfrm>
            <a:off x="1724025" y="1488249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2"/>
          <p:cNvCxnSpPr/>
          <p:nvPr/>
        </p:nvCxnSpPr>
        <p:spPr>
          <a:xfrm>
            <a:off x="1724025" y="1797177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3"/>
          <p:cNvCxnSpPr/>
          <p:nvPr/>
        </p:nvCxnSpPr>
        <p:spPr>
          <a:xfrm>
            <a:off x="290874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4"/>
          <p:cNvSpPr txBox="true"/>
          <p:nvPr/>
        </p:nvSpPr>
        <p:spPr>
          <a:xfrm>
            <a:off x="1854200" y="156844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5"/>
          <p:cNvCxnSpPr/>
          <p:nvPr/>
        </p:nvCxnSpPr>
        <p:spPr>
          <a:xfrm>
            <a:off x="2905570" y="1488249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6"/>
          <p:cNvCxnSpPr/>
          <p:nvPr/>
        </p:nvCxnSpPr>
        <p:spPr>
          <a:xfrm>
            <a:off x="2905570" y="1797177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7"/>
          <p:cNvCxnSpPr/>
          <p:nvPr/>
        </p:nvCxnSpPr>
        <p:spPr>
          <a:xfrm>
            <a:off x="415384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8"/>
          <p:cNvSpPr txBox="true"/>
          <p:nvPr/>
        </p:nvSpPr>
        <p:spPr>
          <a:xfrm>
            <a:off x="3035744" y="156844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39"/>
          <p:cNvCxnSpPr/>
          <p:nvPr/>
        </p:nvCxnSpPr>
        <p:spPr>
          <a:xfrm>
            <a:off x="4150665" y="1488249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0"/>
          <p:cNvCxnSpPr/>
          <p:nvPr/>
        </p:nvCxnSpPr>
        <p:spPr>
          <a:xfrm>
            <a:off x="4150665" y="1797177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1"/>
          <p:cNvCxnSpPr/>
          <p:nvPr/>
        </p:nvCxnSpPr>
        <p:spPr>
          <a:xfrm>
            <a:off x="533538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42"/>
          <p:cNvSpPr txBox="true"/>
          <p:nvPr/>
        </p:nvSpPr>
        <p:spPr>
          <a:xfrm>
            <a:off x="4280840" y="156844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3"/>
          <p:cNvCxnSpPr/>
          <p:nvPr/>
        </p:nvCxnSpPr>
        <p:spPr>
          <a:xfrm>
            <a:off x="203200" y="2080704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4"/>
          <p:cNvCxnSpPr/>
          <p:nvPr/>
        </p:nvCxnSpPr>
        <p:spPr>
          <a:xfrm>
            <a:off x="203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5"/>
          <p:cNvCxnSpPr/>
          <p:nvPr/>
        </p:nvCxnSpPr>
        <p:spPr>
          <a:xfrm>
            <a:off x="1727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6"/>
          <p:cNvSpPr txBox="true"/>
          <p:nvPr/>
        </p:nvSpPr>
        <p:spPr>
          <a:xfrm>
            <a:off x="330200" y="1864672"/>
            <a:ext cx="77645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7"/>
          <p:cNvCxnSpPr/>
          <p:nvPr/>
        </p:nvCxnSpPr>
        <p:spPr>
          <a:xfrm>
            <a:off x="1724025" y="2080704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8"/>
          <p:cNvCxnSpPr/>
          <p:nvPr/>
        </p:nvCxnSpPr>
        <p:spPr>
          <a:xfrm>
            <a:off x="290874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9"/>
          <p:cNvSpPr txBox="true"/>
          <p:nvPr/>
        </p:nvSpPr>
        <p:spPr>
          <a:xfrm>
            <a:off x="185420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2.8 ms · 0.2 MB</a:t>
            </a:r>
            <a:endParaRPr lang="en-US" sz="1100"/>
          </a:p>
        </p:txBody>
      </p:sp>
      <p:cxnSp>
        <p:nvCxnSpPr>
          <p:cNvPr name="GraphCompose Table Cell Border" id="50"/>
          <p:cNvCxnSpPr/>
          <p:nvPr/>
        </p:nvCxnSpPr>
        <p:spPr>
          <a:xfrm>
            <a:off x="2905570" y="2080704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1"/>
          <p:cNvCxnSpPr/>
          <p:nvPr/>
        </p:nvCxnSpPr>
        <p:spPr>
          <a:xfrm>
            <a:off x="415384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2"/>
          <p:cNvSpPr txBox="true"/>
          <p:nvPr/>
        </p:nvSpPr>
        <p:spPr>
          <a:xfrm>
            <a:off x="3035744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2.8 ms · 0.2 MB</a:t>
            </a:r>
            <a:endParaRPr lang="en-US" sz="1100"/>
          </a:p>
        </p:txBody>
      </p:sp>
      <p:cxnSp>
        <p:nvCxnSpPr>
          <p:cNvPr name="GraphCompose Table Cell Border" id="53"/>
          <p:cNvCxnSpPr/>
          <p:nvPr/>
        </p:nvCxnSpPr>
        <p:spPr>
          <a:xfrm>
            <a:off x="4150665" y="2080704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4"/>
          <p:cNvCxnSpPr/>
          <p:nvPr/>
        </p:nvCxnSpPr>
        <p:spPr>
          <a:xfrm>
            <a:off x="533538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5"/>
          <p:cNvSpPr txBox="true"/>
          <p:nvPr/>
        </p:nvSpPr>
        <p:spPr>
          <a:xfrm>
            <a:off x="428084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5.7 ms · 0.2 MB</a:t>
            </a:r>
            <a:endParaRPr lang="en-US" sz="1100"/>
          </a:p>
        </p:txBody>
      </p:sp>
      <p:cxnSp>
        <p:nvCxnSpPr>
          <p:cNvPr name="GraphCompose Table Cell Border" id="56"/>
          <p:cNvCxnSpPr/>
          <p:nvPr/>
        </p:nvCxnSpPr>
        <p:spPr>
          <a:xfrm>
            <a:off x="203200" y="2364232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7"/>
          <p:cNvCxnSpPr/>
          <p:nvPr/>
        </p:nvCxnSpPr>
        <p:spPr>
          <a:xfrm>
            <a:off x="203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8"/>
          <p:cNvCxnSpPr/>
          <p:nvPr/>
        </p:nvCxnSpPr>
        <p:spPr>
          <a:xfrm>
            <a:off x="1727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9"/>
          <p:cNvSpPr txBox="true"/>
          <p:nvPr/>
        </p:nvSpPr>
        <p:spPr>
          <a:xfrm>
            <a:off x="330200" y="2148199"/>
            <a:ext cx="4014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0"/>
          <p:cNvCxnSpPr/>
          <p:nvPr/>
        </p:nvCxnSpPr>
        <p:spPr>
          <a:xfrm>
            <a:off x="1724025" y="2364232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1"/>
          <p:cNvCxnSpPr/>
          <p:nvPr/>
        </p:nvCxnSpPr>
        <p:spPr>
          <a:xfrm>
            <a:off x="290874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2"/>
          <p:cNvSpPr txBox="true"/>
          <p:nvPr/>
        </p:nvSpPr>
        <p:spPr>
          <a:xfrm>
            <a:off x="185420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5.7 ms · 1.0 MB</a:t>
            </a:r>
            <a:endParaRPr lang="en-US" sz="1100"/>
          </a:p>
        </p:txBody>
      </p:sp>
      <p:cxnSp>
        <p:nvCxnSpPr>
          <p:cNvPr name="GraphCompose Table Cell Border" id="63"/>
          <p:cNvCxnSpPr/>
          <p:nvPr/>
        </p:nvCxnSpPr>
        <p:spPr>
          <a:xfrm>
            <a:off x="2905570" y="2364232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4"/>
          <p:cNvCxnSpPr/>
          <p:nvPr/>
        </p:nvCxnSpPr>
        <p:spPr>
          <a:xfrm>
            <a:off x="415384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5"/>
          <p:cNvSpPr txBox="true"/>
          <p:nvPr/>
        </p:nvSpPr>
        <p:spPr>
          <a:xfrm>
            <a:off x="3035744" y="2148199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14.5 ms · 3.1 MB</a:t>
            </a:r>
            <a:endParaRPr lang="en-US" sz="1100"/>
          </a:p>
        </p:txBody>
      </p:sp>
      <p:cxnSp>
        <p:nvCxnSpPr>
          <p:cNvPr name="GraphCompose Table Cell Border" id="66"/>
          <p:cNvCxnSpPr/>
          <p:nvPr/>
        </p:nvCxnSpPr>
        <p:spPr>
          <a:xfrm>
            <a:off x="4150665" y="2364232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7"/>
          <p:cNvCxnSpPr/>
          <p:nvPr/>
        </p:nvCxnSpPr>
        <p:spPr>
          <a:xfrm>
            <a:off x="533538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8"/>
          <p:cNvSpPr txBox="true"/>
          <p:nvPr/>
        </p:nvSpPr>
        <p:spPr>
          <a:xfrm>
            <a:off x="428084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9.9 ms · 2.5 MB</a:t>
            </a:r>
            <a:endParaRPr lang="en-US" sz="1100"/>
          </a:p>
        </p:txBody>
      </p:sp>
      <p:cxnSp>
        <p:nvCxnSpPr>
          <p:cNvPr name="GraphCompose Table Cell Border" id="69"/>
          <p:cNvCxnSpPr/>
          <p:nvPr/>
        </p:nvCxnSpPr>
        <p:spPr>
          <a:xfrm>
            <a:off x="203200" y="2647759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0"/>
          <p:cNvCxnSpPr/>
          <p:nvPr/>
        </p:nvCxnSpPr>
        <p:spPr>
          <a:xfrm>
            <a:off x="203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1"/>
          <p:cNvCxnSpPr/>
          <p:nvPr/>
        </p:nvCxnSpPr>
        <p:spPr>
          <a:xfrm>
            <a:off x="1727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2"/>
          <p:cNvSpPr txBox="true"/>
          <p:nvPr/>
        </p:nvSpPr>
        <p:spPr>
          <a:xfrm>
            <a:off x="330200" y="2431727"/>
            <a:ext cx="4649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3"/>
          <p:cNvCxnSpPr/>
          <p:nvPr/>
        </p:nvCxnSpPr>
        <p:spPr>
          <a:xfrm>
            <a:off x="1724025" y="2647759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4"/>
          <p:cNvCxnSpPr/>
          <p:nvPr/>
        </p:nvCxnSpPr>
        <p:spPr>
          <a:xfrm>
            <a:off x="290874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5"/>
          <p:cNvSpPr txBox="true"/>
          <p:nvPr/>
        </p:nvSpPr>
        <p:spPr>
          <a:xfrm>
            <a:off x="1854200" y="2431727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15.3 ms · 3.9 MB</a:t>
            </a:r>
            <a:endParaRPr lang="en-US" sz="1100"/>
          </a:p>
        </p:txBody>
      </p:sp>
      <p:cxnSp>
        <p:nvCxnSpPr>
          <p:cNvPr name="GraphCompose Table Cell Border" id="76"/>
          <p:cNvCxnSpPr/>
          <p:nvPr/>
        </p:nvCxnSpPr>
        <p:spPr>
          <a:xfrm>
            <a:off x="2905570" y="2647759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7"/>
          <p:cNvCxnSpPr/>
          <p:nvPr/>
        </p:nvCxnSpPr>
        <p:spPr>
          <a:xfrm>
            <a:off x="415384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8"/>
          <p:cNvSpPr txBox="true"/>
          <p:nvPr/>
        </p:nvSpPr>
        <p:spPr>
          <a:xfrm>
            <a:off x="3035744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57.6 ms · 13.8 MB</a:t>
            </a:r>
            <a:endParaRPr lang="en-US" sz="1100"/>
          </a:p>
        </p:txBody>
      </p:sp>
      <p:cxnSp>
        <p:nvCxnSpPr>
          <p:cNvPr name="GraphCompose Table Cell Border" id="79"/>
          <p:cNvCxnSpPr/>
          <p:nvPr/>
        </p:nvCxnSpPr>
        <p:spPr>
          <a:xfrm>
            <a:off x="4150665" y="2647759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0"/>
          <p:cNvCxnSpPr/>
          <p:nvPr/>
        </p:nvCxnSpPr>
        <p:spPr>
          <a:xfrm>
            <a:off x="533538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1"/>
          <p:cNvSpPr txBox="true"/>
          <p:nvPr/>
        </p:nvSpPr>
        <p:spPr>
          <a:xfrm>
            <a:off x="4280840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21.1 ms · 10.8 MB</a:t>
            </a:r>
            <a:endParaRPr lang="en-US" sz="1100"/>
          </a:p>
        </p:txBody>
      </p:sp>
      <p:cxnSp>
        <p:nvCxnSpPr>
          <p:cNvPr name="GraphCompose Table Cell Border" id="82"/>
          <p:cNvCxnSpPr/>
          <p:nvPr/>
        </p:nvCxnSpPr>
        <p:spPr>
          <a:xfrm>
            <a:off x="203200" y="2931287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3"/>
          <p:cNvCxnSpPr/>
          <p:nvPr/>
        </p:nvCxnSpPr>
        <p:spPr>
          <a:xfrm>
            <a:off x="203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1727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5"/>
          <p:cNvSpPr txBox="true"/>
          <p:nvPr/>
        </p:nvSpPr>
        <p:spPr>
          <a:xfrm>
            <a:off x="330200" y="2715254"/>
            <a:ext cx="528536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6"/>
          <p:cNvCxnSpPr/>
          <p:nvPr/>
        </p:nvCxnSpPr>
        <p:spPr>
          <a:xfrm>
            <a:off x="1724025" y="2931287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7"/>
          <p:cNvCxnSpPr/>
          <p:nvPr/>
        </p:nvCxnSpPr>
        <p:spPr>
          <a:xfrm>
            <a:off x="290874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8"/>
          <p:cNvSpPr txBox="true"/>
          <p:nvPr/>
        </p:nvSpPr>
        <p:spPr>
          <a:xfrm>
            <a:off x="185420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64.1 ms · 19.2 MB</a:t>
            </a:r>
            <a:endParaRPr lang="en-US" sz="1100"/>
          </a:p>
        </p:txBody>
      </p:sp>
      <p:cxnSp>
        <p:nvCxnSpPr>
          <p:cNvPr name="GraphCompose Table Cell Border" id="89"/>
          <p:cNvCxnSpPr/>
          <p:nvPr/>
        </p:nvCxnSpPr>
        <p:spPr>
          <a:xfrm>
            <a:off x="2905570" y="2931287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415384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3035744" y="2715254"/>
            <a:ext cx="99236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291.0 ms · 68.2 MB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4150665" y="2931287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533538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4"/>
          <p:cNvSpPr txBox="true"/>
          <p:nvPr/>
        </p:nvSpPr>
        <p:spPr>
          <a:xfrm>
            <a:off x="428084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64.8 ms · 52.5 MB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2032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6" id="96"/>
          <p:cNvCxnSpPr/>
          <p:nvPr/>
        </p:nvCxnSpPr>
        <p:spPr>
          <a:xfrm>
            <a:off x="2032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7"/>
          <p:cNvSpPr txBox="true"/>
          <p:nvPr/>
        </p:nvSpPr>
        <p:spPr>
          <a:xfrm>
            <a:off x="381000" y="3286125"/>
            <a:ext cx="299783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Render time at 1000 rows — ms (lower is faster)</a:t>
            </a:r>
            <a:endParaRPr lang="en-US" sz="1100"/>
          </a:p>
        </p:txBody>
      </p:sp>
      <p:cxnSp>
        <p:nvCxnSpPr>
          <p:cNvPr name="Connector 98" id="98"/>
          <p:cNvCxnSpPr/>
          <p:nvPr/>
        </p:nvCxnSpPr>
        <p:spPr>
          <a:xfrm flipV="false">
            <a:off x="849681" y="5584602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493979" y="5528186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ms</a:t>
            </a:r>
            <a:endParaRPr lang="en-US" sz="1100"/>
          </a:p>
        </p:txBody>
      </p:sp>
      <p:cxnSp>
        <p:nvCxnSpPr>
          <p:cNvPr name="Connector 100" id="100"/>
          <p:cNvCxnSpPr/>
          <p:nvPr/>
        </p:nvCxnSpPr>
        <p:spPr>
          <a:xfrm flipV="false">
            <a:off x="849681" y="4960831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1"/>
          <p:cNvSpPr txBox="true"/>
          <p:nvPr/>
        </p:nvSpPr>
        <p:spPr>
          <a:xfrm>
            <a:off x="381000" y="4904415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100.0 ms</a:t>
            </a:r>
            <a:endParaRPr lang="en-US" sz="1100"/>
          </a:p>
        </p:txBody>
      </p:sp>
      <p:cxnSp>
        <p:nvCxnSpPr>
          <p:cNvPr name="Connector 102" id="102"/>
          <p:cNvCxnSpPr/>
          <p:nvPr/>
        </p:nvCxnSpPr>
        <p:spPr>
          <a:xfrm flipV="false">
            <a:off x="849681" y="4337060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381000" y="4280645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200.0 ms</a:t>
            </a:r>
            <a:endParaRPr lang="en-US" sz="1100"/>
          </a:p>
        </p:txBody>
      </p:sp>
      <p:cxnSp>
        <p:nvCxnSpPr>
          <p:cNvPr name="Connector 104" id="104"/>
          <p:cNvCxnSpPr/>
          <p:nvPr/>
        </p:nvCxnSpPr>
        <p:spPr>
          <a:xfrm flipV="false">
            <a:off x="849681" y="3713289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5"/>
          <p:cNvSpPr txBox="true"/>
          <p:nvPr/>
        </p:nvSpPr>
        <p:spPr>
          <a:xfrm>
            <a:off x="381000" y="3656874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300.0 ms</a:t>
            </a:r>
            <a:endParaRPr lang="en-US" sz="1100"/>
          </a:p>
        </p:txBody>
      </p:sp>
      <p:sp>
        <p:nvSpPr>
          <p:cNvPr name="AutoShape 106" id="106"/>
          <p:cNvSpPr/>
          <p:nvPr/>
        </p:nvSpPr>
        <p:spPr>
          <a:xfrm>
            <a:off x="1510894" y="5184890"/>
            <a:ext cx="870372" cy="399712"/>
          </a:xfrm>
          <a:prstGeom prst="roundRect">
            <a:avLst>
              <a:gd name="adj" fmla="val 6355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07"/>
          <p:cNvSpPr txBox="true"/>
          <p:nvPr/>
        </p:nvSpPr>
        <p:spPr>
          <a:xfrm>
            <a:off x="1765384" y="5046483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64.1 ms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2522954" y="3769242"/>
            <a:ext cx="870372" cy="1815360"/>
          </a:xfrm>
          <a:prstGeom prst="roundRect">
            <a:avLst>
              <a:gd name="adj" fmla="val 2918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2749200" y="3630835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291.0 ms</a:t>
            </a:r>
            <a:endParaRPr lang="en-US" sz="1100"/>
          </a:p>
        </p:txBody>
      </p:sp>
      <p:sp>
        <p:nvSpPr>
          <p:cNvPr name="AutoShape 110" id="110"/>
          <p:cNvSpPr/>
          <p:nvPr/>
        </p:nvSpPr>
        <p:spPr>
          <a:xfrm>
            <a:off x="3535015" y="5180586"/>
            <a:ext cx="870372" cy="404016"/>
          </a:xfrm>
          <a:prstGeom prst="roundRect">
            <a:avLst>
              <a:gd name="adj" fmla="val 628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1"/>
          <p:cNvSpPr txBox="true"/>
          <p:nvPr/>
        </p:nvSpPr>
        <p:spPr>
          <a:xfrm>
            <a:off x="3789505" y="5042179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64.8 ms</a:t>
            </a:r>
            <a:endParaRPr lang="en-US" sz="1100"/>
          </a:p>
        </p:txBody>
      </p:sp>
      <p:sp>
        <p:nvSpPr>
          <p:cNvPr name="GraphCompose Text Line" id="112"/>
          <p:cNvSpPr txBox="true"/>
          <p:nvPr/>
        </p:nvSpPr>
        <p:spPr>
          <a:xfrm>
            <a:off x="2599594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13" id="113"/>
          <p:cNvSpPr/>
          <p:nvPr/>
        </p:nvSpPr>
        <p:spPr>
          <a:xfrm>
            <a:off x="13518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4"/>
          <p:cNvSpPr txBox="true"/>
          <p:nvPr/>
        </p:nvSpPr>
        <p:spPr>
          <a:xfrm>
            <a:off x="15169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15" id="115"/>
          <p:cNvSpPr/>
          <p:nvPr/>
        </p:nvSpPr>
        <p:spPr>
          <a:xfrm>
            <a:off x="25015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26666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7" id="117"/>
          <p:cNvSpPr/>
          <p:nvPr/>
        </p:nvSpPr>
        <p:spPr>
          <a:xfrm>
            <a:off x="31874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8"/>
          <p:cNvSpPr txBox="true"/>
          <p:nvPr/>
        </p:nvSpPr>
        <p:spPr>
          <a:xfrm>
            <a:off x="33525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119" id="119"/>
          <p:cNvSpPr/>
          <p:nvPr/>
        </p:nvSpPr>
        <p:spPr>
          <a:xfrm>
            <a:off x="54476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20" id="120"/>
          <p:cNvCxnSpPr/>
          <p:nvPr/>
        </p:nvCxnSpPr>
        <p:spPr>
          <a:xfrm>
            <a:off x="54476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21"/>
          <p:cNvSpPr txBox="true"/>
          <p:nvPr/>
        </p:nvSpPr>
        <p:spPr>
          <a:xfrm>
            <a:off x="5625400" y="3286125"/>
            <a:ext cx="295927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Peak heap at 1000 rows — MB (lower is lighter)</a:t>
            </a:r>
            <a:endParaRPr lang="en-US" sz="1100"/>
          </a:p>
        </p:txBody>
      </p:sp>
      <p:cxnSp>
        <p:nvCxnSpPr>
          <p:cNvPr name="Connector 122" id="122"/>
          <p:cNvCxnSpPr/>
          <p:nvPr/>
        </p:nvCxnSpPr>
        <p:spPr>
          <a:xfrm flipV="false">
            <a:off x="6054558" y="5584602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3"/>
          <p:cNvSpPr txBox="true"/>
          <p:nvPr/>
        </p:nvSpPr>
        <p:spPr>
          <a:xfrm>
            <a:off x="5681890" y="5528186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MB</a:t>
            </a:r>
            <a:endParaRPr lang="en-US" sz="1100"/>
          </a:p>
        </p:txBody>
      </p:sp>
      <p:cxnSp>
        <p:nvCxnSpPr>
          <p:cNvPr name="Connector 124" id="124"/>
          <p:cNvCxnSpPr/>
          <p:nvPr/>
        </p:nvCxnSpPr>
        <p:spPr>
          <a:xfrm flipV="false">
            <a:off x="6054558" y="5116774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5"/>
          <p:cNvSpPr txBox="true"/>
          <p:nvPr/>
        </p:nvSpPr>
        <p:spPr>
          <a:xfrm>
            <a:off x="5625400" y="506035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 MB</a:t>
            </a:r>
            <a:endParaRPr lang="en-US" sz="1100"/>
          </a:p>
        </p:txBody>
      </p:sp>
      <p:cxnSp>
        <p:nvCxnSpPr>
          <p:cNvPr name="Connector 126" id="126"/>
          <p:cNvCxnSpPr/>
          <p:nvPr/>
        </p:nvCxnSpPr>
        <p:spPr>
          <a:xfrm flipV="false">
            <a:off x="6054558" y="4648946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7"/>
          <p:cNvSpPr txBox="true"/>
          <p:nvPr/>
        </p:nvSpPr>
        <p:spPr>
          <a:xfrm>
            <a:off x="5625400" y="4592530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40.0 MB</a:t>
            </a:r>
            <a:endParaRPr lang="en-US" sz="1100"/>
          </a:p>
        </p:txBody>
      </p:sp>
      <p:cxnSp>
        <p:nvCxnSpPr>
          <p:cNvPr name="Connector 128" id="128"/>
          <p:cNvCxnSpPr/>
          <p:nvPr/>
        </p:nvCxnSpPr>
        <p:spPr>
          <a:xfrm flipV="false">
            <a:off x="6054558" y="4181118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9"/>
          <p:cNvSpPr txBox="true"/>
          <p:nvPr/>
        </p:nvSpPr>
        <p:spPr>
          <a:xfrm>
            <a:off x="5625400" y="4124702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60.0 MB</a:t>
            </a:r>
            <a:endParaRPr lang="en-US" sz="1100"/>
          </a:p>
        </p:txBody>
      </p:sp>
      <p:cxnSp>
        <p:nvCxnSpPr>
          <p:cNvPr name="Connector 130" id="130"/>
          <p:cNvCxnSpPr/>
          <p:nvPr/>
        </p:nvCxnSpPr>
        <p:spPr>
          <a:xfrm flipV="false">
            <a:off x="6054558" y="3713289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1"/>
          <p:cNvSpPr txBox="true"/>
          <p:nvPr/>
        </p:nvSpPr>
        <p:spPr>
          <a:xfrm>
            <a:off x="5625400" y="3656874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80.0 MB</a:t>
            </a:r>
            <a:endParaRPr lang="en-US" sz="1100"/>
          </a:p>
        </p:txBody>
      </p:sp>
      <p:sp>
        <p:nvSpPr>
          <p:cNvPr name="AutoShape 132" id="132"/>
          <p:cNvSpPr/>
          <p:nvPr/>
        </p:nvSpPr>
        <p:spPr>
          <a:xfrm>
            <a:off x="6721968" y="5136423"/>
            <a:ext cx="878530" cy="448179"/>
          </a:xfrm>
          <a:prstGeom prst="roundRect">
            <a:avLst>
              <a:gd name="adj" fmla="val 5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33"/>
          <p:cNvSpPr txBox="true"/>
          <p:nvPr/>
        </p:nvSpPr>
        <p:spPr>
          <a:xfrm>
            <a:off x="6972054" y="4998016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19.2 MB</a:t>
            </a:r>
            <a:endParaRPr lang="en-US" sz="1100"/>
          </a:p>
        </p:txBody>
      </p:sp>
      <p:sp>
        <p:nvSpPr>
          <p:cNvPr name="AutoShape 134" id="134"/>
          <p:cNvSpPr/>
          <p:nvPr/>
        </p:nvSpPr>
        <p:spPr>
          <a:xfrm>
            <a:off x="7743514" y="3990244"/>
            <a:ext cx="878530" cy="1594358"/>
          </a:xfrm>
          <a:prstGeom prst="roundRect">
            <a:avLst>
              <a:gd name="adj" fmla="val 2891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35"/>
          <p:cNvSpPr txBox="true"/>
          <p:nvPr/>
        </p:nvSpPr>
        <p:spPr>
          <a:xfrm>
            <a:off x="7993600" y="385183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68.2 MB</a:t>
            </a:r>
            <a:endParaRPr lang="en-US" sz="1100"/>
          </a:p>
        </p:txBody>
      </p:sp>
      <p:sp>
        <p:nvSpPr>
          <p:cNvPr name="AutoShape 136" id="136"/>
          <p:cNvSpPr/>
          <p:nvPr/>
        </p:nvSpPr>
        <p:spPr>
          <a:xfrm>
            <a:off x="8765060" y="4355851"/>
            <a:ext cx="878530" cy="1228751"/>
          </a:xfrm>
          <a:prstGeom prst="roundRect">
            <a:avLst>
              <a:gd name="adj" fmla="val 2891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37"/>
          <p:cNvSpPr txBox="true"/>
          <p:nvPr/>
        </p:nvSpPr>
        <p:spPr>
          <a:xfrm>
            <a:off x="9015146" y="4217444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52.5 MB</a:t>
            </a:r>
            <a:endParaRPr lang="en-US" sz="1100"/>
          </a:p>
        </p:txBody>
      </p:sp>
      <p:sp>
        <p:nvSpPr>
          <p:cNvPr name="GraphCompose Text Line" id="138"/>
          <p:cNvSpPr txBox="true"/>
          <p:nvPr/>
        </p:nvSpPr>
        <p:spPr>
          <a:xfrm>
            <a:off x="7824233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39" id="139"/>
          <p:cNvSpPr/>
          <p:nvPr/>
        </p:nvSpPr>
        <p:spPr>
          <a:xfrm>
            <a:off x="65962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40"/>
          <p:cNvSpPr txBox="true"/>
          <p:nvPr/>
        </p:nvSpPr>
        <p:spPr>
          <a:xfrm>
            <a:off x="67613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41" id="141"/>
          <p:cNvSpPr/>
          <p:nvPr/>
        </p:nvSpPr>
        <p:spPr>
          <a:xfrm>
            <a:off x="77459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42"/>
          <p:cNvSpPr txBox="true"/>
          <p:nvPr/>
        </p:nvSpPr>
        <p:spPr>
          <a:xfrm>
            <a:off x="79110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43" id="143"/>
          <p:cNvSpPr/>
          <p:nvPr/>
        </p:nvSpPr>
        <p:spPr>
          <a:xfrm>
            <a:off x="84318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44"/>
          <p:cNvSpPr txBox="true"/>
          <p:nvPr/>
        </p:nvSpPr>
        <p:spPr>
          <a:xfrm>
            <a:off x="85969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145"/>
          <p:cNvSpPr txBox="true"/>
          <p:nvPr/>
        </p:nvSpPr>
        <p:spPr>
          <a:xfrm>
            <a:off x="203200" y="6324083"/>
            <a:ext cx="975334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Measured 2026-07-26 23:00:56 · 50 warmup / 100 measurement iterations, single machine — numbers vary by hardware and document. Reproduce: scripts/run-benchmarks.ps1 · see docs/operations/benchmarks.md.</a:t>
            </a:r>
            <a:endParaRPr lang="en-US" sz="1100"/>
          </a:p>
        </p:txBody>
      </p:sp>
      <p:sp>
        <p:nvSpPr>
          <p:cNvPr name="GraphCompose Footer" id="146"/>
          <p:cNvSpPr txBox="true"/>
          <p:nvPr/>
        </p:nvSpPr>
        <p:spPr>
          <a:xfrm>
            <a:off x="203200" y="7189226"/>
            <a:ext cx="162116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v2.1.1 “twinned”</a:t>
            </a:r>
            <a:endParaRPr lang="en-US" sz="1100"/>
          </a:p>
        </p:txBody>
      </p:sp>
      <p:sp>
        <p:nvSpPr>
          <p:cNvPr name="GraphCompose Footer" id="147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3 of 4</a:t>
            </a:r>
            <a:endParaRPr lang="en-US" sz="1100"/>
          </a:p>
        </p:txBody>
      </p:sp>
      <p:cxnSp>
        <p:nvCxnSpPr>
          <p:cNvPr name="GraphCompose Footer Separator" id="148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5030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6128D9"/>
                </a:solidFill>
                <a:latin typeface="Arial"/>
              </a:rPr>
              <a:t>SCALING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2846883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false" i="false" u="none" strike="noStrike" kern="0">
                <a:solidFill>
                  <a:srgbClr val="1C1E2E"/>
                </a:solidFill>
                <a:latin typeface="Arial"/>
              </a:rPr>
              <a:t>How GraphCompose scales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219507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As the report grows from 40 to 1000 rows, the time lead over iText widens; JasperReports closes to roughly the same render time at 1000 rows, yet GraphCompose stays markedly lighter on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513056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memory than both rivals throughout — every series below reads from the same benchmark file.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2032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2032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381000" y="1639887"/>
            <a:ext cx="207399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764946" y="349909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493979" y="3442674"/>
            <a:ext cx="2214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ms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764946" y="298068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381000" y="2924265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 ms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764946" y="2462271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381000" y="2405855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 ms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764946" y="1943862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81000" y="1887446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300 ms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true">
            <a:off x="1481889" y="3419980"/>
            <a:ext cx="1433885" cy="49560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18" id="18"/>
          <p:cNvCxnSpPr/>
          <p:nvPr/>
        </p:nvCxnSpPr>
        <p:spPr>
          <a:xfrm flipV="true">
            <a:off x="2915773" y="3166893"/>
            <a:ext cx="1433885" cy="253087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19" id="19"/>
          <p:cNvCxnSpPr/>
          <p:nvPr/>
        </p:nvCxnSpPr>
        <p:spPr>
          <a:xfrm flipV="true">
            <a:off x="1481889" y="3200641"/>
            <a:ext cx="1433885" cy="223071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0" id="20"/>
          <p:cNvCxnSpPr/>
          <p:nvPr/>
        </p:nvCxnSpPr>
        <p:spPr>
          <a:xfrm flipV="true">
            <a:off x="2915773" y="1990363"/>
            <a:ext cx="1433885" cy="1210278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1" id="21"/>
          <p:cNvCxnSpPr/>
          <p:nvPr/>
        </p:nvCxnSpPr>
        <p:spPr>
          <a:xfrm flipV="true">
            <a:off x="1481889" y="3389550"/>
            <a:ext cx="1433885" cy="58269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2915773" y="3163316"/>
            <a:ext cx="1433885" cy="226234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sp>
        <p:nvSpPr>
          <p:cNvPr name="AutoShape 23" id="23"/>
          <p:cNvSpPr/>
          <p:nvPr/>
        </p:nvSpPr>
        <p:spPr>
          <a:xfrm>
            <a:off x="1450139" y="3437790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4" id="24"/>
          <p:cNvSpPr/>
          <p:nvPr/>
        </p:nvSpPr>
        <p:spPr>
          <a:xfrm>
            <a:off x="2884023" y="3388230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5" id="25"/>
          <p:cNvSpPr/>
          <p:nvPr/>
        </p:nvSpPr>
        <p:spPr>
          <a:xfrm>
            <a:off x="4317908" y="3135143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6" id="26"/>
          <p:cNvSpPr/>
          <p:nvPr/>
        </p:nvSpPr>
        <p:spPr>
          <a:xfrm>
            <a:off x="1450139" y="3391963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7" id="27"/>
          <p:cNvSpPr/>
          <p:nvPr/>
        </p:nvSpPr>
        <p:spPr>
          <a:xfrm>
            <a:off x="2884023" y="3168891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8" id="28"/>
          <p:cNvSpPr/>
          <p:nvPr/>
        </p:nvSpPr>
        <p:spPr>
          <a:xfrm>
            <a:off x="4317908" y="1958613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9" id="29"/>
          <p:cNvSpPr/>
          <p:nvPr/>
        </p:nvSpPr>
        <p:spPr>
          <a:xfrm>
            <a:off x="1450139" y="3416069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2884023" y="3357800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4317908" y="3131566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GraphCompose Text Line" id="32"/>
          <p:cNvSpPr txBox="true"/>
          <p:nvPr/>
        </p:nvSpPr>
        <p:spPr>
          <a:xfrm>
            <a:off x="1425399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2831039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34"/>
          <p:cNvSpPr txBox="true"/>
          <p:nvPr/>
        </p:nvSpPr>
        <p:spPr>
          <a:xfrm>
            <a:off x="4236679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>
            <a:off x="13518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36"/>
          <p:cNvSpPr txBox="true"/>
          <p:nvPr/>
        </p:nvSpPr>
        <p:spPr>
          <a:xfrm>
            <a:off x="15169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25015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38"/>
          <p:cNvSpPr txBox="true"/>
          <p:nvPr/>
        </p:nvSpPr>
        <p:spPr>
          <a:xfrm>
            <a:off x="26666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31874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40"/>
          <p:cNvSpPr txBox="true"/>
          <p:nvPr/>
        </p:nvSpPr>
        <p:spPr>
          <a:xfrm>
            <a:off x="33525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54476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54476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5625400" y="1639887"/>
            <a:ext cx="200442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cxnSp>
        <p:nvCxnSpPr>
          <p:cNvPr name="Connector 44" id="44"/>
          <p:cNvCxnSpPr/>
          <p:nvPr/>
        </p:nvCxnSpPr>
        <p:spPr>
          <a:xfrm flipV="false">
            <a:off x="5969824" y="3499090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5"/>
          <p:cNvSpPr txBox="true"/>
          <p:nvPr/>
        </p:nvSpPr>
        <p:spPr>
          <a:xfrm>
            <a:off x="5681890" y="344267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MB</a:t>
            </a:r>
            <a:endParaRPr lang="en-US" sz="1100"/>
          </a:p>
        </p:txBody>
      </p:sp>
      <p:cxnSp>
        <p:nvCxnSpPr>
          <p:cNvPr name="Connector 46" id="46"/>
          <p:cNvCxnSpPr/>
          <p:nvPr/>
        </p:nvCxnSpPr>
        <p:spPr>
          <a:xfrm flipV="false">
            <a:off x="5969824" y="3110283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7"/>
          <p:cNvSpPr txBox="true"/>
          <p:nvPr/>
        </p:nvSpPr>
        <p:spPr>
          <a:xfrm>
            <a:off x="5625400" y="3053867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 MB</a:t>
            </a:r>
            <a:endParaRPr lang="en-US" sz="1100"/>
          </a:p>
        </p:txBody>
      </p:sp>
      <p:cxnSp>
        <p:nvCxnSpPr>
          <p:cNvPr name="Connector 48" id="48"/>
          <p:cNvCxnSpPr/>
          <p:nvPr/>
        </p:nvCxnSpPr>
        <p:spPr>
          <a:xfrm flipV="false">
            <a:off x="5969824" y="2721476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5625400" y="2665060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 MB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5969824" y="2332669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5625400" y="2276253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 MB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5969824" y="1943862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5625400" y="1887446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 MB</a:t>
            </a:r>
            <a:endParaRPr lang="en-US" sz="1100"/>
          </a:p>
        </p:txBody>
      </p:sp>
      <p:sp>
        <p:nvSpPr>
          <p:cNvPr name="Freeform 54" id="54"/>
          <p:cNvSpPr/>
          <p:nvPr/>
        </p:nvSpPr>
        <p:spPr>
          <a:xfrm>
            <a:off x="6693353" y="3126613"/>
            <a:ext cx="2894117" cy="372477"/>
          </a:xfrm>
          <a:custGeom>
            <a:avLst/>
            <a:gdLst/>
            <a:ahLst/>
            <a:cxnLst/>
            <a:rect r="r" b="b" t="t" l="l"/>
            <a:pathLst>
              <a:path h="372477" w="2894117">
                <a:moveTo>
                  <a:pt x="0" y="353231"/>
                </a:moveTo>
                <a:cubicBezTo>
                  <a:pt x="241177" y="343705"/>
                  <a:pt x="964706" y="354948"/>
                  <a:pt x="1447059" y="296076"/>
                </a:cubicBezTo>
                <a:cubicBezTo>
                  <a:pt x="1929412" y="237204"/>
                  <a:pt x="2652941" y="49346"/>
                  <a:pt x="2894118" y="0"/>
                </a:cubicBezTo>
                <a:lnTo>
                  <a:pt x="2894118" y="372477"/>
                </a:lnTo>
                <a:lnTo>
                  <a:pt x="0" y="372477"/>
                </a:lnTo>
                <a:close/>
              </a:path>
            </a:pathLst>
          </a:custGeom>
          <a:solidFill>
            <a:srgbClr val="7C5CFC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5" id="55"/>
          <p:cNvSpPr/>
          <p:nvPr/>
        </p:nvSpPr>
        <p:spPr>
          <a:xfrm>
            <a:off x="6693353" y="2174036"/>
            <a:ext cx="2894117" cy="1325054"/>
          </a:xfrm>
          <a:custGeom>
            <a:avLst/>
            <a:gdLst/>
            <a:ahLst/>
            <a:cxnLst/>
            <a:rect r="r" b="b" t="t" l="l"/>
            <a:pathLst>
              <a:path h="1325054" w="2894117">
                <a:moveTo>
                  <a:pt x="0" y="1265760"/>
                </a:moveTo>
                <a:cubicBezTo>
                  <a:pt x="241177" y="1230897"/>
                  <a:pt x="964706" y="1267542"/>
                  <a:pt x="1447059" y="1056582"/>
                </a:cubicBezTo>
                <a:cubicBezTo>
                  <a:pt x="1929412" y="845622"/>
                  <a:pt x="2652941" y="176097"/>
                  <a:pt x="2894118" y="0"/>
                </a:cubicBezTo>
                <a:lnTo>
                  <a:pt x="2894118" y="1325054"/>
                </a:lnTo>
                <a:lnTo>
                  <a:pt x="0" y="1325054"/>
                </a:lnTo>
                <a:close/>
              </a:path>
            </a:pathLst>
          </a:custGeom>
          <a:solidFill>
            <a:srgbClr val="767E94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6" id="56"/>
          <p:cNvSpPr/>
          <p:nvPr/>
        </p:nvSpPr>
        <p:spPr>
          <a:xfrm>
            <a:off x="6693353" y="2477888"/>
            <a:ext cx="2894117" cy="1021201"/>
          </a:xfrm>
          <a:custGeom>
            <a:avLst/>
            <a:gdLst/>
            <a:ahLst/>
            <a:cxnLst/>
            <a:rect r="r" b="b" t="t" l="l"/>
            <a:pathLst>
              <a:path h="1021201" w="2894117">
                <a:moveTo>
                  <a:pt x="0" y="972017"/>
                </a:moveTo>
                <a:cubicBezTo>
                  <a:pt x="241177" y="945190"/>
                  <a:pt x="964706" y="973054"/>
                  <a:pt x="1447059" y="811051"/>
                </a:cubicBezTo>
                <a:cubicBezTo>
                  <a:pt x="1929412" y="649049"/>
                  <a:pt x="2652941" y="135175"/>
                  <a:pt x="2894118" y="0"/>
                </a:cubicBezTo>
                <a:lnTo>
                  <a:pt x="2894118" y="1021202"/>
                </a:lnTo>
                <a:lnTo>
                  <a:pt x="0" y="1021202"/>
                </a:lnTo>
                <a:close/>
              </a:path>
            </a:pathLst>
          </a:custGeom>
          <a:solidFill>
            <a:srgbClr val="E09E48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6693353" y="3126613"/>
            <a:ext cx="2894117" cy="353231"/>
          </a:xfrm>
          <a:custGeom>
            <a:avLst/>
            <a:gdLst/>
            <a:ahLst/>
            <a:cxnLst/>
            <a:rect r="r" b="b" t="t" l="l"/>
            <a:pathLst>
              <a:path h="353231" w="2894117">
                <a:moveTo>
                  <a:pt x="0" y="353231"/>
                </a:moveTo>
                <a:cubicBezTo>
                  <a:pt x="241177" y="343705"/>
                  <a:pt x="964706" y="354948"/>
                  <a:pt x="1447059" y="296076"/>
                </a:cubicBezTo>
                <a:cubicBezTo>
                  <a:pt x="1929412" y="237204"/>
                  <a:pt x="2652941" y="49346"/>
                  <a:pt x="2894118" y="0"/>
                </a:cubicBezTo>
              </a:path>
            </a:pathLst>
          </a:custGeom>
          <a:noFill/>
          <a:ln w="20320" cap="flat">
            <a:solidFill>
              <a:srgbClr val="7C5CFC"/>
            </a:solidFill>
            <a:miter/>
          </a:ln>
        </p:spPr>
      </p:sp>
      <p:sp>
        <p:nvSpPr>
          <p:cNvPr name="Freeform 58" id="58"/>
          <p:cNvSpPr/>
          <p:nvPr/>
        </p:nvSpPr>
        <p:spPr>
          <a:xfrm>
            <a:off x="6693353" y="2174036"/>
            <a:ext cx="2894117" cy="1265761"/>
          </a:xfrm>
          <a:custGeom>
            <a:avLst/>
            <a:gdLst/>
            <a:ahLst/>
            <a:cxnLst/>
            <a:rect r="r" b="b" t="t" l="l"/>
            <a:pathLst>
              <a:path h="1265761" w="2894117">
                <a:moveTo>
                  <a:pt x="0" y="1265760"/>
                </a:moveTo>
                <a:cubicBezTo>
                  <a:pt x="241177" y="1230897"/>
                  <a:pt x="964706" y="1267542"/>
                  <a:pt x="1447059" y="1056582"/>
                </a:cubicBezTo>
                <a:cubicBezTo>
                  <a:pt x="1929412" y="845622"/>
                  <a:pt x="2652941" y="176097"/>
                  <a:pt x="2894118" y="0"/>
                </a:cubicBezTo>
              </a:path>
            </a:pathLst>
          </a:custGeom>
          <a:noFill/>
          <a:ln w="20320" cap="flat">
            <a:solidFill>
              <a:srgbClr val="767E94"/>
            </a:solidFill>
            <a:miter/>
          </a:ln>
        </p:spPr>
      </p:sp>
      <p:sp>
        <p:nvSpPr>
          <p:cNvPr name="Freeform 59" id="59"/>
          <p:cNvSpPr/>
          <p:nvPr/>
        </p:nvSpPr>
        <p:spPr>
          <a:xfrm>
            <a:off x="6693353" y="2477888"/>
            <a:ext cx="2894117" cy="972017"/>
          </a:xfrm>
          <a:custGeom>
            <a:avLst/>
            <a:gdLst/>
            <a:ahLst/>
            <a:cxnLst/>
            <a:rect r="r" b="b" t="t" l="l"/>
            <a:pathLst>
              <a:path h="972017" w="2894117">
                <a:moveTo>
                  <a:pt x="0" y="972017"/>
                </a:moveTo>
                <a:cubicBezTo>
                  <a:pt x="241177" y="945190"/>
                  <a:pt x="964706" y="973054"/>
                  <a:pt x="1447059" y="811051"/>
                </a:cubicBezTo>
                <a:cubicBezTo>
                  <a:pt x="1929412" y="649049"/>
                  <a:pt x="2652941" y="135175"/>
                  <a:pt x="2894118" y="0"/>
                </a:cubicBezTo>
              </a:path>
            </a:pathLst>
          </a:custGeom>
          <a:noFill/>
          <a:ln w="20320" cap="flat">
            <a:solidFill>
              <a:srgbClr val="E09E48"/>
            </a:solidFill>
            <a:miter/>
          </a:ln>
        </p:spPr>
      </p:sp>
      <p:sp>
        <p:nvSpPr>
          <p:cNvPr name="GraphCompose Text Line" id="60"/>
          <p:cNvSpPr txBox="true"/>
          <p:nvPr/>
        </p:nvSpPr>
        <p:spPr>
          <a:xfrm>
            <a:off x="6636864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61"/>
          <p:cNvSpPr txBox="true"/>
          <p:nvPr/>
        </p:nvSpPr>
        <p:spPr>
          <a:xfrm>
            <a:off x="8055678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62"/>
          <p:cNvSpPr txBox="true"/>
          <p:nvPr/>
        </p:nvSpPr>
        <p:spPr>
          <a:xfrm>
            <a:off x="9474492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63" id="63"/>
          <p:cNvSpPr/>
          <p:nvPr/>
        </p:nvSpPr>
        <p:spPr>
          <a:xfrm>
            <a:off x="65962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64"/>
          <p:cNvSpPr txBox="true"/>
          <p:nvPr/>
        </p:nvSpPr>
        <p:spPr>
          <a:xfrm>
            <a:off x="67613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5" id="65"/>
          <p:cNvSpPr/>
          <p:nvPr/>
        </p:nvSpPr>
        <p:spPr>
          <a:xfrm>
            <a:off x="77459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79110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84318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68"/>
          <p:cNvSpPr txBox="true"/>
          <p:nvPr/>
        </p:nvSpPr>
        <p:spPr>
          <a:xfrm>
            <a:off x="85969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2032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0" id="70"/>
          <p:cNvCxnSpPr/>
          <p:nvPr/>
        </p:nvCxnSpPr>
        <p:spPr>
          <a:xfrm>
            <a:off x="2032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71"/>
          <p:cNvSpPr txBox="true"/>
          <p:nvPr/>
        </p:nvSpPr>
        <p:spPr>
          <a:xfrm>
            <a:off x="381000" y="4333035"/>
            <a:ext cx="236932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Memory at 1000 rows — share of total</a:t>
            </a:r>
            <a:endParaRPr lang="en-US" sz="1100"/>
          </a:p>
        </p:txBody>
      </p:sp>
      <p:sp>
        <p:nvSpPr>
          <p:cNvPr name="Freeform 72" id="72"/>
          <p:cNvSpPr/>
          <p:nvPr/>
        </p:nvSpPr>
        <p:spPr>
          <a:xfrm>
            <a:off x="2731305" y="4722212"/>
            <a:ext cx="546251" cy="455362"/>
          </a:xfrm>
          <a:custGeom>
            <a:avLst/>
            <a:gdLst/>
            <a:ahLst/>
            <a:cxnLst/>
            <a:rect r="r" b="b" t="t" l="l"/>
            <a:pathLst>
              <a:path h="455362" w="546251">
                <a:moveTo>
                  <a:pt x="5435" y="0"/>
                </a:moveTo>
                <a:lnTo>
                  <a:pt x="43666" y="1655"/>
                </a:lnTo>
                <a:lnTo>
                  <a:pt x="81762" y="5281"/>
                </a:lnTo>
                <a:lnTo>
                  <a:pt x="119619" y="10867"/>
                </a:lnTo>
                <a:lnTo>
                  <a:pt x="157138" y="18399"/>
                </a:lnTo>
                <a:lnTo>
                  <a:pt x="194219" y="27857"/>
                </a:lnTo>
                <a:lnTo>
                  <a:pt x="230762" y="39216"/>
                </a:lnTo>
                <a:lnTo>
                  <a:pt x="266670" y="52445"/>
                </a:lnTo>
                <a:lnTo>
                  <a:pt x="301848" y="67509"/>
                </a:lnTo>
                <a:lnTo>
                  <a:pt x="336201" y="84368"/>
                </a:lnTo>
                <a:lnTo>
                  <a:pt x="369639" y="102977"/>
                </a:lnTo>
                <a:lnTo>
                  <a:pt x="402073" y="123287"/>
                </a:lnTo>
                <a:lnTo>
                  <a:pt x="433415" y="145243"/>
                </a:lnTo>
                <a:lnTo>
                  <a:pt x="463582" y="168787"/>
                </a:lnTo>
                <a:lnTo>
                  <a:pt x="492495" y="193856"/>
                </a:lnTo>
                <a:lnTo>
                  <a:pt x="520076" y="220384"/>
                </a:lnTo>
                <a:lnTo>
                  <a:pt x="546251" y="248299"/>
                </a:lnTo>
                <a:lnTo>
                  <a:pt x="313673" y="455362"/>
                </a:lnTo>
                <a:lnTo>
                  <a:pt x="298492" y="439171"/>
                </a:lnTo>
                <a:lnTo>
                  <a:pt x="282495" y="423785"/>
                </a:lnTo>
                <a:lnTo>
                  <a:pt x="265726" y="409245"/>
                </a:lnTo>
                <a:lnTo>
                  <a:pt x="248228" y="395590"/>
                </a:lnTo>
                <a:lnTo>
                  <a:pt x="230050" y="382855"/>
                </a:lnTo>
                <a:lnTo>
                  <a:pt x="211239" y="371075"/>
                </a:lnTo>
                <a:lnTo>
                  <a:pt x="191845" y="360282"/>
                </a:lnTo>
                <a:lnTo>
                  <a:pt x="171919" y="350504"/>
                </a:lnTo>
                <a:lnTo>
                  <a:pt x="151516" y="341767"/>
                </a:lnTo>
                <a:lnTo>
                  <a:pt x="130690" y="334094"/>
                </a:lnTo>
                <a:lnTo>
                  <a:pt x="109495" y="327506"/>
                </a:lnTo>
                <a:lnTo>
                  <a:pt x="87988" y="322020"/>
                </a:lnTo>
                <a:lnTo>
                  <a:pt x="66227" y="317652"/>
                </a:lnTo>
                <a:lnTo>
                  <a:pt x="44270" y="314412"/>
                </a:lnTo>
                <a:lnTo>
                  <a:pt x="22174" y="312309"/>
                </a:lnTo>
                <a:lnTo>
                  <a:pt x="0" y="311349"/>
                </a:lnTo>
                <a:close/>
              </a:path>
            </a:pathLst>
          </a:custGeom>
          <a:solidFill>
            <a:srgbClr val="7C5CFC"/>
          </a:solidFill>
          <a:ln w="12700">
            <a:solidFill>
              <a:srgbClr val="FFFFFF"/>
            </a:solidFill>
          </a:ln>
        </p:spPr>
      </p:sp>
      <p:sp>
        <p:nvSpPr>
          <p:cNvPr name="Freeform 73" id="73"/>
          <p:cNvSpPr/>
          <p:nvPr/>
        </p:nvSpPr>
        <p:spPr>
          <a:xfrm>
            <a:off x="2210838" y="4990137"/>
            <a:ext cx="1254309" cy="1214668"/>
          </a:xfrm>
          <a:custGeom>
            <a:avLst/>
            <a:gdLst/>
            <a:ahLst/>
            <a:cxnLst/>
            <a:rect r="r" b="b" t="t" l="l"/>
            <a:pathLst>
              <a:path h="1214668" w="1254309">
                <a:moveTo>
                  <a:pt x="1083586" y="0"/>
                </a:moveTo>
                <a:lnTo>
                  <a:pt x="1107507" y="30416"/>
                </a:lnTo>
                <a:lnTo>
                  <a:pt x="1129808" y="62038"/>
                </a:lnTo>
                <a:lnTo>
                  <a:pt x="1150428" y="94781"/>
                </a:lnTo>
                <a:lnTo>
                  <a:pt x="1169313" y="128555"/>
                </a:lnTo>
                <a:lnTo>
                  <a:pt x="1186409" y="163268"/>
                </a:lnTo>
                <a:lnTo>
                  <a:pt x="1201672" y="198826"/>
                </a:lnTo>
                <a:lnTo>
                  <a:pt x="1215058" y="235131"/>
                </a:lnTo>
                <a:lnTo>
                  <a:pt x="1226532" y="272086"/>
                </a:lnTo>
                <a:lnTo>
                  <a:pt x="1236062" y="309589"/>
                </a:lnTo>
                <a:lnTo>
                  <a:pt x="1243623" y="347538"/>
                </a:lnTo>
                <a:lnTo>
                  <a:pt x="1249193" y="385830"/>
                </a:lnTo>
                <a:lnTo>
                  <a:pt x="1252758" y="424361"/>
                </a:lnTo>
                <a:lnTo>
                  <a:pt x="1254308" y="463024"/>
                </a:lnTo>
                <a:lnTo>
                  <a:pt x="1253839" y="501717"/>
                </a:lnTo>
                <a:lnTo>
                  <a:pt x="1251352" y="540331"/>
                </a:lnTo>
                <a:lnTo>
                  <a:pt x="1246853" y="578764"/>
                </a:lnTo>
                <a:lnTo>
                  <a:pt x="1240356" y="616910"/>
                </a:lnTo>
                <a:lnTo>
                  <a:pt x="1231877" y="654664"/>
                </a:lnTo>
                <a:lnTo>
                  <a:pt x="1221440" y="691925"/>
                </a:lnTo>
                <a:lnTo>
                  <a:pt x="1209073" y="728590"/>
                </a:lnTo>
                <a:lnTo>
                  <a:pt x="1194810" y="764561"/>
                </a:lnTo>
                <a:lnTo>
                  <a:pt x="1178689" y="799738"/>
                </a:lnTo>
                <a:lnTo>
                  <a:pt x="1160756" y="834026"/>
                </a:lnTo>
                <a:lnTo>
                  <a:pt x="1141058" y="867332"/>
                </a:lnTo>
                <a:lnTo>
                  <a:pt x="1119649" y="899565"/>
                </a:lnTo>
                <a:lnTo>
                  <a:pt x="1096588" y="930637"/>
                </a:lnTo>
                <a:lnTo>
                  <a:pt x="1071936" y="960464"/>
                </a:lnTo>
                <a:lnTo>
                  <a:pt x="1045763" y="988964"/>
                </a:lnTo>
                <a:lnTo>
                  <a:pt x="1018138" y="1016059"/>
                </a:lnTo>
                <a:lnTo>
                  <a:pt x="989137" y="1041676"/>
                </a:lnTo>
                <a:lnTo>
                  <a:pt x="958839" y="1065746"/>
                </a:lnTo>
                <a:lnTo>
                  <a:pt x="927327" y="1088201"/>
                </a:lnTo>
                <a:lnTo>
                  <a:pt x="894685" y="1108983"/>
                </a:lnTo>
                <a:lnTo>
                  <a:pt x="861005" y="1128032"/>
                </a:lnTo>
                <a:lnTo>
                  <a:pt x="826376" y="1145299"/>
                </a:lnTo>
                <a:lnTo>
                  <a:pt x="790893" y="1160736"/>
                </a:lnTo>
                <a:lnTo>
                  <a:pt x="754653" y="1174300"/>
                </a:lnTo>
                <a:lnTo>
                  <a:pt x="717755" y="1185955"/>
                </a:lnTo>
                <a:lnTo>
                  <a:pt x="680300" y="1195669"/>
                </a:lnTo>
                <a:lnTo>
                  <a:pt x="642388" y="1203416"/>
                </a:lnTo>
                <a:lnTo>
                  <a:pt x="604124" y="1209174"/>
                </a:lnTo>
                <a:lnTo>
                  <a:pt x="565612" y="1212928"/>
                </a:lnTo>
                <a:lnTo>
                  <a:pt x="526956" y="1214668"/>
                </a:lnTo>
                <a:lnTo>
                  <a:pt x="488262" y="1214388"/>
                </a:lnTo>
                <a:lnTo>
                  <a:pt x="449635" y="1212091"/>
                </a:lnTo>
                <a:lnTo>
                  <a:pt x="411181" y="1207781"/>
                </a:lnTo>
                <a:lnTo>
                  <a:pt x="373004" y="1201470"/>
                </a:lnTo>
                <a:lnTo>
                  <a:pt x="335208" y="1193177"/>
                </a:lnTo>
                <a:lnTo>
                  <a:pt x="297897" y="1182922"/>
                </a:lnTo>
                <a:lnTo>
                  <a:pt x="261171" y="1170736"/>
                </a:lnTo>
                <a:lnTo>
                  <a:pt x="225131" y="1156649"/>
                </a:lnTo>
                <a:lnTo>
                  <a:pt x="189875" y="1140702"/>
                </a:lnTo>
                <a:lnTo>
                  <a:pt x="155499" y="1122937"/>
                </a:lnTo>
                <a:lnTo>
                  <a:pt x="122097" y="1103402"/>
                </a:lnTo>
                <a:lnTo>
                  <a:pt x="89760" y="1082152"/>
                </a:lnTo>
                <a:lnTo>
                  <a:pt x="58575" y="1059243"/>
                </a:lnTo>
                <a:lnTo>
                  <a:pt x="28628" y="1034739"/>
                </a:lnTo>
                <a:lnTo>
                  <a:pt x="0" y="1008705"/>
                </a:lnTo>
                <a:lnTo>
                  <a:pt x="215444" y="783869"/>
                </a:lnTo>
                <a:lnTo>
                  <a:pt x="232048" y="798969"/>
                </a:lnTo>
                <a:lnTo>
                  <a:pt x="249417" y="813181"/>
                </a:lnTo>
                <a:lnTo>
                  <a:pt x="267505" y="826468"/>
                </a:lnTo>
                <a:lnTo>
                  <a:pt x="286260" y="838793"/>
                </a:lnTo>
                <a:lnTo>
                  <a:pt x="305634" y="850123"/>
                </a:lnTo>
                <a:lnTo>
                  <a:pt x="325572" y="860427"/>
                </a:lnTo>
                <a:lnTo>
                  <a:pt x="346020" y="869677"/>
                </a:lnTo>
                <a:lnTo>
                  <a:pt x="366923" y="877847"/>
                </a:lnTo>
                <a:lnTo>
                  <a:pt x="388224" y="884915"/>
                </a:lnTo>
                <a:lnTo>
                  <a:pt x="409865" y="890863"/>
                </a:lnTo>
                <a:lnTo>
                  <a:pt x="431786" y="895673"/>
                </a:lnTo>
                <a:lnTo>
                  <a:pt x="453929" y="899333"/>
                </a:lnTo>
                <a:lnTo>
                  <a:pt x="476232" y="901833"/>
                </a:lnTo>
                <a:lnTo>
                  <a:pt x="498636" y="903165"/>
                </a:lnTo>
                <a:lnTo>
                  <a:pt x="521078" y="903328"/>
                </a:lnTo>
                <a:lnTo>
                  <a:pt x="543499" y="902319"/>
                </a:lnTo>
                <a:lnTo>
                  <a:pt x="565836" y="900141"/>
                </a:lnTo>
                <a:lnTo>
                  <a:pt x="588029" y="896801"/>
                </a:lnTo>
                <a:lnTo>
                  <a:pt x="610018" y="892308"/>
                </a:lnTo>
                <a:lnTo>
                  <a:pt x="631742" y="886674"/>
                </a:lnTo>
                <a:lnTo>
                  <a:pt x="653143" y="879914"/>
                </a:lnTo>
                <a:lnTo>
                  <a:pt x="674162" y="872047"/>
                </a:lnTo>
                <a:lnTo>
                  <a:pt x="694742" y="863094"/>
                </a:lnTo>
                <a:lnTo>
                  <a:pt x="714827" y="853079"/>
                </a:lnTo>
                <a:lnTo>
                  <a:pt x="734362" y="842030"/>
                </a:lnTo>
                <a:lnTo>
                  <a:pt x="753293" y="829977"/>
                </a:lnTo>
                <a:lnTo>
                  <a:pt x="771571" y="816953"/>
                </a:lnTo>
                <a:lnTo>
                  <a:pt x="789143" y="802992"/>
                </a:lnTo>
                <a:lnTo>
                  <a:pt x="805964" y="788134"/>
                </a:lnTo>
                <a:lnTo>
                  <a:pt x="821986" y="772419"/>
                </a:lnTo>
                <a:lnTo>
                  <a:pt x="837167" y="755889"/>
                </a:lnTo>
                <a:lnTo>
                  <a:pt x="851465" y="738590"/>
                </a:lnTo>
                <a:lnTo>
                  <a:pt x="864840" y="720568"/>
                </a:lnTo>
                <a:lnTo>
                  <a:pt x="877258" y="701873"/>
                </a:lnTo>
                <a:lnTo>
                  <a:pt x="888682" y="682555"/>
                </a:lnTo>
                <a:lnTo>
                  <a:pt x="899084" y="662668"/>
                </a:lnTo>
                <a:lnTo>
                  <a:pt x="908434" y="642265"/>
                </a:lnTo>
                <a:lnTo>
                  <a:pt x="916706" y="621403"/>
                </a:lnTo>
                <a:lnTo>
                  <a:pt x="923879" y="600137"/>
                </a:lnTo>
                <a:lnTo>
                  <a:pt x="929933" y="578525"/>
                </a:lnTo>
                <a:lnTo>
                  <a:pt x="934850" y="556628"/>
                </a:lnTo>
                <a:lnTo>
                  <a:pt x="938619" y="534503"/>
                </a:lnTo>
                <a:lnTo>
                  <a:pt x="941228" y="512212"/>
                </a:lnTo>
                <a:lnTo>
                  <a:pt x="942671" y="489816"/>
                </a:lnTo>
                <a:lnTo>
                  <a:pt x="942943" y="467374"/>
                </a:lnTo>
                <a:lnTo>
                  <a:pt x="942044" y="444949"/>
                </a:lnTo>
                <a:lnTo>
                  <a:pt x="939976" y="422602"/>
                </a:lnTo>
                <a:lnTo>
                  <a:pt x="936745" y="400392"/>
                </a:lnTo>
                <a:lnTo>
                  <a:pt x="932360" y="378382"/>
                </a:lnTo>
                <a:lnTo>
                  <a:pt x="926833" y="356630"/>
                </a:lnTo>
                <a:lnTo>
                  <a:pt x="920178" y="335196"/>
                </a:lnTo>
                <a:lnTo>
                  <a:pt x="912414" y="314139"/>
                </a:lnTo>
                <a:lnTo>
                  <a:pt x="903562" y="293515"/>
                </a:lnTo>
                <a:lnTo>
                  <a:pt x="893645" y="273382"/>
                </a:lnTo>
                <a:lnTo>
                  <a:pt x="882693" y="253793"/>
                </a:lnTo>
                <a:lnTo>
                  <a:pt x="870732" y="234802"/>
                </a:lnTo>
                <a:lnTo>
                  <a:pt x="857798" y="216461"/>
                </a:lnTo>
                <a:lnTo>
                  <a:pt x="843924" y="198820"/>
                </a:lnTo>
                <a:close/>
              </a:path>
            </a:pathLst>
          </a:custGeom>
          <a:solidFill>
            <a:srgbClr val="767E94"/>
          </a:solidFill>
          <a:ln w="12700">
            <a:solidFill>
              <a:srgbClr val="FFFFFF"/>
            </a:solidFill>
          </a:ln>
        </p:spPr>
      </p:sp>
      <p:sp>
        <p:nvSpPr>
          <p:cNvPr name="Freeform 74" id="74"/>
          <p:cNvSpPr/>
          <p:nvPr/>
        </p:nvSpPr>
        <p:spPr>
          <a:xfrm>
            <a:off x="1982385" y="4722212"/>
            <a:ext cx="733910" cy="1258401"/>
          </a:xfrm>
          <a:custGeom>
            <a:avLst/>
            <a:gdLst/>
            <a:ahLst/>
            <a:cxnLst/>
            <a:rect r="r" b="b" t="t" l="l"/>
            <a:pathLst>
              <a:path h="1258401" w="733910">
                <a:moveTo>
                  <a:pt x="210083" y="1258402"/>
                </a:moveTo>
                <a:lnTo>
                  <a:pt x="184085" y="1230270"/>
                </a:lnTo>
                <a:lnTo>
                  <a:pt x="159575" y="1200833"/>
                </a:lnTo>
                <a:lnTo>
                  <a:pt x="136619" y="1170169"/>
                </a:lnTo>
                <a:lnTo>
                  <a:pt x="115276" y="1138360"/>
                </a:lnTo>
                <a:lnTo>
                  <a:pt x="95605" y="1105492"/>
                </a:lnTo>
                <a:lnTo>
                  <a:pt x="77658" y="1071652"/>
                </a:lnTo>
                <a:lnTo>
                  <a:pt x="61482" y="1036930"/>
                </a:lnTo>
                <a:lnTo>
                  <a:pt x="47122" y="1001418"/>
                </a:lnTo>
                <a:lnTo>
                  <a:pt x="34614" y="965213"/>
                </a:lnTo>
                <a:lnTo>
                  <a:pt x="23993" y="928410"/>
                </a:lnTo>
                <a:lnTo>
                  <a:pt x="15287" y="891107"/>
                </a:lnTo>
                <a:lnTo>
                  <a:pt x="8520" y="853405"/>
                </a:lnTo>
                <a:lnTo>
                  <a:pt x="3708" y="815403"/>
                </a:lnTo>
                <a:lnTo>
                  <a:pt x="866" y="777204"/>
                </a:lnTo>
                <a:lnTo>
                  <a:pt x="0" y="738908"/>
                </a:lnTo>
                <a:lnTo>
                  <a:pt x="1113" y="700619"/>
                </a:lnTo>
                <a:lnTo>
                  <a:pt x="4203" y="662439"/>
                </a:lnTo>
                <a:lnTo>
                  <a:pt x="9260" y="624469"/>
                </a:lnTo>
                <a:lnTo>
                  <a:pt x="16272" y="586811"/>
                </a:lnTo>
                <a:lnTo>
                  <a:pt x="25219" y="549566"/>
                </a:lnTo>
                <a:lnTo>
                  <a:pt x="36077" y="512832"/>
                </a:lnTo>
                <a:lnTo>
                  <a:pt x="48819" y="476708"/>
                </a:lnTo>
                <a:lnTo>
                  <a:pt x="63409" y="441291"/>
                </a:lnTo>
                <a:lnTo>
                  <a:pt x="79809" y="406674"/>
                </a:lnTo>
                <a:lnTo>
                  <a:pt x="97974" y="372950"/>
                </a:lnTo>
                <a:lnTo>
                  <a:pt x="117858" y="340210"/>
                </a:lnTo>
                <a:lnTo>
                  <a:pt x="139406" y="308540"/>
                </a:lnTo>
                <a:lnTo>
                  <a:pt x="162560" y="278026"/>
                </a:lnTo>
                <a:lnTo>
                  <a:pt x="187260" y="248748"/>
                </a:lnTo>
                <a:lnTo>
                  <a:pt x="213439" y="220784"/>
                </a:lnTo>
                <a:lnTo>
                  <a:pt x="241027" y="194211"/>
                </a:lnTo>
                <a:lnTo>
                  <a:pt x="269951" y="169097"/>
                </a:lnTo>
                <a:lnTo>
                  <a:pt x="300133" y="145511"/>
                </a:lnTo>
                <a:lnTo>
                  <a:pt x="331493" y="123515"/>
                </a:lnTo>
                <a:lnTo>
                  <a:pt x="363948" y="103168"/>
                </a:lnTo>
                <a:lnTo>
                  <a:pt x="397410" y="84525"/>
                </a:lnTo>
                <a:lnTo>
                  <a:pt x="431790" y="67634"/>
                </a:lnTo>
                <a:lnTo>
                  <a:pt x="466996" y="52542"/>
                </a:lnTo>
                <a:lnTo>
                  <a:pt x="502935" y="39288"/>
                </a:lnTo>
                <a:lnTo>
                  <a:pt x="539511" y="27908"/>
                </a:lnTo>
                <a:lnTo>
                  <a:pt x="576625" y="18433"/>
                </a:lnTo>
                <a:lnTo>
                  <a:pt x="614180" y="10887"/>
                </a:lnTo>
                <a:lnTo>
                  <a:pt x="652074" y="5290"/>
                </a:lnTo>
                <a:lnTo>
                  <a:pt x="690206" y="1658"/>
                </a:lnTo>
                <a:lnTo>
                  <a:pt x="728475" y="0"/>
                </a:lnTo>
                <a:lnTo>
                  <a:pt x="733910" y="311349"/>
                </a:lnTo>
                <a:lnTo>
                  <a:pt x="711714" y="312310"/>
                </a:lnTo>
                <a:lnTo>
                  <a:pt x="689597" y="314417"/>
                </a:lnTo>
                <a:lnTo>
                  <a:pt x="667619" y="317663"/>
                </a:lnTo>
                <a:lnTo>
                  <a:pt x="645837" y="322040"/>
                </a:lnTo>
                <a:lnTo>
                  <a:pt x="624311" y="327536"/>
                </a:lnTo>
                <a:lnTo>
                  <a:pt x="603097" y="334136"/>
                </a:lnTo>
                <a:lnTo>
                  <a:pt x="582252" y="341823"/>
                </a:lnTo>
                <a:lnTo>
                  <a:pt x="561832" y="350577"/>
                </a:lnTo>
                <a:lnTo>
                  <a:pt x="541892" y="360373"/>
                </a:lnTo>
                <a:lnTo>
                  <a:pt x="522484" y="371186"/>
                </a:lnTo>
                <a:lnTo>
                  <a:pt x="503660" y="382987"/>
                </a:lnTo>
                <a:lnTo>
                  <a:pt x="485472" y="395745"/>
                </a:lnTo>
                <a:lnTo>
                  <a:pt x="467966" y="409425"/>
                </a:lnTo>
                <a:lnTo>
                  <a:pt x="451190" y="423991"/>
                </a:lnTo>
                <a:lnTo>
                  <a:pt x="435189" y="439404"/>
                </a:lnTo>
                <a:lnTo>
                  <a:pt x="420005" y="455622"/>
                </a:lnTo>
                <a:lnTo>
                  <a:pt x="405679" y="472604"/>
                </a:lnTo>
                <a:lnTo>
                  <a:pt x="392250" y="490302"/>
                </a:lnTo>
                <a:lnTo>
                  <a:pt x="379752" y="508670"/>
                </a:lnTo>
                <a:lnTo>
                  <a:pt x="368220" y="527660"/>
                </a:lnTo>
                <a:lnTo>
                  <a:pt x="357683" y="547220"/>
                </a:lnTo>
                <a:lnTo>
                  <a:pt x="348171" y="567297"/>
                </a:lnTo>
                <a:lnTo>
                  <a:pt x="339709" y="587839"/>
                </a:lnTo>
                <a:lnTo>
                  <a:pt x="332319" y="608791"/>
                </a:lnTo>
                <a:lnTo>
                  <a:pt x="326021" y="630097"/>
                </a:lnTo>
                <a:lnTo>
                  <a:pt x="320832" y="651699"/>
                </a:lnTo>
                <a:lnTo>
                  <a:pt x="316765" y="673541"/>
                </a:lnTo>
                <a:lnTo>
                  <a:pt x="313832" y="695563"/>
                </a:lnTo>
                <a:lnTo>
                  <a:pt x="312040" y="717708"/>
                </a:lnTo>
                <a:lnTo>
                  <a:pt x="311394" y="739915"/>
                </a:lnTo>
                <a:lnTo>
                  <a:pt x="311896" y="762127"/>
                </a:lnTo>
                <a:lnTo>
                  <a:pt x="313545" y="784282"/>
                </a:lnTo>
                <a:lnTo>
                  <a:pt x="316336" y="806323"/>
                </a:lnTo>
                <a:lnTo>
                  <a:pt x="320261" y="828191"/>
                </a:lnTo>
                <a:lnTo>
                  <a:pt x="325310" y="849826"/>
                </a:lnTo>
                <a:lnTo>
                  <a:pt x="331470" y="871172"/>
                </a:lnTo>
                <a:lnTo>
                  <a:pt x="338725" y="892171"/>
                </a:lnTo>
                <a:lnTo>
                  <a:pt x="347054" y="912768"/>
                </a:lnTo>
                <a:lnTo>
                  <a:pt x="356436" y="932907"/>
                </a:lnTo>
                <a:lnTo>
                  <a:pt x="366845" y="952534"/>
                </a:lnTo>
                <a:lnTo>
                  <a:pt x="378255" y="971598"/>
                </a:lnTo>
                <a:lnTo>
                  <a:pt x="390633" y="990047"/>
                </a:lnTo>
                <a:lnTo>
                  <a:pt x="403948" y="1007832"/>
                </a:lnTo>
                <a:lnTo>
                  <a:pt x="418164" y="1024905"/>
                </a:lnTo>
                <a:lnTo>
                  <a:pt x="433242" y="1041222"/>
                </a:lnTo>
                <a:close/>
              </a:path>
            </a:pathLst>
          </a:custGeom>
          <a:solidFill>
            <a:srgbClr val="E09E48"/>
          </a:solidFill>
          <a:ln w="12700">
            <a:solidFill>
              <a:srgbClr val="FFFFFF"/>
            </a:solidFill>
          </a:ln>
        </p:spPr>
      </p:sp>
      <p:sp>
        <p:nvSpPr>
          <p:cNvPr name="AutoShape 75" id="75"/>
          <p:cNvSpPr/>
          <p:nvPr/>
        </p:nvSpPr>
        <p:spPr>
          <a:xfrm>
            <a:off x="2881239" y="4664243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6"/>
          <p:cNvSpPr txBox="true"/>
          <p:nvPr/>
        </p:nvSpPr>
        <p:spPr>
          <a:xfrm>
            <a:off x="2919339" y="4657916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13.7%</a:t>
            </a:r>
            <a:endParaRPr lang="en-US" sz="1100"/>
          </a:p>
        </p:txBody>
      </p:sp>
      <p:sp>
        <p:nvSpPr>
          <p:cNvPr name="AutoShape 77" id="77"/>
          <p:cNvSpPr/>
          <p:nvPr/>
        </p:nvSpPr>
        <p:spPr>
          <a:xfrm>
            <a:off x="3096182" y="5999491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8"/>
          <p:cNvSpPr txBox="true"/>
          <p:nvPr/>
        </p:nvSpPr>
        <p:spPr>
          <a:xfrm>
            <a:off x="3134282" y="5993165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48.7%</a:t>
            </a:r>
            <a:endParaRPr lang="en-US" sz="1100"/>
          </a:p>
        </p:txBody>
      </p:sp>
      <p:sp>
        <p:nvSpPr>
          <p:cNvPr name="AutoShape 79" id="79"/>
          <p:cNvSpPr/>
          <p:nvPr/>
        </p:nvSpPr>
        <p:spPr>
          <a:xfrm>
            <a:off x="1789219" y="5093854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0"/>
          <p:cNvSpPr txBox="true"/>
          <p:nvPr/>
        </p:nvSpPr>
        <p:spPr>
          <a:xfrm>
            <a:off x="1827319" y="5087527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37.6%</a:t>
            </a:r>
            <a:endParaRPr lang="en-US" sz="1100"/>
          </a:p>
        </p:txBody>
      </p:sp>
      <p:sp>
        <p:nvSpPr>
          <p:cNvPr name="GraphCompose Text Line" id="81"/>
          <p:cNvSpPr txBox="true"/>
          <p:nvPr/>
        </p:nvSpPr>
        <p:spPr>
          <a:xfrm>
            <a:off x="2324588" y="5356241"/>
            <a:ext cx="79969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2D2D2D"/>
                </a:solidFill>
                <a:latin typeface="Arial"/>
              </a:rPr>
              <a:t>1000 rows</a:t>
            </a:r>
            <a:endParaRPr lang="en-US" sz="1100"/>
          </a:p>
        </p:txBody>
      </p:sp>
      <p:sp>
        <p:nvSpPr>
          <p:cNvPr name="AutoShape 82" id="82"/>
          <p:cNvSpPr/>
          <p:nvPr/>
        </p:nvSpPr>
        <p:spPr>
          <a:xfrm>
            <a:off x="13518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3"/>
          <p:cNvSpPr txBox="true"/>
          <p:nvPr/>
        </p:nvSpPr>
        <p:spPr>
          <a:xfrm>
            <a:off x="15169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25015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85"/>
          <p:cNvSpPr txBox="true"/>
          <p:nvPr/>
        </p:nvSpPr>
        <p:spPr>
          <a:xfrm>
            <a:off x="26666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86" id="86"/>
          <p:cNvSpPr/>
          <p:nvPr/>
        </p:nvSpPr>
        <p:spPr>
          <a:xfrm>
            <a:off x="31874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87"/>
          <p:cNvSpPr txBox="true"/>
          <p:nvPr/>
        </p:nvSpPr>
        <p:spPr>
          <a:xfrm>
            <a:off x="33525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54476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9" id="89"/>
          <p:cNvCxnSpPr/>
          <p:nvPr/>
        </p:nvCxnSpPr>
        <p:spPr>
          <a:xfrm>
            <a:off x="54476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0"/>
          <p:cNvSpPr txBox="true"/>
          <p:nvPr/>
        </p:nvSpPr>
        <p:spPr>
          <a:xfrm>
            <a:off x="5625400" y="4333035"/>
            <a:ext cx="337879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Throughput at 1000 rows — docs/sec (higher is better)</a:t>
            </a:r>
            <a:endParaRPr lang="en-US" sz="1100"/>
          </a:p>
        </p:txBody>
      </p:sp>
      <p:cxnSp>
        <p:nvCxnSpPr>
          <p:cNvPr name="Connector 91" id="91"/>
          <p:cNvCxnSpPr/>
          <p:nvPr/>
        </p:nvCxnSpPr>
        <p:spPr>
          <a:xfrm flipV="false">
            <a:off x="5873914" y="6192237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2"/>
          <p:cNvSpPr txBox="true"/>
          <p:nvPr/>
        </p:nvSpPr>
        <p:spPr>
          <a:xfrm>
            <a:off x="5681890" y="6135821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</a:t>
            </a:r>
            <a:endParaRPr lang="en-US" sz="1100"/>
          </a:p>
        </p:txBody>
      </p:sp>
      <p:cxnSp>
        <p:nvCxnSpPr>
          <p:cNvPr name="Connector 93" id="93"/>
          <p:cNvCxnSpPr/>
          <p:nvPr/>
        </p:nvCxnSpPr>
        <p:spPr>
          <a:xfrm flipV="false">
            <a:off x="5873914" y="5834228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4"/>
          <p:cNvSpPr txBox="true"/>
          <p:nvPr/>
        </p:nvSpPr>
        <p:spPr>
          <a:xfrm>
            <a:off x="5681890" y="5777812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5.0</a:t>
            </a:r>
            <a:endParaRPr lang="en-US" sz="1100"/>
          </a:p>
        </p:txBody>
      </p:sp>
      <p:cxnSp>
        <p:nvCxnSpPr>
          <p:cNvPr name="Connector 95" id="95"/>
          <p:cNvCxnSpPr/>
          <p:nvPr/>
        </p:nvCxnSpPr>
        <p:spPr>
          <a:xfrm flipV="false">
            <a:off x="5873914" y="5476218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6"/>
          <p:cNvSpPr txBox="true"/>
          <p:nvPr/>
        </p:nvSpPr>
        <p:spPr>
          <a:xfrm>
            <a:off x="5625400" y="5419802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10.0</a:t>
            </a:r>
            <a:endParaRPr lang="en-US" sz="1100"/>
          </a:p>
        </p:txBody>
      </p:sp>
      <p:cxnSp>
        <p:nvCxnSpPr>
          <p:cNvPr name="Connector 97" id="97"/>
          <p:cNvCxnSpPr/>
          <p:nvPr/>
        </p:nvCxnSpPr>
        <p:spPr>
          <a:xfrm flipV="false">
            <a:off x="5873914" y="5118209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8"/>
          <p:cNvSpPr txBox="true"/>
          <p:nvPr/>
        </p:nvSpPr>
        <p:spPr>
          <a:xfrm>
            <a:off x="5625400" y="5061793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15.0</a:t>
            </a:r>
            <a:endParaRPr lang="en-US" sz="1100"/>
          </a:p>
        </p:txBody>
      </p:sp>
      <p:cxnSp>
        <p:nvCxnSpPr>
          <p:cNvPr name="Connector 99" id="99"/>
          <p:cNvCxnSpPr/>
          <p:nvPr/>
        </p:nvCxnSpPr>
        <p:spPr>
          <a:xfrm flipV="false">
            <a:off x="5873914" y="4760200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0"/>
          <p:cNvSpPr txBox="true"/>
          <p:nvPr/>
        </p:nvSpPr>
        <p:spPr>
          <a:xfrm>
            <a:off x="5625400" y="4703784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6569649" y="5074854"/>
            <a:ext cx="915815" cy="1117383"/>
          </a:xfrm>
          <a:prstGeom prst="roundRect">
            <a:avLst>
              <a:gd name="adj" fmla="val 277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02"/>
          <p:cNvSpPr txBox="true"/>
          <p:nvPr/>
        </p:nvSpPr>
        <p:spPr>
          <a:xfrm>
            <a:off x="6928699" y="4936447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15.6</a:t>
            </a:r>
            <a:endParaRPr lang="en-US" sz="1100"/>
          </a:p>
        </p:txBody>
      </p:sp>
      <p:sp>
        <p:nvSpPr>
          <p:cNvPr name="AutoShape 103" id="103"/>
          <p:cNvSpPr/>
          <p:nvPr/>
        </p:nvSpPr>
        <p:spPr>
          <a:xfrm>
            <a:off x="7634550" y="5946208"/>
            <a:ext cx="915815" cy="246029"/>
          </a:xfrm>
          <a:prstGeom prst="roundRect">
            <a:avLst>
              <a:gd name="adj" fmla="val 10324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04"/>
          <p:cNvSpPr txBox="true"/>
          <p:nvPr/>
        </p:nvSpPr>
        <p:spPr>
          <a:xfrm>
            <a:off x="8021845" y="5807801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3.4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8699450" y="5086758"/>
            <a:ext cx="915815" cy="1105479"/>
          </a:xfrm>
          <a:prstGeom prst="roundRect">
            <a:avLst>
              <a:gd name="adj" fmla="val 2773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06"/>
          <p:cNvSpPr txBox="true"/>
          <p:nvPr/>
        </p:nvSpPr>
        <p:spPr>
          <a:xfrm>
            <a:off x="9058501" y="4948351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15.4</a:t>
            </a:r>
            <a:endParaRPr lang="en-US" sz="1100"/>
          </a:p>
        </p:txBody>
      </p:sp>
      <p:sp>
        <p:nvSpPr>
          <p:cNvPr name="GraphCompose Text Line" id="107"/>
          <p:cNvSpPr txBox="true"/>
          <p:nvPr/>
        </p:nvSpPr>
        <p:spPr>
          <a:xfrm>
            <a:off x="7863755" y="6224010"/>
            <a:ext cx="4586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docs / sec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65962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67613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10" id="110"/>
          <p:cNvSpPr/>
          <p:nvPr/>
        </p:nvSpPr>
        <p:spPr>
          <a:xfrm>
            <a:off x="77459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11"/>
          <p:cNvSpPr txBox="true"/>
          <p:nvPr/>
        </p:nvSpPr>
        <p:spPr>
          <a:xfrm>
            <a:off x="79110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2" id="112"/>
          <p:cNvSpPr/>
          <p:nvPr/>
        </p:nvSpPr>
        <p:spPr>
          <a:xfrm>
            <a:off x="84318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85969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Footer" id="114"/>
          <p:cNvSpPr txBox="true"/>
          <p:nvPr/>
        </p:nvSpPr>
        <p:spPr>
          <a:xfrm>
            <a:off x="203200" y="7189226"/>
            <a:ext cx="162116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v2.1.1 “twinned”</a:t>
            </a:r>
            <a:endParaRPr lang="en-US" sz="1100"/>
          </a:p>
        </p:txBody>
      </p:sp>
      <p:sp>
        <p:nvSpPr>
          <p:cNvPr name="GraphCompose Footer" id="115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4 of 4</a:t>
            </a:r>
            <a:endParaRPr lang="en-US" sz="1100"/>
          </a:p>
        </p:txBody>
      </p:sp>
      <p:cxnSp>
        <p:nvCxnSpPr>
          <p:cNvPr name="GraphCompose Footer Separator" id="116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pdf, java, dsl, charts, svg, showcase, 2.1.1</cp:keywords>
  <dcterms:modified xsi:type="dcterms:W3CDTF">2011-08-01T06:04:30Z</dcterms:modified>
  <cp:revision>1</cp:revision>
  <dc:subject>What the GraphCompose document engine is — rendered by the engine itself</dc:subject>
  <dc:title>GraphCompose 2.1.1 — twinned</dc:title>
</cp:coreProperties>
</file>