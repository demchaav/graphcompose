
<file path=[Content_Types].xml><?xml version="1.0" encoding="utf-8"?>
<Types xmlns="http://schemas.openxmlformats.org/package/2006/content-types">
  <Default ContentType="image/jpeg" Extension="jpeg"/>
  <Default ContentType="image/png" Extension="png"/>
  <Default ContentType="application/vnd.openxmlformats-package.relationships+xml" Extension="rels"/>
  <Default ContentType="application/xml" Extension="xml"/>
  <Override ContentType="application/vnd.openxmlformats-officedocument.extended-properties+xml" PartName="/docProps/app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4.xml"/>
  <Override ContentType="application/vnd.openxmlformats-officedocument.presentationml.tableStyles+xml" PartName="/ppt/tableStyles.xml"/>
  <Override ContentType="application/vnd.openxmlformats-officedocument.theme+xml" PartName="/ppt/theme/theme1.xml"/>
  <Override ContentType="application/vnd.openxmlformats-officedocument.presentationml.viewProps+xml" PartName="/ppt/viewProps.xml"/>
</Types>
</file>

<file path=_rels/.rels><?xml version="1.0" encoding="UTF-8" standalone="yes"?><Relationships xmlns="http://schemas.openxmlformats.org/package/2006/relationships"><Relationship Id="rId1" Target="ppt/presentation.xml" Type="http://schemas.openxmlformats.org/officeDocument/2006/relationships/officeDocument"/><Relationship Id="rId2" Target="docProps/thumbnail.jpeg" Type="http://schemas.openxmlformats.org/package/2006/relationships/metadata/thumbnail"/><Relationship Id="rId3" Target="docProps/core.xml" Type="http://schemas.openxmlformats.org/package/2006/relationships/metadata/core-properties"/><Relationship Id="rId4" Target="docProps/app.xml" Type="http://schemas.openxmlformats.org/officeDocument/2006/relationships/extended-properties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6"/>
    <p:sldId id="257" r:id="rId7"/>
    <p:sldId id="258" r:id="rId8"/>
    <p:sldId id="259" r:id="rId9"/>
  </p:sldIdLst>
  <p:sldSz cx="10692000" cy="7560001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1" Target="slideMasters/slideMaster1.xml" Type="http://schemas.openxmlformats.org/officeDocument/2006/relationships/slideMaster"/><Relationship Id="rId2" Target="presProps.xml" Type="http://schemas.openxmlformats.org/officeDocument/2006/relationships/presProps"/><Relationship Id="rId3" Target="viewProps.xml" Type="http://schemas.openxmlformats.org/officeDocument/2006/relationships/viewProps"/><Relationship Id="rId4" Target="theme/theme1.xml" Type="http://schemas.openxmlformats.org/officeDocument/2006/relationships/theme"/><Relationship Id="rId5" Target="tableStyles.xml" Type="http://schemas.openxmlformats.org/officeDocument/2006/relationships/tableStyles"/><Relationship Id="rId6" Target="slides/slide1.xml" Type="http://schemas.openxmlformats.org/officeDocument/2006/relationships/slide"/><Relationship Id="rId7" Target="slides/slide2.xml" Type="http://schemas.openxmlformats.org/officeDocument/2006/relationships/slide"/><Relationship Id="rId8" Target="slides/slide3.xml" Type="http://schemas.openxmlformats.org/officeDocument/2006/relationships/slide"/><Relationship Id="rId9" Target="slides/slide4.xml" Type="http://schemas.openxmlformats.org/officeDocument/2006/relationships/slide"/></Relationships>
</file>

<file path=ppt/slideLayouts/_rels/slideLayout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2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3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4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5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6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7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8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9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0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arget="../slideLayouts/slideLayout1.xml" Type="http://schemas.openxmlformats.org/officeDocument/2006/relationships/slideLayout"/><Relationship Id="rId10" Target="../slideLayouts/slideLayout10.xml" Type="http://schemas.openxmlformats.org/officeDocument/2006/relationships/slideLayout"/><Relationship Id="rId11" Target="../slideLayouts/slideLayout11.xml" Type="http://schemas.openxmlformats.org/officeDocument/2006/relationships/slideLayout"/><Relationship Id="rId12" Target="../theme/theme1.xml" Type="http://schemas.openxmlformats.org/officeDocument/2006/relationships/theme"/><Relationship Id="rId2" Target="../slideLayouts/slideLayout2.xml" Type="http://schemas.openxmlformats.org/officeDocument/2006/relationships/slideLayout"/><Relationship Id="rId3" Target="../slideLayouts/slideLayout3.xml" Type="http://schemas.openxmlformats.org/officeDocument/2006/relationships/slideLayout"/><Relationship Id="rId4" Target="../slideLayouts/slideLayout4.xml" Type="http://schemas.openxmlformats.org/officeDocument/2006/relationships/slideLayout"/><Relationship Id="rId5" Target="../slideLayouts/slideLayout5.xml" Type="http://schemas.openxmlformats.org/officeDocument/2006/relationships/slideLayout"/><Relationship Id="rId6" Target="../slideLayouts/slideLayout6.xml" Type="http://schemas.openxmlformats.org/officeDocument/2006/relationships/slideLayout"/><Relationship Id="rId7" Target="../slideLayouts/slideLayout7.xml" Type="http://schemas.openxmlformats.org/officeDocument/2006/relationships/slideLayout"/><Relationship Id="rId8" Target="../slideLayouts/slideLayout8.xml" Type="http://schemas.openxmlformats.org/officeDocument/2006/relationships/slideLayout"/><Relationship Id="rId9" Target="../slideLayouts/slideLayout9.xml" Type="http://schemas.openxmlformats.org/officeDocument/2006/relationships/slideLayout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Relationship Id="rId3" Target="../media/image2.png" Type="http://schemas.openxmlformats.org/officeDocument/2006/relationships/image"/><Relationship Id="rId4" Target="../media/image3.png" Type="http://schemas.openxmlformats.org/officeDocument/2006/relationships/image"/><Relationship Id="rId5" Target="../media/image4.png" Type="http://schemas.openxmlformats.org/officeDocument/2006/relationships/image"/><Relationship Id="rId6" Target="../media/image5.png" Type="http://schemas.openxmlformats.org/officeDocument/2006/relationships/image"/><Relationship Id="rId7" Target="../media/image6.png" Type="http://schemas.openxmlformats.org/officeDocument/2006/relationships/image"/><Relationship Id="rId8" Target="../media/image7.png" Type="http://schemas.openxmlformats.org/officeDocument/2006/relationships/image"/><Relationship Id="rId9" Target="../media/image8.png" Type="http://schemas.openxmlformats.org/officeDocument/2006/relationships/image"/></Relationships>
</file>

<file path=ppt/slides/_rels/slide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9.png" Type="http://schemas.openxmlformats.org/officeDocument/2006/relationships/image"/><Relationship Id="rId3" Target="../media/image10.png" Type="http://schemas.openxmlformats.org/officeDocument/2006/relationships/image"/></Relationships>
</file>

<file path=ppt/slides/_rels/slide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AutoShape 2" id="2"/>
          <p:cNvSpPr/>
          <p:nvPr/>
        </p:nvSpPr>
        <p:spPr>
          <a:xfrm>
            <a:off x="203200" y="203200"/>
            <a:ext cx="10285600" cy="6357189"/>
          </a:xfrm>
          <a:prstGeom prst="roundRect">
            <a:avLst>
              <a:gd name="adj" fmla="val 2397"/>
            </a:avLst>
          </a:prstGeom>
          <a:solidFill>
            <a:srgbClr val="121221"/>
          </a:solidFill>
          <a:ln>
            <a:noFill/>
          </a:ln>
        </p:spPr>
      </p:sp>
      <p:sp>
        <p:nvSpPr>
          <p:cNvPr name="AutoShape 3" id="3"/>
          <p:cNvSpPr/>
          <p:nvPr/>
        </p:nvSpPr>
        <p:spPr>
          <a:xfrm>
            <a:off x="431800" y="431800"/>
            <a:ext cx="8509000" cy="1317323"/>
          </a:xfrm>
          <a:prstGeom prst="rect">
            <a:avLst/>
          </a:prstGeom>
          <a:solidFill>
            <a:srgbClr val="121221"/>
          </a:solidFill>
          <a:ln>
            <a:noFill/>
          </a:ln>
        </p:spPr>
      </p:sp>
      <p:pic>
        <p:nvPicPr>
          <p:cNvPr name="GraphCompose Clipped Composite" id="4"/>
          <p:cNvPicPr>
            <a:picLocks noChangeAspect="true"/>
          </p:cNvPicPr>
          <p:nvPr/>
        </p:nvPicPr>
        <p:blipFill>
          <a:blip r:embed="rId2"/>
          <a:stretch>
            <a:fillRect/>
          </a:stretch>
        </p:blipFill>
        <p:spPr>
          <a:xfrm>
            <a:off x="431800" y="431800"/>
            <a:ext cx="8509000" cy="1317323"/>
          </a:xfrm>
          <a:prstGeom prst="rect">
            <a:avLst/>
          </a:prstGeom>
        </p:spPr>
      </p:pic>
      <p:sp>
        <p:nvSpPr>
          <p:cNvPr name="GraphCompose Text Line" id="5"/>
          <p:cNvSpPr txBox="true"/>
          <p:nvPr/>
        </p:nvSpPr>
        <p:spPr>
          <a:xfrm>
            <a:off x="431800" y="1968637"/>
            <a:ext cx="8199076" cy="170339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450" b="false" i="false" u="none" strike="noStrike" kern="0">
                <a:solidFill>
                  <a:srgbClr val="D0D3E2"/>
                </a:solidFill>
                <a:latin typeface="Arial"/>
              </a:rPr>
              <a:t>Open-source Java library for generating structured business PDF documents with a declarative DSL.</a:t>
            </a:r>
            <a:endParaRPr lang="en-US" sz="1100"/>
          </a:p>
        </p:txBody>
      </p:sp>
      <p:sp>
        <p:nvSpPr>
          <p:cNvPr name="AutoShape 6" id="6"/>
          <p:cNvSpPr/>
          <p:nvPr/>
        </p:nvSpPr>
        <p:spPr>
          <a:xfrm>
            <a:off x="431800" y="2478262"/>
            <a:ext cx="9512300" cy="15240"/>
          </a:xfrm>
          <a:prstGeom prst="rect">
            <a:avLst/>
          </a:prstGeom>
          <a:solidFill>
            <a:srgbClr val="3A385C"/>
          </a:solidFill>
          <a:ln>
            <a:noFill/>
          </a:ln>
        </p:spPr>
      </p:sp>
      <p:sp>
        <p:nvSpPr>
          <p:cNvPr name="GraphCompose Inline Text Span" id="7"/>
          <p:cNvSpPr txBox="true"/>
          <p:nvPr/>
        </p:nvSpPr>
        <p:spPr>
          <a:xfrm>
            <a:off x="431800" y="2658648"/>
            <a:ext cx="114249" cy="18796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1600" b="true" i="false" u="none" strike="noStrike" kern="0">
                <a:solidFill>
                  <a:srgbClr val="7C5CFC"/>
                </a:solidFill>
                <a:latin typeface="Arial"/>
              </a:rPr>
              <a:t>1</a:t>
            </a:r>
            <a:endParaRPr lang="en-US" sz="1100"/>
          </a:p>
        </p:txBody>
      </p:sp>
      <p:sp>
        <p:nvSpPr>
          <p:cNvPr name="GraphCompose Inline Text Span" id="8"/>
          <p:cNvSpPr txBox="true"/>
          <p:nvPr/>
        </p:nvSpPr>
        <p:spPr>
          <a:xfrm>
            <a:off x="544779" y="2693139"/>
            <a:ext cx="138963" cy="152718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1300" b="true" i="false" u="none" strike="noStrike" kern="0">
                <a:solidFill>
                  <a:srgbClr val="E6E8F2"/>
                </a:solidFill>
                <a:latin typeface="Arial"/>
              </a:rPr>
              <a:t>   </a:t>
            </a:r>
            <a:endParaRPr lang="en-US" sz="1100"/>
          </a:p>
        </p:txBody>
      </p:sp>
      <p:sp>
        <p:nvSpPr>
          <p:cNvPr name="GraphCompose Inline Text Span" id="9"/>
          <p:cNvSpPr txBox="true"/>
          <p:nvPr/>
        </p:nvSpPr>
        <p:spPr>
          <a:xfrm>
            <a:off x="682473" y="2693139"/>
            <a:ext cx="349961" cy="152718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1300" b="true" i="false" u="none" strike="noStrike" kern="0">
                <a:solidFill>
                  <a:srgbClr val="E6E8F2"/>
                </a:solidFill>
                <a:latin typeface="Arial"/>
              </a:rPr>
              <a:t>Java</a:t>
            </a:r>
            <a:endParaRPr lang="en-US" sz="1100"/>
          </a:p>
        </p:txBody>
      </p:sp>
      <p:sp>
        <p:nvSpPr>
          <p:cNvPr name="GraphCompose Inline Text Span" id="10"/>
          <p:cNvSpPr txBox="true"/>
          <p:nvPr/>
        </p:nvSpPr>
        <p:spPr>
          <a:xfrm>
            <a:off x="1031164" y="2693139"/>
            <a:ext cx="47168" cy="152718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1300" b="true" i="false" u="none" strike="noStrike" kern="0">
                <a:solidFill>
                  <a:srgbClr val="E6E8F2"/>
                </a:solidFill>
                <a:latin typeface="Arial"/>
              </a:rPr>
              <a:t> </a:t>
            </a:r>
            <a:endParaRPr lang="en-US" sz="1100"/>
          </a:p>
        </p:txBody>
      </p:sp>
      <p:sp>
        <p:nvSpPr>
          <p:cNvPr name="GraphCompose Inline Text Span" id="11"/>
          <p:cNvSpPr txBox="true"/>
          <p:nvPr/>
        </p:nvSpPr>
        <p:spPr>
          <a:xfrm>
            <a:off x="1077062" y="2693139"/>
            <a:ext cx="47168" cy="152718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1300" b="true" i="false" u="none" strike="noStrike" kern="0">
                <a:solidFill>
                  <a:srgbClr val="E6E8F2"/>
                </a:solidFill>
                <a:latin typeface="Arial"/>
              </a:rPr>
              <a:t>·</a:t>
            </a:r>
            <a:endParaRPr lang="en-US" sz="1100"/>
          </a:p>
        </p:txBody>
      </p:sp>
      <p:sp>
        <p:nvSpPr>
          <p:cNvPr name="GraphCompose Inline Text Span" id="12"/>
          <p:cNvSpPr txBox="true"/>
          <p:nvPr/>
        </p:nvSpPr>
        <p:spPr>
          <a:xfrm>
            <a:off x="1122959" y="2693139"/>
            <a:ext cx="47168" cy="152718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1300" b="true" i="false" u="none" strike="noStrike" kern="0">
                <a:solidFill>
                  <a:srgbClr val="E6E8F2"/>
                </a:solidFill>
                <a:latin typeface="Arial"/>
              </a:rPr>
              <a:t> </a:t>
            </a:r>
            <a:endParaRPr lang="en-US" sz="1100"/>
          </a:p>
        </p:txBody>
      </p:sp>
      <p:sp>
        <p:nvSpPr>
          <p:cNvPr name="GraphCompose Inline Text Span" id="13"/>
          <p:cNvSpPr txBox="true"/>
          <p:nvPr/>
        </p:nvSpPr>
        <p:spPr>
          <a:xfrm>
            <a:off x="1168857" y="2693139"/>
            <a:ext cx="826935" cy="152718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1300" b="true" i="false" u="none" strike="noStrike" kern="0">
                <a:solidFill>
                  <a:srgbClr val="E6E8F2"/>
                </a:solidFill>
                <a:latin typeface="Arial"/>
              </a:rPr>
              <a:t>Declarative</a:t>
            </a:r>
            <a:endParaRPr lang="en-US" sz="1100"/>
          </a:p>
        </p:txBody>
      </p:sp>
      <p:sp>
        <p:nvSpPr>
          <p:cNvPr name="GraphCompose Inline Text Span" id="14"/>
          <p:cNvSpPr txBox="true"/>
          <p:nvPr/>
        </p:nvSpPr>
        <p:spPr>
          <a:xfrm>
            <a:off x="1994522" y="2693139"/>
            <a:ext cx="47168" cy="152718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1300" b="true" i="false" u="none" strike="noStrike" kern="0">
                <a:solidFill>
                  <a:srgbClr val="E6E8F2"/>
                </a:solidFill>
                <a:latin typeface="Arial"/>
              </a:rPr>
              <a:t> </a:t>
            </a:r>
            <a:endParaRPr lang="en-US" sz="1100"/>
          </a:p>
        </p:txBody>
      </p:sp>
      <p:sp>
        <p:nvSpPr>
          <p:cNvPr name="GraphCompose Inline Text Span" id="15"/>
          <p:cNvSpPr txBox="true"/>
          <p:nvPr/>
        </p:nvSpPr>
        <p:spPr>
          <a:xfrm>
            <a:off x="2040420" y="2693139"/>
            <a:ext cx="322390" cy="152718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1300" b="true" i="false" u="none" strike="noStrike" kern="0">
                <a:solidFill>
                  <a:srgbClr val="E6E8F2"/>
                </a:solidFill>
                <a:latin typeface="Arial"/>
              </a:rPr>
              <a:t>DSL</a:t>
            </a:r>
            <a:endParaRPr lang="en-US" sz="1100"/>
          </a:p>
        </p:txBody>
      </p:sp>
      <p:sp>
        <p:nvSpPr>
          <p:cNvPr name="AutoShape 16" id="16"/>
          <p:cNvSpPr/>
          <p:nvPr/>
        </p:nvSpPr>
        <p:spPr>
          <a:xfrm>
            <a:off x="431800" y="3011662"/>
            <a:ext cx="1884680" cy="1466190"/>
          </a:xfrm>
          <a:prstGeom prst="roundRect">
            <a:avLst>
              <a:gd name="adj" fmla="val 6930"/>
            </a:avLst>
          </a:prstGeom>
          <a:solidFill>
            <a:srgbClr val="0C0C16"/>
          </a:solidFill>
          <a:ln>
            <a:noFill/>
          </a:ln>
        </p:spPr>
      </p:sp>
      <p:sp>
        <p:nvSpPr>
          <p:cNvPr name="GraphCompose Text Line" id="17"/>
          <p:cNvSpPr txBox="true"/>
          <p:nvPr/>
        </p:nvSpPr>
        <p:spPr>
          <a:xfrm>
            <a:off x="596900" y="3159186"/>
            <a:ext cx="1555750" cy="67879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680" b="false" i="false" u="none" strike="noStrike" kern="0">
                <a:solidFill>
                  <a:srgbClr val="A78BFA"/>
                </a:solidFill>
                <a:latin typeface="Courier New"/>
              </a:rPr>
              <a:t>var</a:t>
            </a:r>
            <a:r>
              <a:rPr lang="en-US" sz="680" b="false" i="false" u="none" strike="noStrike" kern="0">
                <a:solidFill>
                  <a:srgbClr val="B2B6CA"/>
                </a:solidFill>
                <a:latin typeface="Courier New"/>
              </a:rPr>
              <a:t> </a:t>
            </a:r>
            <a:r>
              <a:rPr lang="en-US" sz="680" b="false" i="false" u="none" strike="noStrike" kern="0">
                <a:solidFill>
                  <a:srgbClr val="B2B6CA"/>
                </a:solidFill>
                <a:latin typeface="Courier New"/>
              </a:rPr>
              <a:t>out</a:t>
            </a:r>
            <a:r>
              <a:rPr lang="en-US" sz="680" b="false" i="false" u="none" strike="noStrike" kern="0">
                <a:solidFill>
                  <a:srgbClr val="B2B6CA"/>
                </a:solidFill>
                <a:latin typeface="Courier New"/>
              </a:rPr>
              <a:t> </a:t>
            </a:r>
            <a:r>
              <a:rPr lang="en-US" sz="680" b="false" i="false" u="none" strike="noStrike" kern="0">
                <a:solidFill>
                  <a:srgbClr val="B2B6CA"/>
                </a:solidFill>
                <a:latin typeface="Courier New"/>
              </a:rPr>
              <a:t>=</a:t>
            </a:r>
            <a:r>
              <a:rPr lang="en-US" sz="680" b="false" i="false" u="none" strike="noStrike" kern="0">
                <a:solidFill>
                  <a:srgbClr val="B2B6CA"/>
                </a:solidFill>
                <a:latin typeface="Courier New"/>
              </a:rPr>
              <a:t> </a:t>
            </a:r>
            <a:r>
              <a:rPr lang="en-US" sz="680" b="false" i="false" u="none" strike="noStrike" kern="0">
                <a:solidFill>
                  <a:srgbClr val="96BEFF"/>
                </a:solidFill>
                <a:latin typeface="Courier New"/>
              </a:rPr>
              <a:t>Path.of</a:t>
            </a:r>
            <a:r>
              <a:rPr lang="en-US" sz="680" b="false" i="false" u="none" strike="noStrike" kern="0">
                <a:solidFill>
                  <a:srgbClr val="B2B6CA"/>
                </a:solidFill>
                <a:latin typeface="Courier New"/>
              </a:rPr>
              <a:t>(</a:t>
            </a:r>
            <a:r>
              <a:rPr lang="en-US" sz="680" b="false" i="false" u="none" strike="noStrike" kern="0">
                <a:solidFill>
                  <a:srgbClr val="78CCAA"/>
                </a:solidFill>
                <a:latin typeface="Courier New"/>
              </a:rPr>
              <a:t>"deck.pdf"</a:t>
            </a:r>
            <a:r>
              <a:rPr lang="en-US" sz="680" b="false" i="false" u="none" strike="noStrike" kern="0">
                <a:solidFill>
                  <a:srgbClr val="B2B6CA"/>
                </a:solidFill>
                <a:latin typeface="Courier New"/>
              </a:rPr>
              <a:t>);</a:t>
            </a:r>
            <a:endParaRPr lang="en-US" sz="1100"/>
          </a:p>
        </p:txBody>
      </p:sp>
      <p:sp>
        <p:nvSpPr>
          <p:cNvPr name="GraphCompose Text Line" id="18"/>
          <p:cNvSpPr txBox="true"/>
          <p:nvPr/>
        </p:nvSpPr>
        <p:spPr>
          <a:xfrm>
            <a:off x="596900" y="3277865"/>
            <a:ext cx="1400302" cy="67879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680" b="false" i="false" u="none" strike="noStrike" kern="0">
                <a:solidFill>
                  <a:srgbClr val="A78BFA"/>
                </a:solidFill>
                <a:latin typeface="Courier New"/>
              </a:rPr>
              <a:t>try</a:t>
            </a:r>
            <a:r>
              <a:rPr lang="en-US" sz="680" b="false" i="false" u="none" strike="noStrike" kern="0">
                <a:solidFill>
                  <a:srgbClr val="B2B6CA"/>
                </a:solidFill>
                <a:latin typeface="Courier New"/>
              </a:rPr>
              <a:t> </a:t>
            </a:r>
            <a:r>
              <a:rPr lang="en-US" sz="680" b="false" i="false" u="none" strike="noStrike" kern="0">
                <a:solidFill>
                  <a:srgbClr val="B2B6CA"/>
                </a:solidFill>
                <a:latin typeface="Courier New"/>
              </a:rPr>
              <a:t>(var</a:t>
            </a:r>
            <a:r>
              <a:rPr lang="en-US" sz="680" b="false" i="false" u="none" strike="noStrike" kern="0">
                <a:solidFill>
                  <a:srgbClr val="B2B6CA"/>
                </a:solidFill>
                <a:latin typeface="Courier New"/>
              </a:rPr>
              <a:t> </a:t>
            </a:r>
            <a:r>
              <a:rPr lang="en-US" sz="680" b="false" i="false" u="none" strike="noStrike" kern="0">
                <a:solidFill>
                  <a:srgbClr val="B2B6CA"/>
                </a:solidFill>
                <a:latin typeface="Courier New"/>
              </a:rPr>
              <a:t>doc</a:t>
            </a:r>
            <a:r>
              <a:rPr lang="en-US" sz="680" b="false" i="false" u="none" strike="noStrike" kern="0">
                <a:solidFill>
                  <a:srgbClr val="B2B6CA"/>
                </a:solidFill>
                <a:latin typeface="Courier New"/>
              </a:rPr>
              <a:t> </a:t>
            </a:r>
            <a:r>
              <a:rPr lang="en-US" sz="680" b="false" i="false" u="none" strike="noStrike" kern="0">
                <a:solidFill>
                  <a:srgbClr val="B2B6CA"/>
                </a:solidFill>
                <a:latin typeface="Courier New"/>
              </a:rPr>
              <a:t>=</a:t>
            </a:r>
            <a:r>
              <a:rPr lang="en-US" sz="680" b="false" i="false" u="none" strike="noStrike" kern="0">
                <a:solidFill>
                  <a:srgbClr val="B2B6CA"/>
                </a:solidFill>
                <a:latin typeface="Courier New"/>
              </a:rPr>
              <a:t> </a:t>
            </a:r>
            <a:r>
              <a:rPr lang="en-US" sz="680" b="false" i="false" u="none" strike="noStrike" kern="0">
                <a:solidFill>
                  <a:srgbClr val="96BEFF"/>
                </a:solidFill>
                <a:latin typeface="Courier New"/>
              </a:rPr>
              <a:t>GraphCompose</a:t>
            </a:r>
            <a:endParaRPr lang="en-US" sz="1100"/>
          </a:p>
        </p:txBody>
      </p:sp>
      <p:sp>
        <p:nvSpPr>
          <p:cNvPr name="GraphCompose Text Line" id="19"/>
          <p:cNvSpPr txBox="true"/>
          <p:nvPr/>
        </p:nvSpPr>
        <p:spPr>
          <a:xfrm>
            <a:off x="596900" y="3396544"/>
            <a:ext cx="726694" cy="67879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680" b="false" i="false" u="none" strike="noStrike" kern="0">
                <a:solidFill>
                  <a:srgbClr val="96BEFF"/>
                </a:solidFill>
                <a:latin typeface="Courier New"/>
              </a:rPr>
              <a:t>.document</a:t>
            </a:r>
            <a:r>
              <a:rPr lang="en-US" sz="680" b="false" i="false" u="none" strike="noStrike" kern="0">
                <a:solidFill>
                  <a:srgbClr val="B2B6CA"/>
                </a:solidFill>
                <a:latin typeface="Courier New"/>
              </a:rPr>
              <a:t>(out)</a:t>
            </a:r>
            <a:endParaRPr lang="en-US" sz="1100"/>
          </a:p>
        </p:txBody>
      </p:sp>
      <p:sp>
        <p:nvSpPr>
          <p:cNvPr name="GraphCompose Text Line" id="20"/>
          <p:cNvSpPr txBox="true"/>
          <p:nvPr/>
        </p:nvSpPr>
        <p:spPr>
          <a:xfrm>
            <a:off x="596900" y="3515223"/>
            <a:ext cx="1555750" cy="67879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680" b="false" i="false" u="none" strike="noStrike" kern="0">
                <a:solidFill>
                  <a:srgbClr val="96BEFF"/>
                </a:solidFill>
                <a:latin typeface="Courier New"/>
              </a:rPr>
              <a:t>.pageSize</a:t>
            </a:r>
            <a:r>
              <a:rPr lang="en-US" sz="680" b="false" i="false" u="none" strike="noStrike" kern="0">
                <a:solidFill>
                  <a:srgbClr val="B2B6CA"/>
                </a:solidFill>
                <a:latin typeface="Courier New"/>
              </a:rPr>
              <a:t>(</a:t>
            </a:r>
            <a:r>
              <a:rPr lang="en-US" sz="680" b="false" i="false" u="none" strike="noStrike" kern="0">
                <a:solidFill>
                  <a:srgbClr val="96BEFF"/>
                </a:solidFill>
                <a:latin typeface="Courier New"/>
              </a:rPr>
              <a:t>DocumentPageSize</a:t>
            </a:r>
            <a:r>
              <a:rPr lang="en-US" sz="680" b="false" i="false" u="none" strike="noStrike" kern="0">
                <a:solidFill>
                  <a:srgbClr val="B2B6CA"/>
                </a:solidFill>
                <a:latin typeface="Courier New"/>
              </a:rPr>
              <a:t>.A4)</a:t>
            </a:r>
            <a:endParaRPr lang="en-US" sz="1100"/>
          </a:p>
        </p:txBody>
      </p:sp>
      <p:sp>
        <p:nvSpPr>
          <p:cNvPr name="GraphCompose Text Line" id="21"/>
          <p:cNvSpPr txBox="true"/>
          <p:nvPr/>
        </p:nvSpPr>
        <p:spPr>
          <a:xfrm>
            <a:off x="596900" y="3633902"/>
            <a:ext cx="623062" cy="67879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680" b="false" i="false" u="none" strike="noStrike" kern="0">
                <a:solidFill>
                  <a:srgbClr val="96BEFF"/>
                </a:solidFill>
                <a:latin typeface="Courier New"/>
              </a:rPr>
              <a:t>.create</a:t>
            </a:r>
            <a:r>
              <a:rPr lang="en-US" sz="680" b="false" i="false" u="none" strike="noStrike" kern="0">
                <a:solidFill>
                  <a:srgbClr val="B2B6CA"/>
                </a:solidFill>
                <a:latin typeface="Courier New"/>
              </a:rPr>
              <a:t>())</a:t>
            </a:r>
            <a:r>
              <a:rPr lang="en-US" sz="680" b="false" i="false" u="none" strike="noStrike" kern="0">
                <a:solidFill>
                  <a:srgbClr val="B2B6CA"/>
                </a:solidFill>
                <a:latin typeface="Courier New"/>
              </a:rPr>
              <a:t> </a:t>
            </a:r>
            <a:r>
              <a:rPr lang="en-US" sz="680" b="false" i="false" u="none" strike="noStrike" kern="0">
                <a:solidFill>
                  <a:srgbClr val="B2B6CA"/>
                </a:solidFill>
                <a:latin typeface="Courier New"/>
              </a:rPr>
              <a:t>{</a:t>
            </a:r>
            <a:endParaRPr lang="en-US" sz="1100"/>
          </a:p>
        </p:txBody>
      </p:sp>
      <p:sp>
        <p:nvSpPr>
          <p:cNvPr name="GraphCompose Text Line" id="22"/>
          <p:cNvSpPr txBox="true"/>
          <p:nvPr/>
        </p:nvSpPr>
        <p:spPr>
          <a:xfrm>
            <a:off x="596900" y="3752581"/>
            <a:ext cx="1296670" cy="67879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680" b="false" i="false" u="none" strike="noStrike" kern="0">
                <a:solidFill>
                  <a:srgbClr val="B2B6CA"/>
                </a:solidFill>
                <a:latin typeface="Courier New"/>
              </a:rPr>
              <a:t>doc.</a:t>
            </a:r>
            <a:r>
              <a:rPr lang="en-US" sz="680" b="false" i="false" u="none" strike="noStrike" kern="0">
                <a:solidFill>
                  <a:srgbClr val="96BEFF"/>
                </a:solidFill>
                <a:latin typeface="Courier New"/>
              </a:rPr>
              <a:t>pageFlow</a:t>
            </a:r>
            <a:r>
              <a:rPr lang="en-US" sz="680" b="false" i="false" u="none" strike="noStrike" kern="0">
                <a:solidFill>
                  <a:srgbClr val="B2B6CA"/>
                </a:solidFill>
                <a:latin typeface="Courier New"/>
              </a:rPr>
              <a:t>(page</a:t>
            </a:r>
            <a:r>
              <a:rPr lang="en-US" sz="680" b="false" i="false" u="none" strike="noStrike" kern="0">
                <a:solidFill>
                  <a:srgbClr val="B2B6CA"/>
                </a:solidFill>
                <a:latin typeface="Courier New"/>
              </a:rPr>
              <a:t> </a:t>
            </a:r>
            <a:r>
              <a:rPr lang="en-US" sz="680" b="false" i="false" u="none" strike="noStrike" kern="0">
                <a:solidFill>
                  <a:srgbClr val="B2B6CA"/>
                </a:solidFill>
                <a:latin typeface="Courier New"/>
              </a:rPr>
              <a:t>-&gt;</a:t>
            </a:r>
            <a:r>
              <a:rPr lang="en-US" sz="680" b="false" i="false" u="none" strike="noStrike" kern="0">
                <a:solidFill>
                  <a:srgbClr val="B2B6CA"/>
                </a:solidFill>
                <a:latin typeface="Courier New"/>
              </a:rPr>
              <a:t> </a:t>
            </a:r>
            <a:r>
              <a:rPr lang="en-US" sz="680" b="false" i="false" u="none" strike="noStrike" kern="0">
                <a:solidFill>
                  <a:srgbClr val="B2B6CA"/>
                </a:solidFill>
                <a:latin typeface="Courier New"/>
              </a:rPr>
              <a:t>page</a:t>
            </a:r>
            <a:endParaRPr lang="en-US" sz="1100"/>
          </a:p>
        </p:txBody>
      </p:sp>
      <p:sp>
        <p:nvSpPr>
          <p:cNvPr name="GraphCompose Text Line" id="23"/>
          <p:cNvSpPr txBox="true"/>
          <p:nvPr/>
        </p:nvSpPr>
        <p:spPr>
          <a:xfrm>
            <a:off x="596900" y="3871260"/>
            <a:ext cx="1503934" cy="67879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680" b="false" i="false" u="none" strike="noStrike" kern="0">
                <a:solidFill>
                  <a:srgbClr val="96BEFF"/>
                </a:solidFill>
                <a:latin typeface="Courier New"/>
              </a:rPr>
              <a:t>.addParagraph</a:t>
            </a:r>
            <a:r>
              <a:rPr lang="en-US" sz="680" b="false" i="false" u="none" strike="noStrike" kern="0">
                <a:solidFill>
                  <a:srgbClr val="B2B6CA"/>
                </a:solidFill>
                <a:latin typeface="Courier New"/>
              </a:rPr>
              <a:t>(</a:t>
            </a:r>
            <a:r>
              <a:rPr lang="en-US" sz="680" b="false" i="false" u="none" strike="noStrike" kern="0">
                <a:solidFill>
                  <a:srgbClr val="78CCAA"/>
                </a:solidFill>
                <a:latin typeface="Courier New"/>
              </a:rPr>
              <a:t>"GraphCompose"</a:t>
            </a:r>
            <a:r>
              <a:rPr lang="en-US" sz="680" b="false" i="false" u="none" strike="noStrike" kern="0">
                <a:solidFill>
                  <a:srgbClr val="B2B6CA"/>
                </a:solidFill>
                <a:latin typeface="Courier New"/>
              </a:rPr>
              <a:t>)</a:t>
            </a:r>
            <a:endParaRPr lang="en-US" sz="1100"/>
          </a:p>
        </p:txBody>
      </p:sp>
      <p:sp>
        <p:nvSpPr>
          <p:cNvPr name="GraphCompose Text Line" id="24"/>
          <p:cNvSpPr txBox="true"/>
          <p:nvPr/>
        </p:nvSpPr>
        <p:spPr>
          <a:xfrm>
            <a:off x="596900" y="3989939"/>
            <a:ext cx="1503934" cy="67879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680" b="false" i="false" u="none" strike="noStrike" kern="0">
                <a:solidFill>
                  <a:srgbClr val="96BEFF"/>
                </a:solidFill>
                <a:latin typeface="Courier New"/>
              </a:rPr>
              <a:t>.addParagraph</a:t>
            </a:r>
            <a:r>
              <a:rPr lang="en-US" sz="680" b="false" i="false" u="none" strike="noStrike" kern="0">
                <a:solidFill>
                  <a:srgbClr val="B2B6CA"/>
                </a:solidFill>
                <a:latin typeface="Courier New"/>
              </a:rPr>
              <a:t>(</a:t>
            </a:r>
            <a:r>
              <a:rPr lang="en-US" sz="680" b="false" i="false" u="none" strike="noStrike" kern="0">
                <a:solidFill>
                  <a:srgbClr val="78CCAA"/>
                </a:solidFill>
                <a:latin typeface="Courier New"/>
              </a:rPr>
              <a:t>"Cinematic."</a:t>
            </a:r>
            <a:r>
              <a:rPr lang="en-US" sz="680" b="false" i="false" u="none" strike="noStrike" kern="0">
                <a:solidFill>
                  <a:srgbClr val="B2B6CA"/>
                </a:solidFill>
                <a:latin typeface="Courier New"/>
              </a:rPr>
              <a:t>));</a:t>
            </a:r>
            <a:endParaRPr lang="en-US" sz="1100"/>
          </a:p>
        </p:txBody>
      </p:sp>
      <p:sp>
        <p:nvSpPr>
          <p:cNvPr name="GraphCompose Text Line" id="25"/>
          <p:cNvSpPr txBox="true"/>
          <p:nvPr/>
        </p:nvSpPr>
        <p:spPr>
          <a:xfrm>
            <a:off x="596900" y="4108618"/>
            <a:ext cx="778510" cy="67879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680" b="false" i="false" u="none" strike="noStrike" kern="0">
                <a:solidFill>
                  <a:srgbClr val="B2B6CA"/>
                </a:solidFill>
                <a:latin typeface="Courier New"/>
              </a:rPr>
              <a:t>doc.</a:t>
            </a:r>
            <a:r>
              <a:rPr lang="en-US" sz="680" b="false" i="false" u="none" strike="noStrike" kern="0">
                <a:solidFill>
                  <a:srgbClr val="96BEFF"/>
                </a:solidFill>
                <a:latin typeface="Courier New"/>
              </a:rPr>
              <a:t>buildPdf</a:t>
            </a:r>
            <a:r>
              <a:rPr lang="en-US" sz="680" b="false" i="false" u="none" strike="noStrike" kern="0">
                <a:solidFill>
                  <a:srgbClr val="B2B6CA"/>
                </a:solidFill>
                <a:latin typeface="Courier New"/>
              </a:rPr>
              <a:t>();</a:t>
            </a:r>
            <a:endParaRPr lang="en-US" sz="1100"/>
          </a:p>
        </p:txBody>
      </p:sp>
      <p:sp>
        <p:nvSpPr>
          <p:cNvPr name="GraphCompose Text Line" id="26"/>
          <p:cNvSpPr txBox="true"/>
          <p:nvPr/>
        </p:nvSpPr>
        <p:spPr>
          <a:xfrm>
            <a:off x="596900" y="4227297"/>
            <a:ext cx="53086" cy="67879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680" b="false" i="false" u="none" strike="noStrike" kern="0">
                <a:solidFill>
                  <a:srgbClr val="B2B6CA"/>
                </a:solidFill>
                <a:latin typeface="Courier New"/>
              </a:rPr>
              <a:t>}</a:t>
            </a:r>
            <a:endParaRPr lang="en-US" sz="1100"/>
          </a:p>
        </p:txBody>
      </p:sp>
      <p:sp>
        <p:nvSpPr>
          <p:cNvPr name="GraphCompose Text Line" id="27"/>
          <p:cNvSpPr txBox="true"/>
          <p:nvPr/>
        </p:nvSpPr>
        <p:spPr>
          <a:xfrm>
            <a:off x="431800" y="4662025"/>
            <a:ext cx="2147367" cy="9398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00" b="false" i="false" u="none" strike="noStrike" kern="0">
                <a:solidFill>
                  <a:srgbClr val="989CB2"/>
                </a:solidFill>
                <a:latin typeface="Arial"/>
              </a:rPr>
              <a:t>You describe the document intent — the engine</a:t>
            </a:r>
            <a:endParaRPr lang="en-US" sz="1100"/>
          </a:p>
        </p:txBody>
      </p:sp>
      <p:sp>
        <p:nvSpPr>
          <p:cNvPr name="GraphCompose Text Line" id="28"/>
          <p:cNvSpPr txBox="true"/>
          <p:nvPr/>
        </p:nvSpPr>
        <p:spPr>
          <a:xfrm>
            <a:off x="431800" y="4772515"/>
            <a:ext cx="774852" cy="9398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00" b="false" i="false" u="none" strike="noStrike" kern="0">
                <a:solidFill>
                  <a:srgbClr val="989CB2"/>
                </a:solidFill>
                <a:latin typeface="Arial"/>
              </a:rPr>
              <a:t>resolves the rest.</a:t>
            </a:r>
            <a:endParaRPr lang="en-US" sz="1100"/>
          </a:p>
        </p:txBody>
      </p:sp>
      <p:sp>
        <p:nvSpPr>
          <p:cNvPr name="GraphCompose Text Line" id="29"/>
          <p:cNvSpPr txBox="true"/>
          <p:nvPr/>
        </p:nvSpPr>
        <p:spPr>
          <a:xfrm>
            <a:off x="2775167" y="3854064"/>
            <a:ext cx="194107" cy="305435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2600" b="true" i="false" u="none" strike="noStrike" kern="0">
                <a:solidFill>
                  <a:srgbClr val="7C5CFC"/>
                </a:solidFill>
                <a:latin typeface="Arial"/>
              </a:rPr>
              <a:t>&gt;</a:t>
            </a:r>
            <a:endParaRPr lang="en-US" sz="1100"/>
          </a:p>
        </p:txBody>
      </p:sp>
      <p:sp>
        <p:nvSpPr>
          <p:cNvPr name="GraphCompose Inline Text Span" id="30"/>
          <p:cNvSpPr txBox="true"/>
          <p:nvPr/>
        </p:nvSpPr>
        <p:spPr>
          <a:xfrm>
            <a:off x="3054681" y="2658648"/>
            <a:ext cx="114249" cy="18796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1600" b="true" i="false" u="none" strike="noStrike" kern="0">
                <a:solidFill>
                  <a:srgbClr val="7C5CFC"/>
                </a:solidFill>
                <a:latin typeface="Arial"/>
              </a:rPr>
              <a:t>2</a:t>
            </a:r>
            <a:endParaRPr lang="en-US" sz="1100"/>
          </a:p>
        </p:txBody>
      </p:sp>
      <p:sp>
        <p:nvSpPr>
          <p:cNvPr name="GraphCompose Inline Text Span" id="31"/>
          <p:cNvSpPr txBox="true"/>
          <p:nvPr/>
        </p:nvSpPr>
        <p:spPr>
          <a:xfrm>
            <a:off x="3167660" y="2693139"/>
            <a:ext cx="138963" cy="152718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1300" b="true" i="false" u="none" strike="noStrike" kern="0">
                <a:solidFill>
                  <a:srgbClr val="E6E8F2"/>
                </a:solidFill>
                <a:latin typeface="Arial"/>
              </a:rPr>
              <a:t>   </a:t>
            </a:r>
            <a:endParaRPr lang="en-US" sz="1100"/>
          </a:p>
        </p:txBody>
      </p:sp>
      <p:sp>
        <p:nvSpPr>
          <p:cNvPr name="GraphCompose Inline Text Span" id="32"/>
          <p:cNvSpPr txBox="true"/>
          <p:nvPr/>
        </p:nvSpPr>
        <p:spPr>
          <a:xfrm>
            <a:off x="3305354" y="2693139"/>
            <a:ext cx="1166546" cy="152718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1300" b="true" i="false" u="none" strike="noStrike" kern="0">
                <a:solidFill>
                  <a:srgbClr val="E6E8F2"/>
                </a:solidFill>
                <a:latin typeface="Arial"/>
              </a:rPr>
              <a:t>GraphCompose</a:t>
            </a:r>
            <a:endParaRPr lang="en-US" sz="1100"/>
          </a:p>
        </p:txBody>
      </p:sp>
      <p:sp>
        <p:nvSpPr>
          <p:cNvPr name="GraphCompose Inline Text Span" id="33"/>
          <p:cNvSpPr txBox="true"/>
          <p:nvPr/>
        </p:nvSpPr>
        <p:spPr>
          <a:xfrm>
            <a:off x="4470630" y="2693139"/>
            <a:ext cx="47168" cy="152718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1300" b="true" i="false" u="none" strike="noStrike" kern="0">
                <a:solidFill>
                  <a:srgbClr val="E6E8F2"/>
                </a:solidFill>
                <a:latin typeface="Arial"/>
              </a:rPr>
              <a:t> </a:t>
            </a:r>
            <a:endParaRPr lang="en-US" sz="1100"/>
          </a:p>
        </p:txBody>
      </p:sp>
      <p:sp>
        <p:nvSpPr>
          <p:cNvPr name="GraphCompose Inline Text Span" id="34"/>
          <p:cNvSpPr txBox="true"/>
          <p:nvPr/>
        </p:nvSpPr>
        <p:spPr>
          <a:xfrm>
            <a:off x="4516527" y="2693139"/>
            <a:ext cx="515226" cy="152718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1300" b="true" i="false" u="none" strike="noStrike" kern="0">
                <a:solidFill>
                  <a:srgbClr val="E6E8F2"/>
                </a:solidFill>
                <a:latin typeface="Arial"/>
              </a:rPr>
              <a:t>Engine</a:t>
            </a:r>
            <a:endParaRPr lang="en-US" sz="1100"/>
          </a:p>
        </p:txBody>
      </p:sp>
      <p:sp>
        <p:nvSpPr>
          <p:cNvPr name="GraphCompose Text Line" id="35"/>
          <p:cNvSpPr txBox="true"/>
          <p:nvPr/>
        </p:nvSpPr>
        <p:spPr>
          <a:xfrm>
            <a:off x="3054681" y="2991446"/>
            <a:ext cx="1771110" cy="99854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50" b="false" i="false" u="none" strike="noStrike" kern="0">
                <a:solidFill>
                  <a:srgbClr val="989CB2"/>
                </a:solidFill>
                <a:latin typeface="Arial"/>
              </a:rPr>
              <a:t>Semantic graph · deterministic layout</a:t>
            </a:r>
            <a:endParaRPr lang="en-US" sz="1100"/>
          </a:p>
        </p:txBody>
      </p:sp>
      <p:sp>
        <p:nvSpPr>
          <p:cNvPr name="AutoShape 36" id="36"/>
          <p:cNvSpPr/>
          <p:nvPr/>
        </p:nvSpPr>
        <p:spPr>
          <a:xfrm>
            <a:off x="3054681" y="3441716"/>
            <a:ext cx="2514600" cy="1397000"/>
          </a:xfrm>
          <a:prstGeom prst="rect">
            <a:avLst/>
          </a:prstGeom>
          <a:solidFill>
            <a:srgbClr val="121221"/>
          </a:solidFill>
          <a:ln>
            <a:noFill/>
          </a:ln>
        </p:spPr>
      </p:sp>
      <p:sp>
        <p:nvSpPr>
          <p:cNvPr name="AutoShape 37" id="37"/>
          <p:cNvSpPr/>
          <p:nvPr/>
        </p:nvSpPr>
        <p:spPr>
          <a:xfrm>
            <a:off x="3080081" y="3467116"/>
            <a:ext cx="1181100" cy="381000"/>
          </a:xfrm>
          <a:prstGeom prst="roundRect">
            <a:avLst>
              <a:gd name="adj" fmla="val 23333"/>
            </a:avLst>
          </a:prstGeom>
          <a:solidFill>
            <a:srgbClr val="121221"/>
          </a:solidFill>
          <a:ln w="11430">
            <a:solidFill>
              <a:srgbClr val="3A385C"/>
            </a:solidFill>
          </a:ln>
        </p:spPr>
      </p:sp>
      <p:sp>
        <p:nvSpPr>
          <p:cNvPr name="Freeform 38" id="38"/>
          <p:cNvSpPr/>
          <p:nvPr/>
        </p:nvSpPr>
        <p:spPr>
          <a:xfrm>
            <a:off x="3207081" y="3568716"/>
            <a:ext cx="177800" cy="177800"/>
          </a:xfrm>
          <a:custGeom>
            <a:avLst/>
            <a:gdLst/>
            <a:ahLst/>
            <a:cxnLst/>
            <a:rect r="r" b="b" t="t" l="l"/>
            <a:pathLst>
              <a:path h="177800" w="177800">
                <a:moveTo>
                  <a:pt x="0" y="28575"/>
                </a:moveTo>
                <a:cubicBezTo>
                  <a:pt x="0" y="12793"/>
                  <a:pt x="12794" y="0"/>
                  <a:pt x="28575" y="0"/>
                </a:cubicBezTo>
                <a:lnTo>
                  <a:pt x="149225" y="0"/>
                </a:lnTo>
                <a:cubicBezTo>
                  <a:pt x="165007" y="0"/>
                  <a:pt x="177800" y="12793"/>
                  <a:pt x="177800" y="28575"/>
                </a:cubicBezTo>
                <a:lnTo>
                  <a:pt x="177800" y="149225"/>
                </a:lnTo>
                <a:cubicBezTo>
                  <a:pt x="177800" y="165006"/>
                  <a:pt x="165007" y="177800"/>
                  <a:pt x="149225" y="177800"/>
                </a:cubicBezTo>
                <a:lnTo>
                  <a:pt x="28575" y="177800"/>
                </a:lnTo>
                <a:cubicBezTo>
                  <a:pt x="12794" y="177800"/>
                  <a:pt x="0" y="165006"/>
                  <a:pt x="0" y="149225"/>
                </a:cubicBezTo>
                <a:lnTo>
                  <a:pt x="0" y="28575"/>
                </a:lnTo>
                <a:close/>
                <a:moveTo>
                  <a:pt x="69850" y="158750"/>
                </a:moveTo>
                <a:lnTo>
                  <a:pt x="149225" y="158750"/>
                </a:lnTo>
                <a:cubicBezTo>
                  <a:pt x="154486" y="158750"/>
                  <a:pt x="158750" y="154485"/>
                  <a:pt x="158750" y="149225"/>
                </a:cubicBezTo>
                <a:lnTo>
                  <a:pt x="158750" y="69850"/>
                </a:lnTo>
                <a:lnTo>
                  <a:pt x="69850" y="69850"/>
                </a:lnTo>
                <a:lnTo>
                  <a:pt x="69850" y="158750"/>
                </a:lnTo>
                <a:close/>
                <a:moveTo>
                  <a:pt x="50800" y="69850"/>
                </a:moveTo>
                <a:lnTo>
                  <a:pt x="50800" y="158750"/>
                </a:lnTo>
                <a:lnTo>
                  <a:pt x="28575" y="158750"/>
                </a:lnTo>
                <a:cubicBezTo>
                  <a:pt x="23315" y="158750"/>
                  <a:pt x="19050" y="154485"/>
                  <a:pt x="19050" y="149225"/>
                </a:cubicBezTo>
                <a:lnTo>
                  <a:pt x="19050" y="69850"/>
                </a:lnTo>
                <a:lnTo>
                  <a:pt x="50800" y="69850"/>
                </a:lnTo>
                <a:close/>
                <a:moveTo>
                  <a:pt x="158750" y="50800"/>
                </a:moveTo>
                <a:lnTo>
                  <a:pt x="158750" y="28575"/>
                </a:lnTo>
                <a:cubicBezTo>
                  <a:pt x="158750" y="23314"/>
                  <a:pt x="154486" y="19050"/>
                  <a:pt x="149225" y="19050"/>
                </a:cubicBezTo>
                <a:lnTo>
                  <a:pt x="28575" y="19050"/>
                </a:lnTo>
                <a:cubicBezTo>
                  <a:pt x="23315" y="19050"/>
                  <a:pt x="19050" y="23314"/>
                  <a:pt x="19050" y="28575"/>
                </a:cubicBezTo>
                <a:lnTo>
                  <a:pt x="19050" y="50800"/>
                </a:lnTo>
                <a:lnTo>
                  <a:pt x="158750" y="50800"/>
                </a:lnTo>
                <a:close/>
              </a:path>
            </a:pathLst>
          </a:custGeom>
          <a:solidFill>
            <a:srgbClr val="D5D7EE"/>
          </a:solidFill>
          <a:ln cap="flat">
            <a:noFill/>
            <a:miter/>
          </a:ln>
        </p:spPr>
      </p:sp>
      <p:sp>
        <p:nvSpPr>
          <p:cNvPr name="GraphCompose Text Line" id="39"/>
          <p:cNvSpPr txBox="true"/>
          <p:nvPr/>
        </p:nvSpPr>
        <p:spPr>
          <a:xfrm>
            <a:off x="3461081" y="3587473"/>
            <a:ext cx="325336" cy="99854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50" b="true" i="false" u="none" strike="noStrike" kern="0">
                <a:solidFill>
                  <a:srgbClr val="E6E8F2"/>
                </a:solidFill>
                <a:latin typeface="Arial"/>
              </a:rPr>
              <a:t>Layout</a:t>
            </a:r>
            <a:endParaRPr lang="en-US" sz="1100"/>
          </a:p>
        </p:txBody>
      </p:sp>
      <p:sp>
        <p:nvSpPr>
          <p:cNvPr name="AutoShape 40" id="40"/>
          <p:cNvSpPr/>
          <p:nvPr/>
        </p:nvSpPr>
        <p:spPr>
          <a:xfrm>
            <a:off x="3080081" y="3949716"/>
            <a:ext cx="1181100" cy="381000"/>
          </a:xfrm>
          <a:prstGeom prst="roundRect">
            <a:avLst>
              <a:gd name="adj" fmla="val 23333"/>
            </a:avLst>
          </a:prstGeom>
          <a:solidFill>
            <a:srgbClr val="121221"/>
          </a:solidFill>
          <a:ln w="11430">
            <a:solidFill>
              <a:srgbClr val="3A385C"/>
            </a:solidFill>
          </a:ln>
        </p:spPr>
      </p:sp>
      <p:pic>
        <p:nvPicPr>
          <p:cNvPr name="GraphCompose Clipped Composite" id="41"/>
          <p:cNvPicPr>
            <a:picLocks noChangeAspect="true"/>
          </p:cNvPicPr>
          <p:nvPr/>
        </p:nvPicPr>
        <p:blipFill>
          <a:blip r:embed="rId3"/>
          <a:stretch>
            <a:fillRect/>
          </a:stretch>
        </p:blipFill>
        <p:spPr>
          <a:xfrm>
            <a:off x="3194381" y="4038616"/>
            <a:ext cx="203200" cy="203200"/>
          </a:xfrm>
          <a:prstGeom prst="rect">
            <a:avLst/>
          </a:prstGeom>
        </p:spPr>
      </p:pic>
      <p:sp>
        <p:nvSpPr>
          <p:cNvPr name="GraphCompose Text Line" id="42"/>
          <p:cNvSpPr txBox="true"/>
          <p:nvPr/>
        </p:nvSpPr>
        <p:spPr>
          <a:xfrm>
            <a:off x="3461081" y="4070073"/>
            <a:ext cx="511334" cy="99854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50" b="true" i="false" u="none" strike="noStrike" kern="0">
                <a:solidFill>
                  <a:srgbClr val="E6E8F2"/>
                </a:solidFill>
                <a:latin typeface="Arial"/>
              </a:rPr>
              <a:t>Pagination</a:t>
            </a:r>
            <a:endParaRPr lang="en-US" sz="1100"/>
          </a:p>
        </p:txBody>
      </p:sp>
      <p:sp>
        <p:nvSpPr>
          <p:cNvPr name="AutoShape 43" id="43"/>
          <p:cNvSpPr/>
          <p:nvPr/>
        </p:nvSpPr>
        <p:spPr>
          <a:xfrm>
            <a:off x="3080081" y="4432316"/>
            <a:ext cx="1181100" cy="381000"/>
          </a:xfrm>
          <a:prstGeom prst="roundRect">
            <a:avLst>
              <a:gd name="adj" fmla="val 23333"/>
            </a:avLst>
          </a:prstGeom>
          <a:solidFill>
            <a:srgbClr val="121221"/>
          </a:solidFill>
          <a:ln w="11430">
            <a:solidFill>
              <a:srgbClr val="3A385C"/>
            </a:solidFill>
          </a:ln>
        </p:spPr>
      </p:sp>
      <p:sp>
        <p:nvSpPr>
          <p:cNvPr name="Freeform 44" id="44"/>
          <p:cNvSpPr/>
          <p:nvPr/>
        </p:nvSpPr>
        <p:spPr>
          <a:xfrm>
            <a:off x="3214701" y="4546684"/>
            <a:ext cx="162560" cy="157412"/>
          </a:xfrm>
          <a:custGeom>
            <a:avLst/>
            <a:gdLst/>
            <a:ahLst/>
            <a:cxnLst/>
            <a:rect r="r" b="b" t="t" l="l"/>
            <a:pathLst>
              <a:path h="157412" w="162560">
                <a:moveTo>
                  <a:pt x="152651" y="11"/>
                </a:moveTo>
                <a:cubicBezTo>
                  <a:pt x="147909" y="381"/>
                  <a:pt x="135226" y="9804"/>
                  <a:pt x="121894" y="23136"/>
                </a:cubicBezTo>
                <a:lnTo>
                  <a:pt x="71596" y="73433"/>
                </a:lnTo>
                <a:cubicBezTo>
                  <a:pt x="73847" y="74268"/>
                  <a:pt x="75945" y="75453"/>
                  <a:pt x="77682" y="77190"/>
                </a:cubicBezTo>
                <a:cubicBezTo>
                  <a:pt x="79322" y="78831"/>
                  <a:pt x="80445" y="80801"/>
                  <a:pt x="81280" y="82905"/>
                </a:cubicBezTo>
                <a:lnTo>
                  <a:pt x="131472" y="32714"/>
                </a:lnTo>
                <a:cubicBezTo>
                  <a:pt x="146708" y="17477"/>
                  <a:pt x="156826" y="3075"/>
                  <a:pt x="154173" y="421"/>
                </a:cubicBezTo>
                <a:cubicBezTo>
                  <a:pt x="153841" y="90"/>
                  <a:pt x="153329" y="-42"/>
                  <a:pt x="152651" y="11"/>
                </a:cubicBezTo>
                <a:close/>
                <a:moveTo>
                  <a:pt x="81412" y="30928"/>
                </a:moveTo>
                <a:cubicBezTo>
                  <a:pt x="36451" y="30928"/>
                  <a:pt x="0" y="59249"/>
                  <a:pt x="0" y="94176"/>
                </a:cubicBezTo>
                <a:cubicBezTo>
                  <a:pt x="0" y="129103"/>
                  <a:pt x="36451" y="157412"/>
                  <a:pt x="81412" y="157412"/>
                </a:cubicBezTo>
                <a:cubicBezTo>
                  <a:pt x="99415" y="157412"/>
                  <a:pt x="113682" y="153686"/>
                  <a:pt x="126908" y="148217"/>
                </a:cubicBezTo>
                <a:cubicBezTo>
                  <a:pt x="136075" y="144427"/>
                  <a:pt x="145068" y="137367"/>
                  <a:pt x="146593" y="128030"/>
                </a:cubicBezTo>
                <a:cubicBezTo>
                  <a:pt x="146959" y="125787"/>
                  <a:pt x="145948" y="121225"/>
                  <a:pt x="142663" y="115846"/>
                </a:cubicBezTo>
                <a:cubicBezTo>
                  <a:pt x="137943" y="108115"/>
                  <a:pt x="129430" y="99161"/>
                  <a:pt x="129752" y="96610"/>
                </a:cubicBezTo>
                <a:cubicBezTo>
                  <a:pt x="130279" y="92425"/>
                  <a:pt x="136313" y="95412"/>
                  <a:pt x="144542" y="96544"/>
                </a:cubicBezTo>
                <a:cubicBezTo>
                  <a:pt x="152771" y="97677"/>
                  <a:pt x="162560" y="103730"/>
                  <a:pt x="162560" y="84400"/>
                </a:cubicBezTo>
                <a:cubicBezTo>
                  <a:pt x="162560" y="74001"/>
                  <a:pt x="152025" y="59344"/>
                  <a:pt x="135348" y="47993"/>
                </a:cubicBezTo>
                <a:lnTo>
                  <a:pt x="86850" y="96491"/>
                </a:lnTo>
                <a:cubicBezTo>
                  <a:pt x="86844" y="96542"/>
                  <a:pt x="86868" y="96597"/>
                  <a:pt x="86863" y="96650"/>
                </a:cubicBezTo>
                <a:cubicBezTo>
                  <a:pt x="85967" y="103922"/>
                  <a:pt x="82536" y="110647"/>
                  <a:pt x="77126" y="116057"/>
                </a:cubicBezTo>
                <a:cubicBezTo>
                  <a:pt x="69164" y="124020"/>
                  <a:pt x="60886" y="125120"/>
                  <a:pt x="53763" y="126694"/>
                </a:cubicBezTo>
                <a:cubicBezTo>
                  <a:pt x="46641" y="128267"/>
                  <a:pt x="40548" y="128850"/>
                  <a:pt x="40548" y="128850"/>
                </a:cubicBezTo>
                <a:lnTo>
                  <a:pt x="23905" y="130490"/>
                </a:lnTo>
                <a:lnTo>
                  <a:pt x="25771" y="113875"/>
                </a:lnTo>
                <a:cubicBezTo>
                  <a:pt x="25771" y="113875"/>
                  <a:pt x="26425" y="107848"/>
                  <a:pt x="28072" y="100804"/>
                </a:cubicBezTo>
                <a:cubicBezTo>
                  <a:pt x="29720" y="93760"/>
                  <a:pt x="30975" y="85585"/>
                  <a:pt x="38815" y="77746"/>
                </a:cubicBezTo>
                <a:cubicBezTo>
                  <a:pt x="44090" y="72470"/>
                  <a:pt x="50641" y="69164"/>
                  <a:pt x="57706" y="68168"/>
                </a:cubicBezTo>
                <a:lnTo>
                  <a:pt x="93954" y="31907"/>
                </a:lnTo>
                <a:cubicBezTo>
                  <a:pt x="89857" y="31330"/>
                  <a:pt x="85692" y="30928"/>
                  <a:pt x="81412" y="30928"/>
                </a:cubicBezTo>
                <a:close/>
                <a:moveTo>
                  <a:pt x="62786" y="81370"/>
                </a:moveTo>
                <a:cubicBezTo>
                  <a:pt x="58033" y="81027"/>
                  <a:pt x="52630" y="83086"/>
                  <a:pt x="48392" y="87324"/>
                </a:cubicBezTo>
                <a:cubicBezTo>
                  <a:pt x="41612" y="94104"/>
                  <a:pt x="39238" y="115369"/>
                  <a:pt x="39238" y="115369"/>
                </a:cubicBezTo>
                <a:cubicBezTo>
                  <a:pt x="39238" y="115369"/>
                  <a:pt x="60767" y="113260"/>
                  <a:pt x="67548" y="106479"/>
                </a:cubicBezTo>
                <a:cubicBezTo>
                  <a:pt x="74329" y="99699"/>
                  <a:pt x="75537" y="89915"/>
                  <a:pt x="70247" y="84625"/>
                </a:cubicBezTo>
                <a:cubicBezTo>
                  <a:pt x="68263" y="82641"/>
                  <a:pt x="65638" y="81576"/>
                  <a:pt x="62786" y="81370"/>
                </a:cubicBezTo>
                <a:close/>
              </a:path>
            </a:pathLst>
          </a:custGeom>
          <a:solidFill>
            <a:srgbClr val="D5D7EE"/>
          </a:solidFill>
          <a:ln cap="flat">
            <a:noFill/>
            <a:miter/>
          </a:ln>
        </p:spPr>
      </p:sp>
      <p:sp>
        <p:nvSpPr>
          <p:cNvPr name="GraphCompose Text Line" id="45"/>
          <p:cNvSpPr txBox="true"/>
          <p:nvPr/>
        </p:nvSpPr>
        <p:spPr>
          <a:xfrm>
            <a:off x="3461081" y="4552673"/>
            <a:ext cx="391185" cy="99854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50" b="true" i="false" u="none" strike="noStrike" kern="0">
                <a:solidFill>
                  <a:srgbClr val="E6E8F2"/>
                </a:solidFill>
                <a:latin typeface="Arial"/>
              </a:rPr>
              <a:t>Themes</a:t>
            </a:r>
            <a:endParaRPr lang="en-US" sz="1100"/>
          </a:p>
        </p:txBody>
      </p:sp>
      <p:sp>
        <p:nvSpPr>
          <p:cNvPr name="AutoShape 46" id="46"/>
          <p:cNvSpPr/>
          <p:nvPr/>
        </p:nvSpPr>
        <p:spPr>
          <a:xfrm>
            <a:off x="4362781" y="3467116"/>
            <a:ext cx="1181100" cy="381000"/>
          </a:xfrm>
          <a:prstGeom prst="roundRect">
            <a:avLst>
              <a:gd name="adj" fmla="val 23333"/>
            </a:avLst>
          </a:prstGeom>
          <a:solidFill>
            <a:srgbClr val="121221"/>
          </a:solidFill>
          <a:ln w="11430">
            <a:solidFill>
              <a:srgbClr val="3A385C"/>
            </a:solidFill>
          </a:ln>
        </p:spPr>
      </p:sp>
      <p:pic>
        <p:nvPicPr>
          <p:cNvPr name="GraphCompose Clipped Composite" id="47"/>
          <p:cNvPicPr>
            <a:picLocks noChangeAspect="true"/>
          </p:cNvPicPr>
          <p:nvPr/>
        </p:nvPicPr>
        <p:blipFill>
          <a:blip r:embed="rId4"/>
          <a:stretch>
            <a:fillRect/>
          </a:stretch>
        </p:blipFill>
        <p:spPr>
          <a:xfrm>
            <a:off x="4477081" y="3556016"/>
            <a:ext cx="203200" cy="203200"/>
          </a:xfrm>
          <a:prstGeom prst="rect">
            <a:avLst/>
          </a:prstGeom>
        </p:spPr>
      </p:pic>
      <p:sp>
        <p:nvSpPr>
          <p:cNvPr name="GraphCompose Text Line" id="48"/>
          <p:cNvSpPr txBox="true"/>
          <p:nvPr/>
        </p:nvSpPr>
        <p:spPr>
          <a:xfrm>
            <a:off x="4743781" y="3587473"/>
            <a:ext cx="613239" cy="99854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50" b="true" i="false" u="none" strike="noStrike" kern="0">
                <a:solidFill>
                  <a:srgbClr val="E6E8F2"/>
                </a:solidFill>
                <a:latin typeface="Arial"/>
              </a:rPr>
              <a:t>Components</a:t>
            </a:r>
            <a:endParaRPr lang="en-US" sz="1100"/>
          </a:p>
        </p:txBody>
      </p:sp>
      <p:sp>
        <p:nvSpPr>
          <p:cNvPr name="AutoShape 49" id="49"/>
          <p:cNvSpPr/>
          <p:nvPr/>
        </p:nvSpPr>
        <p:spPr>
          <a:xfrm>
            <a:off x="4362781" y="3949716"/>
            <a:ext cx="1181100" cy="381000"/>
          </a:xfrm>
          <a:prstGeom prst="roundRect">
            <a:avLst>
              <a:gd name="adj" fmla="val 23333"/>
            </a:avLst>
          </a:prstGeom>
          <a:solidFill>
            <a:srgbClr val="121221"/>
          </a:solidFill>
          <a:ln w="11430">
            <a:solidFill>
              <a:srgbClr val="3A385C"/>
            </a:solidFill>
          </a:ln>
        </p:spPr>
      </p:sp>
      <p:sp>
        <p:nvSpPr>
          <p:cNvPr name="Freeform 50" id="50"/>
          <p:cNvSpPr/>
          <p:nvPr/>
        </p:nvSpPr>
        <p:spPr>
          <a:xfrm>
            <a:off x="4541722" y="4197349"/>
            <a:ext cx="73916" cy="34148"/>
          </a:xfrm>
          <a:custGeom>
            <a:avLst/>
            <a:gdLst/>
            <a:ahLst/>
            <a:cxnLst/>
            <a:rect r="r" b="b" t="t" l="l"/>
            <a:pathLst>
              <a:path h="34148" w="73916">
                <a:moveTo>
                  <a:pt x="66163" y="18640"/>
                </a:moveTo>
                <a:lnTo>
                  <a:pt x="44712" y="18640"/>
                </a:lnTo>
                <a:lnTo>
                  <a:pt x="44712" y="0"/>
                </a:lnTo>
                <a:lnTo>
                  <a:pt x="29204" y="0"/>
                </a:lnTo>
                <a:lnTo>
                  <a:pt x="29204" y="18640"/>
                </a:lnTo>
                <a:lnTo>
                  <a:pt x="7754" y="18640"/>
                </a:lnTo>
                <a:cubicBezTo>
                  <a:pt x="3472" y="18640"/>
                  <a:pt x="0" y="22112"/>
                  <a:pt x="0" y="26394"/>
                </a:cubicBezTo>
                <a:cubicBezTo>
                  <a:pt x="0" y="30676"/>
                  <a:pt x="3472" y="34148"/>
                  <a:pt x="7754" y="34148"/>
                </a:cubicBezTo>
                <a:lnTo>
                  <a:pt x="66162" y="34148"/>
                </a:lnTo>
                <a:cubicBezTo>
                  <a:pt x="70445" y="34148"/>
                  <a:pt x="73917" y="30676"/>
                  <a:pt x="73917" y="26394"/>
                </a:cubicBezTo>
                <a:cubicBezTo>
                  <a:pt x="73917" y="22112"/>
                  <a:pt x="70445" y="18640"/>
                  <a:pt x="66163" y="18640"/>
                </a:cubicBezTo>
                <a:close/>
              </a:path>
            </a:pathLst>
          </a:custGeom>
          <a:solidFill>
            <a:srgbClr val="D5D7EE"/>
          </a:solidFill>
          <a:ln cap="flat">
            <a:noFill/>
            <a:miter/>
          </a:ln>
        </p:spPr>
      </p:sp>
      <p:sp>
        <p:nvSpPr>
          <p:cNvPr name="Freeform 51" id="51"/>
          <p:cNvSpPr/>
          <p:nvPr/>
        </p:nvSpPr>
        <p:spPr>
          <a:xfrm>
            <a:off x="4477081" y="4171633"/>
            <a:ext cx="203200" cy="15377"/>
          </a:xfrm>
          <a:custGeom>
            <a:avLst/>
            <a:gdLst/>
            <a:ahLst/>
            <a:cxnLst/>
            <a:rect r="r" b="b" t="t" l="l"/>
            <a:pathLst>
              <a:path h="15377" w="203200">
                <a:moveTo>
                  <a:pt x="116074" y="0"/>
                </a:moveTo>
                <a:lnTo>
                  <a:pt x="87126" y="0"/>
                </a:lnTo>
                <a:lnTo>
                  <a:pt x="0" y="0"/>
                </a:lnTo>
                <a:lnTo>
                  <a:pt x="0" y="9263"/>
                </a:lnTo>
                <a:cubicBezTo>
                  <a:pt x="0" y="12634"/>
                  <a:pt x="2743" y="15377"/>
                  <a:pt x="6114" y="15377"/>
                </a:cubicBezTo>
                <a:lnTo>
                  <a:pt x="197086" y="15377"/>
                </a:lnTo>
                <a:cubicBezTo>
                  <a:pt x="200457" y="15377"/>
                  <a:pt x="203200" y="12634"/>
                  <a:pt x="203200" y="9263"/>
                </a:cubicBezTo>
                <a:lnTo>
                  <a:pt x="203200" y="0"/>
                </a:lnTo>
                <a:lnTo>
                  <a:pt x="116074" y="0"/>
                </a:lnTo>
                <a:close/>
              </a:path>
            </a:pathLst>
          </a:custGeom>
          <a:solidFill>
            <a:srgbClr val="D5D7EE"/>
          </a:solidFill>
          <a:ln cap="flat">
            <a:noFill/>
            <a:miter/>
          </a:ln>
        </p:spPr>
      </p:sp>
      <p:sp>
        <p:nvSpPr>
          <p:cNvPr name="Freeform 52" id="52"/>
          <p:cNvSpPr/>
          <p:nvPr/>
        </p:nvSpPr>
        <p:spPr>
          <a:xfrm>
            <a:off x="4477081" y="4048935"/>
            <a:ext cx="203199" cy="112360"/>
          </a:xfrm>
          <a:custGeom>
            <a:avLst/>
            <a:gdLst/>
            <a:ahLst/>
            <a:cxnLst/>
            <a:rect r="r" b="b" t="t" l="l"/>
            <a:pathLst>
              <a:path h="112360" w="203199">
                <a:moveTo>
                  <a:pt x="197085" y="0"/>
                </a:moveTo>
                <a:lnTo>
                  <a:pt x="6114" y="0"/>
                </a:lnTo>
                <a:cubicBezTo>
                  <a:pt x="2743" y="0"/>
                  <a:pt x="0" y="2743"/>
                  <a:pt x="0" y="6114"/>
                </a:cubicBezTo>
                <a:lnTo>
                  <a:pt x="0" y="112360"/>
                </a:lnTo>
                <a:lnTo>
                  <a:pt x="14299" y="112360"/>
                </a:lnTo>
                <a:cubicBezTo>
                  <a:pt x="15213" y="64996"/>
                  <a:pt x="54022" y="26746"/>
                  <a:pt x="101600" y="26746"/>
                </a:cubicBezTo>
                <a:cubicBezTo>
                  <a:pt x="118026" y="26746"/>
                  <a:pt x="133406" y="31308"/>
                  <a:pt x="146544" y="39227"/>
                </a:cubicBezTo>
                <a:lnTo>
                  <a:pt x="151672" y="32221"/>
                </a:lnTo>
                <a:cubicBezTo>
                  <a:pt x="153359" y="29918"/>
                  <a:pt x="156593" y="29417"/>
                  <a:pt x="158897" y="31104"/>
                </a:cubicBezTo>
                <a:cubicBezTo>
                  <a:pt x="161201" y="32790"/>
                  <a:pt x="161701" y="36025"/>
                  <a:pt x="160015" y="38329"/>
                </a:cubicBezTo>
                <a:lnTo>
                  <a:pt x="155071" y="45082"/>
                </a:lnTo>
                <a:cubicBezTo>
                  <a:pt x="175233" y="60745"/>
                  <a:pt x="188373" y="85034"/>
                  <a:pt x="188900" y="112360"/>
                </a:cubicBezTo>
                <a:lnTo>
                  <a:pt x="203199" y="112360"/>
                </a:lnTo>
                <a:lnTo>
                  <a:pt x="203199" y="6114"/>
                </a:lnTo>
                <a:cubicBezTo>
                  <a:pt x="203200" y="2743"/>
                  <a:pt x="200457" y="0"/>
                  <a:pt x="197085" y="0"/>
                </a:cubicBezTo>
                <a:close/>
              </a:path>
            </a:pathLst>
          </a:custGeom>
          <a:solidFill>
            <a:srgbClr val="D5D7EE"/>
          </a:solidFill>
          <a:ln cap="flat">
            <a:noFill/>
            <a:miter/>
          </a:ln>
        </p:spPr>
      </p:sp>
      <p:sp>
        <p:nvSpPr>
          <p:cNvPr name="Freeform 53" id="53"/>
          <p:cNvSpPr/>
          <p:nvPr/>
        </p:nvSpPr>
        <p:spPr>
          <a:xfrm>
            <a:off x="4591404" y="4128647"/>
            <a:ext cx="31885" cy="29187"/>
          </a:xfrm>
          <a:custGeom>
            <a:avLst/>
            <a:gdLst/>
            <a:ahLst/>
            <a:cxnLst/>
            <a:rect r="r" b="b" t="t" l="l"/>
            <a:pathLst>
              <a:path h="29187" w="31885">
                <a:moveTo>
                  <a:pt x="31038" y="27090"/>
                </a:moveTo>
                <a:cubicBezTo>
                  <a:pt x="29215" y="16073"/>
                  <a:pt x="23483" y="6612"/>
                  <a:pt x="15399" y="0"/>
                </a:cubicBezTo>
                <a:lnTo>
                  <a:pt x="0" y="21035"/>
                </a:lnTo>
                <a:cubicBezTo>
                  <a:pt x="2541" y="23201"/>
                  <a:pt x="4527" y="25999"/>
                  <a:pt x="5707" y="29186"/>
                </a:cubicBezTo>
                <a:lnTo>
                  <a:pt x="31885" y="29186"/>
                </a:lnTo>
                <a:cubicBezTo>
                  <a:pt x="31463" y="28578"/>
                  <a:pt x="31166" y="27869"/>
                  <a:pt x="31038" y="27090"/>
                </a:cubicBezTo>
                <a:close/>
              </a:path>
            </a:pathLst>
          </a:custGeom>
          <a:solidFill>
            <a:srgbClr val="D5D7EE"/>
          </a:solidFill>
          <a:ln cap="flat">
            <a:noFill/>
            <a:miter/>
          </a:ln>
        </p:spPr>
      </p:sp>
      <p:sp>
        <p:nvSpPr>
          <p:cNvPr name="Freeform 54" id="54"/>
          <p:cNvSpPr/>
          <p:nvPr/>
        </p:nvSpPr>
        <p:spPr>
          <a:xfrm>
            <a:off x="4534073" y="4118649"/>
            <a:ext cx="63997" cy="39185"/>
          </a:xfrm>
          <a:custGeom>
            <a:avLst/>
            <a:gdLst/>
            <a:ahLst/>
            <a:cxnLst/>
            <a:rect r="r" b="b" t="t" l="l"/>
            <a:pathLst>
              <a:path h="39185" w="63997">
                <a:moveTo>
                  <a:pt x="44608" y="0"/>
                </a:moveTo>
                <a:cubicBezTo>
                  <a:pt x="31903" y="0"/>
                  <a:pt x="20360" y="5303"/>
                  <a:pt x="12228" y="13976"/>
                </a:cubicBezTo>
                <a:cubicBezTo>
                  <a:pt x="12191" y="14032"/>
                  <a:pt x="12158" y="14090"/>
                  <a:pt x="12118" y="14146"/>
                </a:cubicBezTo>
                <a:cubicBezTo>
                  <a:pt x="11850" y="14513"/>
                  <a:pt x="11541" y="14833"/>
                  <a:pt x="11205" y="15108"/>
                </a:cubicBezTo>
                <a:cubicBezTo>
                  <a:pt x="5930" y="21138"/>
                  <a:pt x="2242" y="28656"/>
                  <a:pt x="847" y="37088"/>
                </a:cubicBezTo>
                <a:cubicBezTo>
                  <a:pt x="718" y="37867"/>
                  <a:pt x="421" y="38576"/>
                  <a:pt x="0" y="39184"/>
                </a:cubicBezTo>
                <a:lnTo>
                  <a:pt x="26178" y="39184"/>
                </a:lnTo>
                <a:cubicBezTo>
                  <a:pt x="28950" y="31693"/>
                  <a:pt x="36165" y="26338"/>
                  <a:pt x="44607" y="26338"/>
                </a:cubicBezTo>
                <a:cubicBezTo>
                  <a:pt x="45682" y="26338"/>
                  <a:pt x="46737" y="26428"/>
                  <a:pt x="47765" y="26596"/>
                </a:cubicBezTo>
                <a:lnTo>
                  <a:pt x="63997" y="4421"/>
                </a:lnTo>
                <a:cubicBezTo>
                  <a:pt x="58122" y="1581"/>
                  <a:pt x="51538" y="0"/>
                  <a:pt x="44608" y="0"/>
                </a:cubicBezTo>
                <a:close/>
              </a:path>
            </a:pathLst>
          </a:custGeom>
          <a:solidFill>
            <a:srgbClr val="D5D7EE"/>
          </a:solidFill>
          <a:ln cap="flat">
            <a:noFill/>
            <a:miter/>
          </a:ln>
        </p:spPr>
      </p:sp>
      <p:sp>
        <p:nvSpPr>
          <p:cNvPr name="Freeform 55" id="55"/>
          <p:cNvSpPr/>
          <p:nvPr/>
        </p:nvSpPr>
        <p:spPr>
          <a:xfrm>
            <a:off x="4612872" y="4102356"/>
            <a:ext cx="42622" cy="55478"/>
          </a:xfrm>
          <a:custGeom>
            <a:avLst/>
            <a:gdLst/>
            <a:ahLst/>
            <a:cxnLst/>
            <a:rect r="r" b="b" t="t" l="l"/>
            <a:pathLst>
              <a:path h="55478" w="42622">
                <a:moveTo>
                  <a:pt x="42622" y="55478"/>
                </a:moveTo>
                <a:cubicBezTo>
                  <a:pt x="41124" y="32985"/>
                  <a:pt x="29922" y="13107"/>
                  <a:pt x="13176" y="0"/>
                </a:cubicBezTo>
                <a:lnTo>
                  <a:pt x="0" y="18000"/>
                </a:lnTo>
                <a:cubicBezTo>
                  <a:pt x="454" y="18364"/>
                  <a:pt x="909" y="18728"/>
                  <a:pt x="1352" y="19107"/>
                </a:cubicBezTo>
                <a:cubicBezTo>
                  <a:pt x="11139" y="27493"/>
                  <a:pt x="17680" y="39065"/>
                  <a:pt x="19769" y="51694"/>
                </a:cubicBezTo>
                <a:cubicBezTo>
                  <a:pt x="19997" y="53073"/>
                  <a:pt x="19658" y="54414"/>
                  <a:pt x="18921" y="55478"/>
                </a:cubicBezTo>
                <a:lnTo>
                  <a:pt x="42622" y="55478"/>
                </a:lnTo>
                <a:close/>
              </a:path>
            </a:pathLst>
          </a:custGeom>
          <a:solidFill>
            <a:srgbClr val="D5D7EE"/>
          </a:solidFill>
          <a:ln cap="flat">
            <a:noFill/>
            <a:miter/>
          </a:ln>
        </p:spPr>
      </p:sp>
      <p:sp>
        <p:nvSpPr>
          <p:cNvPr name="Freeform 56" id="56"/>
          <p:cNvSpPr/>
          <p:nvPr/>
        </p:nvSpPr>
        <p:spPr>
          <a:xfrm>
            <a:off x="4501869" y="4117616"/>
            <a:ext cx="32695" cy="40217"/>
          </a:xfrm>
          <a:custGeom>
            <a:avLst/>
            <a:gdLst/>
            <a:ahLst/>
            <a:cxnLst/>
            <a:rect r="r" b="b" t="t" l="l"/>
            <a:pathLst>
              <a:path h="40217" w="32695">
                <a:moveTo>
                  <a:pt x="22851" y="36434"/>
                </a:moveTo>
                <a:cubicBezTo>
                  <a:pt x="24251" y="27971"/>
                  <a:pt x="27659" y="19988"/>
                  <a:pt x="32694" y="13116"/>
                </a:cubicBezTo>
                <a:lnTo>
                  <a:pt x="14719" y="45"/>
                </a:lnTo>
                <a:cubicBezTo>
                  <a:pt x="14700" y="31"/>
                  <a:pt x="14683" y="14"/>
                  <a:pt x="14665" y="0"/>
                </a:cubicBezTo>
                <a:cubicBezTo>
                  <a:pt x="6295" y="11430"/>
                  <a:pt x="996" y="25244"/>
                  <a:pt x="0" y="40218"/>
                </a:cubicBezTo>
                <a:lnTo>
                  <a:pt x="23700" y="40218"/>
                </a:lnTo>
                <a:cubicBezTo>
                  <a:pt x="22963" y="39153"/>
                  <a:pt x="22624" y="37812"/>
                  <a:pt x="22851" y="36434"/>
                </a:cubicBezTo>
                <a:close/>
              </a:path>
            </a:pathLst>
          </a:custGeom>
          <a:solidFill>
            <a:srgbClr val="D5D7EE"/>
          </a:solidFill>
          <a:ln cap="flat">
            <a:noFill/>
            <a:miter/>
          </a:ln>
        </p:spPr>
      </p:sp>
      <p:sp>
        <p:nvSpPr>
          <p:cNvPr name="Freeform 57" id="57"/>
          <p:cNvSpPr/>
          <p:nvPr/>
        </p:nvSpPr>
        <p:spPr>
          <a:xfrm>
            <a:off x="4523202" y="4086196"/>
            <a:ext cx="50309" cy="36768"/>
          </a:xfrm>
          <a:custGeom>
            <a:avLst/>
            <a:gdLst/>
            <a:ahLst/>
            <a:cxnLst/>
            <a:rect r="r" b="b" t="t" l="l"/>
            <a:pathLst>
              <a:path h="36768" w="50309">
                <a:moveTo>
                  <a:pt x="0" y="23490"/>
                </a:moveTo>
                <a:lnTo>
                  <a:pt x="18260" y="36768"/>
                </a:lnTo>
                <a:cubicBezTo>
                  <a:pt x="18808" y="36258"/>
                  <a:pt x="19366" y="35755"/>
                  <a:pt x="19937" y="35266"/>
                </a:cubicBezTo>
                <a:cubicBezTo>
                  <a:pt x="28519" y="27914"/>
                  <a:pt x="39150" y="23431"/>
                  <a:pt x="50310" y="22366"/>
                </a:cubicBezTo>
                <a:lnTo>
                  <a:pt x="50310" y="0"/>
                </a:lnTo>
                <a:cubicBezTo>
                  <a:pt x="30600" y="1313"/>
                  <a:pt x="12898" y="10075"/>
                  <a:pt x="0" y="23490"/>
                </a:cubicBezTo>
                <a:close/>
              </a:path>
            </a:pathLst>
          </a:custGeom>
          <a:solidFill>
            <a:srgbClr val="D5D7EE"/>
          </a:solidFill>
          <a:ln cap="flat">
            <a:noFill/>
            <a:miter/>
          </a:ln>
        </p:spPr>
      </p:sp>
      <p:sp>
        <p:nvSpPr>
          <p:cNvPr name="Freeform 58" id="58"/>
          <p:cNvSpPr/>
          <p:nvPr/>
        </p:nvSpPr>
        <p:spPr>
          <a:xfrm>
            <a:off x="4583850" y="4086197"/>
            <a:ext cx="33642" cy="28464"/>
          </a:xfrm>
          <a:custGeom>
            <a:avLst/>
            <a:gdLst/>
            <a:ahLst/>
            <a:cxnLst/>
            <a:rect r="r" b="b" t="t" l="l"/>
            <a:pathLst>
              <a:path h="28464" w="33642">
                <a:moveTo>
                  <a:pt x="0" y="0"/>
                </a:moveTo>
                <a:lnTo>
                  <a:pt x="0" y="22366"/>
                </a:lnTo>
                <a:cubicBezTo>
                  <a:pt x="7143" y="23046"/>
                  <a:pt x="14068" y="25124"/>
                  <a:pt x="20378" y="28464"/>
                </a:cubicBezTo>
                <a:lnTo>
                  <a:pt x="33642" y="10344"/>
                </a:lnTo>
                <a:cubicBezTo>
                  <a:pt x="23640" y="4482"/>
                  <a:pt x="12205" y="813"/>
                  <a:pt x="0" y="0"/>
                </a:cubicBezTo>
                <a:close/>
              </a:path>
            </a:pathLst>
          </a:custGeom>
          <a:solidFill>
            <a:srgbClr val="D5D7EE"/>
          </a:solidFill>
          <a:ln cap="flat">
            <a:noFill/>
            <a:miter/>
          </a:ln>
        </p:spPr>
      </p:sp>
      <p:sp>
        <p:nvSpPr>
          <p:cNvPr name="GraphCompose Text Line" id="59"/>
          <p:cNvSpPr txBox="true"/>
          <p:nvPr/>
        </p:nvSpPr>
        <p:spPr>
          <a:xfrm>
            <a:off x="4743781" y="4070073"/>
            <a:ext cx="751307" cy="99854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50" b="true" i="false" u="none" strike="noStrike" kern="0">
                <a:solidFill>
                  <a:srgbClr val="E6E8F2"/>
                </a:solidFill>
                <a:latin typeface="Arial"/>
              </a:rPr>
              <a:t>Snapshot Tests</a:t>
            </a:r>
            <a:endParaRPr lang="en-US" sz="1100"/>
          </a:p>
        </p:txBody>
      </p:sp>
      <p:sp>
        <p:nvSpPr>
          <p:cNvPr name="AutoShape 60" id="60"/>
          <p:cNvSpPr/>
          <p:nvPr/>
        </p:nvSpPr>
        <p:spPr>
          <a:xfrm>
            <a:off x="4362781" y="4432316"/>
            <a:ext cx="1181100" cy="381000"/>
          </a:xfrm>
          <a:prstGeom prst="roundRect">
            <a:avLst>
              <a:gd name="adj" fmla="val 23333"/>
            </a:avLst>
          </a:prstGeom>
          <a:solidFill>
            <a:srgbClr val="121221"/>
          </a:solidFill>
          <a:ln w="11430">
            <a:solidFill>
              <a:srgbClr val="3A385C"/>
            </a:solidFill>
          </a:ln>
        </p:spPr>
      </p:sp>
      <p:pic>
        <p:nvPicPr>
          <p:cNvPr name="GraphCompose Clipped Composite" id="61"/>
          <p:cNvPicPr>
            <a:picLocks noChangeAspect="true"/>
          </p:cNvPicPr>
          <p:nvPr/>
        </p:nvPicPr>
        <p:blipFill>
          <a:blip r:embed="rId5"/>
          <a:stretch>
            <a:fillRect/>
          </a:stretch>
        </p:blipFill>
        <p:spPr>
          <a:xfrm>
            <a:off x="4477081" y="4521216"/>
            <a:ext cx="203200" cy="203200"/>
          </a:xfrm>
          <a:prstGeom prst="rect">
            <a:avLst/>
          </a:prstGeom>
        </p:spPr>
      </p:pic>
      <p:sp>
        <p:nvSpPr>
          <p:cNvPr name="GraphCompose Text Line" id="62"/>
          <p:cNvSpPr txBox="true"/>
          <p:nvPr/>
        </p:nvSpPr>
        <p:spPr>
          <a:xfrm>
            <a:off x="4743781" y="4552673"/>
            <a:ext cx="211233" cy="99854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50" b="true" i="false" u="none" strike="noStrike" kern="0">
                <a:solidFill>
                  <a:srgbClr val="E6E8F2"/>
                </a:solidFill>
                <a:latin typeface="Arial"/>
              </a:rPr>
              <a:t>DSL</a:t>
            </a:r>
            <a:endParaRPr lang="en-US" sz="1100"/>
          </a:p>
        </p:txBody>
      </p:sp>
      <p:sp>
        <p:nvSpPr>
          <p:cNvPr name="GraphCompose Text Line" id="63"/>
          <p:cNvSpPr txBox="true"/>
          <p:nvPr/>
        </p:nvSpPr>
        <p:spPr>
          <a:xfrm>
            <a:off x="5754367" y="3854064"/>
            <a:ext cx="194107" cy="305435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2600" b="true" i="false" u="none" strike="noStrike" kern="0">
                <a:solidFill>
                  <a:srgbClr val="7C5CFC"/>
                </a:solidFill>
                <a:latin typeface="Arial"/>
              </a:rPr>
              <a:t>&gt;</a:t>
            </a:r>
            <a:endParaRPr lang="en-US" sz="1100"/>
          </a:p>
        </p:txBody>
      </p:sp>
      <p:sp>
        <p:nvSpPr>
          <p:cNvPr name="GraphCompose Inline Text Span" id="64"/>
          <p:cNvSpPr txBox="true"/>
          <p:nvPr/>
        </p:nvSpPr>
        <p:spPr>
          <a:xfrm>
            <a:off x="6033882" y="2658648"/>
            <a:ext cx="114249" cy="18796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1600" b="true" i="false" u="none" strike="noStrike" kern="0">
                <a:solidFill>
                  <a:srgbClr val="7C5CFC"/>
                </a:solidFill>
                <a:latin typeface="Arial"/>
              </a:rPr>
              <a:t>3</a:t>
            </a:r>
            <a:endParaRPr lang="en-US" sz="1100"/>
          </a:p>
        </p:txBody>
      </p:sp>
      <p:sp>
        <p:nvSpPr>
          <p:cNvPr name="GraphCompose Inline Text Span" id="65"/>
          <p:cNvSpPr txBox="true"/>
          <p:nvPr/>
        </p:nvSpPr>
        <p:spPr>
          <a:xfrm>
            <a:off x="6146861" y="2693139"/>
            <a:ext cx="138963" cy="152718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1300" b="true" i="false" u="none" strike="noStrike" kern="0">
                <a:solidFill>
                  <a:srgbClr val="E6E8F2"/>
                </a:solidFill>
                <a:latin typeface="Arial"/>
              </a:rPr>
              <a:t>   </a:t>
            </a:r>
            <a:endParaRPr lang="en-US" sz="1100"/>
          </a:p>
        </p:txBody>
      </p:sp>
      <p:sp>
        <p:nvSpPr>
          <p:cNvPr name="GraphCompose Inline Text Span" id="66"/>
          <p:cNvSpPr txBox="true"/>
          <p:nvPr/>
        </p:nvSpPr>
        <p:spPr>
          <a:xfrm>
            <a:off x="6284554" y="2693139"/>
            <a:ext cx="496900" cy="152718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1300" b="true" i="false" u="none" strike="noStrike" kern="0">
                <a:solidFill>
                  <a:srgbClr val="E6E8F2"/>
                </a:solidFill>
                <a:latin typeface="Arial"/>
              </a:rPr>
              <a:t>Output</a:t>
            </a:r>
            <a:endParaRPr lang="en-US" sz="1100"/>
          </a:p>
        </p:txBody>
      </p:sp>
      <p:sp>
        <p:nvSpPr>
          <p:cNvPr name="GraphCompose Inline Text Span" id="67"/>
          <p:cNvSpPr txBox="true"/>
          <p:nvPr/>
        </p:nvSpPr>
        <p:spPr>
          <a:xfrm>
            <a:off x="6780184" y="2693139"/>
            <a:ext cx="47168" cy="152718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1300" b="true" i="false" u="none" strike="noStrike" kern="0">
                <a:solidFill>
                  <a:srgbClr val="E6E8F2"/>
                </a:solidFill>
                <a:latin typeface="Arial"/>
              </a:rPr>
              <a:t> </a:t>
            </a:r>
            <a:endParaRPr lang="en-US" sz="1100"/>
          </a:p>
        </p:txBody>
      </p:sp>
      <p:sp>
        <p:nvSpPr>
          <p:cNvPr name="GraphCompose Inline Text Span" id="68"/>
          <p:cNvSpPr txBox="true"/>
          <p:nvPr/>
        </p:nvSpPr>
        <p:spPr>
          <a:xfrm>
            <a:off x="6826082" y="2693139"/>
            <a:ext cx="726224" cy="152718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1300" b="true" i="false" u="none" strike="noStrike" kern="0">
                <a:solidFill>
                  <a:srgbClr val="E6E8F2"/>
                </a:solidFill>
                <a:latin typeface="Arial"/>
              </a:rPr>
              <a:t>Backends</a:t>
            </a:r>
            <a:endParaRPr lang="en-US" sz="1100"/>
          </a:p>
        </p:txBody>
      </p:sp>
      <p:sp>
        <p:nvSpPr>
          <p:cNvPr name="AutoShape 69" id="69"/>
          <p:cNvSpPr/>
          <p:nvPr/>
        </p:nvSpPr>
        <p:spPr>
          <a:xfrm>
            <a:off x="6033882" y="3011662"/>
            <a:ext cx="1397000" cy="558800"/>
          </a:xfrm>
          <a:prstGeom prst="roundRect">
            <a:avLst>
              <a:gd name="adj" fmla="val 18182"/>
            </a:avLst>
          </a:prstGeom>
          <a:solidFill>
            <a:srgbClr val="121221"/>
          </a:solidFill>
          <a:ln w="11430">
            <a:solidFill>
              <a:srgbClr val="3A385C"/>
            </a:solidFill>
          </a:ln>
        </p:spPr>
      </p:sp>
      <p:sp>
        <p:nvSpPr>
          <p:cNvPr name="Freeform 70" id="70"/>
          <p:cNvSpPr/>
          <p:nvPr/>
        </p:nvSpPr>
        <p:spPr>
          <a:xfrm>
            <a:off x="6242482" y="3317776"/>
            <a:ext cx="11138" cy="12786"/>
          </a:xfrm>
          <a:custGeom>
            <a:avLst/>
            <a:gdLst/>
            <a:ahLst/>
            <a:cxnLst/>
            <a:rect r="r" b="b" t="t" l="l"/>
            <a:pathLst>
              <a:path h="12786" w="11138">
                <a:moveTo>
                  <a:pt x="11138" y="6060"/>
                </a:moveTo>
                <a:cubicBezTo>
                  <a:pt x="11138" y="2264"/>
                  <a:pt x="8504" y="0"/>
                  <a:pt x="3856" y="0"/>
                </a:cubicBezTo>
                <a:cubicBezTo>
                  <a:pt x="1958" y="0"/>
                  <a:pt x="673" y="187"/>
                  <a:pt x="0" y="366"/>
                </a:cubicBezTo>
                <a:lnTo>
                  <a:pt x="0" y="12547"/>
                </a:lnTo>
                <a:cubicBezTo>
                  <a:pt x="797" y="12726"/>
                  <a:pt x="1775" y="12786"/>
                  <a:pt x="3124" y="12786"/>
                </a:cubicBezTo>
                <a:cubicBezTo>
                  <a:pt x="8078" y="12786"/>
                  <a:pt x="11138" y="10283"/>
                  <a:pt x="11138" y="6060"/>
                </a:cubicBezTo>
                <a:close/>
              </a:path>
            </a:pathLst>
          </a:custGeom>
          <a:solidFill>
            <a:srgbClr val="D5D7EE"/>
          </a:solidFill>
          <a:ln cap="flat">
            <a:noFill/>
            <a:miter/>
          </a:ln>
        </p:spPr>
      </p:sp>
      <p:sp>
        <p:nvSpPr>
          <p:cNvPr name="Freeform 71" id="71"/>
          <p:cNvSpPr/>
          <p:nvPr/>
        </p:nvSpPr>
        <p:spPr>
          <a:xfrm>
            <a:off x="6278171" y="3317903"/>
            <a:ext cx="17195" cy="27530"/>
          </a:xfrm>
          <a:custGeom>
            <a:avLst/>
            <a:gdLst/>
            <a:ahLst/>
            <a:cxnLst/>
            <a:rect r="r" b="b" t="t" l="l"/>
            <a:pathLst>
              <a:path h="27530" w="17195">
                <a:moveTo>
                  <a:pt x="4222" y="0"/>
                </a:moveTo>
                <a:cubicBezTo>
                  <a:pt x="2141" y="0"/>
                  <a:pt x="796" y="180"/>
                  <a:pt x="0" y="366"/>
                </a:cubicBezTo>
                <a:lnTo>
                  <a:pt x="0" y="27343"/>
                </a:lnTo>
                <a:cubicBezTo>
                  <a:pt x="796" y="27530"/>
                  <a:pt x="2082" y="27530"/>
                  <a:pt x="3244" y="27530"/>
                </a:cubicBezTo>
                <a:cubicBezTo>
                  <a:pt x="11688" y="27589"/>
                  <a:pt x="17195" y="22941"/>
                  <a:pt x="17195" y="13093"/>
                </a:cubicBezTo>
                <a:cubicBezTo>
                  <a:pt x="17254" y="4528"/>
                  <a:pt x="12236" y="0"/>
                  <a:pt x="4222" y="0"/>
                </a:cubicBezTo>
                <a:close/>
              </a:path>
            </a:pathLst>
          </a:custGeom>
          <a:solidFill>
            <a:srgbClr val="D5D7EE"/>
          </a:solidFill>
          <a:ln cap="flat">
            <a:noFill/>
            <a:miter/>
          </a:ln>
        </p:spPr>
      </p:sp>
      <p:sp>
        <p:nvSpPr>
          <p:cNvPr name="Freeform 72" id="72"/>
          <p:cNvSpPr/>
          <p:nvPr/>
        </p:nvSpPr>
        <p:spPr>
          <a:xfrm>
            <a:off x="6207526" y="3176762"/>
            <a:ext cx="186112" cy="228600"/>
          </a:xfrm>
          <a:custGeom>
            <a:avLst/>
            <a:gdLst/>
            <a:ahLst/>
            <a:cxnLst/>
            <a:rect r="r" b="b" t="t" l="l"/>
            <a:pathLst>
              <a:path h="228600" w="186112">
                <a:moveTo>
                  <a:pt x="128326" y="0"/>
                </a:moveTo>
                <a:lnTo>
                  <a:pt x="36511" y="0"/>
                </a:lnTo>
                <a:cubicBezTo>
                  <a:pt x="23097" y="0"/>
                  <a:pt x="12180" y="10925"/>
                  <a:pt x="12180" y="24330"/>
                </a:cubicBezTo>
                <a:lnTo>
                  <a:pt x="12180" y="114299"/>
                </a:lnTo>
                <a:lnTo>
                  <a:pt x="9804" y="114299"/>
                </a:lnTo>
                <a:cubicBezTo>
                  <a:pt x="4390" y="114299"/>
                  <a:pt x="0" y="118686"/>
                  <a:pt x="0" y="124104"/>
                </a:cubicBezTo>
                <a:lnTo>
                  <a:pt x="0" y="183563"/>
                </a:lnTo>
                <a:cubicBezTo>
                  <a:pt x="0" y="188981"/>
                  <a:pt x="4390" y="193366"/>
                  <a:pt x="9804" y="193366"/>
                </a:cubicBezTo>
                <a:lnTo>
                  <a:pt x="12180" y="193366"/>
                </a:lnTo>
                <a:lnTo>
                  <a:pt x="12180" y="204269"/>
                </a:lnTo>
                <a:cubicBezTo>
                  <a:pt x="12180" y="217690"/>
                  <a:pt x="23097" y="228599"/>
                  <a:pt x="36511" y="228599"/>
                </a:cubicBezTo>
                <a:lnTo>
                  <a:pt x="161788" y="228599"/>
                </a:lnTo>
                <a:cubicBezTo>
                  <a:pt x="175193" y="228599"/>
                  <a:pt x="186112" y="217689"/>
                  <a:pt x="186112" y="204269"/>
                </a:cubicBezTo>
                <a:lnTo>
                  <a:pt x="186112" y="57583"/>
                </a:lnTo>
                <a:lnTo>
                  <a:pt x="128326" y="0"/>
                </a:lnTo>
                <a:close/>
                <a:moveTo>
                  <a:pt x="25720" y="134834"/>
                </a:moveTo>
                <a:cubicBezTo>
                  <a:pt x="28594" y="134349"/>
                  <a:pt x="32632" y="133983"/>
                  <a:pt x="38322" y="133983"/>
                </a:cubicBezTo>
                <a:cubicBezTo>
                  <a:pt x="44073" y="133983"/>
                  <a:pt x="48171" y="135080"/>
                  <a:pt x="50925" y="137285"/>
                </a:cubicBezTo>
                <a:cubicBezTo>
                  <a:pt x="53555" y="139363"/>
                  <a:pt x="55331" y="142792"/>
                  <a:pt x="55331" y="146828"/>
                </a:cubicBezTo>
                <a:cubicBezTo>
                  <a:pt x="55331" y="150863"/>
                  <a:pt x="53985" y="154293"/>
                  <a:pt x="51538" y="156617"/>
                </a:cubicBezTo>
                <a:cubicBezTo>
                  <a:pt x="48355" y="159614"/>
                  <a:pt x="43647" y="160959"/>
                  <a:pt x="38140" y="160959"/>
                </a:cubicBezTo>
                <a:cubicBezTo>
                  <a:pt x="36914" y="160959"/>
                  <a:pt x="35816" y="160898"/>
                  <a:pt x="34956" y="160779"/>
                </a:cubicBezTo>
                <a:lnTo>
                  <a:pt x="34956" y="175523"/>
                </a:lnTo>
                <a:lnTo>
                  <a:pt x="25720" y="175523"/>
                </a:lnTo>
                <a:lnTo>
                  <a:pt x="25720" y="134834"/>
                </a:lnTo>
                <a:close/>
                <a:moveTo>
                  <a:pt x="161788" y="213699"/>
                </a:moveTo>
                <a:lnTo>
                  <a:pt x="36511" y="213699"/>
                </a:lnTo>
                <a:cubicBezTo>
                  <a:pt x="31317" y="213699"/>
                  <a:pt x="27088" y="209470"/>
                  <a:pt x="27088" y="204269"/>
                </a:cubicBezTo>
                <a:lnTo>
                  <a:pt x="27088" y="193366"/>
                </a:lnTo>
                <a:lnTo>
                  <a:pt x="143872" y="193366"/>
                </a:lnTo>
                <a:cubicBezTo>
                  <a:pt x="149287" y="193366"/>
                  <a:pt x="153677" y="188981"/>
                  <a:pt x="153677" y="183563"/>
                </a:cubicBezTo>
                <a:lnTo>
                  <a:pt x="153677" y="124104"/>
                </a:lnTo>
                <a:cubicBezTo>
                  <a:pt x="153677" y="118686"/>
                  <a:pt x="149287" y="114299"/>
                  <a:pt x="143872" y="114299"/>
                </a:cubicBezTo>
                <a:lnTo>
                  <a:pt x="27088" y="114299"/>
                </a:lnTo>
                <a:lnTo>
                  <a:pt x="27088" y="24330"/>
                </a:lnTo>
                <a:cubicBezTo>
                  <a:pt x="27088" y="19144"/>
                  <a:pt x="31317" y="14915"/>
                  <a:pt x="36511" y="14915"/>
                </a:cubicBezTo>
                <a:lnTo>
                  <a:pt x="122751" y="14825"/>
                </a:lnTo>
                <a:lnTo>
                  <a:pt x="122751" y="46702"/>
                </a:lnTo>
                <a:cubicBezTo>
                  <a:pt x="122751" y="56013"/>
                  <a:pt x="130306" y="63575"/>
                  <a:pt x="139624" y="63575"/>
                </a:cubicBezTo>
                <a:lnTo>
                  <a:pt x="170852" y="63486"/>
                </a:lnTo>
                <a:lnTo>
                  <a:pt x="171203" y="204269"/>
                </a:lnTo>
                <a:cubicBezTo>
                  <a:pt x="171203" y="209470"/>
                  <a:pt x="166982" y="213699"/>
                  <a:pt x="161788" y="213699"/>
                </a:cubicBezTo>
                <a:close/>
                <a:moveTo>
                  <a:pt x="61286" y="175336"/>
                </a:moveTo>
                <a:lnTo>
                  <a:pt x="61286" y="134834"/>
                </a:lnTo>
                <a:cubicBezTo>
                  <a:pt x="64712" y="134289"/>
                  <a:pt x="69177" y="133983"/>
                  <a:pt x="73889" y="133983"/>
                </a:cubicBezTo>
                <a:cubicBezTo>
                  <a:pt x="81720" y="133983"/>
                  <a:pt x="86798" y="135388"/>
                  <a:pt x="90776" y="138384"/>
                </a:cubicBezTo>
                <a:cubicBezTo>
                  <a:pt x="95058" y="141567"/>
                  <a:pt x="97748" y="146641"/>
                  <a:pt x="97748" y="153926"/>
                </a:cubicBezTo>
                <a:cubicBezTo>
                  <a:pt x="97748" y="161817"/>
                  <a:pt x="94875" y="167265"/>
                  <a:pt x="90896" y="170627"/>
                </a:cubicBezTo>
                <a:cubicBezTo>
                  <a:pt x="86554" y="174236"/>
                  <a:pt x="79945" y="175948"/>
                  <a:pt x="71871" y="175948"/>
                </a:cubicBezTo>
                <a:cubicBezTo>
                  <a:pt x="67036" y="175948"/>
                  <a:pt x="63610" y="175642"/>
                  <a:pt x="61286" y="175336"/>
                </a:cubicBezTo>
                <a:close/>
                <a:moveTo>
                  <a:pt x="128057" y="151357"/>
                </a:moveTo>
                <a:lnTo>
                  <a:pt x="128057" y="158941"/>
                </a:lnTo>
                <a:lnTo>
                  <a:pt x="113250" y="158941"/>
                </a:lnTo>
                <a:lnTo>
                  <a:pt x="113250" y="175523"/>
                </a:lnTo>
                <a:lnTo>
                  <a:pt x="103891" y="175523"/>
                </a:lnTo>
                <a:lnTo>
                  <a:pt x="103891" y="134289"/>
                </a:lnTo>
                <a:lnTo>
                  <a:pt x="129096" y="134289"/>
                </a:lnTo>
                <a:lnTo>
                  <a:pt x="129096" y="141933"/>
                </a:lnTo>
                <a:lnTo>
                  <a:pt x="113250" y="141933"/>
                </a:lnTo>
                <a:lnTo>
                  <a:pt x="113250" y="151357"/>
                </a:lnTo>
                <a:lnTo>
                  <a:pt x="128057" y="151357"/>
                </a:lnTo>
                <a:close/>
              </a:path>
            </a:pathLst>
          </a:custGeom>
          <a:solidFill>
            <a:srgbClr val="D5D7EE"/>
          </a:solidFill>
          <a:ln cap="flat">
            <a:noFill/>
            <a:miter/>
          </a:ln>
        </p:spPr>
      </p:sp>
      <p:sp>
        <p:nvSpPr>
          <p:cNvPr name="GraphCompose Text Line" id="73"/>
          <p:cNvSpPr txBox="true"/>
          <p:nvPr/>
        </p:nvSpPr>
        <p:spPr>
          <a:xfrm>
            <a:off x="6503782" y="3123767"/>
            <a:ext cx="651694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950" b="true" i="false" u="none" strike="noStrike" kern="0">
                <a:solidFill>
                  <a:srgbClr val="E6E8F2"/>
                </a:solidFill>
                <a:latin typeface="Arial"/>
              </a:rPr>
              <a:t>PDFBox 3.0</a:t>
            </a:r>
            <a:endParaRPr lang="en-US" sz="1100"/>
          </a:p>
        </p:txBody>
      </p:sp>
      <p:sp>
        <p:nvSpPr>
          <p:cNvPr name="GraphCompose Text Line" id="74"/>
          <p:cNvSpPr txBox="true"/>
          <p:nvPr/>
        </p:nvSpPr>
        <p:spPr>
          <a:xfrm>
            <a:off x="6503782" y="3330771"/>
            <a:ext cx="843089" cy="88106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750" b="true" i="false" u="none" strike="noStrike" kern="0">
                <a:solidFill>
                  <a:srgbClr val="2EC48A"/>
                </a:solidFill>
                <a:latin typeface="Arial"/>
              </a:rPr>
              <a:t>Production backend</a:t>
            </a:r>
            <a:endParaRPr lang="en-US" sz="1100"/>
          </a:p>
        </p:txBody>
      </p:sp>
      <p:sp>
        <p:nvSpPr>
          <p:cNvPr name="AutoShape 75" id="75"/>
          <p:cNvSpPr/>
          <p:nvPr/>
        </p:nvSpPr>
        <p:spPr>
          <a:xfrm>
            <a:off x="6033882" y="3697462"/>
            <a:ext cx="1397000" cy="558800"/>
          </a:xfrm>
          <a:prstGeom prst="roundRect">
            <a:avLst>
              <a:gd name="adj" fmla="val 18182"/>
            </a:avLst>
          </a:prstGeom>
          <a:solidFill>
            <a:srgbClr val="121221"/>
          </a:solidFill>
          <a:ln w="11430">
            <a:solidFill>
              <a:srgbClr val="3A385C"/>
            </a:solidFill>
          </a:ln>
        </p:spPr>
      </p:sp>
      <p:sp>
        <p:nvSpPr>
          <p:cNvPr name="Freeform 76" id="76"/>
          <p:cNvSpPr/>
          <p:nvPr/>
        </p:nvSpPr>
        <p:spPr>
          <a:xfrm>
            <a:off x="6199357" y="3862562"/>
            <a:ext cx="202449" cy="228600"/>
          </a:xfrm>
          <a:custGeom>
            <a:avLst/>
            <a:gdLst/>
            <a:ahLst/>
            <a:cxnLst/>
            <a:rect r="r" b="b" t="t" l="l"/>
            <a:pathLst>
              <a:path h="228600" w="202449">
                <a:moveTo>
                  <a:pt x="189637" y="81769"/>
                </a:moveTo>
                <a:lnTo>
                  <a:pt x="184148" y="81769"/>
                </a:lnTo>
                <a:lnTo>
                  <a:pt x="184148" y="55283"/>
                </a:lnTo>
                <a:cubicBezTo>
                  <a:pt x="184148" y="55117"/>
                  <a:pt x="184122" y="54952"/>
                  <a:pt x="184100" y="54783"/>
                </a:cubicBezTo>
                <a:cubicBezTo>
                  <a:pt x="184091" y="53732"/>
                  <a:pt x="183756" y="52698"/>
                  <a:pt x="183036" y="51881"/>
                </a:cubicBezTo>
                <a:lnTo>
                  <a:pt x="138962" y="1532"/>
                </a:lnTo>
                <a:cubicBezTo>
                  <a:pt x="138948" y="1519"/>
                  <a:pt x="138935" y="1515"/>
                  <a:pt x="138926" y="1502"/>
                </a:cubicBezTo>
                <a:cubicBezTo>
                  <a:pt x="138664" y="1208"/>
                  <a:pt x="138358" y="963"/>
                  <a:pt x="138033" y="753"/>
                </a:cubicBezTo>
                <a:cubicBezTo>
                  <a:pt x="137937" y="687"/>
                  <a:pt x="137841" y="634"/>
                  <a:pt x="137740" y="578"/>
                </a:cubicBezTo>
                <a:cubicBezTo>
                  <a:pt x="137460" y="426"/>
                  <a:pt x="137162" y="298"/>
                  <a:pt x="136856" y="206"/>
                </a:cubicBezTo>
                <a:cubicBezTo>
                  <a:pt x="136772" y="184"/>
                  <a:pt x="136698" y="150"/>
                  <a:pt x="136615" y="128"/>
                </a:cubicBezTo>
                <a:cubicBezTo>
                  <a:pt x="136282" y="49"/>
                  <a:pt x="135937" y="0"/>
                  <a:pt x="135587" y="0"/>
                </a:cubicBezTo>
                <a:lnTo>
                  <a:pt x="27266" y="0"/>
                </a:lnTo>
                <a:cubicBezTo>
                  <a:pt x="22320" y="0"/>
                  <a:pt x="18301" y="4023"/>
                  <a:pt x="18301" y="8965"/>
                </a:cubicBezTo>
                <a:lnTo>
                  <a:pt x="18301" y="81767"/>
                </a:lnTo>
                <a:lnTo>
                  <a:pt x="12813" y="81767"/>
                </a:lnTo>
                <a:cubicBezTo>
                  <a:pt x="5737" y="81767"/>
                  <a:pt x="0" y="87502"/>
                  <a:pt x="0" y="94579"/>
                </a:cubicBezTo>
                <a:lnTo>
                  <a:pt x="0" y="161209"/>
                </a:lnTo>
                <a:cubicBezTo>
                  <a:pt x="0" y="168282"/>
                  <a:pt x="5737" y="174024"/>
                  <a:pt x="12813" y="174024"/>
                </a:cubicBezTo>
                <a:lnTo>
                  <a:pt x="18301" y="174024"/>
                </a:lnTo>
                <a:lnTo>
                  <a:pt x="18301" y="219635"/>
                </a:lnTo>
                <a:cubicBezTo>
                  <a:pt x="18301" y="224578"/>
                  <a:pt x="22320" y="228600"/>
                  <a:pt x="27266" y="228600"/>
                </a:cubicBezTo>
                <a:lnTo>
                  <a:pt x="175183" y="228600"/>
                </a:lnTo>
                <a:cubicBezTo>
                  <a:pt x="180125" y="228600"/>
                  <a:pt x="184148" y="224578"/>
                  <a:pt x="184148" y="219635"/>
                </a:cubicBezTo>
                <a:lnTo>
                  <a:pt x="184148" y="174024"/>
                </a:lnTo>
                <a:lnTo>
                  <a:pt x="189637" y="174024"/>
                </a:lnTo>
                <a:cubicBezTo>
                  <a:pt x="196711" y="174024"/>
                  <a:pt x="202449" y="168285"/>
                  <a:pt x="202449" y="161211"/>
                </a:cubicBezTo>
                <a:lnTo>
                  <a:pt x="202449" y="94581"/>
                </a:lnTo>
                <a:cubicBezTo>
                  <a:pt x="202449" y="87504"/>
                  <a:pt x="196711" y="81769"/>
                  <a:pt x="189637" y="81769"/>
                </a:cubicBezTo>
                <a:close/>
                <a:moveTo>
                  <a:pt x="27266" y="8967"/>
                </a:moveTo>
                <a:lnTo>
                  <a:pt x="131104" y="8967"/>
                </a:lnTo>
                <a:lnTo>
                  <a:pt x="131104" y="54832"/>
                </a:lnTo>
                <a:cubicBezTo>
                  <a:pt x="131104" y="57308"/>
                  <a:pt x="133113" y="59314"/>
                  <a:pt x="135587" y="59314"/>
                </a:cubicBezTo>
                <a:lnTo>
                  <a:pt x="175184" y="59314"/>
                </a:lnTo>
                <a:lnTo>
                  <a:pt x="175184" y="81771"/>
                </a:lnTo>
                <a:lnTo>
                  <a:pt x="27266" y="81771"/>
                </a:lnTo>
                <a:lnTo>
                  <a:pt x="27266" y="8967"/>
                </a:lnTo>
                <a:close/>
                <a:moveTo>
                  <a:pt x="140167" y="140025"/>
                </a:moveTo>
                <a:cubicBezTo>
                  <a:pt x="143437" y="140025"/>
                  <a:pt x="147066" y="139316"/>
                  <a:pt x="149200" y="138458"/>
                </a:cubicBezTo>
                <a:lnTo>
                  <a:pt x="150833" y="146922"/>
                </a:lnTo>
                <a:cubicBezTo>
                  <a:pt x="148845" y="147913"/>
                  <a:pt x="144366" y="148986"/>
                  <a:pt x="138536" y="148986"/>
                </a:cubicBezTo>
                <a:cubicBezTo>
                  <a:pt x="121964" y="148986"/>
                  <a:pt x="113435" y="138675"/>
                  <a:pt x="113435" y="125024"/>
                </a:cubicBezTo>
                <a:cubicBezTo>
                  <a:pt x="113435" y="108669"/>
                  <a:pt x="125096" y="99568"/>
                  <a:pt x="139603" y="99568"/>
                </a:cubicBezTo>
                <a:cubicBezTo>
                  <a:pt x="145217" y="99568"/>
                  <a:pt x="149486" y="100709"/>
                  <a:pt x="151406" y="101702"/>
                </a:cubicBezTo>
                <a:lnTo>
                  <a:pt x="149202" y="110308"/>
                </a:lnTo>
                <a:cubicBezTo>
                  <a:pt x="146998" y="109380"/>
                  <a:pt x="143943" y="108530"/>
                  <a:pt x="140100" y="108530"/>
                </a:cubicBezTo>
                <a:cubicBezTo>
                  <a:pt x="131494" y="108530"/>
                  <a:pt x="124814" y="113719"/>
                  <a:pt x="124814" y="124385"/>
                </a:cubicBezTo>
                <a:cubicBezTo>
                  <a:pt x="124812" y="133976"/>
                  <a:pt x="130500" y="140025"/>
                  <a:pt x="140167" y="140025"/>
                </a:cubicBezTo>
                <a:close/>
                <a:moveTo>
                  <a:pt x="108522" y="123816"/>
                </a:moveTo>
                <a:cubicBezTo>
                  <a:pt x="108522" y="139528"/>
                  <a:pt x="98993" y="149056"/>
                  <a:pt x="84988" y="149056"/>
                </a:cubicBezTo>
                <a:cubicBezTo>
                  <a:pt x="70765" y="149056"/>
                  <a:pt x="62446" y="138316"/>
                  <a:pt x="62446" y="124668"/>
                </a:cubicBezTo>
                <a:cubicBezTo>
                  <a:pt x="62446" y="110306"/>
                  <a:pt x="71617" y="99566"/>
                  <a:pt x="85770" y="99566"/>
                </a:cubicBezTo>
                <a:cubicBezTo>
                  <a:pt x="100493" y="99566"/>
                  <a:pt x="108522" y="110590"/>
                  <a:pt x="108522" y="123816"/>
                </a:cubicBezTo>
                <a:close/>
                <a:moveTo>
                  <a:pt x="15159" y="148062"/>
                </a:moveTo>
                <a:lnTo>
                  <a:pt x="15159" y="100990"/>
                </a:lnTo>
                <a:cubicBezTo>
                  <a:pt x="19142" y="100351"/>
                  <a:pt x="24331" y="99999"/>
                  <a:pt x="29806" y="99999"/>
                </a:cubicBezTo>
                <a:cubicBezTo>
                  <a:pt x="38908" y="99999"/>
                  <a:pt x="44808" y="101632"/>
                  <a:pt x="49425" y="105118"/>
                </a:cubicBezTo>
                <a:cubicBezTo>
                  <a:pt x="54405" y="108813"/>
                  <a:pt x="57536" y="114716"/>
                  <a:pt x="57536" y="123175"/>
                </a:cubicBezTo>
                <a:cubicBezTo>
                  <a:pt x="57536" y="132345"/>
                  <a:pt x="54194" y="138677"/>
                  <a:pt x="49571" y="142586"/>
                </a:cubicBezTo>
                <a:cubicBezTo>
                  <a:pt x="44521" y="146780"/>
                  <a:pt x="36843" y="148774"/>
                  <a:pt x="27455" y="148774"/>
                </a:cubicBezTo>
                <a:cubicBezTo>
                  <a:pt x="21842" y="148772"/>
                  <a:pt x="17860" y="148414"/>
                  <a:pt x="15159" y="148062"/>
                </a:cubicBezTo>
                <a:close/>
                <a:moveTo>
                  <a:pt x="175184" y="217208"/>
                </a:moveTo>
                <a:lnTo>
                  <a:pt x="27266" y="217208"/>
                </a:lnTo>
                <a:lnTo>
                  <a:pt x="27266" y="174024"/>
                </a:lnTo>
                <a:lnTo>
                  <a:pt x="175183" y="174024"/>
                </a:lnTo>
                <a:lnTo>
                  <a:pt x="175183" y="217208"/>
                </a:lnTo>
                <a:close/>
                <a:moveTo>
                  <a:pt x="183402" y="148272"/>
                </a:moveTo>
                <a:lnTo>
                  <a:pt x="179062" y="139598"/>
                </a:lnTo>
                <a:cubicBezTo>
                  <a:pt x="177285" y="136258"/>
                  <a:pt x="176147" y="133765"/>
                  <a:pt x="174796" y="130995"/>
                </a:cubicBezTo>
                <a:lnTo>
                  <a:pt x="174654" y="130995"/>
                </a:lnTo>
                <a:cubicBezTo>
                  <a:pt x="173658" y="133770"/>
                  <a:pt x="172452" y="136258"/>
                  <a:pt x="170959" y="139598"/>
                </a:cubicBezTo>
                <a:lnTo>
                  <a:pt x="166977" y="148272"/>
                </a:lnTo>
                <a:lnTo>
                  <a:pt x="154604" y="148272"/>
                </a:lnTo>
                <a:lnTo>
                  <a:pt x="168469" y="124024"/>
                </a:lnTo>
                <a:lnTo>
                  <a:pt x="155105" y="100348"/>
                </a:lnTo>
                <a:lnTo>
                  <a:pt x="167550" y="100348"/>
                </a:lnTo>
                <a:lnTo>
                  <a:pt x="171743" y="109097"/>
                </a:lnTo>
                <a:cubicBezTo>
                  <a:pt x="173166" y="112007"/>
                  <a:pt x="174229" y="114356"/>
                  <a:pt x="175368" y="117057"/>
                </a:cubicBezTo>
                <a:lnTo>
                  <a:pt x="175508" y="117057"/>
                </a:lnTo>
                <a:cubicBezTo>
                  <a:pt x="176645" y="114000"/>
                  <a:pt x="177573" y="111868"/>
                  <a:pt x="178778" y="109097"/>
                </a:cubicBezTo>
                <a:lnTo>
                  <a:pt x="182831" y="100348"/>
                </a:lnTo>
                <a:lnTo>
                  <a:pt x="195206" y="100348"/>
                </a:lnTo>
                <a:lnTo>
                  <a:pt x="181695" y="123739"/>
                </a:lnTo>
                <a:lnTo>
                  <a:pt x="195915" y="148272"/>
                </a:lnTo>
                <a:lnTo>
                  <a:pt x="183402" y="148272"/>
                </a:lnTo>
                <a:close/>
              </a:path>
            </a:pathLst>
          </a:custGeom>
          <a:solidFill>
            <a:srgbClr val="D5D7EE"/>
          </a:solidFill>
          <a:ln cap="flat">
            <a:noFill/>
            <a:miter/>
          </a:ln>
        </p:spPr>
      </p:sp>
      <p:sp>
        <p:nvSpPr>
          <p:cNvPr name="Freeform 77" id="77"/>
          <p:cNvSpPr/>
          <p:nvPr/>
        </p:nvSpPr>
        <p:spPr>
          <a:xfrm>
            <a:off x="6225393" y="3970874"/>
            <a:ext cx="19981" cy="31994"/>
          </a:xfrm>
          <a:custGeom>
            <a:avLst/>
            <a:gdLst/>
            <a:ahLst/>
            <a:cxnLst/>
            <a:rect r="r" b="b" t="t" l="l"/>
            <a:pathLst>
              <a:path h="31994" w="19981">
                <a:moveTo>
                  <a:pt x="19980" y="15215"/>
                </a:moveTo>
                <a:cubicBezTo>
                  <a:pt x="20049" y="5264"/>
                  <a:pt x="14221" y="0"/>
                  <a:pt x="4908" y="0"/>
                </a:cubicBezTo>
                <a:cubicBezTo>
                  <a:pt x="2487" y="0"/>
                  <a:pt x="925" y="214"/>
                  <a:pt x="0" y="428"/>
                </a:cubicBezTo>
                <a:lnTo>
                  <a:pt x="0" y="31781"/>
                </a:lnTo>
                <a:cubicBezTo>
                  <a:pt x="928" y="31993"/>
                  <a:pt x="2421" y="31993"/>
                  <a:pt x="3772" y="31993"/>
                </a:cubicBezTo>
                <a:cubicBezTo>
                  <a:pt x="13584" y="32068"/>
                  <a:pt x="19980" y="26667"/>
                  <a:pt x="19980" y="15215"/>
                </a:cubicBezTo>
                <a:close/>
              </a:path>
            </a:pathLst>
          </a:custGeom>
          <a:solidFill>
            <a:srgbClr val="D5D7EE"/>
          </a:solidFill>
          <a:ln cap="flat">
            <a:noFill/>
            <a:miter/>
          </a:ln>
        </p:spPr>
      </p:sp>
      <p:sp>
        <p:nvSpPr>
          <p:cNvPr name="Freeform 78" id="78"/>
          <p:cNvSpPr/>
          <p:nvPr/>
        </p:nvSpPr>
        <p:spPr>
          <a:xfrm>
            <a:off x="6273255" y="3970732"/>
            <a:ext cx="23176" cy="32280"/>
          </a:xfrm>
          <a:custGeom>
            <a:avLst/>
            <a:gdLst/>
            <a:ahLst/>
            <a:cxnLst/>
            <a:rect r="r" b="b" t="t" l="l"/>
            <a:pathLst>
              <a:path h="32280" w="23176">
                <a:moveTo>
                  <a:pt x="0" y="16281"/>
                </a:moveTo>
                <a:cubicBezTo>
                  <a:pt x="0" y="25668"/>
                  <a:pt x="4409" y="32280"/>
                  <a:pt x="11661" y="32280"/>
                </a:cubicBezTo>
                <a:cubicBezTo>
                  <a:pt x="18986" y="32280"/>
                  <a:pt x="23176" y="25316"/>
                  <a:pt x="23176" y="16001"/>
                </a:cubicBezTo>
                <a:cubicBezTo>
                  <a:pt x="23176" y="7395"/>
                  <a:pt x="19055" y="0"/>
                  <a:pt x="11585" y="0"/>
                </a:cubicBezTo>
                <a:cubicBezTo>
                  <a:pt x="4263" y="2"/>
                  <a:pt x="0" y="6971"/>
                  <a:pt x="0" y="16281"/>
                </a:cubicBezTo>
                <a:close/>
              </a:path>
            </a:pathLst>
          </a:custGeom>
          <a:solidFill>
            <a:srgbClr val="D5D7EE"/>
          </a:solidFill>
          <a:ln cap="flat">
            <a:noFill/>
            <a:miter/>
          </a:ln>
        </p:spPr>
      </p:sp>
      <p:sp>
        <p:nvSpPr>
          <p:cNvPr name="GraphCompose Text Line" id="79"/>
          <p:cNvSpPr txBox="true"/>
          <p:nvPr/>
        </p:nvSpPr>
        <p:spPr>
          <a:xfrm>
            <a:off x="6503782" y="3809567"/>
            <a:ext cx="718655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950" b="true" i="false" u="none" strike="noStrike" kern="0">
                <a:solidFill>
                  <a:srgbClr val="E6E8F2"/>
                </a:solidFill>
                <a:latin typeface="Arial"/>
              </a:rPr>
              <a:t>DOCX export</a:t>
            </a:r>
            <a:endParaRPr lang="en-US" sz="1100"/>
          </a:p>
        </p:txBody>
      </p:sp>
      <p:sp>
        <p:nvSpPr>
          <p:cNvPr name="GraphCompose Text Line" id="80"/>
          <p:cNvSpPr txBox="true"/>
          <p:nvPr/>
        </p:nvSpPr>
        <p:spPr>
          <a:xfrm>
            <a:off x="6503782" y="4016571"/>
            <a:ext cx="689451" cy="88106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750" b="true" i="false" u="none" strike="noStrike" kern="0">
                <a:solidFill>
                  <a:srgbClr val="767E94"/>
                </a:solidFill>
                <a:latin typeface="Arial"/>
              </a:rPr>
              <a:t>Semantic export</a:t>
            </a:r>
            <a:endParaRPr lang="en-US" sz="1100"/>
          </a:p>
        </p:txBody>
      </p:sp>
      <p:sp>
        <p:nvSpPr>
          <p:cNvPr name="AutoShape 81" id="81"/>
          <p:cNvSpPr/>
          <p:nvPr/>
        </p:nvSpPr>
        <p:spPr>
          <a:xfrm>
            <a:off x="6033882" y="4383262"/>
            <a:ext cx="1397000" cy="558800"/>
          </a:xfrm>
          <a:prstGeom prst="roundRect">
            <a:avLst>
              <a:gd name="adj" fmla="val 18182"/>
            </a:avLst>
          </a:prstGeom>
          <a:solidFill>
            <a:srgbClr val="121221"/>
          </a:solidFill>
          <a:ln w="11430">
            <a:solidFill>
              <a:srgbClr val="3A385C"/>
            </a:solidFill>
          </a:ln>
        </p:spPr>
      </p:sp>
      <p:sp>
        <p:nvSpPr>
          <p:cNvPr name="Freeform 82" id="82"/>
          <p:cNvSpPr/>
          <p:nvPr/>
        </p:nvSpPr>
        <p:spPr>
          <a:xfrm>
            <a:off x="6253179" y="4598180"/>
            <a:ext cx="11135" cy="12786"/>
          </a:xfrm>
          <a:custGeom>
            <a:avLst/>
            <a:gdLst/>
            <a:ahLst/>
            <a:cxnLst/>
            <a:rect r="r" b="b" t="t" l="l"/>
            <a:pathLst>
              <a:path h="12786" w="11135">
                <a:moveTo>
                  <a:pt x="11135" y="6061"/>
                </a:moveTo>
                <a:cubicBezTo>
                  <a:pt x="11135" y="2265"/>
                  <a:pt x="8504" y="0"/>
                  <a:pt x="3841" y="0"/>
                </a:cubicBezTo>
                <a:cubicBezTo>
                  <a:pt x="1957" y="0"/>
                  <a:pt x="673" y="188"/>
                  <a:pt x="0" y="367"/>
                </a:cubicBezTo>
                <a:lnTo>
                  <a:pt x="0" y="12548"/>
                </a:lnTo>
                <a:cubicBezTo>
                  <a:pt x="792" y="12727"/>
                  <a:pt x="1764" y="12787"/>
                  <a:pt x="3109" y="12787"/>
                </a:cubicBezTo>
                <a:cubicBezTo>
                  <a:pt x="8071" y="12787"/>
                  <a:pt x="11135" y="10284"/>
                  <a:pt x="11135" y="6061"/>
                </a:cubicBezTo>
                <a:close/>
              </a:path>
            </a:pathLst>
          </a:custGeom>
          <a:solidFill>
            <a:srgbClr val="D5D7EE"/>
          </a:solidFill>
          <a:ln cap="flat">
            <a:noFill/>
            <a:miter/>
          </a:ln>
        </p:spPr>
      </p:sp>
      <p:sp>
        <p:nvSpPr>
          <p:cNvPr name="Freeform 83" id="83"/>
          <p:cNvSpPr/>
          <p:nvPr/>
        </p:nvSpPr>
        <p:spPr>
          <a:xfrm>
            <a:off x="6217610" y="4598180"/>
            <a:ext cx="11134" cy="12786"/>
          </a:xfrm>
          <a:custGeom>
            <a:avLst/>
            <a:gdLst/>
            <a:ahLst/>
            <a:cxnLst/>
            <a:rect r="r" b="b" t="t" l="l"/>
            <a:pathLst>
              <a:path h="12786" w="11134">
                <a:moveTo>
                  <a:pt x="3856" y="0"/>
                </a:moveTo>
                <a:cubicBezTo>
                  <a:pt x="1958" y="0"/>
                  <a:pt x="672" y="188"/>
                  <a:pt x="0" y="367"/>
                </a:cubicBezTo>
                <a:lnTo>
                  <a:pt x="0" y="12548"/>
                </a:lnTo>
                <a:cubicBezTo>
                  <a:pt x="792" y="12727"/>
                  <a:pt x="1771" y="12787"/>
                  <a:pt x="3124" y="12787"/>
                </a:cubicBezTo>
                <a:cubicBezTo>
                  <a:pt x="8070" y="12787"/>
                  <a:pt x="11134" y="10284"/>
                  <a:pt x="11134" y="6061"/>
                </a:cubicBezTo>
                <a:cubicBezTo>
                  <a:pt x="11134" y="2265"/>
                  <a:pt x="8504" y="0"/>
                  <a:pt x="3856" y="0"/>
                </a:cubicBezTo>
                <a:close/>
              </a:path>
            </a:pathLst>
          </a:custGeom>
          <a:solidFill>
            <a:srgbClr val="D5D7EE"/>
          </a:solidFill>
          <a:ln cap="flat">
            <a:noFill/>
            <a:miter/>
          </a:ln>
        </p:spPr>
      </p:sp>
      <p:sp>
        <p:nvSpPr>
          <p:cNvPr name="Freeform 84" id="84"/>
          <p:cNvSpPr/>
          <p:nvPr/>
        </p:nvSpPr>
        <p:spPr>
          <a:xfrm>
            <a:off x="6187750" y="4548362"/>
            <a:ext cx="225664" cy="228600"/>
          </a:xfrm>
          <a:custGeom>
            <a:avLst/>
            <a:gdLst/>
            <a:ahLst/>
            <a:cxnLst/>
            <a:rect r="r" b="b" t="t" l="l"/>
            <a:pathLst>
              <a:path h="228600" w="225664">
                <a:moveTo>
                  <a:pt x="167878" y="0"/>
                </a:moveTo>
                <a:lnTo>
                  <a:pt x="76063" y="0"/>
                </a:lnTo>
                <a:cubicBezTo>
                  <a:pt x="62650" y="0"/>
                  <a:pt x="51732" y="10925"/>
                  <a:pt x="51732" y="24330"/>
                </a:cubicBezTo>
                <a:lnTo>
                  <a:pt x="51732" y="28836"/>
                </a:lnTo>
                <a:lnTo>
                  <a:pt x="9804" y="28836"/>
                </a:lnTo>
                <a:cubicBezTo>
                  <a:pt x="4386" y="28836"/>
                  <a:pt x="0" y="33223"/>
                  <a:pt x="0" y="38640"/>
                </a:cubicBezTo>
                <a:lnTo>
                  <a:pt x="0" y="88564"/>
                </a:lnTo>
                <a:cubicBezTo>
                  <a:pt x="0" y="93982"/>
                  <a:pt x="4386" y="98369"/>
                  <a:pt x="9804" y="98369"/>
                </a:cubicBezTo>
                <a:lnTo>
                  <a:pt x="51732" y="98369"/>
                </a:lnTo>
                <a:lnTo>
                  <a:pt x="51732" y="204270"/>
                </a:lnTo>
                <a:cubicBezTo>
                  <a:pt x="51732" y="217690"/>
                  <a:pt x="62650" y="228600"/>
                  <a:pt x="76063" y="228600"/>
                </a:cubicBezTo>
                <a:lnTo>
                  <a:pt x="201341" y="228600"/>
                </a:lnTo>
                <a:cubicBezTo>
                  <a:pt x="214746" y="228600"/>
                  <a:pt x="225664" y="217690"/>
                  <a:pt x="225664" y="204270"/>
                </a:cubicBezTo>
                <a:lnTo>
                  <a:pt x="225664" y="57583"/>
                </a:lnTo>
                <a:lnTo>
                  <a:pt x="167878" y="0"/>
                </a:lnTo>
                <a:close/>
                <a:moveTo>
                  <a:pt x="46434" y="65421"/>
                </a:moveTo>
                <a:cubicBezTo>
                  <a:pt x="43251" y="68418"/>
                  <a:pt x="38543" y="69764"/>
                  <a:pt x="33044" y="69764"/>
                </a:cubicBezTo>
                <a:cubicBezTo>
                  <a:pt x="31818" y="69764"/>
                  <a:pt x="30712" y="69703"/>
                  <a:pt x="29860" y="69584"/>
                </a:cubicBezTo>
                <a:lnTo>
                  <a:pt x="29860" y="84327"/>
                </a:lnTo>
                <a:lnTo>
                  <a:pt x="20624" y="84327"/>
                </a:lnTo>
                <a:lnTo>
                  <a:pt x="20624" y="43639"/>
                </a:lnTo>
                <a:cubicBezTo>
                  <a:pt x="23493" y="43154"/>
                  <a:pt x="27529" y="42788"/>
                  <a:pt x="33223" y="42788"/>
                </a:cubicBezTo>
                <a:cubicBezTo>
                  <a:pt x="38977" y="42788"/>
                  <a:pt x="43071" y="43886"/>
                  <a:pt x="45821" y="46090"/>
                </a:cubicBezTo>
                <a:cubicBezTo>
                  <a:pt x="48451" y="48168"/>
                  <a:pt x="50231" y="51598"/>
                  <a:pt x="50231" y="55633"/>
                </a:cubicBezTo>
                <a:cubicBezTo>
                  <a:pt x="50231" y="59669"/>
                  <a:pt x="48885" y="63098"/>
                  <a:pt x="46434" y="65421"/>
                </a:cubicBezTo>
                <a:close/>
                <a:moveTo>
                  <a:pt x="65430" y="84328"/>
                </a:moveTo>
                <a:lnTo>
                  <a:pt x="56178" y="84328"/>
                </a:lnTo>
                <a:lnTo>
                  <a:pt x="56178" y="43639"/>
                </a:lnTo>
                <a:cubicBezTo>
                  <a:pt x="59063" y="43154"/>
                  <a:pt x="63098" y="42788"/>
                  <a:pt x="68792" y="42788"/>
                </a:cubicBezTo>
                <a:cubicBezTo>
                  <a:pt x="74546" y="42788"/>
                  <a:pt x="78641" y="43886"/>
                  <a:pt x="81390" y="46090"/>
                </a:cubicBezTo>
                <a:cubicBezTo>
                  <a:pt x="84021" y="48168"/>
                  <a:pt x="85799" y="51598"/>
                  <a:pt x="85799" y="55633"/>
                </a:cubicBezTo>
                <a:cubicBezTo>
                  <a:pt x="85799" y="59669"/>
                  <a:pt x="84454" y="63098"/>
                  <a:pt x="82004" y="65421"/>
                </a:cubicBezTo>
                <a:cubicBezTo>
                  <a:pt x="78820" y="68418"/>
                  <a:pt x="74113" y="69764"/>
                  <a:pt x="68598" y="69764"/>
                </a:cubicBezTo>
                <a:cubicBezTo>
                  <a:pt x="67387" y="69764"/>
                  <a:pt x="66281" y="69703"/>
                  <a:pt x="65430" y="69584"/>
                </a:cubicBezTo>
                <a:lnTo>
                  <a:pt x="65430" y="84328"/>
                </a:lnTo>
                <a:close/>
                <a:moveTo>
                  <a:pt x="201340" y="213700"/>
                </a:moveTo>
                <a:lnTo>
                  <a:pt x="76063" y="213700"/>
                </a:lnTo>
                <a:cubicBezTo>
                  <a:pt x="70869" y="213700"/>
                  <a:pt x="66641" y="209470"/>
                  <a:pt x="66641" y="204270"/>
                </a:cubicBezTo>
                <a:lnTo>
                  <a:pt x="66641" y="98369"/>
                </a:lnTo>
                <a:lnTo>
                  <a:pt x="132892" y="98369"/>
                </a:lnTo>
                <a:cubicBezTo>
                  <a:pt x="138309" y="98369"/>
                  <a:pt x="142695" y="93982"/>
                  <a:pt x="142695" y="88564"/>
                </a:cubicBezTo>
                <a:lnTo>
                  <a:pt x="142695" y="38640"/>
                </a:lnTo>
                <a:cubicBezTo>
                  <a:pt x="142695" y="33223"/>
                  <a:pt x="138309" y="28836"/>
                  <a:pt x="132892" y="28836"/>
                </a:cubicBezTo>
                <a:lnTo>
                  <a:pt x="66641" y="28836"/>
                </a:lnTo>
                <a:lnTo>
                  <a:pt x="66641" y="24330"/>
                </a:lnTo>
                <a:cubicBezTo>
                  <a:pt x="66641" y="19144"/>
                  <a:pt x="70869" y="14915"/>
                  <a:pt x="76063" y="14915"/>
                </a:cubicBezTo>
                <a:lnTo>
                  <a:pt x="162304" y="14825"/>
                </a:lnTo>
                <a:lnTo>
                  <a:pt x="162304" y="46703"/>
                </a:lnTo>
                <a:cubicBezTo>
                  <a:pt x="162304" y="56014"/>
                  <a:pt x="169858" y="63576"/>
                  <a:pt x="179177" y="63576"/>
                </a:cubicBezTo>
                <a:lnTo>
                  <a:pt x="210405" y="63486"/>
                </a:lnTo>
                <a:lnTo>
                  <a:pt x="210756" y="204270"/>
                </a:lnTo>
                <a:cubicBezTo>
                  <a:pt x="210756" y="209470"/>
                  <a:pt x="206534" y="213700"/>
                  <a:pt x="201340" y="213700"/>
                </a:cubicBezTo>
                <a:close/>
                <a:moveTo>
                  <a:pt x="88640" y="50925"/>
                </a:moveTo>
                <a:lnTo>
                  <a:pt x="88640" y="43094"/>
                </a:lnTo>
                <a:lnTo>
                  <a:pt x="120322" y="43094"/>
                </a:lnTo>
                <a:lnTo>
                  <a:pt x="120322" y="50925"/>
                </a:lnTo>
                <a:lnTo>
                  <a:pt x="109069" y="50925"/>
                </a:lnTo>
                <a:lnTo>
                  <a:pt x="109069" y="84327"/>
                </a:lnTo>
                <a:lnTo>
                  <a:pt x="99713" y="84327"/>
                </a:lnTo>
                <a:lnTo>
                  <a:pt x="99713" y="50925"/>
                </a:lnTo>
                <a:lnTo>
                  <a:pt x="88640" y="50925"/>
                </a:lnTo>
                <a:close/>
              </a:path>
            </a:pathLst>
          </a:custGeom>
          <a:solidFill>
            <a:srgbClr val="D5D7EE"/>
          </a:solidFill>
          <a:ln cap="flat">
            <a:noFill/>
            <a:miter/>
          </a:ln>
        </p:spPr>
      </p:sp>
      <p:sp>
        <p:nvSpPr>
          <p:cNvPr name="Freeform 85" id="85"/>
          <p:cNvSpPr/>
          <p:nvPr/>
        </p:nvSpPr>
        <p:spPr>
          <a:xfrm>
            <a:off x="6275552" y="4659022"/>
            <a:ext cx="92353" cy="92354"/>
          </a:xfrm>
          <a:custGeom>
            <a:avLst/>
            <a:gdLst/>
            <a:ahLst/>
            <a:cxnLst/>
            <a:rect r="r" b="b" t="t" l="l"/>
            <a:pathLst>
              <a:path h="92354" w="92353">
                <a:moveTo>
                  <a:pt x="89469" y="33590"/>
                </a:moveTo>
                <a:cubicBezTo>
                  <a:pt x="88588" y="33082"/>
                  <a:pt x="87534" y="32977"/>
                  <a:pt x="86577" y="33291"/>
                </a:cubicBezTo>
                <a:lnTo>
                  <a:pt x="52711" y="44104"/>
                </a:lnTo>
                <a:cubicBezTo>
                  <a:pt x="51426" y="44507"/>
                  <a:pt x="50036" y="44171"/>
                  <a:pt x="49072" y="43229"/>
                </a:cubicBezTo>
                <a:cubicBezTo>
                  <a:pt x="48115" y="42296"/>
                  <a:pt x="47750" y="40897"/>
                  <a:pt x="48137" y="39620"/>
                </a:cubicBezTo>
                <a:lnTo>
                  <a:pt x="58285" y="5560"/>
                </a:lnTo>
                <a:cubicBezTo>
                  <a:pt x="58577" y="4588"/>
                  <a:pt x="58442" y="3535"/>
                  <a:pt x="57919" y="2668"/>
                </a:cubicBezTo>
                <a:cubicBezTo>
                  <a:pt x="57411" y="1802"/>
                  <a:pt x="56545" y="1189"/>
                  <a:pt x="55558" y="979"/>
                </a:cubicBezTo>
                <a:cubicBezTo>
                  <a:pt x="52532" y="344"/>
                  <a:pt x="49393" y="0"/>
                  <a:pt x="46187" y="0"/>
                </a:cubicBezTo>
                <a:cubicBezTo>
                  <a:pt x="20676" y="0"/>
                  <a:pt x="0" y="20684"/>
                  <a:pt x="0" y="46181"/>
                </a:cubicBezTo>
                <a:cubicBezTo>
                  <a:pt x="0" y="71693"/>
                  <a:pt x="20676" y="92354"/>
                  <a:pt x="46187" y="92354"/>
                </a:cubicBezTo>
                <a:cubicBezTo>
                  <a:pt x="71676" y="92354"/>
                  <a:pt x="92353" y="71693"/>
                  <a:pt x="92353" y="46181"/>
                </a:cubicBezTo>
                <a:cubicBezTo>
                  <a:pt x="92353" y="42661"/>
                  <a:pt x="91957" y="39224"/>
                  <a:pt x="91202" y="35928"/>
                </a:cubicBezTo>
                <a:cubicBezTo>
                  <a:pt x="90979" y="34935"/>
                  <a:pt x="90350" y="34091"/>
                  <a:pt x="89469" y="33590"/>
                </a:cubicBezTo>
                <a:close/>
              </a:path>
            </a:pathLst>
          </a:custGeom>
          <a:solidFill>
            <a:srgbClr val="D5D7EE"/>
          </a:solidFill>
          <a:ln cap="flat">
            <a:noFill/>
            <a:miter/>
          </a:ln>
        </p:spPr>
      </p:sp>
      <p:sp>
        <p:nvSpPr>
          <p:cNvPr name="Freeform 86" id="86"/>
          <p:cNvSpPr/>
          <p:nvPr/>
        </p:nvSpPr>
        <p:spPr>
          <a:xfrm>
            <a:off x="6330316" y="4645449"/>
            <a:ext cx="50917" cy="51168"/>
          </a:xfrm>
          <a:custGeom>
            <a:avLst/>
            <a:gdLst/>
            <a:ahLst/>
            <a:cxnLst/>
            <a:rect r="r" b="b" t="t" l="l"/>
            <a:pathLst>
              <a:path h="51168" w="50917">
                <a:moveTo>
                  <a:pt x="17637" y="145"/>
                </a:moveTo>
                <a:cubicBezTo>
                  <a:pt x="15807" y="-400"/>
                  <a:pt x="13871" y="639"/>
                  <a:pt x="13326" y="2477"/>
                </a:cubicBezTo>
                <a:lnTo>
                  <a:pt x="144" y="46715"/>
                </a:lnTo>
                <a:cubicBezTo>
                  <a:pt x="-222" y="47948"/>
                  <a:pt x="122" y="49285"/>
                  <a:pt x="1041" y="50174"/>
                </a:cubicBezTo>
                <a:cubicBezTo>
                  <a:pt x="1691" y="50817"/>
                  <a:pt x="2573" y="51169"/>
                  <a:pt x="3462" y="51169"/>
                </a:cubicBezTo>
                <a:cubicBezTo>
                  <a:pt x="3821" y="51169"/>
                  <a:pt x="4172" y="51123"/>
                  <a:pt x="4516" y="51004"/>
                </a:cubicBezTo>
                <a:lnTo>
                  <a:pt x="48507" y="36963"/>
                </a:lnTo>
                <a:cubicBezTo>
                  <a:pt x="50330" y="36373"/>
                  <a:pt x="51339" y="34430"/>
                  <a:pt x="50749" y="32606"/>
                </a:cubicBezTo>
                <a:cubicBezTo>
                  <a:pt x="45765" y="16959"/>
                  <a:pt x="33390" y="4824"/>
                  <a:pt x="17637" y="145"/>
                </a:cubicBezTo>
                <a:close/>
                <a:moveTo>
                  <a:pt x="8656" y="42411"/>
                </a:moveTo>
                <a:lnTo>
                  <a:pt x="18945" y="7910"/>
                </a:lnTo>
                <a:cubicBezTo>
                  <a:pt x="29840" y="12131"/>
                  <a:pt x="38524" y="20643"/>
                  <a:pt x="42970" y="31455"/>
                </a:cubicBezTo>
                <a:lnTo>
                  <a:pt x="8656" y="42411"/>
                </a:lnTo>
                <a:close/>
              </a:path>
            </a:pathLst>
          </a:custGeom>
          <a:solidFill>
            <a:srgbClr val="D5D7EE"/>
          </a:solidFill>
          <a:ln cap="flat">
            <a:noFill/>
            <a:miter/>
          </a:ln>
        </p:spPr>
      </p:sp>
      <p:sp>
        <p:nvSpPr>
          <p:cNvPr name="GraphCompose Text Line" id="87"/>
          <p:cNvSpPr txBox="true"/>
          <p:nvPr/>
        </p:nvSpPr>
        <p:spPr>
          <a:xfrm>
            <a:off x="6503782" y="4495367"/>
            <a:ext cx="316408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950" b="true" i="false" u="none" strike="noStrike" kern="0">
                <a:solidFill>
                  <a:srgbClr val="E6E8F2"/>
                </a:solidFill>
                <a:latin typeface="Arial"/>
              </a:rPr>
              <a:t>PPTX</a:t>
            </a:r>
            <a:endParaRPr lang="en-US" sz="1100"/>
          </a:p>
        </p:txBody>
      </p:sp>
      <p:sp>
        <p:nvSpPr>
          <p:cNvPr name="GraphCompose Text Line" id="88"/>
          <p:cNvSpPr txBox="true"/>
          <p:nvPr/>
        </p:nvSpPr>
        <p:spPr>
          <a:xfrm>
            <a:off x="6503782" y="4702371"/>
            <a:ext cx="350742" cy="88106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750" b="true" i="false" u="none" strike="noStrike" kern="0">
                <a:solidFill>
                  <a:srgbClr val="767E94"/>
                </a:solidFill>
                <a:latin typeface="Arial"/>
              </a:rPr>
              <a:t>Planned</a:t>
            </a:r>
            <a:endParaRPr lang="en-US" sz="1100"/>
          </a:p>
        </p:txBody>
      </p:sp>
      <p:sp>
        <p:nvSpPr>
          <p:cNvPr name="GraphCompose Text Line" id="89"/>
          <p:cNvSpPr txBox="true"/>
          <p:nvPr/>
        </p:nvSpPr>
        <p:spPr>
          <a:xfrm>
            <a:off x="7664610" y="3854064"/>
            <a:ext cx="194107" cy="305435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2600" b="true" i="false" u="none" strike="noStrike" kern="0">
                <a:solidFill>
                  <a:srgbClr val="7C5CFC"/>
                </a:solidFill>
                <a:latin typeface="Arial"/>
              </a:rPr>
              <a:t>&gt;</a:t>
            </a:r>
            <a:endParaRPr lang="en-US" sz="1100"/>
          </a:p>
        </p:txBody>
      </p:sp>
      <p:sp>
        <p:nvSpPr>
          <p:cNvPr name="GraphCompose Inline Text Span" id="90"/>
          <p:cNvSpPr txBox="true"/>
          <p:nvPr/>
        </p:nvSpPr>
        <p:spPr>
          <a:xfrm>
            <a:off x="7944124" y="2658648"/>
            <a:ext cx="114249" cy="18796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1600" b="true" i="false" u="none" strike="noStrike" kern="0">
                <a:solidFill>
                  <a:srgbClr val="7C5CFC"/>
                </a:solidFill>
                <a:latin typeface="Arial"/>
              </a:rPr>
              <a:t>4</a:t>
            </a:r>
            <a:endParaRPr lang="en-US" sz="1100"/>
          </a:p>
        </p:txBody>
      </p:sp>
      <p:sp>
        <p:nvSpPr>
          <p:cNvPr name="GraphCompose Inline Text Span" id="91"/>
          <p:cNvSpPr txBox="true"/>
          <p:nvPr/>
        </p:nvSpPr>
        <p:spPr>
          <a:xfrm>
            <a:off x="8057103" y="2693139"/>
            <a:ext cx="138963" cy="152718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1300" b="true" i="false" u="none" strike="noStrike" kern="0">
                <a:solidFill>
                  <a:srgbClr val="E6E8F2"/>
                </a:solidFill>
                <a:latin typeface="Arial"/>
              </a:rPr>
              <a:t>   </a:t>
            </a:r>
            <a:endParaRPr lang="en-US" sz="1100"/>
          </a:p>
        </p:txBody>
      </p:sp>
      <p:sp>
        <p:nvSpPr>
          <p:cNvPr name="GraphCompose Inline Text Span" id="92"/>
          <p:cNvSpPr txBox="true"/>
          <p:nvPr/>
        </p:nvSpPr>
        <p:spPr>
          <a:xfrm>
            <a:off x="8194797" y="2693139"/>
            <a:ext cx="340716" cy="152718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1300" b="true" i="false" u="none" strike="noStrike" kern="0">
                <a:solidFill>
                  <a:srgbClr val="E6E8F2"/>
                </a:solidFill>
                <a:latin typeface="Arial"/>
              </a:rPr>
              <a:t>Real</a:t>
            </a:r>
            <a:endParaRPr lang="en-US" sz="1100"/>
          </a:p>
        </p:txBody>
      </p:sp>
      <p:sp>
        <p:nvSpPr>
          <p:cNvPr name="GraphCompose Inline Text Span" id="93"/>
          <p:cNvSpPr txBox="true"/>
          <p:nvPr/>
        </p:nvSpPr>
        <p:spPr>
          <a:xfrm>
            <a:off x="8534242" y="2693139"/>
            <a:ext cx="47168" cy="152718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1300" b="true" i="false" u="none" strike="noStrike" kern="0">
                <a:solidFill>
                  <a:srgbClr val="E6E8F2"/>
                </a:solidFill>
                <a:latin typeface="Arial"/>
              </a:rPr>
              <a:t> </a:t>
            </a:r>
            <a:endParaRPr lang="en-US" sz="1100"/>
          </a:p>
        </p:txBody>
      </p:sp>
      <p:sp>
        <p:nvSpPr>
          <p:cNvPr name="GraphCompose Inline Text Span" id="94"/>
          <p:cNvSpPr txBox="true"/>
          <p:nvPr/>
        </p:nvSpPr>
        <p:spPr>
          <a:xfrm>
            <a:off x="8580140" y="2693139"/>
            <a:ext cx="331470" cy="152718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1300" b="true" i="false" u="none" strike="noStrike" kern="0">
                <a:solidFill>
                  <a:srgbClr val="E6E8F2"/>
                </a:solidFill>
                <a:latin typeface="Arial"/>
              </a:rPr>
              <a:t>PDF</a:t>
            </a:r>
            <a:endParaRPr lang="en-US" sz="1100"/>
          </a:p>
        </p:txBody>
      </p:sp>
      <p:sp>
        <p:nvSpPr>
          <p:cNvPr name="GraphCompose Inline Text Span" id="95"/>
          <p:cNvSpPr txBox="true"/>
          <p:nvPr/>
        </p:nvSpPr>
        <p:spPr>
          <a:xfrm>
            <a:off x="8910340" y="2693139"/>
            <a:ext cx="47168" cy="152718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1300" b="true" i="false" u="none" strike="noStrike" kern="0">
                <a:solidFill>
                  <a:srgbClr val="E6E8F2"/>
                </a:solidFill>
                <a:latin typeface="Arial"/>
              </a:rPr>
              <a:t> </a:t>
            </a:r>
            <a:endParaRPr lang="en-US" sz="1100"/>
          </a:p>
        </p:txBody>
      </p:sp>
      <p:sp>
        <p:nvSpPr>
          <p:cNvPr name="GraphCompose Inline Text Span" id="96"/>
          <p:cNvSpPr txBox="true"/>
          <p:nvPr/>
        </p:nvSpPr>
        <p:spPr>
          <a:xfrm>
            <a:off x="8956238" y="2693139"/>
            <a:ext cx="496900" cy="152718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1300" b="true" i="false" u="none" strike="noStrike" kern="0">
                <a:solidFill>
                  <a:srgbClr val="E6E8F2"/>
                </a:solidFill>
                <a:latin typeface="Arial"/>
              </a:rPr>
              <a:t>Output</a:t>
            </a:r>
            <a:endParaRPr lang="en-US" sz="1100"/>
          </a:p>
        </p:txBody>
      </p:sp>
      <p:sp>
        <p:nvSpPr>
          <p:cNvPr name="AutoShape 97" id="97"/>
          <p:cNvSpPr/>
          <p:nvPr/>
        </p:nvSpPr>
        <p:spPr>
          <a:xfrm>
            <a:off x="7944124" y="3011662"/>
            <a:ext cx="2209800" cy="1855817"/>
          </a:xfrm>
          <a:prstGeom prst="rect">
            <a:avLst/>
          </a:prstGeom>
          <a:solidFill>
            <a:srgbClr val="121221"/>
          </a:solidFill>
          <a:ln>
            <a:noFill/>
          </a:ln>
        </p:spPr>
      </p:sp>
      <p:pic>
        <p:nvPicPr>
          <p:cNvPr name="GraphCompose Clipped Composite" id="98"/>
          <p:cNvPicPr>
            <a:picLocks noChangeAspect="true"/>
          </p:cNvPicPr>
          <p:nvPr/>
        </p:nvPicPr>
        <p:blipFill>
          <a:blip r:embed="rId6"/>
          <a:stretch>
            <a:fillRect/>
          </a:stretch>
        </p:blipFill>
        <p:spPr>
          <a:xfrm>
            <a:off x="7944124" y="3011662"/>
            <a:ext cx="2209800" cy="1855817"/>
          </a:xfrm>
          <a:prstGeom prst="rect">
            <a:avLst/>
          </a:prstGeom>
        </p:spPr>
      </p:pic>
      <p:sp>
        <p:nvSpPr>
          <p:cNvPr name="GraphCompose Text Line" id="99"/>
          <p:cNvSpPr txBox="true"/>
          <p:nvPr/>
        </p:nvSpPr>
        <p:spPr>
          <a:xfrm>
            <a:off x="7944124" y="5077052"/>
            <a:ext cx="2163928" cy="9398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00" b="false" i="false" u="none" strike="noStrike" kern="0">
                <a:solidFill>
                  <a:srgbClr val="989CB2"/>
                </a:solidFill>
                <a:latin typeface="Arial"/>
              </a:rPr>
              <a:t>CVs, invoices, reports — every one rendered by</a:t>
            </a:r>
            <a:endParaRPr lang="en-US" sz="1100"/>
          </a:p>
        </p:txBody>
      </p:sp>
      <p:sp>
        <p:nvSpPr>
          <p:cNvPr name="GraphCompose Text Line" id="100"/>
          <p:cNvSpPr txBox="true"/>
          <p:nvPr/>
        </p:nvSpPr>
        <p:spPr>
          <a:xfrm>
            <a:off x="7944124" y="5187542"/>
            <a:ext cx="1029157" cy="9398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00" b="false" i="false" u="none" strike="noStrike" kern="0">
                <a:solidFill>
                  <a:srgbClr val="989CB2"/>
                </a:solidFill>
                <a:latin typeface="Arial"/>
              </a:rPr>
              <a:t>the engine in this repo.</a:t>
            </a:r>
            <a:endParaRPr lang="en-US" sz="1100"/>
          </a:p>
        </p:txBody>
      </p:sp>
      <p:sp>
        <p:nvSpPr>
          <p:cNvPr name="AutoShape 101" id="101"/>
          <p:cNvSpPr/>
          <p:nvPr/>
        </p:nvSpPr>
        <p:spPr>
          <a:xfrm>
            <a:off x="431800" y="5579949"/>
            <a:ext cx="9512300" cy="15240"/>
          </a:xfrm>
          <a:prstGeom prst="rect">
            <a:avLst/>
          </a:prstGeom>
          <a:solidFill>
            <a:srgbClr val="3A385C"/>
          </a:solidFill>
          <a:ln>
            <a:noFill/>
          </a:ln>
        </p:spPr>
      </p:sp>
      <p:sp>
        <p:nvSpPr>
          <p:cNvPr name="AutoShape 102" id="102"/>
          <p:cNvSpPr/>
          <p:nvPr/>
        </p:nvSpPr>
        <p:spPr>
          <a:xfrm>
            <a:off x="552275" y="5798389"/>
            <a:ext cx="2006600" cy="533400"/>
          </a:xfrm>
          <a:prstGeom prst="roundRect">
            <a:avLst>
              <a:gd name="adj" fmla="val 21429"/>
            </a:avLst>
          </a:prstGeom>
          <a:solidFill>
            <a:srgbClr val="24233C"/>
          </a:solidFill>
          <a:ln w="10160">
            <a:solidFill>
              <a:srgbClr val="3A385C"/>
            </a:solidFill>
          </a:ln>
        </p:spPr>
      </p:sp>
      <p:pic>
        <p:nvPicPr>
          <p:cNvPr name="GraphCompose Clipped Composite" id="103"/>
          <p:cNvPicPr>
            <a:picLocks noChangeAspect="true"/>
          </p:cNvPicPr>
          <p:nvPr/>
        </p:nvPicPr>
        <p:blipFill>
          <a:blip r:embed="rId7"/>
          <a:stretch>
            <a:fillRect/>
          </a:stretch>
        </p:blipFill>
        <p:spPr>
          <a:xfrm>
            <a:off x="755475" y="5928240"/>
            <a:ext cx="279400" cy="273698"/>
          </a:xfrm>
          <a:prstGeom prst="rect">
            <a:avLst/>
          </a:prstGeom>
        </p:spPr>
      </p:pic>
      <p:sp>
        <p:nvSpPr>
          <p:cNvPr name="GraphCompose Text Line" id="104"/>
          <p:cNvSpPr txBox="true"/>
          <p:nvPr/>
        </p:nvSpPr>
        <p:spPr>
          <a:xfrm>
            <a:off x="1136475" y="5986693"/>
            <a:ext cx="712140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950" b="true" i="false" u="none" strike="noStrike" kern="0">
                <a:solidFill>
                  <a:srgbClr val="E6E8F2"/>
                </a:solidFill>
                <a:latin typeface="Arial"/>
              </a:rPr>
              <a:t>Open Source</a:t>
            </a:r>
            <a:endParaRPr lang="en-US" sz="1100"/>
          </a:p>
        </p:txBody>
      </p:sp>
      <p:sp>
        <p:nvSpPr>
          <p:cNvPr name="AutoShape 105" id="105"/>
          <p:cNvSpPr/>
          <p:nvPr/>
        </p:nvSpPr>
        <p:spPr>
          <a:xfrm>
            <a:off x="3079225" y="5798389"/>
            <a:ext cx="2006600" cy="533400"/>
          </a:xfrm>
          <a:prstGeom prst="roundRect">
            <a:avLst>
              <a:gd name="adj" fmla="val 21429"/>
            </a:avLst>
          </a:prstGeom>
          <a:solidFill>
            <a:srgbClr val="24233C"/>
          </a:solidFill>
          <a:ln w="10160">
            <a:solidFill>
              <a:srgbClr val="3A385C"/>
            </a:solidFill>
          </a:ln>
        </p:spPr>
      </p:sp>
      <p:pic>
        <p:nvPicPr>
          <p:cNvPr name="GraphCompose Clipped Composite" id="106"/>
          <p:cNvPicPr>
            <a:picLocks noChangeAspect="true"/>
          </p:cNvPicPr>
          <p:nvPr/>
        </p:nvPicPr>
        <p:blipFill>
          <a:blip r:embed="rId8"/>
          <a:stretch>
            <a:fillRect/>
          </a:stretch>
        </p:blipFill>
        <p:spPr>
          <a:xfrm>
            <a:off x="3282425" y="5925389"/>
            <a:ext cx="279400" cy="279400"/>
          </a:xfrm>
          <a:prstGeom prst="rect">
            <a:avLst/>
          </a:prstGeom>
        </p:spPr>
      </p:pic>
      <p:sp>
        <p:nvSpPr>
          <p:cNvPr name="GraphCompose Text Line" id="107"/>
          <p:cNvSpPr txBox="true"/>
          <p:nvPr/>
        </p:nvSpPr>
        <p:spPr>
          <a:xfrm>
            <a:off x="3663425" y="5986693"/>
            <a:ext cx="785736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950" b="true" i="false" u="none" strike="noStrike" kern="0">
                <a:solidFill>
                  <a:srgbClr val="E6E8F2"/>
                </a:solidFill>
                <a:latin typeface="Arial"/>
              </a:rPr>
              <a:t>Maven Central</a:t>
            </a:r>
            <a:endParaRPr lang="en-US" sz="1100"/>
          </a:p>
        </p:txBody>
      </p:sp>
      <p:sp>
        <p:nvSpPr>
          <p:cNvPr name="AutoShape 108" id="108"/>
          <p:cNvSpPr/>
          <p:nvPr/>
        </p:nvSpPr>
        <p:spPr>
          <a:xfrm>
            <a:off x="5606175" y="5798389"/>
            <a:ext cx="2006600" cy="533400"/>
          </a:xfrm>
          <a:prstGeom prst="roundRect">
            <a:avLst>
              <a:gd name="adj" fmla="val 21429"/>
            </a:avLst>
          </a:prstGeom>
          <a:solidFill>
            <a:srgbClr val="24233C"/>
          </a:solidFill>
          <a:ln w="10160">
            <a:solidFill>
              <a:srgbClr val="3A385C"/>
            </a:solidFill>
          </a:ln>
        </p:spPr>
      </p:sp>
      <p:sp>
        <p:nvSpPr>
          <p:cNvPr name="Freeform 109" id="109"/>
          <p:cNvSpPr/>
          <p:nvPr/>
        </p:nvSpPr>
        <p:spPr>
          <a:xfrm>
            <a:off x="5852519" y="5934155"/>
            <a:ext cx="193115" cy="261863"/>
          </a:xfrm>
          <a:custGeom>
            <a:avLst/>
            <a:gdLst/>
            <a:ahLst/>
            <a:cxnLst/>
            <a:rect r="r" b="b" t="t" l="l"/>
            <a:pathLst>
              <a:path h="261863" w="193115">
                <a:moveTo>
                  <a:pt x="71829" y="261038"/>
                </a:moveTo>
                <a:cubicBezTo>
                  <a:pt x="118987" y="264059"/>
                  <a:pt x="191404" y="259370"/>
                  <a:pt x="193115" y="237053"/>
                </a:cubicBezTo>
                <a:cubicBezTo>
                  <a:pt x="193115" y="237053"/>
                  <a:pt x="189823" y="245505"/>
                  <a:pt x="154139" y="252228"/>
                </a:cubicBezTo>
                <a:cubicBezTo>
                  <a:pt x="134432" y="255782"/>
                  <a:pt x="111748" y="257807"/>
                  <a:pt x="88584" y="257807"/>
                </a:cubicBezTo>
                <a:cubicBezTo>
                  <a:pt x="69611" y="257807"/>
                  <a:pt x="50961" y="256445"/>
                  <a:pt x="32722" y="253817"/>
                </a:cubicBezTo>
                <a:lnTo>
                  <a:pt x="34809" y="254062"/>
                </a:lnTo>
                <a:cubicBezTo>
                  <a:pt x="34809" y="254053"/>
                  <a:pt x="40842" y="259047"/>
                  <a:pt x="71829" y="261038"/>
                </a:cubicBezTo>
                <a:close/>
                <a:moveTo>
                  <a:pt x="122750" y="0"/>
                </a:moveTo>
                <a:cubicBezTo>
                  <a:pt x="122750" y="0"/>
                  <a:pt x="149965" y="27215"/>
                  <a:pt x="96949" y="69064"/>
                </a:cubicBezTo>
                <a:cubicBezTo>
                  <a:pt x="54436" y="102636"/>
                  <a:pt x="87257" y="121783"/>
                  <a:pt x="96940" y="143655"/>
                </a:cubicBezTo>
                <a:cubicBezTo>
                  <a:pt x="72126" y="121251"/>
                  <a:pt x="53921" y="101562"/>
                  <a:pt x="66128" y="83217"/>
                </a:cubicBezTo>
                <a:cubicBezTo>
                  <a:pt x="84062" y="56281"/>
                  <a:pt x="133742" y="43228"/>
                  <a:pt x="122759" y="0"/>
                </a:cubicBezTo>
                <a:close/>
                <a:moveTo>
                  <a:pt x="152375" y="191860"/>
                </a:moveTo>
                <a:cubicBezTo>
                  <a:pt x="201506" y="166330"/>
                  <a:pt x="178787" y="141787"/>
                  <a:pt x="162940" y="145104"/>
                </a:cubicBezTo>
                <a:cubicBezTo>
                  <a:pt x="160766" y="145515"/>
                  <a:pt x="158880" y="146039"/>
                  <a:pt x="157055" y="146694"/>
                </a:cubicBezTo>
                <a:lnTo>
                  <a:pt x="157317" y="146615"/>
                </a:lnTo>
                <a:cubicBezTo>
                  <a:pt x="158356" y="145157"/>
                  <a:pt x="159788" y="144031"/>
                  <a:pt x="161455" y="143393"/>
                </a:cubicBezTo>
                <a:lnTo>
                  <a:pt x="161517" y="143376"/>
                </a:lnTo>
                <a:cubicBezTo>
                  <a:pt x="192888" y="132348"/>
                  <a:pt x="217012" y="175900"/>
                  <a:pt x="151388" y="193153"/>
                </a:cubicBezTo>
                <a:cubicBezTo>
                  <a:pt x="151790" y="192795"/>
                  <a:pt x="152122" y="192367"/>
                  <a:pt x="152357" y="191887"/>
                </a:cubicBezTo>
                <a:lnTo>
                  <a:pt x="152366" y="191860"/>
                </a:lnTo>
                <a:close/>
                <a:moveTo>
                  <a:pt x="67009" y="144135"/>
                </a:moveTo>
                <a:cubicBezTo>
                  <a:pt x="67009" y="144135"/>
                  <a:pt x="19415" y="155442"/>
                  <a:pt x="50167" y="159537"/>
                </a:cubicBezTo>
                <a:cubicBezTo>
                  <a:pt x="58444" y="160218"/>
                  <a:pt x="68083" y="160602"/>
                  <a:pt x="77810" y="160602"/>
                </a:cubicBezTo>
                <a:cubicBezTo>
                  <a:pt x="90243" y="160602"/>
                  <a:pt x="102528" y="159965"/>
                  <a:pt x="114638" y="158734"/>
                </a:cubicBezTo>
                <a:lnTo>
                  <a:pt x="113119" y="158856"/>
                </a:lnTo>
                <a:cubicBezTo>
                  <a:pt x="132826" y="157197"/>
                  <a:pt x="152593" y="153652"/>
                  <a:pt x="152593" y="153652"/>
                </a:cubicBezTo>
                <a:cubicBezTo>
                  <a:pt x="147957" y="155678"/>
                  <a:pt x="144019" y="157817"/>
                  <a:pt x="140291" y="160253"/>
                </a:cubicBezTo>
                <a:lnTo>
                  <a:pt x="140614" y="160061"/>
                </a:lnTo>
                <a:cubicBezTo>
                  <a:pt x="92286" y="172774"/>
                  <a:pt x="-1077" y="166863"/>
                  <a:pt x="25807" y="153862"/>
                </a:cubicBezTo>
                <a:cubicBezTo>
                  <a:pt x="37655" y="147724"/>
                  <a:pt x="51677" y="144127"/>
                  <a:pt x="66538" y="144127"/>
                </a:cubicBezTo>
                <a:cubicBezTo>
                  <a:pt x="66704" y="144127"/>
                  <a:pt x="66870" y="144127"/>
                  <a:pt x="67036" y="144127"/>
                </a:cubicBezTo>
                <a:lnTo>
                  <a:pt x="67009" y="144127"/>
                </a:lnTo>
                <a:close/>
                <a:moveTo>
                  <a:pt x="176534" y="223721"/>
                </a:moveTo>
                <a:cubicBezTo>
                  <a:pt x="176534" y="223721"/>
                  <a:pt x="183947" y="229824"/>
                  <a:pt x="168388" y="234530"/>
                </a:cubicBezTo>
                <a:cubicBezTo>
                  <a:pt x="138798" y="243497"/>
                  <a:pt x="45225" y="246195"/>
                  <a:pt x="19250" y="234888"/>
                </a:cubicBezTo>
                <a:cubicBezTo>
                  <a:pt x="9907" y="230819"/>
                  <a:pt x="27431" y="225179"/>
                  <a:pt x="32931" y="224000"/>
                </a:cubicBezTo>
                <a:cubicBezTo>
                  <a:pt x="35472" y="223354"/>
                  <a:pt x="38397" y="222978"/>
                  <a:pt x="41401" y="222978"/>
                </a:cubicBezTo>
                <a:cubicBezTo>
                  <a:pt x="41602" y="222978"/>
                  <a:pt x="41794" y="222978"/>
                  <a:pt x="41994" y="222987"/>
                </a:cubicBezTo>
                <a:lnTo>
                  <a:pt x="41968" y="222987"/>
                </a:lnTo>
                <a:cubicBezTo>
                  <a:pt x="31569" y="215662"/>
                  <a:pt x="-25201" y="237359"/>
                  <a:pt x="13129" y="243576"/>
                </a:cubicBezTo>
                <a:cubicBezTo>
                  <a:pt x="117659" y="260523"/>
                  <a:pt x="203654" y="235936"/>
                  <a:pt x="176543" y="223721"/>
                </a:cubicBezTo>
                <a:close/>
                <a:moveTo>
                  <a:pt x="108736" y="125206"/>
                </a:moveTo>
                <a:cubicBezTo>
                  <a:pt x="111478" y="128498"/>
                  <a:pt x="113145" y="132785"/>
                  <a:pt x="113145" y="137447"/>
                </a:cubicBezTo>
                <a:cubicBezTo>
                  <a:pt x="113145" y="143725"/>
                  <a:pt x="110124" y="149304"/>
                  <a:pt x="105462" y="152805"/>
                </a:cubicBezTo>
                <a:lnTo>
                  <a:pt x="105410" y="152840"/>
                </a:lnTo>
                <a:cubicBezTo>
                  <a:pt x="105410" y="152840"/>
                  <a:pt x="137479" y="136277"/>
                  <a:pt x="122750" y="115549"/>
                </a:cubicBezTo>
                <a:cubicBezTo>
                  <a:pt x="108989" y="96218"/>
                  <a:pt x="98442" y="86614"/>
                  <a:pt x="155562" y="53487"/>
                </a:cubicBezTo>
                <a:cubicBezTo>
                  <a:pt x="155562" y="53479"/>
                  <a:pt x="65918" y="75866"/>
                  <a:pt x="108736" y="125206"/>
                </a:cubicBezTo>
                <a:close/>
                <a:moveTo>
                  <a:pt x="55921" y="173848"/>
                </a:moveTo>
                <a:cubicBezTo>
                  <a:pt x="55921" y="173848"/>
                  <a:pt x="44701" y="182151"/>
                  <a:pt x="61832" y="183932"/>
                </a:cubicBezTo>
                <a:cubicBezTo>
                  <a:pt x="69332" y="184875"/>
                  <a:pt x="78002" y="185408"/>
                  <a:pt x="86803" y="185408"/>
                </a:cubicBezTo>
                <a:cubicBezTo>
                  <a:pt x="102747" y="185408"/>
                  <a:pt x="118279" y="183644"/>
                  <a:pt x="133210" y="180300"/>
                </a:cubicBezTo>
                <a:lnTo>
                  <a:pt x="131795" y="180562"/>
                </a:lnTo>
                <a:cubicBezTo>
                  <a:pt x="134799" y="183374"/>
                  <a:pt x="138387" y="185609"/>
                  <a:pt x="142351" y="187058"/>
                </a:cubicBezTo>
                <a:lnTo>
                  <a:pt x="142570" y="187128"/>
                </a:lnTo>
                <a:cubicBezTo>
                  <a:pt x="80604" y="205254"/>
                  <a:pt x="11566" y="188542"/>
                  <a:pt x="55912" y="173839"/>
                </a:cubicBezTo>
                <a:close/>
                <a:moveTo>
                  <a:pt x="62199" y="202512"/>
                </a:moveTo>
                <a:cubicBezTo>
                  <a:pt x="62199" y="202512"/>
                  <a:pt x="52193" y="208336"/>
                  <a:pt x="69323" y="210301"/>
                </a:cubicBezTo>
                <a:cubicBezTo>
                  <a:pt x="75601" y="211235"/>
                  <a:pt x="82839" y="211768"/>
                  <a:pt x="90208" y="211768"/>
                </a:cubicBezTo>
                <a:cubicBezTo>
                  <a:pt x="102031" y="211768"/>
                  <a:pt x="113530" y="210397"/>
                  <a:pt x="124557" y="207795"/>
                </a:cubicBezTo>
                <a:lnTo>
                  <a:pt x="123544" y="207996"/>
                </a:lnTo>
                <a:cubicBezTo>
                  <a:pt x="127622" y="210484"/>
                  <a:pt x="132363" y="212859"/>
                  <a:pt x="137314" y="214823"/>
                </a:cubicBezTo>
                <a:lnTo>
                  <a:pt x="137960" y="215051"/>
                </a:lnTo>
                <a:cubicBezTo>
                  <a:pt x="86690" y="237018"/>
                  <a:pt x="21948" y="213767"/>
                  <a:pt x="62207" y="202512"/>
                </a:cubicBezTo>
                <a:close/>
              </a:path>
            </a:pathLst>
          </a:custGeom>
          <a:solidFill>
            <a:srgbClr val="D5D7EE"/>
          </a:solidFill>
          <a:ln cap="flat">
            <a:noFill/>
            <a:miter/>
          </a:ln>
        </p:spPr>
      </p:sp>
      <p:sp>
        <p:nvSpPr>
          <p:cNvPr name="GraphCompose Text Line" id="110"/>
          <p:cNvSpPr txBox="true"/>
          <p:nvPr/>
        </p:nvSpPr>
        <p:spPr>
          <a:xfrm>
            <a:off x="6190375" y="5986693"/>
            <a:ext cx="494246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950" b="true" i="false" u="none" strike="noStrike" kern="0">
                <a:solidFill>
                  <a:srgbClr val="E6E8F2"/>
                </a:solidFill>
                <a:latin typeface="Arial"/>
              </a:rPr>
              <a:t>Java 17+</a:t>
            </a:r>
            <a:endParaRPr lang="en-US" sz="1100"/>
          </a:p>
        </p:txBody>
      </p:sp>
      <p:sp>
        <p:nvSpPr>
          <p:cNvPr name="AutoShape 111" id="111"/>
          <p:cNvSpPr/>
          <p:nvPr/>
        </p:nvSpPr>
        <p:spPr>
          <a:xfrm>
            <a:off x="8133125" y="5798389"/>
            <a:ext cx="2006600" cy="533400"/>
          </a:xfrm>
          <a:prstGeom prst="roundRect">
            <a:avLst>
              <a:gd name="adj" fmla="val 21429"/>
            </a:avLst>
          </a:prstGeom>
          <a:solidFill>
            <a:srgbClr val="24233C"/>
          </a:solidFill>
          <a:ln w="10160">
            <a:solidFill>
              <a:srgbClr val="3A385C"/>
            </a:solidFill>
          </a:ln>
        </p:spPr>
      </p:sp>
      <p:pic>
        <p:nvPicPr>
          <p:cNvPr name="GraphCompose Clipped Composite" id="112"/>
          <p:cNvPicPr>
            <a:picLocks noChangeAspect="true"/>
          </p:cNvPicPr>
          <p:nvPr/>
        </p:nvPicPr>
        <p:blipFill>
          <a:blip r:embed="rId9"/>
          <a:stretch>
            <a:fillRect/>
          </a:stretch>
        </p:blipFill>
        <p:spPr>
          <a:xfrm>
            <a:off x="8336325" y="5925389"/>
            <a:ext cx="279400" cy="279400"/>
          </a:xfrm>
          <a:prstGeom prst="rect">
            <a:avLst/>
          </a:prstGeom>
        </p:spPr>
      </p:pic>
      <p:sp>
        <p:nvSpPr>
          <p:cNvPr name="GraphCompose Text Line" id="113"/>
          <p:cNvSpPr txBox="true"/>
          <p:nvPr/>
        </p:nvSpPr>
        <p:spPr>
          <a:xfrm>
            <a:off x="8717325" y="5986693"/>
            <a:ext cx="658330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950" b="true" i="false" u="none" strike="noStrike" kern="0">
                <a:solidFill>
                  <a:srgbClr val="E6E8F2"/>
                </a:solidFill>
                <a:latin typeface="Arial"/>
              </a:rPr>
              <a:t>MIT License</a:t>
            </a:r>
            <a:endParaRPr lang="en-US" sz="1100"/>
          </a:p>
        </p:txBody>
      </p:sp>
      <p:sp>
        <p:nvSpPr>
          <p:cNvPr name="GraphCompose Footer" id="114"/>
          <p:cNvSpPr txBox="true"/>
          <p:nvPr/>
        </p:nvSpPr>
        <p:spPr>
          <a:xfrm>
            <a:off x="203200" y="7189226"/>
            <a:ext cx="2340978" cy="140335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850" b="false" i="false" u="none" strike="noStrike" kern="0">
                <a:solidFill>
                  <a:srgbClr val="707484"/>
                </a:solidFill>
                <a:latin typeface="Arial"/>
              </a:rPr>
              <a:t>GraphCompose · v2.1.0-SNAPSHOT “navigable”</a:t>
            </a:r>
            <a:endParaRPr lang="en-US" sz="1100"/>
          </a:p>
        </p:txBody>
      </p:sp>
      <p:sp>
        <p:nvSpPr>
          <p:cNvPr name="GraphCompose Footer" id="115"/>
          <p:cNvSpPr txBox="true"/>
          <p:nvPr/>
        </p:nvSpPr>
        <p:spPr>
          <a:xfrm>
            <a:off x="9936636" y="7189226"/>
            <a:ext cx="553434" cy="140335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850" b="false" i="false" u="none" strike="noStrike" kern="0">
                <a:solidFill>
                  <a:srgbClr val="707484"/>
                </a:solidFill>
                <a:latin typeface="Arial"/>
              </a:rPr>
              <a:t>Page 1 of 4</a:t>
            </a:r>
            <a:endParaRPr lang="en-US" sz="1100"/>
          </a:p>
        </p:txBody>
      </p:sp>
      <p:cxnSp>
        <p:nvCxnSpPr>
          <p:cNvPr name="GraphCompose Footer Separator" id="116"/>
          <p:cNvCxnSpPr/>
          <p:nvPr/>
        </p:nvCxnSpPr>
        <p:spPr>
          <a:xfrm>
            <a:off x="203200" y="7179001"/>
            <a:ext cx="10285600" cy="0"/>
          </a:xfrm>
          <a:prstGeom prst="line">
            <a:avLst/>
          </a:prstGeom>
          <a:ln w="6350">
            <a:solidFill>
              <a:srgbClr val="A78BFA"/>
            </a:solidFill>
          </a:ln>
        </p:spPr>
      </p:cxnSp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GraphCompose Text Line" id="2"/>
          <p:cNvSpPr txBox="true"/>
          <p:nvPr/>
        </p:nvSpPr>
        <p:spPr>
          <a:xfrm>
            <a:off x="203200" y="384995"/>
            <a:ext cx="877608" cy="105727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900" b="true" i="false" u="none" strike="noStrike" kern="0">
                <a:solidFill>
                  <a:srgbClr val="6128D9"/>
                </a:solidFill>
                <a:latin typeface="Arial"/>
              </a:rPr>
              <a:t>HOW IT WORKS</a:t>
            </a:r>
            <a:endParaRPr lang="en-US" sz="1100"/>
          </a:p>
        </p:txBody>
      </p:sp>
      <p:sp>
        <p:nvSpPr>
          <p:cNvPr name="GraphCompose Text Line" id="3"/>
          <p:cNvSpPr txBox="true"/>
          <p:nvPr/>
        </p:nvSpPr>
        <p:spPr>
          <a:xfrm>
            <a:off x="203200" y="558217"/>
            <a:ext cx="3838321" cy="211455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800" b="true" i="false" u="none" strike="noStrike" kern="0">
                <a:solidFill>
                  <a:srgbClr val="1C1E2E"/>
                </a:solidFill>
                <a:latin typeface="Arial"/>
              </a:rPr>
              <a:t>From one Java file to a designed PDF</a:t>
            </a:r>
            <a:endParaRPr lang="en-US" sz="1100"/>
          </a:p>
        </p:txBody>
      </p:sp>
      <p:sp>
        <p:nvSpPr>
          <p:cNvPr name="GraphCompose Text Line" id="4"/>
          <p:cNvSpPr txBox="true"/>
          <p:nvPr/>
        </p:nvSpPr>
        <p:spPr>
          <a:xfrm>
            <a:off x="203200" y="982385"/>
            <a:ext cx="10269042" cy="164465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You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describe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the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document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semantically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—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true" i="false" u="none" strike="noStrike" kern="0">
                <a:solidFill>
                  <a:srgbClr val="000000"/>
                </a:solidFill>
                <a:latin typeface="Arial"/>
              </a:rPr>
              <a:t>sections,</a:t>
            </a:r>
            <a:r>
              <a:rPr lang="en-US" sz="1400" b="tru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true" i="false" u="none" strike="noStrike" kern="0">
                <a:solidFill>
                  <a:srgbClr val="000000"/>
                </a:solidFill>
                <a:latin typeface="Arial"/>
              </a:rPr>
              <a:t>rows,</a:t>
            </a:r>
            <a:r>
              <a:rPr lang="en-US" sz="1400" b="tru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true" i="false" u="none" strike="noStrike" kern="0">
                <a:solidFill>
                  <a:srgbClr val="000000"/>
                </a:solidFill>
                <a:latin typeface="Arial"/>
              </a:rPr>
              <a:t>tables,</a:t>
            </a:r>
            <a:r>
              <a:rPr lang="en-US" sz="1400" b="tru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true" i="false" u="none" strike="noStrike" kern="0">
                <a:solidFill>
                  <a:srgbClr val="000000"/>
                </a:solidFill>
                <a:latin typeface="Arial"/>
              </a:rPr>
              <a:t>charts,</a:t>
            </a:r>
            <a:r>
              <a:rPr lang="en-US" sz="1400" b="tru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true" i="false" u="none" strike="noStrike" kern="0">
                <a:solidFill>
                  <a:srgbClr val="000000"/>
                </a:solidFill>
                <a:latin typeface="Arial"/>
              </a:rPr>
              <a:t>shapes,</a:t>
            </a:r>
            <a:r>
              <a:rPr lang="en-US" sz="1400" b="tru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true" i="false" u="none" strike="noStrike" kern="0">
                <a:solidFill>
                  <a:srgbClr val="000000"/>
                </a:solidFill>
                <a:latin typeface="Arial"/>
              </a:rPr>
              <a:t>layers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—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and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the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engine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resolves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the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rest: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it</a:t>
            </a:r>
            <a:endParaRPr lang="en-US" sz="1100"/>
          </a:p>
        </p:txBody>
      </p:sp>
      <p:sp>
        <p:nvSpPr>
          <p:cNvPr name="GraphCompose Text Line" id="5"/>
          <p:cNvSpPr txBox="true"/>
          <p:nvPr/>
        </p:nvSpPr>
        <p:spPr>
          <a:xfrm>
            <a:off x="203200" y="1166535"/>
            <a:ext cx="9784359" cy="164465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400" b="true" i="false" u="none" strike="noStrike" kern="0">
                <a:solidFill>
                  <a:srgbClr val="6128D9"/>
                </a:solidFill>
                <a:latin typeface="Arial"/>
              </a:rPr>
              <a:t>measures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every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node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twice,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true" i="false" u="none" strike="noStrike" kern="0">
                <a:solidFill>
                  <a:srgbClr val="6128D9"/>
                </a:solidFill>
                <a:latin typeface="Arial"/>
              </a:rPr>
              <a:t>paginates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the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flow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row-by-row,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and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true" i="false" u="none" strike="noStrike" kern="0">
                <a:solidFill>
                  <a:srgbClr val="6128D9"/>
                </a:solidFill>
                <a:latin typeface="Arial"/>
              </a:rPr>
              <a:t>renders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through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an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isolated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PDFBox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backend.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No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manual</a:t>
            </a:r>
            <a:endParaRPr lang="en-US" sz="1100"/>
          </a:p>
        </p:txBody>
      </p:sp>
      <p:sp>
        <p:nvSpPr>
          <p:cNvPr name="GraphCompose Text Line" id="6"/>
          <p:cNvSpPr txBox="true"/>
          <p:nvPr/>
        </p:nvSpPr>
        <p:spPr>
          <a:xfrm>
            <a:off x="203200" y="1350685"/>
            <a:ext cx="2501494" cy="164465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coordinates,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no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XML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templates.</a:t>
            </a:r>
            <a:endParaRPr lang="en-US" sz="1100"/>
          </a:p>
        </p:txBody>
      </p:sp>
      <p:sp>
        <p:nvSpPr>
          <p:cNvPr name="AutoShape 7" id="7"/>
          <p:cNvSpPr/>
          <p:nvPr/>
        </p:nvSpPr>
        <p:spPr>
          <a:xfrm>
            <a:off x="203200" y="1751648"/>
            <a:ext cx="2189140" cy="1396841"/>
          </a:xfrm>
          <a:prstGeom prst="roundRect">
            <a:avLst>
              <a:gd name="adj" fmla="val 9092"/>
            </a:avLst>
          </a:prstGeom>
          <a:solidFill>
            <a:srgbClr val="FFFFFF"/>
          </a:solidFill>
          <a:ln>
            <a:noFill/>
          </a:ln>
        </p:spPr>
      </p:sp>
      <p:cxnSp>
        <p:nvCxnSpPr>
          <p:cNvPr name="Connector 8" id="8"/>
          <p:cNvCxnSpPr/>
          <p:nvPr/>
        </p:nvCxnSpPr>
        <p:spPr>
          <a:xfrm>
            <a:off x="203200" y="1751648"/>
            <a:ext cx="2189140" cy="0"/>
          </a:xfrm>
          <a:prstGeom prst="line">
            <a:avLst/>
          </a:prstGeom>
          <a:ln w="31750">
            <a:solidFill>
              <a:srgbClr val="7C5CFC"/>
            </a:solidFill>
          </a:ln>
        </p:spPr>
      </p:cxnSp>
      <p:sp>
        <p:nvSpPr>
          <p:cNvPr name="GraphCompose Text Line" id="9"/>
          <p:cNvSpPr txBox="true"/>
          <p:nvPr/>
        </p:nvSpPr>
        <p:spPr>
          <a:xfrm>
            <a:off x="1241281" y="1891394"/>
            <a:ext cx="114249" cy="18796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600" b="true" i="false" u="none" strike="noStrike" kern="0">
                <a:solidFill>
                  <a:srgbClr val="7C5CFC"/>
                </a:solidFill>
                <a:latin typeface="Arial"/>
              </a:rPr>
              <a:t>1</a:t>
            </a:r>
            <a:endParaRPr lang="en-US" sz="1100"/>
          </a:p>
        </p:txBody>
      </p:sp>
      <p:pic>
        <p:nvPicPr>
          <p:cNvPr name="GraphCompose Clipped Composite" id="10"/>
          <p:cNvPicPr>
            <a:picLocks noChangeAspect="true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270" y="2206308"/>
            <a:ext cx="381000" cy="381000"/>
          </a:xfrm>
          <a:prstGeom prst="rect">
            <a:avLst/>
          </a:prstGeom>
        </p:spPr>
      </p:pic>
      <p:sp>
        <p:nvSpPr>
          <p:cNvPr name="GraphCompose Text Line" id="11"/>
          <p:cNvSpPr txBox="true"/>
          <p:nvPr/>
        </p:nvSpPr>
        <p:spPr>
          <a:xfrm>
            <a:off x="1043078" y="2653613"/>
            <a:ext cx="510654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950" b="true" i="false" u="none" strike="noStrike" kern="0">
                <a:solidFill>
                  <a:srgbClr val="1C1E2E"/>
                </a:solidFill>
                <a:latin typeface="Arial"/>
              </a:rPr>
              <a:t>AUTHOR</a:t>
            </a:r>
            <a:endParaRPr lang="en-US" sz="1100"/>
          </a:p>
        </p:txBody>
      </p:sp>
      <p:sp>
        <p:nvSpPr>
          <p:cNvPr name="GraphCompose Text Line" id="12"/>
          <p:cNvSpPr txBox="true"/>
          <p:nvPr/>
        </p:nvSpPr>
        <p:spPr>
          <a:xfrm>
            <a:off x="659671" y="2857682"/>
            <a:ext cx="1277468" cy="9398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00" b="false" i="false" u="none" strike="noStrike" kern="0">
                <a:solidFill>
                  <a:srgbClr val="707484"/>
                </a:solidFill>
                <a:latin typeface="Arial"/>
              </a:rPr>
              <a:t>Fluent DSL describes intent.</a:t>
            </a:r>
            <a:endParaRPr lang="en-US" sz="1100"/>
          </a:p>
        </p:txBody>
      </p:sp>
      <p:sp>
        <p:nvSpPr>
          <p:cNvPr name="GraphCompose Text Line" id="13"/>
          <p:cNvSpPr txBox="true"/>
          <p:nvPr/>
        </p:nvSpPr>
        <p:spPr>
          <a:xfrm>
            <a:off x="2573012" y="2288280"/>
            <a:ext cx="149606" cy="23495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2000" b="true" i="false" u="none" strike="noStrike" kern="0">
                <a:solidFill>
                  <a:srgbClr val="7C5CFC"/>
                </a:solidFill>
                <a:latin typeface="Arial"/>
              </a:rPr>
              <a:t>&gt;</a:t>
            </a:r>
            <a:endParaRPr lang="en-US" sz="1100"/>
          </a:p>
        </p:txBody>
      </p:sp>
      <p:sp>
        <p:nvSpPr>
          <p:cNvPr name="AutoShape 14" id="14"/>
          <p:cNvSpPr/>
          <p:nvPr/>
        </p:nvSpPr>
        <p:spPr>
          <a:xfrm>
            <a:off x="2902020" y="1751648"/>
            <a:ext cx="2189140" cy="1396841"/>
          </a:xfrm>
          <a:prstGeom prst="roundRect">
            <a:avLst>
              <a:gd name="adj" fmla="val 9092"/>
            </a:avLst>
          </a:prstGeom>
          <a:solidFill>
            <a:srgbClr val="FFFFFF"/>
          </a:solidFill>
          <a:ln>
            <a:noFill/>
          </a:ln>
        </p:spPr>
      </p:sp>
      <p:cxnSp>
        <p:nvCxnSpPr>
          <p:cNvPr name="Connector 15" id="15"/>
          <p:cNvCxnSpPr/>
          <p:nvPr/>
        </p:nvCxnSpPr>
        <p:spPr>
          <a:xfrm>
            <a:off x="2902020" y="1751648"/>
            <a:ext cx="2189140" cy="0"/>
          </a:xfrm>
          <a:prstGeom prst="line">
            <a:avLst/>
          </a:prstGeom>
          <a:ln w="31750">
            <a:solidFill>
              <a:srgbClr val="7C5CFC"/>
            </a:solidFill>
          </a:ln>
        </p:spPr>
      </p:cxnSp>
      <p:sp>
        <p:nvSpPr>
          <p:cNvPr name="GraphCompose Text Line" id="16"/>
          <p:cNvSpPr txBox="true"/>
          <p:nvPr/>
        </p:nvSpPr>
        <p:spPr>
          <a:xfrm>
            <a:off x="3940100" y="1891394"/>
            <a:ext cx="114249" cy="18796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600" b="true" i="false" u="none" strike="noStrike" kern="0">
                <a:solidFill>
                  <a:srgbClr val="7C5CFC"/>
                </a:solidFill>
                <a:latin typeface="Arial"/>
              </a:rPr>
              <a:t>2</a:t>
            </a:r>
            <a:endParaRPr lang="en-US" sz="1100"/>
          </a:p>
        </p:txBody>
      </p:sp>
      <p:sp>
        <p:nvSpPr>
          <p:cNvPr name="Freeform 17" id="17"/>
          <p:cNvSpPr/>
          <p:nvPr/>
        </p:nvSpPr>
        <p:spPr>
          <a:xfrm>
            <a:off x="3829903" y="2230120"/>
            <a:ext cx="333375" cy="333375"/>
          </a:xfrm>
          <a:custGeom>
            <a:avLst/>
            <a:gdLst/>
            <a:ahLst/>
            <a:cxnLst/>
            <a:rect r="r" b="b" t="t" l="l"/>
            <a:pathLst>
              <a:path h="333375" w="333375">
                <a:moveTo>
                  <a:pt x="0" y="53578"/>
                </a:moveTo>
                <a:cubicBezTo>
                  <a:pt x="0" y="23988"/>
                  <a:pt x="23987" y="0"/>
                  <a:pt x="53578" y="0"/>
                </a:cubicBezTo>
                <a:lnTo>
                  <a:pt x="279796" y="0"/>
                </a:lnTo>
                <a:cubicBezTo>
                  <a:pt x="309387" y="0"/>
                  <a:pt x="333375" y="23988"/>
                  <a:pt x="333375" y="53578"/>
                </a:cubicBezTo>
                <a:lnTo>
                  <a:pt x="333375" y="279797"/>
                </a:lnTo>
                <a:cubicBezTo>
                  <a:pt x="333375" y="309387"/>
                  <a:pt x="309387" y="333375"/>
                  <a:pt x="279796" y="333375"/>
                </a:cubicBezTo>
                <a:lnTo>
                  <a:pt x="53578" y="333375"/>
                </a:lnTo>
                <a:cubicBezTo>
                  <a:pt x="23987" y="333375"/>
                  <a:pt x="0" y="309387"/>
                  <a:pt x="0" y="279797"/>
                </a:cubicBezTo>
                <a:lnTo>
                  <a:pt x="0" y="53578"/>
                </a:lnTo>
                <a:close/>
                <a:moveTo>
                  <a:pt x="130968" y="297656"/>
                </a:moveTo>
                <a:lnTo>
                  <a:pt x="279796" y="297656"/>
                </a:lnTo>
                <a:cubicBezTo>
                  <a:pt x="289660" y="297656"/>
                  <a:pt x="297656" y="289660"/>
                  <a:pt x="297656" y="279797"/>
                </a:cubicBezTo>
                <a:lnTo>
                  <a:pt x="297656" y="130969"/>
                </a:lnTo>
                <a:lnTo>
                  <a:pt x="130968" y="130969"/>
                </a:lnTo>
                <a:lnTo>
                  <a:pt x="130968" y="297656"/>
                </a:lnTo>
                <a:close/>
                <a:moveTo>
                  <a:pt x="95250" y="130969"/>
                </a:moveTo>
                <a:lnTo>
                  <a:pt x="95250" y="297656"/>
                </a:lnTo>
                <a:lnTo>
                  <a:pt x="53578" y="297656"/>
                </a:lnTo>
                <a:cubicBezTo>
                  <a:pt x="43714" y="297656"/>
                  <a:pt x="35718" y="289660"/>
                  <a:pt x="35718" y="279797"/>
                </a:cubicBezTo>
                <a:lnTo>
                  <a:pt x="35718" y="130969"/>
                </a:lnTo>
                <a:lnTo>
                  <a:pt x="95250" y="130969"/>
                </a:lnTo>
                <a:close/>
                <a:moveTo>
                  <a:pt x="297656" y="95250"/>
                </a:moveTo>
                <a:lnTo>
                  <a:pt x="297656" y="53578"/>
                </a:lnTo>
                <a:cubicBezTo>
                  <a:pt x="297656" y="43715"/>
                  <a:pt x="289660" y="35719"/>
                  <a:pt x="279796" y="35719"/>
                </a:cubicBezTo>
                <a:lnTo>
                  <a:pt x="53578" y="35719"/>
                </a:lnTo>
                <a:cubicBezTo>
                  <a:pt x="43714" y="35719"/>
                  <a:pt x="35718" y="43715"/>
                  <a:pt x="35718" y="53578"/>
                </a:cubicBezTo>
                <a:lnTo>
                  <a:pt x="35718" y="95250"/>
                </a:lnTo>
                <a:lnTo>
                  <a:pt x="297656" y="95250"/>
                </a:lnTo>
                <a:close/>
              </a:path>
            </a:pathLst>
          </a:custGeom>
          <a:solidFill>
            <a:srgbClr val="000000"/>
          </a:solidFill>
          <a:ln cap="flat">
            <a:noFill/>
            <a:miter/>
          </a:ln>
        </p:spPr>
      </p:sp>
      <p:sp>
        <p:nvSpPr>
          <p:cNvPr name="GraphCompose Text Line" id="18"/>
          <p:cNvSpPr txBox="true"/>
          <p:nvPr/>
        </p:nvSpPr>
        <p:spPr>
          <a:xfrm>
            <a:off x="3698283" y="2653613"/>
            <a:ext cx="597884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950" b="true" i="false" u="none" strike="noStrike" kern="0">
                <a:solidFill>
                  <a:srgbClr val="1C1E2E"/>
                </a:solidFill>
                <a:latin typeface="Arial"/>
              </a:rPr>
              <a:t>MEASURE</a:t>
            </a:r>
            <a:endParaRPr lang="en-US" sz="1100"/>
          </a:p>
        </p:txBody>
      </p:sp>
      <p:sp>
        <p:nvSpPr>
          <p:cNvPr name="GraphCompose Text Line" id="19"/>
          <p:cNvSpPr txBox="true"/>
          <p:nvPr/>
        </p:nvSpPr>
        <p:spPr>
          <a:xfrm>
            <a:off x="3256891" y="2857682"/>
            <a:ext cx="1480668" cy="9398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00" b="false" i="false" u="none" strike="noStrike" kern="0">
                <a:solidFill>
                  <a:srgbClr val="707484"/>
                </a:solidFill>
                <a:latin typeface="Arial"/>
              </a:rPr>
              <a:t>Two-pass geometry, every node.</a:t>
            </a:r>
            <a:endParaRPr lang="en-US" sz="1100"/>
          </a:p>
        </p:txBody>
      </p:sp>
      <p:sp>
        <p:nvSpPr>
          <p:cNvPr name="GraphCompose Text Line" id="20"/>
          <p:cNvSpPr txBox="true"/>
          <p:nvPr/>
        </p:nvSpPr>
        <p:spPr>
          <a:xfrm>
            <a:off x="5271832" y="2288280"/>
            <a:ext cx="149606" cy="23495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2000" b="true" i="false" u="none" strike="noStrike" kern="0">
                <a:solidFill>
                  <a:srgbClr val="7C5CFC"/>
                </a:solidFill>
                <a:latin typeface="Arial"/>
              </a:rPr>
              <a:t>&gt;</a:t>
            </a:r>
            <a:endParaRPr lang="en-US" sz="1100"/>
          </a:p>
        </p:txBody>
      </p:sp>
      <p:sp>
        <p:nvSpPr>
          <p:cNvPr name="AutoShape 21" id="21"/>
          <p:cNvSpPr/>
          <p:nvPr/>
        </p:nvSpPr>
        <p:spPr>
          <a:xfrm>
            <a:off x="5600840" y="1751648"/>
            <a:ext cx="2189140" cy="1396841"/>
          </a:xfrm>
          <a:prstGeom prst="roundRect">
            <a:avLst>
              <a:gd name="adj" fmla="val 9092"/>
            </a:avLst>
          </a:prstGeom>
          <a:solidFill>
            <a:srgbClr val="FFFFFF"/>
          </a:solidFill>
          <a:ln>
            <a:noFill/>
          </a:ln>
        </p:spPr>
      </p:sp>
      <p:cxnSp>
        <p:nvCxnSpPr>
          <p:cNvPr name="Connector 22" id="22"/>
          <p:cNvCxnSpPr/>
          <p:nvPr/>
        </p:nvCxnSpPr>
        <p:spPr>
          <a:xfrm>
            <a:off x="5600840" y="1751648"/>
            <a:ext cx="2189140" cy="0"/>
          </a:xfrm>
          <a:prstGeom prst="line">
            <a:avLst/>
          </a:prstGeom>
          <a:ln w="31750">
            <a:solidFill>
              <a:srgbClr val="7C5CFC"/>
            </a:solidFill>
          </a:ln>
        </p:spPr>
      </p:cxnSp>
      <p:sp>
        <p:nvSpPr>
          <p:cNvPr name="GraphCompose Text Line" id="23"/>
          <p:cNvSpPr txBox="true"/>
          <p:nvPr/>
        </p:nvSpPr>
        <p:spPr>
          <a:xfrm>
            <a:off x="6638920" y="1891394"/>
            <a:ext cx="114249" cy="18796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600" b="true" i="false" u="none" strike="noStrike" kern="0">
                <a:solidFill>
                  <a:srgbClr val="7C5CFC"/>
                </a:solidFill>
                <a:latin typeface="Arial"/>
              </a:rPr>
              <a:t>3</a:t>
            </a:r>
            <a:endParaRPr lang="en-US" sz="1100"/>
          </a:p>
        </p:txBody>
      </p:sp>
      <p:pic>
        <p:nvPicPr>
          <p:cNvPr name="GraphCompose Clipped Composite" id="24"/>
          <p:cNvPicPr>
            <a:picLocks noChangeAspect="true"/>
          </p:cNvPicPr>
          <p:nvPr/>
        </p:nvPicPr>
        <p:blipFill>
          <a:blip r:embed="rId3"/>
          <a:stretch>
            <a:fillRect/>
          </a:stretch>
        </p:blipFill>
        <p:spPr>
          <a:xfrm>
            <a:off x="6504910" y="2206308"/>
            <a:ext cx="381000" cy="381000"/>
          </a:xfrm>
          <a:prstGeom prst="rect">
            <a:avLst/>
          </a:prstGeom>
        </p:spPr>
      </p:pic>
      <p:sp>
        <p:nvSpPr>
          <p:cNvPr name="GraphCompose Text Line" id="25"/>
          <p:cNvSpPr txBox="true"/>
          <p:nvPr/>
        </p:nvSpPr>
        <p:spPr>
          <a:xfrm>
            <a:off x="6390346" y="2653613"/>
            <a:ext cx="611397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950" b="true" i="false" u="none" strike="noStrike" kern="0">
                <a:solidFill>
                  <a:srgbClr val="1C1E2E"/>
                </a:solidFill>
                <a:latin typeface="Arial"/>
              </a:rPr>
              <a:t>PAGINATE</a:t>
            </a:r>
            <a:endParaRPr lang="en-US" sz="1100"/>
          </a:p>
        </p:txBody>
      </p:sp>
      <p:sp>
        <p:nvSpPr>
          <p:cNvPr name="GraphCompose Text Line" id="26"/>
          <p:cNvSpPr txBox="true"/>
          <p:nvPr/>
        </p:nvSpPr>
        <p:spPr>
          <a:xfrm>
            <a:off x="6077072" y="2857682"/>
            <a:ext cx="1237945" cy="9398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00" b="false" i="false" u="none" strike="noStrike" kern="0">
                <a:solidFill>
                  <a:srgbClr val="707484"/>
                </a:solidFill>
                <a:latin typeface="Arial"/>
              </a:rPr>
              <a:t>Split the flow across pages.</a:t>
            </a:r>
            <a:endParaRPr lang="en-US" sz="1100"/>
          </a:p>
        </p:txBody>
      </p:sp>
      <p:sp>
        <p:nvSpPr>
          <p:cNvPr name="GraphCompose Text Line" id="27"/>
          <p:cNvSpPr txBox="true"/>
          <p:nvPr/>
        </p:nvSpPr>
        <p:spPr>
          <a:xfrm>
            <a:off x="7970652" y="2288280"/>
            <a:ext cx="149606" cy="23495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2000" b="true" i="false" u="none" strike="noStrike" kern="0">
                <a:solidFill>
                  <a:srgbClr val="7C5CFC"/>
                </a:solidFill>
                <a:latin typeface="Arial"/>
              </a:rPr>
              <a:t>&gt;</a:t>
            </a:r>
            <a:endParaRPr lang="en-US" sz="1100"/>
          </a:p>
        </p:txBody>
      </p:sp>
      <p:sp>
        <p:nvSpPr>
          <p:cNvPr name="AutoShape 28" id="28"/>
          <p:cNvSpPr/>
          <p:nvPr/>
        </p:nvSpPr>
        <p:spPr>
          <a:xfrm>
            <a:off x="8299660" y="1751648"/>
            <a:ext cx="2189140" cy="1396841"/>
          </a:xfrm>
          <a:prstGeom prst="roundRect">
            <a:avLst>
              <a:gd name="adj" fmla="val 9092"/>
            </a:avLst>
          </a:prstGeom>
          <a:solidFill>
            <a:srgbClr val="FFFFFF"/>
          </a:solidFill>
          <a:ln>
            <a:noFill/>
          </a:ln>
        </p:spPr>
      </p:sp>
      <p:cxnSp>
        <p:nvCxnSpPr>
          <p:cNvPr name="Connector 29" id="29"/>
          <p:cNvCxnSpPr/>
          <p:nvPr/>
        </p:nvCxnSpPr>
        <p:spPr>
          <a:xfrm>
            <a:off x="8299660" y="1751648"/>
            <a:ext cx="2189140" cy="0"/>
          </a:xfrm>
          <a:prstGeom prst="line">
            <a:avLst/>
          </a:prstGeom>
          <a:ln w="31750">
            <a:solidFill>
              <a:srgbClr val="7C5CFC"/>
            </a:solidFill>
          </a:ln>
        </p:spPr>
      </p:cxnSp>
      <p:sp>
        <p:nvSpPr>
          <p:cNvPr name="GraphCompose Text Line" id="30"/>
          <p:cNvSpPr txBox="true"/>
          <p:nvPr/>
        </p:nvSpPr>
        <p:spPr>
          <a:xfrm>
            <a:off x="9337740" y="1891394"/>
            <a:ext cx="114249" cy="18796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600" b="true" i="false" u="none" strike="noStrike" kern="0">
                <a:solidFill>
                  <a:srgbClr val="7C5CFC"/>
                </a:solidFill>
                <a:latin typeface="Arial"/>
              </a:rPr>
              <a:t>4</a:t>
            </a:r>
            <a:endParaRPr lang="en-US" sz="1100"/>
          </a:p>
        </p:txBody>
      </p:sp>
      <p:sp>
        <p:nvSpPr>
          <p:cNvPr name="Freeform 31" id="31"/>
          <p:cNvSpPr/>
          <p:nvPr/>
        </p:nvSpPr>
        <p:spPr>
          <a:xfrm>
            <a:off x="9297398" y="2441330"/>
            <a:ext cx="18563" cy="21310"/>
          </a:xfrm>
          <a:custGeom>
            <a:avLst/>
            <a:gdLst/>
            <a:ahLst/>
            <a:cxnLst/>
            <a:rect r="r" b="b" t="t" l="l"/>
            <a:pathLst>
              <a:path h="21310" w="18563">
                <a:moveTo>
                  <a:pt x="18563" y="10101"/>
                </a:moveTo>
                <a:cubicBezTo>
                  <a:pt x="18563" y="3774"/>
                  <a:pt x="14173" y="0"/>
                  <a:pt x="6426" y="0"/>
                </a:cubicBezTo>
                <a:cubicBezTo>
                  <a:pt x="3263" y="0"/>
                  <a:pt x="1120" y="313"/>
                  <a:pt x="0" y="611"/>
                </a:cubicBezTo>
                <a:lnTo>
                  <a:pt x="0" y="20912"/>
                </a:lnTo>
                <a:cubicBezTo>
                  <a:pt x="1327" y="21211"/>
                  <a:pt x="2958" y="21311"/>
                  <a:pt x="5206" y="21311"/>
                </a:cubicBezTo>
                <a:cubicBezTo>
                  <a:pt x="13463" y="21311"/>
                  <a:pt x="18563" y="17139"/>
                  <a:pt x="18563" y="10101"/>
                </a:cubicBezTo>
                <a:close/>
              </a:path>
            </a:pathLst>
          </a:custGeom>
          <a:solidFill>
            <a:srgbClr val="000000"/>
          </a:solidFill>
          <a:ln cap="flat">
            <a:noFill/>
            <a:miter/>
          </a:ln>
        </p:spPr>
      </p:sp>
      <p:sp>
        <p:nvSpPr>
          <p:cNvPr name="Freeform 32" id="32"/>
          <p:cNvSpPr/>
          <p:nvPr/>
        </p:nvSpPr>
        <p:spPr>
          <a:xfrm>
            <a:off x="9356879" y="2441543"/>
            <a:ext cx="28658" cy="45883"/>
          </a:xfrm>
          <a:custGeom>
            <a:avLst/>
            <a:gdLst/>
            <a:ahLst/>
            <a:cxnLst/>
            <a:rect r="r" b="b" t="t" l="l"/>
            <a:pathLst>
              <a:path h="45883" w="28658">
                <a:moveTo>
                  <a:pt x="7037" y="0"/>
                </a:moveTo>
                <a:cubicBezTo>
                  <a:pt x="3568" y="0"/>
                  <a:pt x="1326" y="300"/>
                  <a:pt x="0" y="610"/>
                </a:cubicBezTo>
                <a:lnTo>
                  <a:pt x="0" y="45571"/>
                </a:lnTo>
                <a:cubicBezTo>
                  <a:pt x="1327" y="45882"/>
                  <a:pt x="3469" y="45882"/>
                  <a:pt x="5406" y="45882"/>
                </a:cubicBezTo>
                <a:cubicBezTo>
                  <a:pt x="19479" y="45982"/>
                  <a:pt x="28658" y="38235"/>
                  <a:pt x="28658" y="21821"/>
                </a:cubicBezTo>
                <a:cubicBezTo>
                  <a:pt x="28757" y="7547"/>
                  <a:pt x="20393" y="0"/>
                  <a:pt x="7037" y="0"/>
                </a:cubicBezTo>
                <a:close/>
              </a:path>
            </a:pathLst>
          </a:custGeom>
          <a:solidFill>
            <a:srgbClr val="000000"/>
          </a:solidFill>
          <a:ln cap="flat">
            <a:noFill/>
            <a:miter/>
          </a:ln>
        </p:spPr>
      </p:sp>
      <p:sp>
        <p:nvSpPr>
          <p:cNvPr name="Freeform 33" id="33"/>
          <p:cNvSpPr/>
          <p:nvPr/>
        </p:nvSpPr>
        <p:spPr>
          <a:xfrm>
            <a:off x="9239137" y="2206308"/>
            <a:ext cx="310186" cy="380999"/>
          </a:xfrm>
          <a:custGeom>
            <a:avLst/>
            <a:gdLst/>
            <a:ahLst/>
            <a:cxnLst/>
            <a:rect r="r" b="b" t="t" l="l"/>
            <a:pathLst>
              <a:path h="380999" w="310186">
                <a:moveTo>
                  <a:pt x="213876" y="0"/>
                </a:moveTo>
                <a:lnTo>
                  <a:pt x="60851" y="0"/>
                </a:lnTo>
                <a:cubicBezTo>
                  <a:pt x="38496" y="0"/>
                  <a:pt x="20301" y="18207"/>
                  <a:pt x="20301" y="40550"/>
                </a:cubicBezTo>
                <a:lnTo>
                  <a:pt x="20301" y="190499"/>
                </a:lnTo>
                <a:lnTo>
                  <a:pt x="16340" y="190499"/>
                </a:lnTo>
                <a:cubicBezTo>
                  <a:pt x="7317" y="190499"/>
                  <a:pt x="0" y="197809"/>
                  <a:pt x="0" y="206840"/>
                </a:cubicBezTo>
                <a:lnTo>
                  <a:pt x="0" y="305937"/>
                </a:lnTo>
                <a:cubicBezTo>
                  <a:pt x="0" y="314967"/>
                  <a:pt x="7317" y="322277"/>
                  <a:pt x="16340" y="322277"/>
                </a:cubicBezTo>
                <a:lnTo>
                  <a:pt x="20301" y="322277"/>
                </a:lnTo>
                <a:lnTo>
                  <a:pt x="20301" y="340448"/>
                </a:lnTo>
                <a:cubicBezTo>
                  <a:pt x="20301" y="362816"/>
                  <a:pt x="38496" y="380999"/>
                  <a:pt x="60851" y="380999"/>
                </a:cubicBezTo>
                <a:lnTo>
                  <a:pt x="269647" y="380999"/>
                </a:lnTo>
                <a:cubicBezTo>
                  <a:pt x="291989" y="380999"/>
                  <a:pt x="310186" y="362815"/>
                  <a:pt x="310186" y="340448"/>
                </a:cubicBezTo>
                <a:lnTo>
                  <a:pt x="310186" y="95972"/>
                </a:lnTo>
                <a:lnTo>
                  <a:pt x="213876" y="0"/>
                </a:lnTo>
                <a:close/>
                <a:moveTo>
                  <a:pt x="42867" y="224723"/>
                </a:moveTo>
                <a:cubicBezTo>
                  <a:pt x="47656" y="223914"/>
                  <a:pt x="54387" y="223304"/>
                  <a:pt x="63871" y="223304"/>
                </a:cubicBezTo>
                <a:cubicBezTo>
                  <a:pt x="73455" y="223304"/>
                  <a:pt x="80285" y="225134"/>
                  <a:pt x="84875" y="228808"/>
                </a:cubicBezTo>
                <a:cubicBezTo>
                  <a:pt x="89259" y="232271"/>
                  <a:pt x="92218" y="237987"/>
                  <a:pt x="92218" y="244713"/>
                </a:cubicBezTo>
                <a:cubicBezTo>
                  <a:pt x="92218" y="251438"/>
                  <a:pt x="89976" y="257155"/>
                  <a:pt x="85897" y="261028"/>
                </a:cubicBezTo>
                <a:cubicBezTo>
                  <a:pt x="80591" y="266022"/>
                  <a:pt x="72745" y="268264"/>
                  <a:pt x="63566" y="268264"/>
                </a:cubicBezTo>
                <a:cubicBezTo>
                  <a:pt x="61524" y="268264"/>
                  <a:pt x="59693" y="268163"/>
                  <a:pt x="58261" y="267965"/>
                </a:cubicBezTo>
                <a:lnTo>
                  <a:pt x="58261" y="292538"/>
                </a:lnTo>
                <a:lnTo>
                  <a:pt x="42867" y="292538"/>
                </a:lnTo>
                <a:lnTo>
                  <a:pt x="42867" y="224723"/>
                </a:lnTo>
                <a:close/>
                <a:moveTo>
                  <a:pt x="269647" y="356165"/>
                </a:moveTo>
                <a:lnTo>
                  <a:pt x="60851" y="356165"/>
                </a:lnTo>
                <a:cubicBezTo>
                  <a:pt x="52195" y="356165"/>
                  <a:pt x="45146" y="349116"/>
                  <a:pt x="45146" y="340448"/>
                </a:cubicBezTo>
                <a:lnTo>
                  <a:pt x="45146" y="322277"/>
                </a:lnTo>
                <a:lnTo>
                  <a:pt x="239787" y="322277"/>
                </a:lnTo>
                <a:cubicBezTo>
                  <a:pt x="248811" y="322277"/>
                  <a:pt x="256128" y="314967"/>
                  <a:pt x="256128" y="305937"/>
                </a:cubicBezTo>
                <a:lnTo>
                  <a:pt x="256128" y="206840"/>
                </a:lnTo>
                <a:cubicBezTo>
                  <a:pt x="256128" y="197809"/>
                  <a:pt x="248811" y="190499"/>
                  <a:pt x="239787" y="190499"/>
                </a:cubicBezTo>
                <a:lnTo>
                  <a:pt x="45146" y="190499"/>
                </a:lnTo>
                <a:lnTo>
                  <a:pt x="45146" y="40550"/>
                </a:lnTo>
                <a:cubicBezTo>
                  <a:pt x="45146" y="31907"/>
                  <a:pt x="52196" y="24858"/>
                  <a:pt x="60851" y="24858"/>
                </a:cubicBezTo>
                <a:lnTo>
                  <a:pt x="204586" y="24708"/>
                </a:lnTo>
                <a:lnTo>
                  <a:pt x="204586" y="77837"/>
                </a:lnTo>
                <a:cubicBezTo>
                  <a:pt x="204586" y="93355"/>
                  <a:pt x="217177" y="105959"/>
                  <a:pt x="232707" y="105959"/>
                </a:cubicBezTo>
                <a:lnTo>
                  <a:pt x="284753" y="105809"/>
                </a:lnTo>
                <a:lnTo>
                  <a:pt x="285339" y="340447"/>
                </a:lnTo>
                <a:cubicBezTo>
                  <a:pt x="285339" y="349116"/>
                  <a:pt x="278303" y="356165"/>
                  <a:pt x="269647" y="356165"/>
                </a:cubicBezTo>
                <a:close/>
                <a:moveTo>
                  <a:pt x="102144" y="292226"/>
                </a:moveTo>
                <a:lnTo>
                  <a:pt x="102144" y="224723"/>
                </a:lnTo>
                <a:cubicBezTo>
                  <a:pt x="107853" y="223815"/>
                  <a:pt x="115295" y="223304"/>
                  <a:pt x="123148" y="223304"/>
                </a:cubicBezTo>
                <a:cubicBezTo>
                  <a:pt x="136199" y="223304"/>
                  <a:pt x="144663" y="225646"/>
                  <a:pt x="151294" y="230639"/>
                </a:cubicBezTo>
                <a:cubicBezTo>
                  <a:pt x="158431" y="235945"/>
                  <a:pt x="162914" y="244402"/>
                  <a:pt x="162914" y="256544"/>
                </a:cubicBezTo>
                <a:cubicBezTo>
                  <a:pt x="162914" y="269695"/>
                  <a:pt x="158125" y="278775"/>
                  <a:pt x="151493" y="284378"/>
                </a:cubicBezTo>
                <a:cubicBezTo>
                  <a:pt x="144257" y="290394"/>
                  <a:pt x="133242" y="293246"/>
                  <a:pt x="119785" y="293246"/>
                </a:cubicBezTo>
                <a:cubicBezTo>
                  <a:pt x="111726" y="293246"/>
                  <a:pt x="106017" y="292736"/>
                  <a:pt x="102144" y="292226"/>
                </a:cubicBezTo>
                <a:close/>
                <a:moveTo>
                  <a:pt x="213429" y="252260"/>
                </a:moveTo>
                <a:lnTo>
                  <a:pt x="213429" y="264901"/>
                </a:lnTo>
                <a:lnTo>
                  <a:pt x="188750" y="264901"/>
                </a:lnTo>
                <a:lnTo>
                  <a:pt x="188750" y="292538"/>
                </a:lnTo>
                <a:lnTo>
                  <a:pt x="173151" y="292538"/>
                </a:lnTo>
                <a:lnTo>
                  <a:pt x="173151" y="223815"/>
                </a:lnTo>
                <a:lnTo>
                  <a:pt x="215160" y="223815"/>
                </a:lnTo>
                <a:lnTo>
                  <a:pt x="215160" y="236555"/>
                </a:lnTo>
                <a:lnTo>
                  <a:pt x="188750" y="236555"/>
                </a:lnTo>
                <a:lnTo>
                  <a:pt x="188750" y="252260"/>
                </a:lnTo>
                <a:lnTo>
                  <a:pt x="213429" y="252260"/>
                </a:lnTo>
                <a:close/>
              </a:path>
            </a:pathLst>
          </a:custGeom>
          <a:solidFill>
            <a:srgbClr val="000000"/>
          </a:solidFill>
          <a:ln cap="flat">
            <a:noFill/>
            <a:miter/>
          </a:ln>
        </p:spPr>
      </p:sp>
      <p:sp>
        <p:nvSpPr>
          <p:cNvPr name="GraphCompose Text Line" id="34"/>
          <p:cNvSpPr txBox="true"/>
          <p:nvPr/>
        </p:nvSpPr>
        <p:spPr>
          <a:xfrm>
            <a:off x="9139538" y="2653613"/>
            <a:ext cx="510654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950" b="true" i="false" u="none" strike="noStrike" kern="0">
                <a:solidFill>
                  <a:srgbClr val="1C1E2E"/>
                </a:solidFill>
                <a:latin typeface="Arial"/>
              </a:rPr>
              <a:t>RENDER</a:t>
            </a:r>
            <a:endParaRPr lang="en-US" sz="1100"/>
          </a:p>
        </p:txBody>
      </p:sp>
      <p:sp>
        <p:nvSpPr>
          <p:cNvPr name="GraphCompose Text Line" id="35"/>
          <p:cNvSpPr txBox="true"/>
          <p:nvPr/>
        </p:nvSpPr>
        <p:spPr>
          <a:xfrm>
            <a:off x="8823949" y="2857682"/>
            <a:ext cx="1141832" cy="9398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00" b="false" i="false" u="none" strike="noStrike" kern="0">
                <a:solidFill>
                  <a:srgbClr val="707484"/>
                </a:solidFill>
                <a:latin typeface="Arial"/>
              </a:rPr>
              <a:t>PDFBox writes the bytes.</a:t>
            </a:r>
            <a:endParaRPr lang="en-US" sz="1100"/>
          </a:p>
        </p:txBody>
      </p:sp>
      <p:sp>
        <p:nvSpPr>
          <p:cNvPr name="AutoShape 36" id="36"/>
          <p:cNvSpPr/>
          <p:nvPr/>
        </p:nvSpPr>
        <p:spPr>
          <a:xfrm>
            <a:off x="203200" y="3351689"/>
            <a:ext cx="3062671" cy="855155"/>
          </a:xfrm>
          <a:prstGeom prst="roundRect">
            <a:avLst>
              <a:gd name="adj" fmla="val 14851"/>
            </a:avLst>
          </a:prstGeom>
          <a:solidFill>
            <a:srgbClr val="FFFFFF"/>
          </a:solidFill>
          <a:ln>
            <a:noFill/>
          </a:ln>
        </p:spPr>
      </p:sp>
      <p:cxnSp>
        <p:nvCxnSpPr>
          <p:cNvPr name="Connector 37" id="37"/>
          <p:cNvCxnSpPr/>
          <p:nvPr/>
        </p:nvCxnSpPr>
        <p:spPr>
          <a:xfrm>
            <a:off x="203200" y="3351689"/>
            <a:ext cx="0" cy="855155"/>
          </a:xfrm>
          <a:prstGeom prst="line">
            <a:avLst/>
          </a:prstGeom>
          <a:ln w="38100">
            <a:solidFill>
              <a:srgbClr val="7C5CFC"/>
            </a:solidFill>
          </a:ln>
        </p:spPr>
      </p:cxnSp>
      <p:sp>
        <p:nvSpPr>
          <p:cNvPr name="GraphCompose Text Line" id="38"/>
          <p:cNvSpPr txBox="true"/>
          <p:nvPr/>
        </p:nvSpPr>
        <p:spPr>
          <a:xfrm>
            <a:off x="406400" y="3528727"/>
            <a:ext cx="808457" cy="129222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100" b="true" i="false" u="none" strike="noStrike" kern="0">
                <a:solidFill>
                  <a:srgbClr val="1C1E2E"/>
                </a:solidFill>
                <a:latin typeface="Arial"/>
              </a:rPr>
              <a:t>Deterministic</a:t>
            </a:r>
            <a:endParaRPr lang="en-US" sz="1100"/>
          </a:p>
        </p:txBody>
      </p:sp>
      <p:sp>
        <p:nvSpPr>
          <p:cNvPr name="GraphCompose Text Line" id="39"/>
          <p:cNvSpPr txBox="true"/>
          <p:nvPr/>
        </p:nvSpPr>
        <p:spPr>
          <a:xfrm>
            <a:off x="406400" y="3737479"/>
            <a:ext cx="2650835" cy="112776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960" b="false" i="false" u="none" strike="noStrike" kern="0">
                <a:solidFill>
                  <a:srgbClr val="404454"/>
                </a:solidFill>
                <a:latin typeface="Arial"/>
              </a:rPr>
              <a:t>The same input renders the same bytes on every</a:t>
            </a:r>
            <a:endParaRPr lang="en-US" sz="1100"/>
          </a:p>
        </p:txBody>
      </p:sp>
      <p:sp>
        <p:nvSpPr>
          <p:cNvPr name="GraphCompose Text Line" id="40"/>
          <p:cNvSpPr txBox="true"/>
          <p:nvPr/>
        </p:nvSpPr>
        <p:spPr>
          <a:xfrm>
            <a:off x="406400" y="3868035"/>
            <a:ext cx="2657541" cy="112776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960" b="false" i="false" u="none" strike="noStrike" kern="0">
                <a:solidFill>
                  <a:srgbClr val="404454"/>
                </a:solidFill>
                <a:latin typeface="Arial"/>
              </a:rPr>
              <a:t>machine — layout is reproducible, not best-effort.</a:t>
            </a:r>
            <a:endParaRPr lang="en-US" sz="1100"/>
          </a:p>
        </p:txBody>
      </p:sp>
      <p:sp>
        <p:nvSpPr>
          <p:cNvPr name="AutoShape 41" id="41"/>
          <p:cNvSpPr/>
          <p:nvPr/>
        </p:nvSpPr>
        <p:spPr>
          <a:xfrm>
            <a:off x="3699467" y="3351689"/>
            <a:ext cx="3055844" cy="985711"/>
          </a:xfrm>
          <a:prstGeom prst="roundRect">
            <a:avLst>
              <a:gd name="adj" fmla="val 12884"/>
            </a:avLst>
          </a:prstGeom>
          <a:solidFill>
            <a:srgbClr val="FFFFFF"/>
          </a:solidFill>
          <a:ln>
            <a:noFill/>
          </a:ln>
        </p:spPr>
      </p:sp>
      <p:cxnSp>
        <p:nvCxnSpPr>
          <p:cNvPr name="Connector 42" id="42"/>
          <p:cNvCxnSpPr/>
          <p:nvPr/>
        </p:nvCxnSpPr>
        <p:spPr>
          <a:xfrm>
            <a:off x="3699467" y="3351689"/>
            <a:ext cx="0" cy="985711"/>
          </a:xfrm>
          <a:prstGeom prst="line">
            <a:avLst/>
          </a:prstGeom>
          <a:ln w="38100">
            <a:solidFill>
              <a:srgbClr val="7C5CFC"/>
            </a:solidFill>
          </a:ln>
        </p:spPr>
      </p:cxnSp>
      <p:sp>
        <p:nvSpPr>
          <p:cNvPr name="GraphCompose Text Line" id="43"/>
          <p:cNvSpPr txBox="true"/>
          <p:nvPr/>
        </p:nvSpPr>
        <p:spPr>
          <a:xfrm>
            <a:off x="3902667" y="3528727"/>
            <a:ext cx="1134796" cy="129222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100" b="true" i="false" u="none" strike="noStrike" kern="0">
                <a:solidFill>
                  <a:srgbClr val="1C1E2E"/>
                </a:solidFill>
                <a:latin typeface="Arial"/>
              </a:rPr>
              <a:t>Regression-tested</a:t>
            </a:r>
            <a:endParaRPr lang="en-US" sz="1100"/>
          </a:p>
        </p:txBody>
      </p:sp>
      <p:sp>
        <p:nvSpPr>
          <p:cNvPr name="GraphCompose Text Line" id="44"/>
          <p:cNvSpPr txBox="true"/>
          <p:nvPr/>
        </p:nvSpPr>
        <p:spPr>
          <a:xfrm>
            <a:off x="3902667" y="3737479"/>
            <a:ext cx="2163034" cy="112776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960" b="false" i="false" u="none" strike="noStrike" kern="0">
                <a:solidFill>
                  <a:srgbClr val="404454"/>
                </a:solidFill>
                <a:latin typeface="Arial"/>
              </a:rPr>
              <a:t>layoutSnapshot() diffs the geometry and</a:t>
            </a:r>
            <a:endParaRPr lang="en-US" sz="1100"/>
          </a:p>
        </p:txBody>
      </p:sp>
      <p:sp>
        <p:nvSpPr>
          <p:cNvPr name="GraphCompose Text Line" id="45"/>
          <p:cNvSpPr txBox="true"/>
          <p:nvPr/>
        </p:nvSpPr>
        <p:spPr>
          <a:xfrm>
            <a:off x="3902667" y="3868035"/>
            <a:ext cx="2650714" cy="112776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960" b="false" i="false" u="none" strike="noStrike" kern="0">
                <a:solidFill>
                  <a:srgbClr val="404454"/>
                </a:solidFill>
                <a:latin typeface="Arial"/>
              </a:rPr>
              <a:t>PdfVisualRegression pixel-tests fonts and colour,</a:t>
            </a:r>
            <a:endParaRPr lang="en-US" sz="1100"/>
          </a:p>
        </p:txBody>
      </p:sp>
      <p:sp>
        <p:nvSpPr>
          <p:cNvPr name="GraphCompose Text Line" id="46"/>
          <p:cNvSpPr txBox="true"/>
          <p:nvPr/>
        </p:nvSpPr>
        <p:spPr>
          <a:xfrm>
            <a:off x="3902667" y="3998591"/>
            <a:ext cx="1397132" cy="112776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960" b="false" i="false" u="none" strike="noStrike" kern="0">
                <a:solidFill>
                  <a:srgbClr val="404454"/>
                </a:solidFill>
                <a:latin typeface="Arial"/>
              </a:rPr>
              <a:t>right in your pull requests.</a:t>
            </a:r>
            <a:endParaRPr lang="en-US" sz="1100"/>
          </a:p>
        </p:txBody>
      </p:sp>
      <p:sp>
        <p:nvSpPr>
          <p:cNvPr name="AutoShape 47" id="47"/>
          <p:cNvSpPr/>
          <p:nvPr/>
        </p:nvSpPr>
        <p:spPr>
          <a:xfrm>
            <a:off x="7195733" y="3351689"/>
            <a:ext cx="3198246" cy="985711"/>
          </a:xfrm>
          <a:prstGeom prst="roundRect">
            <a:avLst>
              <a:gd name="adj" fmla="val 12884"/>
            </a:avLst>
          </a:prstGeom>
          <a:solidFill>
            <a:srgbClr val="FFFFFF"/>
          </a:solidFill>
          <a:ln>
            <a:noFill/>
          </a:ln>
        </p:spPr>
      </p:sp>
      <p:cxnSp>
        <p:nvCxnSpPr>
          <p:cNvPr name="Connector 48" id="48"/>
          <p:cNvCxnSpPr/>
          <p:nvPr/>
        </p:nvCxnSpPr>
        <p:spPr>
          <a:xfrm>
            <a:off x="7195733" y="3351689"/>
            <a:ext cx="0" cy="985711"/>
          </a:xfrm>
          <a:prstGeom prst="line">
            <a:avLst/>
          </a:prstGeom>
          <a:ln w="38100">
            <a:solidFill>
              <a:srgbClr val="7C5CFC"/>
            </a:solidFill>
          </a:ln>
        </p:spPr>
      </p:cxnSp>
      <p:sp>
        <p:nvSpPr>
          <p:cNvPr name="GraphCompose Text Line" id="49"/>
          <p:cNvSpPr txBox="true"/>
          <p:nvPr/>
        </p:nvSpPr>
        <p:spPr>
          <a:xfrm>
            <a:off x="7398933" y="3528727"/>
            <a:ext cx="1064946" cy="129222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100" b="true" i="false" u="none" strike="noStrike" kern="0">
                <a:solidFill>
                  <a:srgbClr val="1C1E2E"/>
                </a:solidFill>
                <a:latin typeface="Arial"/>
              </a:rPr>
              <a:t>Production-ready</a:t>
            </a:r>
            <a:endParaRPr lang="en-US" sz="1100"/>
          </a:p>
        </p:txBody>
      </p:sp>
      <p:sp>
        <p:nvSpPr>
          <p:cNvPr name="GraphCompose Text Line" id="50"/>
          <p:cNvSpPr txBox="true"/>
          <p:nvPr/>
        </p:nvSpPr>
        <p:spPr>
          <a:xfrm>
            <a:off x="7398933" y="3737479"/>
            <a:ext cx="2793116" cy="112776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960" b="false" i="false" u="none" strike="noStrike" kern="0">
                <a:solidFill>
                  <a:srgbClr val="404454"/>
                </a:solidFill>
                <a:latin typeface="Arial"/>
              </a:rPr>
              <a:t>An isolated PDFBox backend streams straight to an</a:t>
            </a:r>
            <a:endParaRPr lang="en-US" sz="1100"/>
          </a:p>
        </p:txBody>
      </p:sp>
      <p:sp>
        <p:nvSpPr>
          <p:cNvPr name="GraphCompose Text Line" id="51"/>
          <p:cNvSpPr txBox="true"/>
          <p:nvPr/>
        </p:nvSpPr>
        <p:spPr>
          <a:xfrm>
            <a:off x="7398933" y="3868035"/>
            <a:ext cx="2372858" cy="112776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960" b="false" i="false" u="none" strike="noStrike" kern="0">
                <a:solidFill>
                  <a:srgbClr val="404454"/>
                </a:solidFill>
                <a:latin typeface="Arial"/>
              </a:rPr>
              <a:t>HTTP response — no temp files, no manual</a:t>
            </a:r>
            <a:endParaRPr lang="en-US" sz="1100"/>
          </a:p>
        </p:txBody>
      </p:sp>
      <p:sp>
        <p:nvSpPr>
          <p:cNvPr name="GraphCompose Text Line" id="52"/>
          <p:cNvSpPr txBox="true"/>
          <p:nvPr/>
        </p:nvSpPr>
        <p:spPr>
          <a:xfrm>
            <a:off x="7398933" y="3998591"/>
            <a:ext cx="665368" cy="112776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960" b="false" i="false" u="none" strike="noStrike" kern="0">
                <a:solidFill>
                  <a:srgbClr val="404454"/>
                </a:solidFill>
                <a:latin typeface="Arial"/>
              </a:rPr>
              <a:t>coordinates.</a:t>
            </a:r>
            <a:endParaRPr lang="en-US" sz="1100"/>
          </a:p>
        </p:txBody>
      </p:sp>
      <p:sp>
        <p:nvSpPr>
          <p:cNvPr name="GraphCompose Footer" id="53"/>
          <p:cNvSpPr txBox="true"/>
          <p:nvPr/>
        </p:nvSpPr>
        <p:spPr>
          <a:xfrm>
            <a:off x="203200" y="7189226"/>
            <a:ext cx="2340978" cy="140335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850" b="false" i="false" u="none" strike="noStrike" kern="0">
                <a:solidFill>
                  <a:srgbClr val="707484"/>
                </a:solidFill>
                <a:latin typeface="Arial"/>
              </a:rPr>
              <a:t>GraphCompose · v2.1.0-SNAPSHOT “navigable”</a:t>
            </a:r>
            <a:endParaRPr lang="en-US" sz="1100"/>
          </a:p>
        </p:txBody>
      </p:sp>
      <p:sp>
        <p:nvSpPr>
          <p:cNvPr name="GraphCompose Footer" id="54"/>
          <p:cNvSpPr txBox="true"/>
          <p:nvPr/>
        </p:nvSpPr>
        <p:spPr>
          <a:xfrm>
            <a:off x="9936636" y="7189226"/>
            <a:ext cx="553434" cy="140335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850" b="false" i="false" u="none" strike="noStrike" kern="0">
                <a:solidFill>
                  <a:srgbClr val="707484"/>
                </a:solidFill>
                <a:latin typeface="Arial"/>
              </a:rPr>
              <a:t>Page 2 of 4</a:t>
            </a:r>
            <a:endParaRPr lang="en-US" sz="1100"/>
          </a:p>
        </p:txBody>
      </p:sp>
      <p:cxnSp>
        <p:nvCxnSpPr>
          <p:cNvPr name="GraphCompose Footer Separator" id="55"/>
          <p:cNvCxnSpPr/>
          <p:nvPr/>
        </p:nvCxnSpPr>
        <p:spPr>
          <a:xfrm>
            <a:off x="203200" y="7179001"/>
            <a:ext cx="10285600" cy="0"/>
          </a:xfrm>
          <a:prstGeom prst="line">
            <a:avLst/>
          </a:prstGeom>
          <a:ln w="6350">
            <a:solidFill>
              <a:srgbClr val="A78BFA"/>
            </a:solidFill>
          </a:ln>
        </p:spPr>
      </p:cxnSp>
    </p:spTree>
  </p:cSld>
  <p:clrMapOvr>
    <a:masterClrMapping/>
  </p:clrMapOvr>
</p:sld>
</file>

<file path=ppt/slides/slide3.xml><?xml version="1.0" encoding="utf-8"?>
<p:sld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GraphCompose Text Line" id="2"/>
          <p:cNvSpPr txBox="true"/>
          <p:nvPr/>
        </p:nvSpPr>
        <p:spPr>
          <a:xfrm>
            <a:off x="203200" y="384995"/>
            <a:ext cx="890295" cy="105727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900" b="true" i="false" u="none" strike="noStrike" kern="0">
                <a:solidFill>
                  <a:srgbClr val="6128D9"/>
                </a:solidFill>
                <a:latin typeface="Arial"/>
              </a:rPr>
              <a:t>BENCHMARKED</a:t>
            </a:r>
            <a:endParaRPr lang="en-US" sz="1100"/>
          </a:p>
        </p:txBody>
      </p:sp>
      <p:sp>
        <p:nvSpPr>
          <p:cNvPr name="GraphCompose Text Line" id="3"/>
          <p:cNvSpPr txBox="true"/>
          <p:nvPr/>
        </p:nvSpPr>
        <p:spPr>
          <a:xfrm>
            <a:off x="203200" y="558217"/>
            <a:ext cx="2834538" cy="211455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800" b="true" i="false" u="none" strike="noStrike" kern="0">
                <a:solidFill>
                  <a:srgbClr val="1C1E2E"/>
                </a:solidFill>
                <a:latin typeface="Arial"/>
              </a:rPr>
              <a:t>GraphCompose vs. the field</a:t>
            </a:r>
            <a:endParaRPr lang="en-US" sz="1100"/>
          </a:p>
        </p:txBody>
      </p:sp>
      <p:sp>
        <p:nvSpPr>
          <p:cNvPr name="GraphCompose Text Line" id="4"/>
          <p:cNvSpPr txBox="true"/>
          <p:nvPr/>
        </p:nvSpPr>
        <p:spPr>
          <a:xfrm>
            <a:off x="203200" y="992850"/>
            <a:ext cx="10012975" cy="112776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960" b="false" i="false" u="none" strike="noStrike" kern="0">
                <a:solidFill>
                  <a:srgbClr val="404454"/>
                </a:solidFill>
                <a:latin typeface="Arial"/>
              </a:rPr>
              <a:t>The same documents through three engines — render time and peak heap, measured by this repository's own harness. The table and charts below are drawn by GraphCompose straight</a:t>
            </a:r>
            <a:endParaRPr lang="en-US" sz="1100"/>
          </a:p>
        </p:txBody>
      </p:sp>
      <p:sp>
        <p:nvSpPr>
          <p:cNvPr name="GraphCompose Text Line" id="5"/>
          <p:cNvSpPr txBox="true"/>
          <p:nvPr/>
        </p:nvSpPr>
        <p:spPr>
          <a:xfrm>
            <a:off x="203200" y="1124041"/>
            <a:ext cx="1004062" cy="112776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960" b="false" i="false" u="none" strike="noStrike" kern="0">
                <a:solidFill>
                  <a:srgbClr val="404454"/>
                </a:solidFill>
                <a:latin typeface="Arial"/>
              </a:rPr>
              <a:t>from the result file.</a:t>
            </a:r>
            <a:endParaRPr lang="en-US" sz="1100"/>
          </a:p>
        </p:txBody>
      </p:sp>
      <p:sp>
        <p:nvSpPr>
          <p:cNvPr name="GraphCompose Table Cell Fill" id="6"/>
          <p:cNvSpPr/>
          <p:nvPr/>
        </p:nvSpPr>
        <p:spPr>
          <a:xfrm>
            <a:off x="203200" y="1488249"/>
            <a:ext cx="1524000" cy="308927"/>
          </a:xfrm>
          <a:prstGeom prst="rect">
            <a:avLst/>
          </a:prstGeom>
          <a:solidFill>
            <a:srgbClr val="6128D9"/>
          </a:solidFill>
          <a:ln>
            <a:noFill/>
          </a:ln>
        </p:spPr>
      </p:sp>
      <p:sp>
        <p:nvSpPr>
          <p:cNvPr name="GraphCompose Table Cell Fill" id="7"/>
          <p:cNvSpPr/>
          <p:nvPr/>
        </p:nvSpPr>
        <p:spPr>
          <a:xfrm>
            <a:off x="1727200" y="1488249"/>
            <a:ext cx="1181544" cy="308927"/>
          </a:xfrm>
          <a:prstGeom prst="rect">
            <a:avLst/>
          </a:prstGeom>
          <a:solidFill>
            <a:srgbClr val="6128D9"/>
          </a:solidFill>
          <a:ln>
            <a:noFill/>
          </a:ln>
        </p:spPr>
      </p:sp>
      <p:sp>
        <p:nvSpPr>
          <p:cNvPr name="GraphCompose Table Cell Fill" id="8"/>
          <p:cNvSpPr/>
          <p:nvPr/>
        </p:nvSpPr>
        <p:spPr>
          <a:xfrm>
            <a:off x="2908744" y="1488249"/>
            <a:ext cx="1245095" cy="308927"/>
          </a:xfrm>
          <a:prstGeom prst="rect">
            <a:avLst/>
          </a:prstGeom>
          <a:solidFill>
            <a:srgbClr val="6128D9"/>
          </a:solidFill>
          <a:ln>
            <a:noFill/>
          </a:ln>
        </p:spPr>
      </p:sp>
      <p:sp>
        <p:nvSpPr>
          <p:cNvPr name="GraphCompose Table Cell Fill" id="9"/>
          <p:cNvSpPr/>
          <p:nvPr/>
        </p:nvSpPr>
        <p:spPr>
          <a:xfrm>
            <a:off x="4153840" y="1488249"/>
            <a:ext cx="1181544" cy="308927"/>
          </a:xfrm>
          <a:prstGeom prst="rect">
            <a:avLst/>
          </a:prstGeom>
          <a:solidFill>
            <a:srgbClr val="6128D9"/>
          </a:solidFill>
          <a:ln>
            <a:noFill/>
          </a:ln>
        </p:spPr>
      </p:sp>
      <p:sp>
        <p:nvSpPr>
          <p:cNvPr name="GraphCompose Table Cell Fill" id="10"/>
          <p:cNvSpPr/>
          <p:nvPr/>
        </p:nvSpPr>
        <p:spPr>
          <a:xfrm>
            <a:off x="203200" y="1797177"/>
            <a:ext cx="1524000" cy="283527"/>
          </a:xfrm>
          <a:prstGeom prst="rect">
            <a:avLst/>
          </a:prstGeom>
          <a:solidFill>
            <a:srgbClr val="F7F8FC"/>
          </a:solidFill>
          <a:ln>
            <a:noFill/>
          </a:ln>
        </p:spPr>
      </p:sp>
      <p:sp>
        <p:nvSpPr>
          <p:cNvPr name="GraphCompose Table Cell Fill" id="11"/>
          <p:cNvSpPr/>
          <p:nvPr/>
        </p:nvSpPr>
        <p:spPr>
          <a:xfrm>
            <a:off x="1727200" y="1797177"/>
            <a:ext cx="1181544" cy="283527"/>
          </a:xfrm>
          <a:prstGeom prst="rect">
            <a:avLst/>
          </a:prstGeom>
          <a:solidFill>
            <a:srgbClr val="F7F8FC"/>
          </a:solidFill>
          <a:ln>
            <a:noFill/>
          </a:ln>
        </p:spPr>
      </p:sp>
      <p:sp>
        <p:nvSpPr>
          <p:cNvPr name="GraphCompose Table Cell Fill" id="12"/>
          <p:cNvSpPr/>
          <p:nvPr/>
        </p:nvSpPr>
        <p:spPr>
          <a:xfrm>
            <a:off x="2908744" y="1797177"/>
            <a:ext cx="1245095" cy="283527"/>
          </a:xfrm>
          <a:prstGeom prst="rect">
            <a:avLst/>
          </a:prstGeom>
          <a:solidFill>
            <a:srgbClr val="F7F8FC"/>
          </a:solidFill>
          <a:ln>
            <a:noFill/>
          </a:ln>
        </p:spPr>
      </p:sp>
      <p:sp>
        <p:nvSpPr>
          <p:cNvPr name="GraphCompose Table Cell Fill" id="13"/>
          <p:cNvSpPr/>
          <p:nvPr/>
        </p:nvSpPr>
        <p:spPr>
          <a:xfrm>
            <a:off x="4153840" y="1797177"/>
            <a:ext cx="1181544" cy="283527"/>
          </a:xfrm>
          <a:prstGeom prst="rect">
            <a:avLst/>
          </a:prstGeom>
          <a:solidFill>
            <a:srgbClr val="F7F8FC"/>
          </a:solidFill>
          <a:ln>
            <a:noFill/>
          </a:ln>
        </p:spPr>
      </p:sp>
      <p:sp>
        <p:nvSpPr>
          <p:cNvPr name="GraphCompose Table Cell Fill" id="14"/>
          <p:cNvSpPr/>
          <p:nvPr/>
        </p:nvSpPr>
        <p:spPr>
          <a:xfrm>
            <a:off x="203200" y="2080704"/>
            <a:ext cx="1524000" cy="283527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name="GraphCompose Table Cell Fill" id="15"/>
          <p:cNvSpPr/>
          <p:nvPr/>
        </p:nvSpPr>
        <p:spPr>
          <a:xfrm>
            <a:off x="1727200" y="2080704"/>
            <a:ext cx="1181544" cy="283527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name="GraphCompose Table Cell Fill" id="16"/>
          <p:cNvSpPr/>
          <p:nvPr/>
        </p:nvSpPr>
        <p:spPr>
          <a:xfrm>
            <a:off x="2908744" y="2080704"/>
            <a:ext cx="1245095" cy="283527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name="GraphCompose Table Cell Fill" id="17"/>
          <p:cNvSpPr/>
          <p:nvPr/>
        </p:nvSpPr>
        <p:spPr>
          <a:xfrm>
            <a:off x="4153840" y="2080704"/>
            <a:ext cx="1181544" cy="283527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name="GraphCompose Table Cell Fill" id="18"/>
          <p:cNvSpPr/>
          <p:nvPr/>
        </p:nvSpPr>
        <p:spPr>
          <a:xfrm>
            <a:off x="203200" y="2364232"/>
            <a:ext cx="1524000" cy="283527"/>
          </a:xfrm>
          <a:prstGeom prst="rect">
            <a:avLst/>
          </a:prstGeom>
          <a:solidFill>
            <a:srgbClr val="F7F8FC"/>
          </a:solidFill>
          <a:ln>
            <a:noFill/>
          </a:ln>
        </p:spPr>
      </p:sp>
      <p:sp>
        <p:nvSpPr>
          <p:cNvPr name="GraphCompose Table Cell Fill" id="19"/>
          <p:cNvSpPr/>
          <p:nvPr/>
        </p:nvSpPr>
        <p:spPr>
          <a:xfrm>
            <a:off x="1727200" y="2364232"/>
            <a:ext cx="1181544" cy="283527"/>
          </a:xfrm>
          <a:prstGeom prst="rect">
            <a:avLst/>
          </a:prstGeom>
          <a:solidFill>
            <a:srgbClr val="F7F8FC"/>
          </a:solidFill>
          <a:ln>
            <a:noFill/>
          </a:ln>
        </p:spPr>
      </p:sp>
      <p:sp>
        <p:nvSpPr>
          <p:cNvPr name="GraphCompose Table Cell Fill" id="20"/>
          <p:cNvSpPr/>
          <p:nvPr/>
        </p:nvSpPr>
        <p:spPr>
          <a:xfrm>
            <a:off x="2908744" y="2364232"/>
            <a:ext cx="1245095" cy="283527"/>
          </a:xfrm>
          <a:prstGeom prst="rect">
            <a:avLst/>
          </a:prstGeom>
          <a:solidFill>
            <a:srgbClr val="F7F8FC"/>
          </a:solidFill>
          <a:ln>
            <a:noFill/>
          </a:ln>
        </p:spPr>
      </p:sp>
      <p:sp>
        <p:nvSpPr>
          <p:cNvPr name="GraphCompose Table Cell Fill" id="21"/>
          <p:cNvSpPr/>
          <p:nvPr/>
        </p:nvSpPr>
        <p:spPr>
          <a:xfrm>
            <a:off x="4153840" y="2364232"/>
            <a:ext cx="1181544" cy="283527"/>
          </a:xfrm>
          <a:prstGeom prst="rect">
            <a:avLst/>
          </a:prstGeom>
          <a:solidFill>
            <a:srgbClr val="F7F8FC"/>
          </a:solidFill>
          <a:ln>
            <a:noFill/>
          </a:ln>
        </p:spPr>
      </p:sp>
      <p:sp>
        <p:nvSpPr>
          <p:cNvPr name="GraphCompose Table Cell Fill" id="22"/>
          <p:cNvSpPr/>
          <p:nvPr/>
        </p:nvSpPr>
        <p:spPr>
          <a:xfrm>
            <a:off x="203200" y="2647759"/>
            <a:ext cx="1524000" cy="283527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name="GraphCompose Table Cell Fill" id="23"/>
          <p:cNvSpPr/>
          <p:nvPr/>
        </p:nvSpPr>
        <p:spPr>
          <a:xfrm>
            <a:off x="1727200" y="2647759"/>
            <a:ext cx="1181544" cy="283527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name="GraphCompose Table Cell Fill" id="24"/>
          <p:cNvSpPr/>
          <p:nvPr/>
        </p:nvSpPr>
        <p:spPr>
          <a:xfrm>
            <a:off x="2908744" y="2647759"/>
            <a:ext cx="1245095" cy="283527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name="GraphCompose Table Cell Fill" id="25"/>
          <p:cNvSpPr/>
          <p:nvPr/>
        </p:nvSpPr>
        <p:spPr>
          <a:xfrm>
            <a:off x="4153840" y="2647759"/>
            <a:ext cx="1181544" cy="283527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cxnSp>
        <p:nvCxnSpPr>
          <p:cNvPr name="GraphCompose Table Cell Border" id="26"/>
          <p:cNvCxnSpPr/>
          <p:nvPr/>
        </p:nvCxnSpPr>
        <p:spPr>
          <a:xfrm>
            <a:off x="203200" y="1488249"/>
            <a:ext cx="1527175" cy="0"/>
          </a:xfrm>
          <a:prstGeom prst="line">
            <a:avLst/>
          </a:prstGeom>
          <a:ln w="6350">
            <a:solidFill>
              <a:srgbClr val="6128D9"/>
            </a:solidFill>
          </a:ln>
        </p:spPr>
      </p:cxnSp>
      <p:cxnSp>
        <p:nvCxnSpPr>
          <p:cNvPr name="GraphCompose Table Cell Border" id="27"/>
          <p:cNvCxnSpPr/>
          <p:nvPr/>
        </p:nvCxnSpPr>
        <p:spPr>
          <a:xfrm>
            <a:off x="203200" y="1797177"/>
            <a:ext cx="1527175" cy="0"/>
          </a:xfrm>
          <a:prstGeom prst="line">
            <a:avLst/>
          </a:prstGeom>
          <a:ln w="6350">
            <a:solidFill>
              <a:srgbClr val="6128D9"/>
            </a:solidFill>
          </a:ln>
        </p:spPr>
      </p:cxnSp>
      <p:cxnSp>
        <p:nvCxnSpPr>
          <p:cNvPr name="GraphCompose Table Cell Border" id="28"/>
          <p:cNvCxnSpPr/>
          <p:nvPr/>
        </p:nvCxnSpPr>
        <p:spPr>
          <a:xfrm>
            <a:off x="203200" y="1488249"/>
            <a:ext cx="0" cy="308927"/>
          </a:xfrm>
          <a:prstGeom prst="line">
            <a:avLst/>
          </a:prstGeom>
          <a:ln w="6350">
            <a:solidFill>
              <a:srgbClr val="6128D9"/>
            </a:solidFill>
          </a:ln>
        </p:spPr>
      </p:cxnSp>
      <p:cxnSp>
        <p:nvCxnSpPr>
          <p:cNvPr name="GraphCompose Table Cell Border" id="29"/>
          <p:cNvCxnSpPr/>
          <p:nvPr/>
        </p:nvCxnSpPr>
        <p:spPr>
          <a:xfrm>
            <a:off x="1727200" y="1488249"/>
            <a:ext cx="0" cy="308927"/>
          </a:xfrm>
          <a:prstGeom prst="line">
            <a:avLst/>
          </a:prstGeom>
          <a:ln w="6350">
            <a:solidFill>
              <a:srgbClr val="6128D9"/>
            </a:solidFill>
          </a:ln>
        </p:spPr>
      </p:cxnSp>
      <p:sp>
        <p:nvSpPr>
          <p:cNvPr name="GraphCompose Table Cell Text" id="30"/>
          <p:cNvSpPr txBox="true"/>
          <p:nvPr/>
        </p:nvSpPr>
        <p:spPr>
          <a:xfrm>
            <a:off x="330200" y="1568444"/>
            <a:ext cx="579285" cy="105727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00" b="true" i="false" u="none" strike="noStrike" kern="0">
                <a:solidFill>
                  <a:srgbClr val="FFFFFF"/>
                </a:solidFill>
                <a:latin typeface="Arial"/>
              </a:rPr>
              <a:t>Report size</a:t>
            </a:r>
            <a:endParaRPr lang="en-US" sz="1100"/>
          </a:p>
        </p:txBody>
      </p:sp>
      <p:cxnSp>
        <p:nvCxnSpPr>
          <p:cNvPr name="GraphCompose Table Cell Border" id="31"/>
          <p:cNvCxnSpPr/>
          <p:nvPr/>
        </p:nvCxnSpPr>
        <p:spPr>
          <a:xfrm>
            <a:off x="1724025" y="1488249"/>
            <a:ext cx="1187894" cy="0"/>
          </a:xfrm>
          <a:prstGeom prst="line">
            <a:avLst/>
          </a:prstGeom>
          <a:ln w="6350">
            <a:solidFill>
              <a:srgbClr val="6128D9"/>
            </a:solidFill>
          </a:ln>
        </p:spPr>
      </p:cxnSp>
      <p:cxnSp>
        <p:nvCxnSpPr>
          <p:cNvPr name="GraphCompose Table Cell Border" id="32"/>
          <p:cNvCxnSpPr/>
          <p:nvPr/>
        </p:nvCxnSpPr>
        <p:spPr>
          <a:xfrm>
            <a:off x="1724025" y="1797177"/>
            <a:ext cx="1187894" cy="0"/>
          </a:xfrm>
          <a:prstGeom prst="line">
            <a:avLst/>
          </a:prstGeom>
          <a:ln w="6350">
            <a:solidFill>
              <a:srgbClr val="6128D9"/>
            </a:solidFill>
          </a:ln>
        </p:spPr>
      </p:cxnSp>
      <p:cxnSp>
        <p:nvCxnSpPr>
          <p:cNvPr name="GraphCompose Table Cell Border" id="33"/>
          <p:cNvCxnSpPr/>
          <p:nvPr/>
        </p:nvCxnSpPr>
        <p:spPr>
          <a:xfrm>
            <a:off x="2908744" y="1488249"/>
            <a:ext cx="0" cy="308927"/>
          </a:xfrm>
          <a:prstGeom prst="line">
            <a:avLst/>
          </a:prstGeom>
          <a:ln w="6350">
            <a:solidFill>
              <a:srgbClr val="6128D9"/>
            </a:solidFill>
          </a:ln>
        </p:spPr>
      </p:cxnSp>
      <p:sp>
        <p:nvSpPr>
          <p:cNvPr name="GraphCompose Table Cell Text" id="34"/>
          <p:cNvSpPr txBox="true"/>
          <p:nvPr/>
        </p:nvSpPr>
        <p:spPr>
          <a:xfrm>
            <a:off x="1854200" y="1568444"/>
            <a:ext cx="807999" cy="105727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00" b="true" i="false" u="none" strike="noStrike" kern="0">
                <a:solidFill>
                  <a:srgbClr val="FFFFFF"/>
                </a:solidFill>
                <a:latin typeface="Arial"/>
              </a:rPr>
              <a:t>GraphCompose</a:t>
            </a:r>
            <a:endParaRPr lang="en-US" sz="1100"/>
          </a:p>
        </p:txBody>
      </p:sp>
      <p:cxnSp>
        <p:nvCxnSpPr>
          <p:cNvPr name="GraphCompose Table Cell Border" id="35"/>
          <p:cNvCxnSpPr/>
          <p:nvPr/>
        </p:nvCxnSpPr>
        <p:spPr>
          <a:xfrm>
            <a:off x="2905570" y="1488249"/>
            <a:ext cx="1251445" cy="0"/>
          </a:xfrm>
          <a:prstGeom prst="line">
            <a:avLst/>
          </a:prstGeom>
          <a:ln w="6350">
            <a:solidFill>
              <a:srgbClr val="6128D9"/>
            </a:solidFill>
          </a:ln>
        </p:spPr>
      </p:cxnSp>
      <p:cxnSp>
        <p:nvCxnSpPr>
          <p:cNvPr name="GraphCompose Table Cell Border" id="36"/>
          <p:cNvCxnSpPr/>
          <p:nvPr/>
        </p:nvCxnSpPr>
        <p:spPr>
          <a:xfrm>
            <a:off x="2905570" y="1797177"/>
            <a:ext cx="1251445" cy="0"/>
          </a:xfrm>
          <a:prstGeom prst="line">
            <a:avLst/>
          </a:prstGeom>
          <a:ln w="6350">
            <a:solidFill>
              <a:srgbClr val="6128D9"/>
            </a:solidFill>
          </a:ln>
        </p:spPr>
      </p:cxnSp>
      <p:cxnSp>
        <p:nvCxnSpPr>
          <p:cNvPr name="GraphCompose Table Cell Border" id="37"/>
          <p:cNvCxnSpPr/>
          <p:nvPr/>
        </p:nvCxnSpPr>
        <p:spPr>
          <a:xfrm>
            <a:off x="4153840" y="1488249"/>
            <a:ext cx="0" cy="308927"/>
          </a:xfrm>
          <a:prstGeom prst="line">
            <a:avLst/>
          </a:prstGeom>
          <a:ln w="6350">
            <a:solidFill>
              <a:srgbClr val="6128D9"/>
            </a:solidFill>
          </a:ln>
        </p:spPr>
      </p:cxnSp>
      <p:sp>
        <p:nvSpPr>
          <p:cNvPr name="GraphCompose Table Cell Text" id="38"/>
          <p:cNvSpPr txBox="true"/>
          <p:nvPr/>
        </p:nvSpPr>
        <p:spPr>
          <a:xfrm>
            <a:off x="3035744" y="1568444"/>
            <a:ext cx="344284" cy="105727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00" b="true" i="false" u="none" strike="noStrike" kern="0">
                <a:solidFill>
                  <a:srgbClr val="FFFFFF"/>
                </a:solidFill>
                <a:latin typeface="Arial"/>
              </a:rPr>
              <a:t>iText 9</a:t>
            </a:r>
            <a:endParaRPr lang="en-US" sz="1100"/>
          </a:p>
        </p:txBody>
      </p:sp>
      <p:cxnSp>
        <p:nvCxnSpPr>
          <p:cNvPr name="GraphCompose Table Cell Border" id="39"/>
          <p:cNvCxnSpPr/>
          <p:nvPr/>
        </p:nvCxnSpPr>
        <p:spPr>
          <a:xfrm>
            <a:off x="4150665" y="1488249"/>
            <a:ext cx="1184719" cy="0"/>
          </a:xfrm>
          <a:prstGeom prst="line">
            <a:avLst/>
          </a:prstGeom>
          <a:ln w="6350">
            <a:solidFill>
              <a:srgbClr val="6128D9"/>
            </a:solidFill>
          </a:ln>
        </p:spPr>
      </p:cxnSp>
      <p:cxnSp>
        <p:nvCxnSpPr>
          <p:cNvPr name="GraphCompose Table Cell Border" id="40"/>
          <p:cNvCxnSpPr/>
          <p:nvPr/>
        </p:nvCxnSpPr>
        <p:spPr>
          <a:xfrm>
            <a:off x="4150665" y="1797177"/>
            <a:ext cx="1184719" cy="0"/>
          </a:xfrm>
          <a:prstGeom prst="line">
            <a:avLst/>
          </a:prstGeom>
          <a:ln w="6350">
            <a:solidFill>
              <a:srgbClr val="6128D9"/>
            </a:solidFill>
          </a:ln>
        </p:spPr>
      </p:cxnSp>
      <p:cxnSp>
        <p:nvCxnSpPr>
          <p:cNvPr name="GraphCompose Table Cell Border" id="41"/>
          <p:cNvCxnSpPr/>
          <p:nvPr/>
        </p:nvCxnSpPr>
        <p:spPr>
          <a:xfrm>
            <a:off x="5335384" y="1488249"/>
            <a:ext cx="0" cy="308927"/>
          </a:xfrm>
          <a:prstGeom prst="line">
            <a:avLst/>
          </a:prstGeom>
          <a:ln w="6350">
            <a:solidFill>
              <a:srgbClr val="6128D9"/>
            </a:solidFill>
          </a:ln>
        </p:spPr>
      </p:cxnSp>
      <p:sp>
        <p:nvSpPr>
          <p:cNvPr name="GraphCompose Table Cell Text" id="42"/>
          <p:cNvSpPr txBox="true"/>
          <p:nvPr/>
        </p:nvSpPr>
        <p:spPr>
          <a:xfrm>
            <a:off x="4280840" y="1568444"/>
            <a:ext cx="744449" cy="105727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00" b="true" i="false" u="none" strike="noStrike" kern="0">
                <a:solidFill>
                  <a:srgbClr val="FFFFFF"/>
                </a:solidFill>
                <a:latin typeface="Arial"/>
              </a:rPr>
              <a:t>JasperReports</a:t>
            </a:r>
            <a:endParaRPr lang="en-US" sz="1100"/>
          </a:p>
        </p:txBody>
      </p:sp>
      <p:cxnSp>
        <p:nvCxnSpPr>
          <p:cNvPr name="GraphCompose Table Cell Border" id="43"/>
          <p:cNvCxnSpPr/>
          <p:nvPr/>
        </p:nvCxnSpPr>
        <p:spPr>
          <a:xfrm>
            <a:off x="203200" y="2080704"/>
            <a:ext cx="1527175" cy="0"/>
          </a:xfrm>
          <a:prstGeom prst="line">
            <a:avLst/>
          </a:prstGeom>
          <a:ln w="6350">
            <a:solidFill>
              <a:srgbClr val="E2E5EF"/>
            </a:solidFill>
          </a:ln>
        </p:spPr>
      </p:cxnSp>
      <p:cxnSp>
        <p:nvCxnSpPr>
          <p:cNvPr name="GraphCompose Table Cell Border" id="44"/>
          <p:cNvCxnSpPr/>
          <p:nvPr/>
        </p:nvCxnSpPr>
        <p:spPr>
          <a:xfrm>
            <a:off x="203200" y="1797177"/>
            <a:ext cx="0" cy="283527"/>
          </a:xfrm>
          <a:prstGeom prst="line">
            <a:avLst/>
          </a:prstGeom>
          <a:ln w="6350">
            <a:solidFill>
              <a:srgbClr val="E2E5EF"/>
            </a:solidFill>
          </a:ln>
        </p:spPr>
      </p:cxnSp>
      <p:cxnSp>
        <p:nvCxnSpPr>
          <p:cNvPr name="GraphCompose Table Cell Border" id="45"/>
          <p:cNvCxnSpPr/>
          <p:nvPr/>
        </p:nvCxnSpPr>
        <p:spPr>
          <a:xfrm>
            <a:off x="1727200" y="1797177"/>
            <a:ext cx="0" cy="283527"/>
          </a:xfrm>
          <a:prstGeom prst="line">
            <a:avLst/>
          </a:prstGeom>
          <a:ln w="6350">
            <a:solidFill>
              <a:srgbClr val="E2E5EF"/>
            </a:solidFill>
          </a:ln>
        </p:spPr>
      </p:cxnSp>
      <p:sp>
        <p:nvSpPr>
          <p:cNvPr name="GraphCompose Table Cell Text" id="46"/>
          <p:cNvSpPr txBox="true"/>
          <p:nvPr/>
        </p:nvSpPr>
        <p:spPr>
          <a:xfrm>
            <a:off x="330200" y="1864672"/>
            <a:ext cx="776453" cy="105727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00" b="false" i="false" u="none" strike="noStrike" kern="0">
                <a:solidFill>
                  <a:srgbClr val="1C1E2E"/>
                </a:solidFill>
                <a:latin typeface="Arial"/>
              </a:rPr>
              <a:t>1 page · 3 lines</a:t>
            </a:r>
            <a:endParaRPr lang="en-US" sz="1100"/>
          </a:p>
        </p:txBody>
      </p:sp>
      <p:cxnSp>
        <p:nvCxnSpPr>
          <p:cNvPr name="GraphCompose Table Cell Border" id="47"/>
          <p:cNvCxnSpPr/>
          <p:nvPr/>
        </p:nvCxnSpPr>
        <p:spPr>
          <a:xfrm>
            <a:off x="1724025" y="2080704"/>
            <a:ext cx="1187894" cy="0"/>
          </a:xfrm>
          <a:prstGeom prst="line">
            <a:avLst/>
          </a:prstGeom>
          <a:ln w="6350">
            <a:solidFill>
              <a:srgbClr val="E2E5EF"/>
            </a:solidFill>
          </a:ln>
        </p:spPr>
      </p:cxnSp>
      <p:cxnSp>
        <p:nvCxnSpPr>
          <p:cNvPr name="GraphCompose Table Cell Border" id="48"/>
          <p:cNvCxnSpPr/>
          <p:nvPr/>
        </p:nvCxnSpPr>
        <p:spPr>
          <a:xfrm>
            <a:off x="2908744" y="1797177"/>
            <a:ext cx="0" cy="283527"/>
          </a:xfrm>
          <a:prstGeom prst="line">
            <a:avLst/>
          </a:prstGeom>
          <a:ln w="6350">
            <a:solidFill>
              <a:srgbClr val="E2E5EF"/>
            </a:solidFill>
          </a:ln>
        </p:spPr>
      </p:cxnSp>
      <p:sp>
        <p:nvSpPr>
          <p:cNvPr name="GraphCompose Table Cell Text" id="49"/>
          <p:cNvSpPr txBox="true"/>
          <p:nvPr/>
        </p:nvSpPr>
        <p:spPr>
          <a:xfrm>
            <a:off x="1854200" y="1864672"/>
            <a:ext cx="801713" cy="105727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00" b="false" i="false" u="none" strike="noStrike" kern="0">
                <a:solidFill>
                  <a:srgbClr val="1C1E2E"/>
                </a:solidFill>
                <a:latin typeface="Arial"/>
              </a:rPr>
              <a:t>2.3 ms · 0.2 MB</a:t>
            </a:r>
            <a:endParaRPr lang="en-US" sz="1100"/>
          </a:p>
        </p:txBody>
      </p:sp>
      <p:cxnSp>
        <p:nvCxnSpPr>
          <p:cNvPr name="GraphCompose Table Cell Border" id="50"/>
          <p:cNvCxnSpPr/>
          <p:nvPr/>
        </p:nvCxnSpPr>
        <p:spPr>
          <a:xfrm>
            <a:off x="2905570" y="2080704"/>
            <a:ext cx="1251445" cy="0"/>
          </a:xfrm>
          <a:prstGeom prst="line">
            <a:avLst/>
          </a:prstGeom>
          <a:ln w="6350">
            <a:solidFill>
              <a:srgbClr val="E2E5EF"/>
            </a:solidFill>
          </a:ln>
        </p:spPr>
      </p:cxnSp>
      <p:cxnSp>
        <p:nvCxnSpPr>
          <p:cNvPr name="GraphCompose Table Cell Border" id="51"/>
          <p:cNvCxnSpPr/>
          <p:nvPr/>
        </p:nvCxnSpPr>
        <p:spPr>
          <a:xfrm>
            <a:off x="4153840" y="1797177"/>
            <a:ext cx="0" cy="283527"/>
          </a:xfrm>
          <a:prstGeom prst="line">
            <a:avLst/>
          </a:prstGeom>
          <a:ln w="6350">
            <a:solidFill>
              <a:srgbClr val="E2E5EF"/>
            </a:solidFill>
          </a:ln>
        </p:spPr>
      </p:cxnSp>
      <p:sp>
        <p:nvSpPr>
          <p:cNvPr name="GraphCompose Table Cell Text" id="52"/>
          <p:cNvSpPr txBox="true"/>
          <p:nvPr/>
        </p:nvSpPr>
        <p:spPr>
          <a:xfrm>
            <a:off x="3035744" y="1864672"/>
            <a:ext cx="801713" cy="105727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00" b="false" i="false" u="none" strike="noStrike" kern="0">
                <a:solidFill>
                  <a:srgbClr val="1C1E2E"/>
                </a:solidFill>
                <a:latin typeface="Arial"/>
              </a:rPr>
              <a:t>2.5 ms · 0.2 MB</a:t>
            </a:r>
            <a:endParaRPr lang="en-US" sz="1100"/>
          </a:p>
        </p:txBody>
      </p:sp>
      <p:cxnSp>
        <p:nvCxnSpPr>
          <p:cNvPr name="GraphCompose Table Cell Border" id="53"/>
          <p:cNvCxnSpPr/>
          <p:nvPr/>
        </p:nvCxnSpPr>
        <p:spPr>
          <a:xfrm>
            <a:off x="4150665" y="2080704"/>
            <a:ext cx="1184719" cy="0"/>
          </a:xfrm>
          <a:prstGeom prst="line">
            <a:avLst/>
          </a:prstGeom>
          <a:ln w="6350">
            <a:solidFill>
              <a:srgbClr val="E2E5EF"/>
            </a:solidFill>
          </a:ln>
        </p:spPr>
      </p:cxnSp>
      <p:cxnSp>
        <p:nvCxnSpPr>
          <p:cNvPr name="GraphCompose Table Cell Border" id="54"/>
          <p:cNvCxnSpPr/>
          <p:nvPr/>
        </p:nvCxnSpPr>
        <p:spPr>
          <a:xfrm>
            <a:off x="5335384" y="1797177"/>
            <a:ext cx="0" cy="283527"/>
          </a:xfrm>
          <a:prstGeom prst="line">
            <a:avLst/>
          </a:prstGeom>
          <a:ln w="6350">
            <a:solidFill>
              <a:srgbClr val="E2E5EF"/>
            </a:solidFill>
          </a:ln>
        </p:spPr>
      </p:cxnSp>
      <p:sp>
        <p:nvSpPr>
          <p:cNvPr name="GraphCompose Table Cell Text" id="55"/>
          <p:cNvSpPr txBox="true"/>
          <p:nvPr/>
        </p:nvSpPr>
        <p:spPr>
          <a:xfrm>
            <a:off x="4280840" y="1864672"/>
            <a:ext cx="801713" cy="105727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00" b="false" i="false" u="none" strike="noStrike" kern="0">
                <a:solidFill>
                  <a:srgbClr val="1C1E2E"/>
                </a:solidFill>
                <a:latin typeface="Arial"/>
              </a:rPr>
              <a:t>4.6 ms · 0.2 MB</a:t>
            </a:r>
            <a:endParaRPr lang="en-US" sz="1100"/>
          </a:p>
        </p:txBody>
      </p:sp>
      <p:cxnSp>
        <p:nvCxnSpPr>
          <p:cNvPr name="GraphCompose Table Cell Border" id="56"/>
          <p:cNvCxnSpPr/>
          <p:nvPr/>
        </p:nvCxnSpPr>
        <p:spPr>
          <a:xfrm>
            <a:off x="203200" y="2364232"/>
            <a:ext cx="1527175" cy="0"/>
          </a:xfrm>
          <a:prstGeom prst="line">
            <a:avLst/>
          </a:prstGeom>
          <a:ln w="6350">
            <a:solidFill>
              <a:srgbClr val="E2E5EF"/>
            </a:solidFill>
          </a:ln>
        </p:spPr>
      </p:cxnSp>
      <p:cxnSp>
        <p:nvCxnSpPr>
          <p:cNvPr name="GraphCompose Table Cell Border" id="57"/>
          <p:cNvCxnSpPr/>
          <p:nvPr/>
        </p:nvCxnSpPr>
        <p:spPr>
          <a:xfrm>
            <a:off x="203200" y="2080704"/>
            <a:ext cx="0" cy="283527"/>
          </a:xfrm>
          <a:prstGeom prst="line">
            <a:avLst/>
          </a:prstGeom>
          <a:ln w="6350">
            <a:solidFill>
              <a:srgbClr val="E2E5EF"/>
            </a:solidFill>
          </a:ln>
        </p:spPr>
      </p:cxnSp>
      <p:cxnSp>
        <p:nvCxnSpPr>
          <p:cNvPr name="GraphCompose Table Cell Border" id="58"/>
          <p:cNvCxnSpPr/>
          <p:nvPr/>
        </p:nvCxnSpPr>
        <p:spPr>
          <a:xfrm>
            <a:off x="1727200" y="2080704"/>
            <a:ext cx="0" cy="283527"/>
          </a:xfrm>
          <a:prstGeom prst="line">
            <a:avLst/>
          </a:prstGeom>
          <a:ln w="6350">
            <a:solidFill>
              <a:srgbClr val="E2E5EF"/>
            </a:solidFill>
          </a:ln>
        </p:spPr>
      </p:cxnSp>
      <p:sp>
        <p:nvSpPr>
          <p:cNvPr name="GraphCompose Table Cell Text" id="59"/>
          <p:cNvSpPr txBox="true"/>
          <p:nvPr/>
        </p:nvSpPr>
        <p:spPr>
          <a:xfrm>
            <a:off x="330200" y="2148199"/>
            <a:ext cx="401434" cy="105727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00" b="false" i="false" u="none" strike="noStrike" kern="0">
                <a:solidFill>
                  <a:srgbClr val="1C1E2E"/>
                </a:solidFill>
                <a:latin typeface="Arial"/>
              </a:rPr>
              <a:t>40 rows</a:t>
            </a:r>
            <a:endParaRPr lang="en-US" sz="1100"/>
          </a:p>
        </p:txBody>
      </p:sp>
      <p:cxnSp>
        <p:nvCxnSpPr>
          <p:cNvPr name="GraphCompose Table Cell Border" id="60"/>
          <p:cNvCxnSpPr/>
          <p:nvPr/>
        </p:nvCxnSpPr>
        <p:spPr>
          <a:xfrm>
            <a:off x="1724025" y="2364232"/>
            <a:ext cx="1187894" cy="0"/>
          </a:xfrm>
          <a:prstGeom prst="line">
            <a:avLst/>
          </a:prstGeom>
          <a:ln w="6350">
            <a:solidFill>
              <a:srgbClr val="E2E5EF"/>
            </a:solidFill>
          </a:ln>
        </p:spPr>
      </p:cxnSp>
      <p:cxnSp>
        <p:nvCxnSpPr>
          <p:cNvPr name="GraphCompose Table Cell Border" id="61"/>
          <p:cNvCxnSpPr/>
          <p:nvPr/>
        </p:nvCxnSpPr>
        <p:spPr>
          <a:xfrm>
            <a:off x="2908744" y="2080704"/>
            <a:ext cx="0" cy="283527"/>
          </a:xfrm>
          <a:prstGeom prst="line">
            <a:avLst/>
          </a:prstGeom>
          <a:ln w="6350">
            <a:solidFill>
              <a:srgbClr val="E2E5EF"/>
            </a:solidFill>
          </a:ln>
        </p:spPr>
      </p:cxnSp>
      <p:sp>
        <p:nvSpPr>
          <p:cNvPr name="GraphCompose Table Cell Text" id="62"/>
          <p:cNvSpPr txBox="true"/>
          <p:nvPr/>
        </p:nvSpPr>
        <p:spPr>
          <a:xfrm>
            <a:off x="1854200" y="2148199"/>
            <a:ext cx="801713" cy="105727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00" b="false" i="false" u="none" strike="noStrike" kern="0">
                <a:solidFill>
                  <a:srgbClr val="1C1E2E"/>
                </a:solidFill>
                <a:latin typeface="Arial"/>
              </a:rPr>
              <a:t>4.5 ms · 0.8 MB</a:t>
            </a:r>
            <a:endParaRPr lang="en-US" sz="1100"/>
          </a:p>
        </p:txBody>
      </p:sp>
      <p:cxnSp>
        <p:nvCxnSpPr>
          <p:cNvPr name="GraphCompose Table Cell Border" id="63"/>
          <p:cNvCxnSpPr/>
          <p:nvPr/>
        </p:nvCxnSpPr>
        <p:spPr>
          <a:xfrm>
            <a:off x="2905570" y="2364232"/>
            <a:ext cx="1251445" cy="0"/>
          </a:xfrm>
          <a:prstGeom prst="line">
            <a:avLst/>
          </a:prstGeom>
          <a:ln w="6350">
            <a:solidFill>
              <a:srgbClr val="E2E5EF"/>
            </a:solidFill>
          </a:ln>
        </p:spPr>
      </p:cxnSp>
      <p:cxnSp>
        <p:nvCxnSpPr>
          <p:cNvPr name="GraphCompose Table Cell Border" id="64"/>
          <p:cNvCxnSpPr/>
          <p:nvPr/>
        </p:nvCxnSpPr>
        <p:spPr>
          <a:xfrm>
            <a:off x="4153840" y="2080704"/>
            <a:ext cx="0" cy="283527"/>
          </a:xfrm>
          <a:prstGeom prst="line">
            <a:avLst/>
          </a:prstGeom>
          <a:ln w="6350">
            <a:solidFill>
              <a:srgbClr val="E2E5EF"/>
            </a:solidFill>
          </a:ln>
        </p:spPr>
      </p:cxnSp>
      <p:sp>
        <p:nvSpPr>
          <p:cNvPr name="GraphCompose Table Cell Text" id="65"/>
          <p:cNvSpPr txBox="true"/>
          <p:nvPr/>
        </p:nvSpPr>
        <p:spPr>
          <a:xfrm>
            <a:off x="3035744" y="2148199"/>
            <a:ext cx="865264" cy="105727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00" b="false" i="false" u="none" strike="noStrike" kern="0">
                <a:solidFill>
                  <a:srgbClr val="1C1E2E"/>
                </a:solidFill>
                <a:latin typeface="Arial"/>
              </a:rPr>
              <a:t>12.9 ms · 3.0 MB</a:t>
            </a:r>
            <a:endParaRPr lang="en-US" sz="1100"/>
          </a:p>
        </p:txBody>
      </p:sp>
      <p:cxnSp>
        <p:nvCxnSpPr>
          <p:cNvPr name="GraphCompose Table Cell Border" id="66"/>
          <p:cNvCxnSpPr/>
          <p:nvPr/>
        </p:nvCxnSpPr>
        <p:spPr>
          <a:xfrm>
            <a:off x="4150665" y="2364232"/>
            <a:ext cx="1184719" cy="0"/>
          </a:xfrm>
          <a:prstGeom prst="line">
            <a:avLst/>
          </a:prstGeom>
          <a:ln w="6350">
            <a:solidFill>
              <a:srgbClr val="E2E5EF"/>
            </a:solidFill>
          </a:ln>
        </p:spPr>
      </p:cxnSp>
      <p:cxnSp>
        <p:nvCxnSpPr>
          <p:cNvPr name="GraphCompose Table Cell Border" id="67"/>
          <p:cNvCxnSpPr/>
          <p:nvPr/>
        </p:nvCxnSpPr>
        <p:spPr>
          <a:xfrm>
            <a:off x="5335384" y="2080704"/>
            <a:ext cx="0" cy="283527"/>
          </a:xfrm>
          <a:prstGeom prst="line">
            <a:avLst/>
          </a:prstGeom>
          <a:ln w="6350">
            <a:solidFill>
              <a:srgbClr val="E2E5EF"/>
            </a:solidFill>
          </a:ln>
        </p:spPr>
      </p:cxnSp>
      <p:sp>
        <p:nvSpPr>
          <p:cNvPr name="GraphCompose Table Cell Text" id="68"/>
          <p:cNvSpPr txBox="true"/>
          <p:nvPr/>
        </p:nvSpPr>
        <p:spPr>
          <a:xfrm>
            <a:off x="4280840" y="2148199"/>
            <a:ext cx="801713" cy="105727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00" b="false" i="false" u="none" strike="noStrike" kern="0">
                <a:solidFill>
                  <a:srgbClr val="1C1E2E"/>
                </a:solidFill>
                <a:latin typeface="Arial"/>
              </a:rPr>
              <a:t>9.1 ms · 2.5 MB</a:t>
            </a:r>
            <a:endParaRPr lang="en-US" sz="1100"/>
          </a:p>
        </p:txBody>
      </p:sp>
      <p:cxnSp>
        <p:nvCxnSpPr>
          <p:cNvPr name="GraphCompose Table Cell Border" id="69"/>
          <p:cNvCxnSpPr/>
          <p:nvPr/>
        </p:nvCxnSpPr>
        <p:spPr>
          <a:xfrm>
            <a:off x="203200" y="2647759"/>
            <a:ext cx="1527175" cy="0"/>
          </a:xfrm>
          <a:prstGeom prst="line">
            <a:avLst/>
          </a:prstGeom>
          <a:ln w="6350">
            <a:solidFill>
              <a:srgbClr val="E2E5EF"/>
            </a:solidFill>
          </a:ln>
        </p:spPr>
      </p:cxnSp>
      <p:cxnSp>
        <p:nvCxnSpPr>
          <p:cNvPr name="GraphCompose Table Cell Border" id="70"/>
          <p:cNvCxnSpPr/>
          <p:nvPr/>
        </p:nvCxnSpPr>
        <p:spPr>
          <a:xfrm>
            <a:off x="203200" y="2364232"/>
            <a:ext cx="0" cy="283527"/>
          </a:xfrm>
          <a:prstGeom prst="line">
            <a:avLst/>
          </a:prstGeom>
          <a:ln w="6350">
            <a:solidFill>
              <a:srgbClr val="E2E5EF"/>
            </a:solidFill>
          </a:ln>
        </p:spPr>
      </p:cxnSp>
      <p:cxnSp>
        <p:nvCxnSpPr>
          <p:cNvPr name="GraphCompose Table Cell Border" id="71"/>
          <p:cNvCxnSpPr/>
          <p:nvPr/>
        </p:nvCxnSpPr>
        <p:spPr>
          <a:xfrm>
            <a:off x="1727200" y="2364232"/>
            <a:ext cx="0" cy="283527"/>
          </a:xfrm>
          <a:prstGeom prst="line">
            <a:avLst/>
          </a:prstGeom>
          <a:ln w="6350">
            <a:solidFill>
              <a:srgbClr val="E2E5EF"/>
            </a:solidFill>
          </a:ln>
        </p:spPr>
      </p:cxnSp>
      <p:sp>
        <p:nvSpPr>
          <p:cNvPr name="GraphCompose Table Cell Text" id="72"/>
          <p:cNvSpPr txBox="true"/>
          <p:nvPr/>
        </p:nvSpPr>
        <p:spPr>
          <a:xfrm>
            <a:off x="330200" y="2431727"/>
            <a:ext cx="464985" cy="105727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00" b="false" i="false" u="none" strike="noStrike" kern="0">
                <a:solidFill>
                  <a:srgbClr val="1C1E2E"/>
                </a:solidFill>
                <a:latin typeface="Arial"/>
              </a:rPr>
              <a:t>200 rows</a:t>
            </a:r>
            <a:endParaRPr lang="en-US" sz="1100"/>
          </a:p>
        </p:txBody>
      </p:sp>
      <p:cxnSp>
        <p:nvCxnSpPr>
          <p:cNvPr name="GraphCompose Table Cell Border" id="73"/>
          <p:cNvCxnSpPr/>
          <p:nvPr/>
        </p:nvCxnSpPr>
        <p:spPr>
          <a:xfrm>
            <a:off x="1724025" y="2647759"/>
            <a:ext cx="1187894" cy="0"/>
          </a:xfrm>
          <a:prstGeom prst="line">
            <a:avLst/>
          </a:prstGeom>
          <a:ln w="6350">
            <a:solidFill>
              <a:srgbClr val="E2E5EF"/>
            </a:solidFill>
          </a:ln>
        </p:spPr>
      </p:cxnSp>
      <p:cxnSp>
        <p:nvCxnSpPr>
          <p:cNvPr name="GraphCompose Table Cell Border" id="74"/>
          <p:cNvCxnSpPr/>
          <p:nvPr/>
        </p:nvCxnSpPr>
        <p:spPr>
          <a:xfrm>
            <a:off x="2908744" y="2364232"/>
            <a:ext cx="0" cy="283527"/>
          </a:xfrm>
          <a:prstGeom prst="line">
            <a:avLst/>
          </a:prstGeom>
          <a:ln w="6350">
            <a:solidFill>
              <a:srgbClr val="E2E5EF"/>
            </a:solidFill>
          </a:ln>
        </p:spPr>
      </p:cxnSp>
      <p:sp>
        <p:nvSpPr>
          <p:cNvPr name="GraphCompose Table Cell Text" id="75"/>
          <p:cNvSpPr txBox="true"/>
          <p:nvPr/>
        </p:nvSpPr>
        <p:spPr>
          <a:xfrm>
            <a:off x="1854200" y="2431727"/>
            <a:ext cx="865264" cy="105727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00" b="false" i="false" u="none" strike="noStrike" kern="0">
                <a:solidFill>
                  <a:srgbClr val="1C1E2E"/>
                </a:solidFill>
                <a:latin typeface="Arial"/>
              </a:rPr>
              <a:t>11.8 ms · 3.2 MB</a:t>
            </a:r>
            <a:endParaRPr lang="en-US" sz="1100"/>
          </a:p>
        </p:txBody>
      </p:sp>
      <p:cxnSp>
        <p:nvCxnSpPr>
          <p:cNvPr name="GraphCompose Table Cell Border" id="76"/>
          <p:cNvCxnSpPr/>
          <p:nvPr/>
        </p:nvCxnSpPr>
        <p:spPr>
          <a:xfrm>
            <a:off x="2905570" y="2647759"/>
            <a:ext cx="1251445" cy="0"/>
          </a:xfrm>
          <a:prstGeom prst="line">
            <a:avLst/>
          </a:prstGeom>
          <a:ln w="6350">
            <a:solidFill>
              <a:srgbClr val="E2E5EF"/>
            </a:solidFill>
          </a:ln>
        </p:spPr>
      </p:cxnSp>
      <p:cxnSp>
        <p:nvCxnSpPr>
          <p:cNvPr name="GraphCompose Table Cell Border" id="77"/>
          <p:cNvCxnSpPr/>
          <p:nvPr/>
        </p:nvCxnSpPr>
        <p:spPr>
          <a:xfrm>
            <a:off x="4153840" y="2364232"/>
            <a:ext cx="0" cy="283527"/>
          </a:xfrm>
          <a:prstGeom prst="line">
            <a:avLst/>
          </a:prstGeom>
          <a:ln w="6350">
            <a:solidFill>
              <a:srgbClr val="E2E5EF"/>
            </a:solidFill>
          </a:ln>
        </p:spPr>
      </p:cxnSp>
      <p:sp>
        <p:nvSpPr>
          <p:cNvPr name="GraphCompose Table Cell Text" id="78"/>
          <p:cNvSpPr txBox="true"/>
          <p:nvPr/>
        </p:nvSpPr>
        <p:spPr>
          <a:xfrm>
            <a:off x="3035744" y="2431727"/>
            <a:ext cx="928814" cy="105727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00" b="false" i="false" u="none" strike="noStrike" kern="0">
                <a:solidFill>
                  <a:srgbClr val="1C1E2E"/>
                </a:solidFill>
                <a:latin typeface="Arial"/>
              </a:rPr>
              <a:t>50.3 ms · 13.4 MB</a:t>
            </a:r>
            <a:endParaRPr lang="en-US" sz="1100"/>
          </a:p>
        </p:txBody>
      </p:sp>
      <p:cxnSp>
        <p:nvCxnSpPr>
          <p:cNvPr name="GraphCompose Table Cell Border" id="79"/>
          <p:cNvCxnSpPr/>
          <p:nvPr/>
        </p:nvCxnSpPr>
        <p:spPr>
          <a:xfrm>
            <a:off x="4150665" y="2647759"/>
            <a:ext cx="1184719" cy="0"/>
          </a:xfrm>
          <a:prstGeom prst="line">
            <a:avLst/>
          </a:prstGeom>
          <a:ln w="6350">
            <a:solidFill>
              <a:srgbClr val="E2E5EF"/>
            </a:solidFill>
          </a:ln>
        </p:spPr>
      </p:cxnSp>
      <p:cxnSp>
        <p:nvCxnSpPr>
          <p:cNvPr name="GraphCompose Table Cell Border" id="80"/>
          <p:cNvCxnSpPr/>
          <p:nvPr/>
        </p:nvCxnSpPr>
        <p:spPr>
          <a:xfrm>
            <a:off x="5335384" y="2364232"/>
            <a:ext cx="0" cy="283527"/>
          </a:xfrm>
          <a:prstGeom prst="line">
            <a:avLst/>
          </a:prstGeom>
          <a:ln w="6350">
            <a:solidFill>
              <a:srgbClr val="E2E5EF"/>
            </a:solidFill>
          </a:ln>
        </p:spPr>
      </p:cxnSp>
      <p:sp>
        <p:nvSpPr>
          <p:cNvPr name="GraphCompose Table Cell Text" id="81"/>
          <p:cNvSpPr txBox="true"/>
          <p:nvPr/>
        </p:nvSpPr>
        <p:spPr>
          <a:xfrm>
            <a:off x="4280840" y="2431727"/>
            <a:ext cx="928814" cy="105727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00" b="false" i="false" u="none" strike="noStrike" kern="0">
                <a:solidFill>
                  <a:srgbClr val="1C1E2E"/>
                </a:solidFill>
                <a:latin typeface="Arial"/>
              </a:rPr>
              <a:t>16.5 ms · 10.7 MB</a:t>
            </a:r>
            <a:endParaRPr lang="en-US" sz="1100"/>
          </a:p>
        </p:txBody>
      </p:sp>
      <p:cxnSp>
        <p:nvCxnSpPr>
          <p:cNvPr name="GraphCompose Table Cell Border" id="82"/>
          <p:cNvCxnSpPr/>
          <p:nvPr/>
        </p:nvCxnSpPr>
        <p:spPr>
          <a:xfrm>
            <a:off x="203200" y="2931287"/>
            <a:ext cx="1527175" cy="0"/>
          </a:xfrm>
          <a:prstGeom prst="line">
            <a:avLst/>
          </a:prstGeom>
          <a:ln w="6350">
            <a:solidFill>
              <a:srgbClr val="E2E5EF"/>
            </a:solidFill>
          </a:ln>
        </p:spPr>
      </p:cxnSp>
      <p:cxnSp>
        <p:nvCxnSpPr>
          <p:cNvPr name="GraphCompose Table Cell Border" id="83"/>
          <p:cNvCxnSpPr/>
          <p:nvPr/>
        </p:nvCxnSpPr>
        <p:spPr>
          <a:xfrm>
            <a:off x="203200" y="2647759"/>
            <a:ext cx="0" cy="283527"/>
          </a:xfrm>
          <a:prstGeom prst="line">
            <a:avLst/>
          </a:prstGeom>
          <a:ln w="6350">
            <a:solidFill>
              <a:srgbClr val="E2E5EF"/>
            </a:solidFill>
          </a:ln>
        </p:spPr>
      </p:cxnSp>
      <p:cxnSp>
        <p:nvCxnSpPr>
          <p:cNvPr name="GraphCompose Table Cell Border" id="84"/>
          <p:cNvCxnSpPr/>
          <p:nvPr/>
        </p:nvCxnSpPr>
        <p:spPr>
          <a:xfrm>
            <a:off x="1727200" y="2647759"/>
            <a:ext cx="0" cy="283527"/>
          </a:xfrm>
          <a:prstGeom prst="line">
            <a:avLst/>
          </a:prstGeom>
          <a:ln w="6350">
            <a:solidFill>
              <a:srgbClr val="E2E5EF"/>
            </a:solidFill>
          </a:ln>
        </p:spPr>
      </p:cxnSp>
      <p:sp>
        <p:nvSpPr>
          <p:cNvPr name="GraphCompose Table Cell Text" id="85"/>
          <p:cNvSpPr txBox="true"/>
          <p:nvPr/>
        </p:nvSpPr>
        <p:spPr>
          <a:xfrm>
            <a:off x="330200" y="2715254"/>
            <a:ext cx="528536" cy="105727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00" b="false" i="false" u="none" strike="noStrike" kern="0">
                <a:solidFill>
                  <a:srgbClr val="1C1E2E"/>
                </a:solidFill>
                <a:latin typeface="Arial"/>
              </a:rPr>
              <a:t>1000 rows</a:t>
            </a:r>
            <a:endParaRPr lang="en-US" sz="1100"/>
          </a:p>
        </p:txBody>
      </p:sp>
      <p:cxnSp>
        <p:nvCxnSpPr>
          <p:cNvPr name="GraphCompose Table Cell Border" id="86"/>
          <p:cNvCxnSpPr/>
          <p:nvPr/>
        </p:nvCxnSpPr>
        <p:spPr>
          <a:xfrm>
            <a:off x="1724025" y="2931287"/>
            <a:ext cx="1187894" cy="0"/>
          </a:xfrm>
          <a:prstGeom prst="line">
            <a:avLst/>
          </a:prstGeom>
          <a:ln w="6350">
            <a:solidFill>
              <a:srgbClr val="E2E5EF"/>
            </a:solidFill>
          </a:ln>
        </p:spPr>
      </p:cxnSp>
      <p:cxnSp>
        <p:nvCxnSpPr>
          <p:cNvPr name="GraphCompose Table Cell Border" id="87"/>
          <p:cNvCxnSpPr/>
          <p:nvPr/>
        </p:nvCxnSpPr>
        <p:spPr>
          <a:xfrm>
            <a:off x="2908744" y="2647759"/>
            <a:ext cx="0" cy="283527"/>
          </a:xfrm>
          <a:prstGeom prst="line">
            <a:avLst/>
          </a:prstGeom>
          <a:ln w="6350">
            <a:solidFill>
              <a:srgbClr val="E2E5EF"/>
            </a:solidFill>
          </a:ln>
        </p:spPr>
      </p:cxnSp>
      <p:sp>
        <p:nvSpPr>
          <p:cNvPr name="GraphCompose Table Cell Text" id="88"/>
          <p:cNvSpPr txBox="true"/>
          <p:nvPr/>
        </p:nvSpPr>
        <p:spPr>
          <a:xfrm>
            <a:off x="1854200" y="2715254"/>
            <a:ext cx="928814" cy="105727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00" b="false" i="false" u="none" strike="noStrike" kern="0">
                <a:solidFill>
                  <a:srgbClr val="1C1E2E"/>
                </a:solidFill>
                <a:latin typeface="Arial"/>
              </a:rPr>
              <a:t>45.3 ms · 15.7 MB</a:t>
            </a:r>
            <a:endParaRPr lang="en-US" sz="1100"/>
          </a:p>
        </p:txBody>
      </p:sp>
      <p:cxnSp>
        <p:nvCxnSpPr>
          <p:cNvPr name="GraphCompose Table Cell Border" id="89"/>
          <p:cNvCxnSpPr/>
          <p:nvPr/>
        </p:nvCxnSpPr>
        <p:spPr>
          <a:xfrm>
            <a:off x="2905570" y="2931287"/>
            <a:ext cx="1251445" cy="0"/>
          </a:xfrm>
          <a:prstGeom prst="line">
            <a:avLst/>
          </a:prstGeom>
          <a:ln w="6350">
            <a:solidFill>
              <a:srgbClr val="E2E5EF"/>
            </a:solidFill>
          </a:ln>
        </p:spPr>
      </p:cxnSp>
      <p:cxnSp>
        <p:nvCxnSpPr>
          <p:cNvPr name="GraphCompose Table Cell Border" id="90"/>
          <p:cNvCxnSpPr/>
          <p:nvPr/>
        </p:nvCxnSpPr>
        <p:spPr>
          <a:xfrm>
            <a:off x="4153840" y="2647759"/>
            <a:ext cx="0" cy="283527"/>
          </a:xfrm>
          <a:prstGeom prst="line">
            <a:avLst/>
          </a:prstGeom>
          <a:ln w="6350">
            <a:solidFill>
              <a:srgbClr val="E2E5EF"/>
            </a:solidFill>
          </a:ln>
        </p:spPr>
      </p:cxnSp>
      <p:sp>
        <p:nvSpPr>
          <p:cNvPr name="GraphCompose Table Cell Text" id="91"/>
          <p:cNvSpPr txBox="true"/>
          <p:nvPr/>
        </p:nvSpPr>
        <p:spPr>
          <a:xfrm>
            <a:off x="3035744" y="2715254"/>
            <a:ext cx="992365" cy="105727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00" b="false" i="false" u="none" strike="noStrike" kern="0">
                <a:solidFill>
                  <a:srgbClr val="1C1E2E"/>
                </a:solidFill>
                <a:latin typeface="Arial"/>
              </a:rPr>
              <a:t>243.7 ms · 66.0 MB</a:t>
            </a:r>
            <a:endParaRPr lang="en-US" sz="1100"/>
          </a:p>
        </p:txBody>
      </p:sp>
      <p:cxnSp>
        <p:nvCxnSpPr>
          <p:cNvPr name="GraphCompose Table Cell Border" id="92"/>
          <p:cNvCxnSpPr/>
          <p:nvPr/>
        </p:nvCxnSpPr>
        <p:spPr>
          <a:xfrm>
            <a:off x="4150665" y="2931287"/>
            <a:ext cx="1184719" cy="0"/>
          </a:xfrm>
          <a:prstGeom prst="line">
            <a:avLst/>
          </a:prstGeom>
          <a:ln w="6350">
            <a:solidFill>
              <a:srgbClr val="E2E5EF"/>
            </a:solidFill>
          </a:ln>
        </p:spPr>
      </p:cxnSp>
      <p:cxnSp>
        <p:nvCxnSpPr>
          <p:cNvPr name="GraphCompose Table Cell Border" id="93"/>
          <p:cNvCxnSpPr/>
          <p:nvPr/>
        </p:nvCxnSpPr>
        <p:spPr>
          <a:xfrm>
            <a:off x="5335384" y="2647759"/>
            <a:ext cx="0" cy="283527"/>
          </a:xfrm>
          <a:prstGeom prst="line">
            <a:avLst/>
          </a:prstGeom>
          <a:ln w="6350">
            <a:solidFill>
              <a:srgbClr val="E2E5EF"/>
            </a:solidFill>
          </a:ln>
        </p:spPr>
      </p:cxnSp>
      <p:sp>
        <p:nvSpPr>
          <p:cNvPr name="GraphCompose Table Cell Text" id="94"/>
          <p:cNvSpPr txBox="true"/>
          <p:nvPr/>
        </p:nvSpPr>
        <p:spPr>
          <a:xfrm>
            <a:off x="4280840" y="2715254"/>
            <a:ext cx="928814" cy="105727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00" b="false" i="false" u="none" strike="noStrike" kern="0">
                <a:solidFill>
                  <a:srgbClr val="1C1E2E"/>
                </a:solidFill>
                <a:latin typeface="Arial"/>
              </a:rPr>
              <a:t>48.5 ms · 52.0 MB</a:t>
            </a:r>
            <a:endParaRPr lang="en-US" sz="1100"/>
          </a:p>
        </p:txBody>
      </p:sp>
      <p:sp>
        <p:nvSpPr>
          <p:cNvPr name="AutoShape 95" id="95"/>
          <p:cNvSpPr/>
          <p:nvPr/>
        </p:nvSpPr>
        <p:spPr>
          <a:xfrm>
            <a:off x="203200" y="3134487"/>
            <a:ext cx="5041200" cy="2929223"/>
          </a:xfrm>
          <a:prstGeom prst="roundRect">
            <a:avLst>
              <a:gd name="adj" fmla="val 4336"/>
            </a:avLst>
          </a:prstGeom>
          <a:solidFill>
            <a:srgbClr val="FFFFFF"/>
          </a:solidFill>
          <a:ln>
            <a:noFill/>
          </a:ln>
        </p:spPr>
      </p:sp>
      <p:cxnSp>
        <p:nvCxnSpPr>
          <p:cNvPr name="Connector 96" id="96"/>
          <p:cNvCxnSpPr/>
          <p:nvPr/>
        </p:nvCxnSpPr>
        <p:spPr>
          <a:xfrm>
            <a:off x="203200" y="3134487"/>
            <a:ext cx="5041200" cy="0"/>
          </a:xfrm>
          <a:prstGeom prst="line">
            <a:avLst/>
          </a:prstGeom>
          <a:ln w="31750">
            <a:solidFill>
              <a:srgbClr val="7C5CFC"/>
            </a:solidFill>
          </a:ln>
        </p:spPr>
      </p:cxnSp>
      <p:sp>
        <p:nvSpPr>
          <p:cNvPr name="GraphCompose Text Line" id="97"/>
          <p:cNvSpPr txBox="true"/>
          <p:nvPr/>
        </p:nvSpPr>
        <p:spPr>
          <a:xfrm>
            <a:off x="381000" y="3286125"/>
            <a:ext cx="2997835" cy="129222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100" b="true" i="false" u="none" strike="noStrike" kern="0">
                <a:solidFill>
                  <a:srgbClr val="1C1E2E"/>
                </a:solidFill>
                <a:latin typeface="Arial"/>
              </a:rPr>
              <a:t>Render time at 1000 rows — ms (lower is faster)</a:t>
            </a:r>
            <a:endParaRPr lang="en-US" sz="1100"/>
          </a:p>
        </p:txBody>
      </p:sp>
      <p:cxnSp>
        <p:nvCxnSpPr>
          <p:cNvPr name="Connector 98" id="98"/>
          <p:cNvCxnSpPr/>
          <p:nvPr/>
        </p:nvCxnSpPr>
        <p:spPr>
          <a:xfrm flipV="false">
            <a:off x="849681" y="5584602"/>
            <a:ext cx="4216919" cy="0"/>
          </a:xfrm>
          <a:prstGeom prst="line">
            <a:avLst/>
          </a:prstGeom>
          <a:ln w="6350" cap="flat">
            <a:solidFill>
              <a:srgbClr val="E0E0E0"/>
            </a:solidFill>
          </a:ln>
        </p:spPr>
      </p:cxnSp>
      <p:sp>
        <p:nvSpPr>
          <p:cNvPr name="GraphCompose Text Line" id="99"/>
          <p:cNvSpPr txBox="true"/>
          <p:nvPr/>
        </p:nvSpPr>
        <p:spPr>
          <a:xfrm>
            <a:off x="493979" y="5528186"/>
            <a:ext cx="306172" cy="9398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00" b="false" i="false" u="none" strike="noStrike" kern="0">
                <a:solidFill>
                  <a:srgbClr val="5A5A5A"/>
                </a:solidFill>
                <a:latin typeface="Arial"/>
              </a:rPr>
              <a:t>0.0 ms</a:t>
            </a:r>
            <a:endParaRPr lang="en-US" sz="1100"/>
          </a:p>
        </p:txBody>
      </p:sp>
      <p:cxnSp>
        <p:nvCxnSpPr>
          <p:cNvPr name="Connector 100" id="100"/>
          <p:cNvCxnSpPr/>
          <p:nvPr/>
        </p:nvCxnSpPr>
        <p:spPr>
          <a:xfrm flipV="false">
            <a:off x="849681" y="4960831"/>
            <a:ext cx="4216919" cy="0"/>
          </a:xfrm>
          <a:prstGeom prst="line">
            <a:avLst/>
          </a:prstGeom>
          <a:ln w="6350" cap="flat">
            <a:solidFill>
              <a:srgbClr val="E0E0E0"/>
            </a:solidFill>
          </a:ln>
        </p:spPr>
      </p:cxnSp>
      <p:sp>
        <p:nvSpPr>
          <p:cNvPr name="GraphCompose Text Line" id="101"/>
          <p:cNvSpPr txBox="true"/>
          <p:nvPr/>
        </p:nvSpPr>
        <p:spPr>
          <a:xfrm>
            <a:off x="381000" y="4904415"/>
            <a:ext cx="419151" cy="9398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00" b="false" i="false" u="none" strike="noStrike" kern="0">
                <a:solidFill>
                  <a:srgbClr val="5A5A5A"/>
                </a:solidFill>
                <a:latin typeface="Arial"/>
              </a:rPr>
              <a:t>100.0 ms</a:t>
            </a:r>
            <a:endParaRPr lang="en-US" sz="1100"/>
          </a:p>
        </p:txBody>
      </p:sp>
      <p:cxnSp>
        <p:nvCxnSpPr>
          <p:cNvPr name="Connector 102" id="102"/>
          <p:cNvCxnSpPr/>
          <p:nvPr/>
        </p:nvCxnSpPr>
        <p:spPr>
          <a:xfrm flipV="false">
            <a:off x="849681" y="4337060"/>
            <a:ext cx="4216919" cy="0"/>
          </a:xfrm>
          <a:prstGeom prst="line">
            <a:avLst/>
          </a:prstGeom>
          <a:ln w="6350" cap="flat">
            <a:solidFill>
              <a:srgbClr val="E0E0E0"/>
            </a:solidFill>
          </a:ln>
        </p:spPr>
      </p:cxnSp>
      <p:sp>
        <p:nvSpPr>
          <p:cNvPr name="GraphCompose Text Line" id="103"/>
          <p:cNvSpPr txBox="true"/>
          <p:nvPr/>
        </p:nvSpPr>
        <p:spPr>
          <a:xfrm>
            <a:off x="381000" y="4280645"/>
            <a:ext cx="419151" cy="9398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00" b="false" i="false" u="none" strike="noStrike" kern="0">
                <a:solidFill>
                  <a:srgbClr val="5A5A5A"/>
                </a:solidFill>
                <a:latin typeface="Arial"/>
              </a:rPr>
              <a:t>200.0 ms</a:t>
            </a:r>
            <a:endParaRPr lang="en-US" sz="1100"/>
          </a:p>
        </p:txBody>
      </p:sp>
      <p:cxnSp>
        <p:nvCxnSpPr>
          <p:cNvPr name="Connector 104" id="104"/>
          <p:cNvCxnSpPr/>
          <p:nvPr/>
        </p:nvCxnSpPr>
        <p:spPr>
          <a:xfrm flipV="false">
            <a:off x="849681" y="3713289"/>
            <a:ext cx="4216919" cy="0"/>
          </a:xfrm>
          <a:prstGeom prst="line">
            <a:avLst/>
          </a:prstGeom>
          <a:ln w="6350" cap="flat">
            <a:solidFill>
              <a:srgbClr val="E0E0E0"/>
            </a:solidFill>
          </a:ln>
        </p:spPr>
      </p:cxnSp>
      <p:sp>
        <p:nvSpPr>
          <p:cNvPr name="GraphCompose Text Line" id="105"/>
          <p:cNvSpPr txBox="true"/>
          <p:nvPr/>
        </p:nvSpPr>
        <p:spPr>
          <a:xfrm>
            <a:off x="381000" y="3656874"/>
            <a:ext cx="419151" cy="9398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00" b="false" i="false" u="none" strike="noStrike" kern="0">
                <a:solidFill>
                  <a:srgbClr val="5A5A5A"/>
                </a:solidFill>
                <a:latin typeface="Arial"/>
              </a:rPr>
              <a:t>300.0 ms</a:t>
            </a:r>
            <a:endParaRPr lang="en-US" sz="1100"/>
          </a:p>
        </p:txBody>
      </p:sp>
      <p:sp>
        <p:nvSpPr>
          <p:cNvPr name="AutoShape 106" id="106"/>
          <p:cNvSpPr/>
          <p:nvPr/>
        </p:nvSpPr>
        <p:spPr>
          <a:xfrm>
            <a:off x="1510894" y="5302221"/>
            <a:ext cx="870372" cy="282381"/>
          </a:xfrm>
          <a:prstGeom prst="roundRect">
            <a:avLst>
              <a:gd name="adj" fmla="val 8995"/>
            </a:avLst>
          </a:prstGeom>
          <a:solidFill>
            <a:srgbClr val="7C5CFC"/>
          </a:solidFill>
          <a:ln>
            <a:noFill/>
          </a:ln>
        </p:spPr>
      </p:sp>
      <p:sp>
        <p:nvSpPr>
          <p:cNvPr name="GraphCompose Text Line" id="107"/>
          <p:cNvSpPr txBox="true"/>
          <p:nvPr/>
        </p:nvSpPr>
        <p:spPr>
          <a:xfrm>
            <a:off x="1765384" y="5163814"/>
            <a:ext cx="362661" cy="9398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00" b="false" i="false" u="none" strike="noStrike" kern="0">
                <a:solidFill>
                  <a:srgbClr val="3C3C3C"/>
                </a:solidFill>
                <a:latin typeface="Arial"/>
              </a:rPr>
              <a:t>45.3 ms</a:t>
            </a:r>
            <a:endParaRPr lang="en-US" sz="1100"/>
          </a:p>
        </p:txBody>
      </p:sp>
      <p:sp>
        <p:nvSpPr>
          <p:cNvPr name="AutoShape 108" id="108"/>
          <p:cNvSpPr/>
          <p:nvPr/>
        </p:nvSpPr>
        <p:spPr>
          <a:xfrm>
            <a:off x="2522954" y="4064722"/>
            <a:ext cx="870372" cy="1519880"/>
          </a:xfrm>
          <a:prstGeom prst="roundRect">
            <a:avLst>
              <a:gd name="adj" fmla="val 2918"/>
            </a:avLst>
          </a:prstGeom>
          <a:solidFill>
            <a:srgbClr val="767E94"/>
          </a:solidFill>
          <a:ln>
            <a:noFill/>
          </a:ln>
        </p:spPr>
      </p:sp>
      <p:sp>
        <p:nvSpPr>
          <p:cNvPr name="GraphCompose Text Line" id="109"/>
          <p:cNvSpPr txBox="true"/>
          <p:nvPr/>
        </p:nvSpPr>
        <p:spPr>
          <a:xfrm>
            <a:off x="2749200" y="3926315"/>
            <a:ext cx="419151" cy="9398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00" b="false" i="false" u="none" strike="noStrike" kern="0">
                <a:solidFill>
                  <a:srgbClr val="3C3C3C"/>
                </a:solidFill>
                <a:latin typeface="Arial"/>
              </a:rPr>
              <a:t>243.7 ms</a:t>
            </a:r>
            <a:endParaRPr lang="en-US" sz="1100"/>
          </a:p>
        </p:txBody>
      </p:sp>
      <p:sp>
        <p:nvSpPr>
          <p:cNvPr name="AutoShape 110" id="110"/>
          <p:cNvSpPr/>
          <p:nvPr/>
        </p:nvSpPr>
        <p:spPr>
          <a:xfrm>
            <a:off x="3535015" y="5282260"/>
            <a:ext cx="870372" cy="302342"/>
          </a:xfrm>
          <a:prstGeom prst="roundRect">
            <a:avLst>
              <a:gd name="adj" fmla="val 8401"/>
            </a:avLst>
          </a:prstGeom>
          <a:solidFill>
            <a:srgbClr val="E09E48"/>
          </a:solidFill>
          <a:ln>
            <a:noFill/>
          </a:ln>
        </p:spPr>
      </p:sp>
      <p:sp>
        <p:nvSpPr>
          <p:cNvPr name="GraphCompose Text Line" id="111"/>
          <p:cNvSpPr txBox="true"/>
          <p:nvPr/>
        </p:nvSpPr>
        <p:spPr>
          <a:xfrm>
            <a:off x="3789505" y="5143853"/>
            <a:ext cx="362661" cy="9398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00" b="false" i="false" u="none" strike="noStrike" kern="0">
                <a:solidFill>
                  <a:srgbClr val="3C3C3C"/>
                </a:solidFill>
                <a:latin typeface="Arial"/>
              </a:rPr>
              <a:t>48.5 ms</a:t>
            </a:r>
            <a:endParaRPr lang="en-US" sz="1100"/>
          </a:p>
        </p:txBody>
      </p:sp>
      <p:sp>
        <p:nvSpPr>
          <p:cNvPr name="GraphCompose Text Line" id="112"/>
          <p:cNvSpPr txBox="true"/>
          <p:nvPr/>
        </p:nvSpPr>
        <p:spPr>
          <a:xfrm>
            <a:off x="2599594" y="5616375"/>
            <a:ext cx="718363" cy="9398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00" b="false" i="false" u="none" strike="noStrike" kern="0">
                <a:solidFill>
                  <a:srgbClr val="5A5A5A"/>
                </a:solidFill>
                <a:latin typeface="Arial"/>
              </a:rPr>
              <a:t>1000-row report</a:t>
            </a:r>
            <a:endParaRPr lang="en-US" sz="1100"/>
          </a:p>
        </p:txBody>
      </p:sp>
      <p:sp>
        <p:nvSpPr>
          <p:cNvPr name="AutoShape 113" id="113"/>
          <p:cNvSpPr/>
          <p:nvPr/>
        </p:nvSpPr>
        <p:spPr>
          <a:xfrm>
            <a:off x="1351889" y="5739694"/>
            <a:ext cx="114300" cy="114300"/>
          </a:xfrm>
          <a:prstGeom prst="roundRect">
            <a:avLst>
              <a:gd name="adj" fmla="val 16667"/>
            </a:avLst>
          </a:prstGeom>
          <a:solidFill>
            <a:srgbClr val="7C5CFC"/>
          </a:solidFill>
          <a:ln>
            <a:noFill/>
          </a:ln>
        </p:spPr>
      </p:sp>
      <p:sp>
        <p:nvSpPr>
          <p:cNvPr name="GraphCompose Text Line" id="114"/>
          <p:cNvSpPr txBox="true"/>
          <p:nvPr/>
        </p:nvSpPr>
        <p:spPr>
          <a:xfrm>
            <a:off x="1516989" y="5733377"/>
            <a:ext cx="807999" cy="105727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900" b="false" i="false" u="none" strike="noStrike" kern="0">
                <a:solidFill>
                  <a:srgbClr val="3C3C3C"/>
                </a:solidFill>
                <a:latin typeface="Arial"/>
              </a:rPr>
              <a:t>GraphCompose</a:t>
            </a:r>
            <a:endParaRPr lang="en-US" sz="1100"/>
          </a:p>
        </p:txBody>
      </p:sp>
      <p:sp>
        <p:nvSpPr>
          <p:cNvPr name="AutoShape 115" id="115"/>
          <p:cNvSpPr/>
          <p:nvPr/>
        </p:nvSpPr>
        <p:spPr>
          <a:xfrm>
            <a:off x="2501518" y="5739694"/>
            <a:ext cx="114300" cy="114300"/>
          </a:xfrm>
          <a:prstGeom prst="roundRect">
            <a:avLst>
              <a:gd name="adj" fmla="val 16667"/>
            </a:avLst>
          </a:prstGeom>
          <a:solidFill>
            <a:srgbClr val="767E94"/>
          </a:solidFill>
          <a:ln>
            <a:noFill/>
          </a:ln>
        </p:spPr>
      </p:sp>
      <p:sp>
        <p:nvSpPr>
          <p:cNvPr name="GraphCompose Text Line" id="116"/>
          <p:cNvSpPr txBox="true"/>
          <p:nvPr/>
        </p:nvSpPr>
        <p:spPr>
          <a:xfrm>
            <a:off x="2666618" y="5733377"/>
            <a:ext cx="344284" cy="105727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900" b="false" i="false" u="none" strike="noStrike" kern="0">
                <a:solidFill>
                  <a:srgbClr val="3C3C3C"/>
                </a:solidFill>
                <a:latin typeface="Arial"/>
              </a:rPr>
              <a:t>iText 9</a:t>
            </a:r>
            <a:endParaRPr lang="en-US" sz="1100"/>
          </a:p>
        </p:txBody>
      </p:sp>
      <p:sp>
        <p:nvSpPr>
          <p:cNvPr name="AutoShape 117" id="117"/>
          <p:cNvSpPr/>
          <p:nvPr/>
        </p:nvSpPr>
        <p:spPr>
          <a:xfrm>
            <a:off x="3187433" y="5739694"/>
            <a:ext cx="114300" cy="114300"/>
          </a:xfrm>
          <a:prstGeom prst="roundRect">
            <a:avLst>
              <a:gd name="adj" fmla="val 16667"/>
            </a:avLst>
          </a:prstGeom>
          <a:solidFill>
            <a:srgbClr val="E09E48"/>
          </a:solidFill>
          <a:ln>
            <a:noFill/>
          </a:ln>
        </p:spPr>
      </p:sp>
      <p:sp>
        <p:nvSpPr>
          <p:cNvPr name="GraphCompose Text Line" id="118"/>
          <p:cNvSpPr txBox="true"/>
          <p:nvPr/>
        </p:nvSpPr>
        <p:spPr>
          <a:xfrm>
            <a:off x="3352533" y="5733377"/>
            <a:ext cx="744449" cy="105727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900" b="false" i="false" u="none" strike="noStrike" kern="0">
                <a:solidFill>
                  <a:srgbClr val="3C3C3C"/>
                </a:solidFill>
                <a:latin typeface="Arial"/>
              </a:rPr>
              <a:t>JasperReports</a:t>
            </a:r>
            <a:endParaRPr lang="en-US" sz="1100"/>
          </a:p>
        </p:txBody>
      </p:sp>
      <p:sp>
        <p:nvSpPr>
          <p:cNvPr name="AutoShape 119" id="119"/>
          <p:cNvSpPr/>
          <p:nvPr/>
        </p:nvSpPr>
        <p:spPr>
          <a:xfrm>
            <a:off x="5447600" y="3134487"/>
            <a:ext cx="5041200" cy="2929223"/>
          </a:xfrm>
          <a:prstGeom prst="roundRect">
            <a:avLst>
              <a:gd name="adj" fmla="val 4336"/>
            </a:avLst>
          </a:prstGeom>
          <a:solidFill>
            <a:srgbClr val="FFFFFF"/>
          </a:solidFill>
          <a:ln>
            <a:noFill/>
          </a:ln>
        </p:spPr>
      </p:sp>
      <p:cxnSp>
        <p:nvCxnSpPr>
          <p:cNvPr name="Connector 120" id="120"/>
          <p:cNvCxnSpPr/>
          <p:nvPr/>
        </p:nvCxnSpPr>
        <p:spPr>
          <a:xfrm>
            <a:off x="5447600" y="3134487"/>
            <a:ext cx="5041200" cy="0"/>
          </a:xfrm>
          <a:prstGeom prst="line">
            <a:avLst/>
          </a:prstGeom>
          <a:ln w="31750">
            <a:solidFill>
              <a:srgbClr val="7C5CFC"/>
            </a:solidFill>
          </a:ln>
        </p:spPr>
      </p:cxnSp>
      <p:sp>
        <p:nvSpPr>
          <p:cNvPr name="GraphCompose Text Line" id="121"/>
          <p:cNvSpPr txBox="true"/>
          <p:nvPr/>
        </p:nvSpPr>
        <p:spPr>
          <a:xfrm>
            <a:off x="5625400" y="3286125"/>
            <a:ext cx="2959278" cy="129222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100" b="true" i="false" u="none" strike="noStrike" kern="0">
                <a:solidFill>
                  <a:srgbClr val="1C1E2E"/>
                </a:solidFill>
                <a:latin typeface="Arial"/>
              </a:rPr>
              <a:t>Peak heap at 1000 rows — MB (lower is lighter)</a:t>
            </a:r>
            <a:endParaRPr lang="en-US" sz="1100"/>
          </a:p>
        </p:txBody>
      </p:sp>
      <p:cxnSp>
        <p:nvCxnSpPr>
          <p:cNvPr name="Connector 122" id="122"/>
          <p:cNvCxnSpPr/>
          <p:nvPr/>
        </p:nvCxnSpPr>
        <p:spPr>
          <a:xfrm flipV="false">
            <a:off x="6054558" y="5584602"/>
            <a:ext cx="4256442" cy="0"/>
          </a:xfrm>
          <a:prstGeom prst="line">
            <a:avLst/>
          </a:prstGeom>
          <a:ln w="6350" cap="flat">
            <a:solidFill>
              <a:srgbClr val="E0E0E0"/>
            </a:solidFill>
          </a:ln>
        </p:spPr>
      </p:cxnSp>
      <p:sp>
        <p:nvSpPr>
          <p:cNvPr name="GraphCompose Text Line" id="123"/>
          <p:cNvSpPr txBox="true"/>
          <p:nvPr/>
        </p:nvSpPr>
        <p:spPr>
          <a:xfrm>
            <a:off x="5681890" y="5528186"/>
            <a:ext cx="323139" cy="9398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00" b="false" i="false" u="none" strike="noStrike" kern="0">
                <a:solidFill>
                  <a:srgbClr val="5A5A5A"/>
                </a:solidFill>
                <a:latin typeface="Arial"/>
              </a:rPr>
              <a:t>0.0 MB</a:t>
            </a:r>
            <a:endParaRPr lang="en-US" sz="1100"/>
          </a:p>
        </p:txBody>
      </p:sp>
      <p:cxnSp>
        <p:nvCxnSpPr>
          <p:cNvPr name="Connector 124" id="124"/>
          <p:cNvCxnSpPr/>
          <p:nvPr/>
        </p:nvCxnSpPr>
        <p:spPr>
          <a:xfrm flipV="false">
            <a:off x="6054558" y="5116774"/>
            <a:ext cx="4256442" cy="0"/>
          </a:xfrm>
          <a:prstGeom prst="line">
            <a:avLst/>
          </a:prstGeom>
          <a:ln w="6350" cap="flat">
            <a:solidFill>
              <a:srgbClr val="E0E0E0"/>
            </a:solidFill>
          </a:ln>
        </p:spPr>
      </p:cxnSp>
      <p:sp>
        <p:nvSpPr>
          <p:cNvPr name="GraphCompose Text Line" id="125"/>
          <p:cNvSpPr txBox="true"/>
          <p:nvPr/>
        </p:nvSpPr>
        <p:spPr>
          <a:xfrm>
            <a:off x="5625400" y="5060358"/>
            <a:ext cx="379628" cy="9398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00" b="false" i="false" u="none" strike="noStrike" kern="0">
                <a:solidFill>
                  <a:srgbClr val="5A5A5A"/>
                </a:solidFill>
                <a:latin typeface="Arial"/>
              </a:rPr>
              <a:t>20.0 MB</a:t>
            </a:r>
            <a:endParaRPr lang="en-US" sz="1100"/>
          </a:p>
        </p:txBody>
      </p:sp>
      <p:cxnSp>
        <p:nvCxnSpPr>
          <p:cNvPr name="Connector 126" id="126"/>
          <p:cNvCxnSpPr/>
          <p:nvPr/>
        </p:nvCxnSpPr>
        <p:spPr>
          <a:xfrm flipV="false">
            <a:off x="6054558" y="4648946"/>
            <a:ext cx="4256442" cy="0"/>
          </a:xfrm>
          <a:prstGeom prst="line">
            <a:avLst/>
          </a:prstGeom>
          <a:ln w="6350" cap="flat">
            <a:solidFill>
              <a:srgbClr val="E0E0E0"/>
            </a:solidFill>
          </a:ln>
        </p:spPr>
      </p:cxnSp>
      <p:sp>
        <p:nvSpPr>
          <p:cNvPr name="GraphCompose Text Line" id="127"/>
          <p:cNvSpPr txBox="true"/>
          <p:nvPr/>
        </p:nvSpPr>
        <p:spPr>
          <a:xfrm>
            <a:off x="5625400" y="4592530"/>
            <a:ext cx="379628" cy="9398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00" b="false" i="false" u="none" strike="noStrike" kern="0">
                <a:solidFill>
                  <a:srgbClr val="5A5A5A"/>
                </a:solidFill>
                <a:latin typeface="Arial"/>
              </a:rPr>
              <a:t>40.0 MB</a:t>
            </a:r>
            <a:endParaRPr lang="en-US" sz="1100"/>
          </a:p>
        </p:txBody>
      </p:sp>
      <p:cxnSp>
        <p:nvCxnSpPr>
          <p:cNvPr name="Connector 128" id="128"/>
          <p:cNvCxnSpPr/>
          <p:nvPr/>
        </p:nvCxnSpPr>
        <p:spPr>
          <a:xfrm flipV="false">
            <a:off x="6054558" y="4181118"/>
            <a:ext cx="4256442" cy="0"/>
          </a:xfrm>
          <a:prstGeom prst="line">
            <a:avLst/>
          </a:prstGeom>
          <a:ln w="6350" cap="flat">
            <a:solidFill>
              <a:srgbClr val="E0E0E0"/>
            </a:solidFill>
          </a:ln>
        </p:spPr>
      </p:cxnSp>
      <p:sp>
        <p:nvSpPr>
          <p:cNvPr name="GraphCompose Text Line" id="129"/>
          <p:cNvSpPr txBox="true"/>
          <p:nvPr/>
        </p:nvSpPr>
        <p:spPr>
          <a:xfrm>
            <a:off x="5625400" y="4124702"/>
            <a:ext cx="379628" cy="9398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00" b="false" i="false" u="none" strike="noStrike" kern="0">
                <a:solidFill>
                  <a:srgbClr val="5A5A5A"/>
                </a:solidFill>
                <a:latin typeface="Arial"/>
              </a:rPr>
              <a:t>60.0 MB</a:t>
            </a:r>
            <a:endParaRPr lang="en-US" sz="1100"/>
          </a:p>
        </p:txBody>
      </p:sp>
      <p:cxnSp>
        <p:nvCxnSpPr>
          <p:cNvPr name="Connector 130" id="130"/>
          <p:cNvCxnSpPr/>
          <p:nvPr/>
        </p:nvCxnSpPr>
        <p:spPr>
          <a:xfrm flipV="false">
            <a:off x="6054558" y="3713289"/>
            <a:ext cx="4256442" cy="0"/>
          </a:xfrm>
          <a:prstGeom prst="line">
            <a:avLst/>
          </a:prstGeom>
          <a:ln w="6350" cap="flat">
            <a:solidFill>
              <a:srgbClr val="E0E0E0"/>
            </a:solidFill>
          </a:ln>
        </p:spPr>
      </p:cxnSp>
      <p:sp>
        <p:nvSpPr>
          <p:cNvPr name="GraphCompose Text Line" id="131"/>
          <p:cNvSpPr txBox="true"/>
          <p:nvPr/>
        </p:nvSpPr>
        <p:spPr>
          <a:xfrm>
            <a:off x="5625400" y="3656874"/>
            <a:ext cx="379628" cy="9398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00" b="false" i="false" u="none" strike="noStrike" kern="0">
                <a:solidFill>
                  <a:srgbClr val="5A5A5A"/>
                </a:solidFill>
                <a:latin typeface="Arial"/>
              </a:rPr>
              <a:t>80.0 MB</a:t>
            </a:r>
            <a:endParaRPr lang="en-US" sz="1100"/>
          </a:p>
        </p:txBody>
      </p:sp>
      <p:sp>
        <p:nvSpPr>
          <p:cNvPr name="AutoShape 132" id="132"/>
          <p:cNvSpPr/>
          <p:nvPr/>
        </p:nvSpPr>
        <p:spPr>
          <a:xfrm>
            <a:off x="6721968" y="5216655"/>
            <a:ext cx="878530" cy="367947"/>
          </a:xfrm>
          <a:prstGeom prst="roundRect">
            <a:avLst>
              <a:gd name="adj" fmla="val 6903"/>
            </a:avLst>
          </a:prstGeom>
          <a:solidFill>
            <a:srgbClr val="7C5CFC"/>
          </a:solidFill>
          <a:ln>
            <a:noFill/>
          </a:ln>
        </p:spPr>
      </p:sp>
      <p:sp>
        <p:nvSpPr>
          <p:cNvPr name="GraphCompose Text Line" id="133"/>
          <p:cNvSpPr txBox="true"/>
          <p:nvPr/>
        </p:nvSpPr>
        <p:spPr>
          <a:xfrm>
            <a:off x="6972054" y="5078248"/>
            <a:ext cx="379628" cy="9398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00" b="false" i="false" u="none" strike="noStrike" kern="0">
                <a:solidFill>
                  <a:srgbClr val="3C3C3C"/>
                </a:solidFill>
                <a:latin typeface="Arial"/>
              </a:rPr>
              <a:t>15.7 MB</a:t>
            </a:r>
            <a:endParaRPr lang="en-US" sz="1100"/>
          </a:p>
        </p:txBody>
      </p:sp>
      <p:sp>
        <p:nvSpPr>
          <p:cNvPr name="AutoShape 134" id="134"/>
          <p:cNvSpPr/>
          <p:nvPr/>
        </p:nvSpPr>
        <p:spPr>
          <a:xfrm>
            <a:off x="7743514" y="4041939"/>
            <a:ext cx="878530" cy="1542663"/>
          </a:xfrm>
          <a:prstGeom prst="roundRect">
            <a:avLst>
              <a:gd name="adj" fmla="val 2891"/>
            </a:avLst>
          </a:prstGeom>
          <a:solidFill>
            <a:srgbClr val="767E94"/>
          </a:solidFill>
          <a:ln>
            <a:noFill/>
          </a:ln>
        </p:spPr>
      </p:sp>
      <p:sp>
        <p:nvSpPr>
          <p:cNvPr name="GraphCompose Text Line" id="135"/>
          <p:cNvSpPr txBox="true"/>
          <p:nvPr/>
        </p:nvSpPr>
        <p:spPr>
          <a:xfrm>
            <a:off x="7993600" y="3903532"/>
            <a:ext cx="379628" cy="9398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00" b="false" i="false" u="none" strike="noStrike" kern="0">
                <a:solidFill>
                  <a:srgbClr val="3C3C3C"/>
                </a:solidFill>
                <a:latin typeface="Arial"/>
              </a:rPr>
              <a:t>66.0 MB</a:t>
            </a:r>
            <a:endParaRPr lang="en-US" sz="1100"/>
          </a:p>
        </p:txBody>
      </p:sp>
      <p:sp>
        <p:nvSpPr>
          <p:cNvPr name="AutoShape 136" id="136"/>
          <p:cNvSpPr/>
          <p:nvPr/>
        </p:nvSpPr>
        <p:spPr>
          <a:xfrm>
            <a:off x="8765060" y="4369418"/>
            <a:ext cx="878530" cy="1215184"/>
          </a:xfrm>
          <a:prstGeom prst="roundRect">
            <a:avLst>
              <a:gd name="adj" fmla="val 2891"/>
            </a:avLst>
          </a:prstGeom>
          <a:solidFill>
            <a:srgbClr val="E09E48"/>
          </a:solidFill>
          <a:ln>
            <a:noFill/>
          </a:ln>
        </p:spPr>
      </p:sp>
      <p:sp>
        <p:nvSpPr>
          <p:cNvPr name="GraphCompose Text Line" id="137"/>
          <p:cNvSpPr txBox="true"/>
          <p:nvPr/>
        </p:nvSpPr>
        <p:spPr>
          <a:xfrm>
            <a:off x="9015146" y="4231011"/>
            <a:ext cx="379628" cy="9398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00" b="false" i="false" u="none" strike="noStrike" kern="0">
                <a:solidFill>
                  <a:srgbClr val="3C3C3C"/>
                </a:solidFill>
                <a:latin typeface="Arial"/>
              </a:rPr>
              <a:t>52.0 MB</a:t>
            </a:r>
            <a:endParaRPr lang="en-US" sz="1100"/>
          </a:p>
        </p:txBody>
      </p:sp>
      <p:sp>
        <p:nvSpPr>
          <p:cNvPr name="GraphCompose Text Line" id="138"/>
          <p:cNvSpPr txBox="true"/>
          <p:nvPr/>
        </p:nvSpPr>
        <p:spPr>
          <a:xfrm>
            <a:off x="7824233" y="5616375"/>
            <a:ext cx="718363" cy="9398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00" b="false" i="false" u="none" strike="noStrike" kern="0">
                <a:solidFill>
                  <a:srgbClr val="5A5A5A"/>
                </a:solidFill>
                <a:latin typeface="Arial"/>
              </a:rPr>
              <a:t>1000-row report</a:t>
            </a:r>
            <a:endParaRPr lang="en-US" sz="1100"/>
          </a:p>
        </p:txBody>
      </p:sp>
      <p:sp>
        <p:nvSpPr>
          <p:cNvPr name="AutoShape 139" id="139"/>
          <p:cNvSpPr/>
          <p:nvPr/>
        </p:nvSpPr>
        <p:spPr>
          <a:xfrm>
            <a:off x="6596289" y="5739694"/>
            <a:ext cx="114300" cy="114300"/>
          </a:xfrm>
          <a:prstGeom prst="roundRect">
            <a:avLst>
              <a:gd name="adj" fmla="val 16667"/>
            </a:avLst>
          </a:prstGeom>
          <a:solidFill>
            <a:srgbClr val="7C5CFC"/>
          </a:solidFill>
          <a:ln>
            <a:noFill/>
          </a:ln>
        </p:spPr>
      </p:sp>
      <p:sp>
        <p:nvSpPr>
          <p:cNvPr name="GraphCompose Text Line" id="140"/>
          <p:cNvSpPr txBox="true"/>
          <p:nvPr/>
        </p:nvSpPr>
        <p:spPr>
          <a:xfrm>
            <a:off x="6761389" y="5733377"/>
            <a:ext cx="807999" cy="105727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900" b="false" i="false" u="none" strike="noStrike" kern="0">
                <a:solidFill>
                  <a:srgbClr val="3C3C3C"/>
                </a:solidFill>
                <a:latin typeface="Arial"/>
              </a:rPr>
              <a:t>GraphCompose</a:t>
            </a:r>
            <a:endParaRPr lang="en-US" sz="1100"/>
          </a:p>
        </p:txBody>
      </p:sp>
      <p:sp>
        <p:nvSpPr>
          <p:cNvPr name="AutoShape 141" id="141"/>
          <p:cNvSpPr/>
          <p:nvPr/>
        </p:nvSpPr>
        <p:spPr>
          <a:xfrm>
            <a:off x="7745918" y="5739694"/>
            <a:ext cx="114300" cy="114300"/>
          </a:xfrm>
          <a:prstGeom prst="roundRect">
            <a:avLst>
              <a:gd name="adj" fmla="val 16667"/>
            </a:avLst>
          </a:prstGeom>
          <a:solidFill>
            <a:srgbClr val="767E94"/>
          </a:solidFill>
          <a:ln>
            <a:noFill/>
          </a:ln>
        </p:spPr>
      </p:sp>
      <p:sp>
        <p:nvSpPr>
          <p:cNvPr name="GraphCompose Text Line" id="142"/>
          <p:cNvSpPr txBox="true"/>
          <p:nvPr/>
        </p:nvSpPr>
        <p:spPr>
          <a:xfrm>
            <a:off x="7911018" y="5733377"/>
            <a:ext cx="344284" cy="105727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900" b="false" i="false" u="none" strike="noStrike" kern="0">
                <a:solidFill>
                  <a:srgbClr val="3C3C3C"/>
                </a:solidFill>
                <a:latin typeface="Arial"/>
              </a:rPr>
              <a:t>iText 9</a:t>
            </a:r>
            <a:endParaRPr lang="en-US" sz="1100"/>
          </a:p>
        </p:txBody>
      </p:sp>
      <p:sp>
        <p:nvSpPr>
          <p:cNvPr name="AutoShape 143" id="143"/>
          <p:cNvSpPr/>
          <p:nvPr/>
        </p:nvSpPr>
        <p:spPr>
          <a:xfrm>
            <a:off x="8431833" y="5739694"/>
            <a:ext cx="114300" cy="114300"/>
          </a:xfrm>
          <a:prstGeom prst="roundRect">
            <a:avLst>
              <a:gd name="adj" fmla="val 16667"/>
            </a:avLst>
          </a:prstGeom>
          <a:solidFill>
            <a:srgbClr val="E09E48"/>
          </a:solidFill>
          <a:ln>
            <a:noFill/>
          </a:ln>
        </p:spPr>
      </p:sp>
      <p:sp>
        <p:nvSpPr>
          <p:cNvPr name="GraphCompose Text Line" id="144"/>
          <p:cNvSpPr txBox="true"/>
          <p:nvPr/>
        </p:nvSpPr>
        <p:spPr>
          <a:xfrm>
            <a:off x="8596933" y="5733377"/>
            <a:ext cx="744449" cy="105727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900" b="false" i="false" u="none" strike="noStrike" kern="0">
                <a:solidFill>
                  <a:srgbClr val="3C3C3C"/>
                </a:solidFill>
                <a:latin typeface="Arial"/>
              </a:rPr>
              <a:t>JasperReports</a:t>
            </a:r>
            <a:endParaRPr lang="en-US" sz="1100"/>
          </a:p>
        </p:txBody>
      </p:sp>
      <p:sp>
        <p:nvSpPr>
          <p:cNvPr name="GraphCompose Text Line" id="145"/>
          <p:cNvSpPr txBox="true"/>
          <p:nvPr/>
        </p:nvSpPr>
        <p:spPr>
          <a:xfrm>
            <a:off x="203200" y="6324083"/>
            <a:ext cx="9753346" cy="9398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00" b="false" i="false" u="none" strike="noStrike" kern="0">
                <a:solidFill>
                  <a:srgbClr val="707484"/>
                </a:solidFill>
                <a:latin typeface="Arial"/>
              </a:rPr>
              <a:t>Measured 2026-06-15 19:41:29 · 50 warmup / 100 measurement iterations, single machine — numbers vary by hardware and document. Reproduce: scripts/run-benchmarks.ps1 · see docs/operations/benchmarks.md.</a:t>
            </a:r>
            <a:endParaRPr lang="en-US" sz="1100"/>
          </a:p>
        </p:txBody>
      </p:sp>
      <p:sp>
        <p:nvSpPr>
          <p:cNvPr name="GraphCompose Footer" id="146"/>
          <p:cNvSpPr txBox="true"/>
          <p:nvPr/>
        </p:nvSpPr>
        <p:spPr>
          <a:xfrm>
            <a:off x="203200" y="7189226"/>
            <a:ext cx="2340978" cy="140335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850" b="false" i="false" u="none" strike="noStrike" kern="0">
                <a:solidFill>
                  <a:srgbClr val="707484"/>
                </a:solidFill>
                <a:latin typeface="Arial"/>
              </a:rPr>
              <a:t>GraphCompose · v2.1.0-SNAPSHOT “navigable”</a:t>
            </a:r>
            <a:endParaRPr lang="en-US" sz="1100"/>
          </a:p>
        </p:txBody>
      </p:sp>
      <p:sp>
        <p:nvSpPr>
          <p:cNvPr name="GraphCompose Footer" id="147"/>
          <p:cNvSpPr txBox="true"/>
          <p:nvPr/>
        </p:nvSpPr>
        <p:spPr>
          <a:xfrm>
            <a:off x="9936636" y="7189226"/>
            <a:ext cx="553434" cy="140335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850" b="false" i="false" u="none" strike="noStrike" kern="0">
                <a:solidFill>
                  <a:srgbClr val="707484"/>
                </a:solidFill>
                <a:latin typeface="Arial"/>
              </a:rPr>
              <a:t>Page 3 of 4</a:t>
            </a:r>
            <a:endParaRPr lang="en-US" sz="1100"/>
          </a:p>
        </p:txBody>
      </p:sp>
      <p:cxnSp>
        <p:nvCxnSpPr>
          <p:cNvPr name="GraphCompose Footer Separator" id="148"/>
          <p:cNvCxnSpPr/>
          <p:nvPr/>
        </p:nvCxnSpPr>
        <p:spPr>
          <a:xfrm>
            <a:off x="203200" y="7179001"/>
            <a:ext cx="10285600" cy="0"/>
          </a:xfrm>
          <a:prstGeom prst="line">
            <a:avLst/>
          </a:prstGeom>
          <a:ln w="6350">
            <a:solidFill>
              <a:srgbClr val="A78BFA"/>
            </a:solidFill>
          </a:ln>
        </p:spPr>
      </p:cxnSp>
    </p:spTree>
  </p:cSld>
  <p:clrMapOvr>
    <a:masterClrMapping/>
  </p:clrMapOvr>
</p:sld>
</file>

<file path=ppt/slides/slide4.xml><?xml version="1.0" encoding="utf-8"?>
<p:sld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GraphCompose Text Line" id="2"/>
          <p:cNvSpPr txBox="true"/>
          <p:nvPr/>
        </p:nvSpPr>
        <p:spPr>
          <a:xfrm>
            <a:off x="203200" y="384995"/>
            <a:ext cx="503047" cy="105727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900" b="true" i="false" u="none" strike="noStrike" kern="0">
                <a:solidFill>
                  <a:srgbClr val="6128D9"/>
                </a:solidFill>
                <a:latin typeface="Arial"/>
              </a:rPr>
              <a:t>SCALING</a:t>
            </a:r>
            <a:endParaRPr lang="en-US" sz="1100"/>
          </a:p>
        </p:txBody>
      </p:sp>
      <p:sp>
        <p:nvSpPr>
          <p:cNvPr name="GraphCompose Text Line" id="3"/>
          <p:cNvSpPr txBox="true"/>
          <p:nvPr/>
        </p:nvSpPr>
        <p:spPr>
          <a:xfrm>
            <a:off x="203200" y="558217"/>
            <a:ext cx="2846883" cy="211455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800" b="true" i="false" u="none" strike="noStrike" kern="0">
                <a:solidFill>
                  <a:srgbClr val="1C1E2E"/>
                </a:solidFill>
                <a:latin typeface="Arial"/>
              </a:rPr>
              <a:t>How GraphCompose scales</a:t>
            </a:r>
            <a:endParaRPr lang="en-US" sz="1100"/>
          </a:p>
        </p:txBody>
      </p:sp>
      <p:sp>
        <p:nvSpPr>
          <p:cNvPr name="GraphCompose Text Line" id="4"/>
          <p:cNvSpPr txBox="true"/>
          <p:nvPr/>
        </p:nvSpPr>
        <p:spPr>
          <a:xfrm>
            <a:off x="203200" y="992850"/>
            <a:ext cx="10219507" cy="112776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960" b="false" i="false" u="none" strike="noStrike" kern="0">
                <a:solidFill>
                  <a:srgbClr val="404454"/>
                </a:solidFill>
                <a:latin typeface="Arial"/>
              </a:rPr>
              <a:t>As the report grows from 40 to 1000 rows, the time lead over iText widens; JasperReports closes to roughly the same render time at 1000 rows, yet GraphCompose stays markedly lighter on</a:t>
            </a:r>
            <a:endParaRPr lang="en-US" sz="1100"/>
          </a:p>
        </p:txBody>
      </p:sp>
      <p:sp>
        <p:nvSpPr>
          <p:cNvPr name="GraphCompose Text Line" id="5"/>
          <p:cNvSpPr txBox="true"/>
          <p:nvPr/>
        </p:nvSpPr>
        <p:spPr>
          <a:xfrm>
            <a:off x="203200" y="1124041"/>
            <a:ext cx="5130566" cy="112776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960" b="false" i="false" u="none" strike="noStrike" kern="0">
                <a:solidFill>
                  <a:srgbClr val="404454"/>
                </a:solidFill>
                <a:latin typeface="Arial"/>
              </a:rPr>
              <a:t>memory than both rivals throughout — every series below reads from the same benchmark file.</a:t>
            </a:r>
            <a:endParaRPr lang="en-US" sz="1100"/>
          </a:p>
        </p:txBody>
      </p:sp>
      <p:sp>
        <p:nvSpPr>
          <p:cNvPr name="AutoShape 6" id="6"/>
          <p:cNvSpPr/>
          <p:nvPr/>
        </p:nvSpPr>
        <p:spPr>
          <a:xfrm>
            <a:off x="203200" y="1488249"/>
            <a:ext cx="5041200" cy="2489948"/>
          </a:xfrm>
          <a:prstGeom prst="roundRect">
            <a:avLst>
              <a:gd name="adj" fmla="val 5101"/>
            </a:avLst>
          </a:prstGeom>
          <a:solidFill>
            <a:srgbClr val="FFFFFF"/>
          </a:solidFill>
          <a:ln>
            <a:noFill/>
          </a:ln>
        </p:spPr>
      </p:sp>
      <p:cxnSp>
        <p:nvCxnSpPr>
          <p:cNvPr name="Connector 7" id="7"/>
          <p:cNvCxnSpPr/>
          <p:nvPr/>
        </p:nvCxnSpPr>
        <p:spPr>
          <a:xfrm>
            <a:off x="203200" y="1488249"/>
            <a:ext cx="5041200" cy="0"/>
          </a:xfrm>
          <a:prstGeom prst="line">
            <a:avLst/>
          </a:prstGeom>
          <a:ln w="31750">
            <a:solidFill>
              <a:srgbClr val="7C5CFC"/>
            </a:solidFill>
          </a:ln>
        </p:spPr>
      </p:cxnSp>
      <p:sp>
        <p:nvSpPr>
          <p:cNvPr name="GraphCompose Text Line" id="8"/>
          <p:cNvSpPr txBox="true"/>
          <p:nvPr/>
        </p:nvSpPr>
        <p:spPr>
          <a:xfrm>
            <a:off x="381000" y="1639887"/>
            <a:ext cx="2073999" cy="129222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100" b="true" i="false" u="none" strike="noStrike" kern="0">
                <a:solidFill>
                  <a:srgbClr val="1C1E2E"/>
                </a:solidFill>
                <a:latin typeface="Arial"/>
              </a:rPr>
              <a:t>Render time vs. report size — ms</a:t>
            </a:r>
            <a:endParaRPr lang="en-US" sz="1100"/>
          </a:p>
        </p:txBody>
      </p:sp>
      <p:cxnSp>
        <p:nvCxnSpPr>
          <p:cNvPr name="Connector 9" id="9"/>
          <p:cNvCxnSpPr/>
          <p:nvPr/>
        </p:nvCxnSpPr>
        <p:spPr>
          <a:xfrm flipV="false">
            <a:off x="764946" y="3499090"/>
            <a:ext cx="4301654" cy="0"/>
          </a:xfrm>
          <a:prstGeom prst="line">
            <a:avLst/>
          </a:prstGeom>
          <a:ln w="6350" cap="flat">
            <a:solidFill>
              <a:srgbClr val="E0E0E0"/>
            </a:solidFill>
          </a:ln>
        </p:spPr>
      </p:cxnSp>
      <p:sp>
        <p:nvSpPr>
          <p:cNvPr name="GraphCompose Text Line" id="10"/>
          <p:cNvSpPr txBox="true"/>
          <p:nvPr/>
        </p:nvSpPr>
        <p:spPr>
          <a:xfrm>
            <a:off x="493979" y="3442674"/>
            <a:ext cx="221437" cy="9398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00" b="false" i="false" u="none" strike="noStrike" kern="0">
                <a:solidFill>
                  <a:srgbClr val="5A5A5A"/>
                </a:solidFill>
                <a:latin typeface="Arial"/>
              </a:rPr>
              <a:t>0 ms</a:t>
            </a:r>
            <a:endParaRPr lang="en-US" sz="1100"/>
          </a:p>
        </p:txBody>
      </p:sp>
      <p:cxnSp>
        <p:nvCxnSpPr>
          <p:cNvPr name="Connector 11" id="11"/>
          <p:cNvCxnSpPr/>
          <p:nvPr/>
        </p:nvCxnSpPr>
        <p:spPr>
          <a:xfrm flipV="false">
            <a:off x="764946" y="2980680"/>
            <a:ext cx="4301654" cy="0"/>
          </a:xfrm>
          <a:prstGeom prst="line">
            <a:avLst/>
          </a:prstGeom>
          <a:ln w="6350" cap="flat">
            <a:solidFill>
              <a:srgbClr val="E0E0E0"/>
            </a:solidFill>
          </a:ln>
        </p:spPr>
      </p:cxnSp>
      <p:sp>
        <p:nvSpPr>
          <p:cNvPr name="GraphCompose Text Line" id="12"/>
          <p:cNvSpPr txBox="true"/>
          <p:nvPr/>
        </p:nvSpPr>
        <p:spPr>
          <a:xfrm>
            <a:off x="381000" y="2924265"/>
            <a:ext cx="334416" cy="9398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00" b="false" i="false" u="none" strike="noStrike" kern="0">
                <a:solidFill>
                  <a:srgbClr val="5A5A5A"/>
                </a:solidFill>
                <a:latin typeface="Arial"/>
              </a:rPr>
              <a:t>100 ms</a:t>
            </a:r>
            <a:endParaRPr lang="en-US" sz="1100"/>
          </a:p>
        </p:txBody>
      </p:sp>
      <p:cxnSp>
        <p:nvCxnSpPr>
          <p:cNvPr name="Connector 13" id="13"/>
          <p:cNvCxnSpPr/>
          <p:nvPr/>
        </p:nvCxnSpPr>
        <p:spPr>
          <a:xfrm flipV="false">
            <a:off x="764946" y="2462271"/>
            <a:ext cx="4301654" cy="0"/>
          </a:xfrm>
          <a:prstGeom prst="line">
            <a:avLst/>
          </a:prstGeom>
          <a:ln w="6350" cap="flat">
            <a:solidFill>
              <a:srgbClr val="E0E0E0"/>
            </a:solidFill>
          </a:ln>
        </p:spPr>
      </p:cxnSp>
      <p:sp>
        <p:nvSpPr>
          <p:cNvPr name="GraphCompose Text Line" id="14"/>
          <p:cNvSpPr txBox="true"/>
          <p:nvPr/>
        </p:nvSpPr>
        <p:spPr>
          <a:xfrm>
            <a:off x="381000" y="2405855"/>
            <a:ext cx="334416" cy="9398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00" b="false" i="false" u="none" strike="noStrike" kern="0">
                <a:solidFill>
                  <a:srgbClr val="5A5A5A"/>
                </a:solidFill>
                <a:latin typeface="Arial"/>
              </a:rPr>
              <a:t>200 ms</a:t>
            </a:r>
            <a:endParaRPr lang="en-US" sz="1100"/>
          </a:p>
        </p:txBody>
      </p:sp>
      <p:cxnSp>
        <p:nvCxnSpPr>
          <p:cNvPr name="Connector 15" id="15"/>
          <p:cNvCxnSpPr/>
          <p:nvPr/>
        </p:nvCxnSpPr>
        <p:spPr>
          <a:xfrm flipV="false">
            <a:off x="764946" y="1943862"/>
            <a:ext cx="4301654" cy="0"/>
          </a:xfrm>
          <a:prstGeom prst="line">
            <a:avLst/>
          </a:prstGeom>
          <a:ln w="6350" cap="flat">
            <a:solidFill>
              <a:srgbClr val="E0E0E0"/>
            </a:solidFill>
          </a:ln>
        </p:spPr>
      </p:cxnSp>
      <p:sp>
        <p:nvSpPr>
          <p:cNvPr name="GraphCompose Text Line" id="16"/>
          <p:cNvSpPr txBox="true"/>
          <p:nvPr/>
        </p:nvSpPr>
        <p:spPr>
          <a:xfrm>
            <a:off x="381000" y="1887446"/>
            <a:ext cx="334416" cy="9398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00" b="false" i="false" u="none" strike="noStrike" kern="0">
                <a:solidFill>
                  <a:srgbClr val="5A5A5A"/>
                </a:solidFill>
                <a:latin typeface="Arial"/>
              </a:rPr>
              <a:t>300 ms</a:t>
            </a:r>
            <a:endParaRPr lang="en-US" sz="1100"/>
          </a:p>
        </p:txBody>
      </p:sp>
      <p:cxnSp>
        <p:nvCxnSpPr>
          <p:cNvPr name="Connector 17" id="17"/>
          <p:cNvCxnSpPr/>
          <p:nvPr/>
        </p:nvCxnSpPr>
        <p:spPr>
          <a:xfrm flipV="true">
            <a:off x="1481889" y="3438176"/>
            <a:ext cx="1433885" cy="37481"/>
          </a:xfrm>
          <a:prstGeom prst="line">
            <a:avLst/>
          </a:prstGeom>
          <a:ln w="25400" cap="flat">
            <a:solidFill>
              <a:srgbClr val="7C5CFC"/>
            </a:solidFill>
          </a:ln>
        </p:spPr>
      </p:cxnSp>
      <p:cxnSp>
        <p:nvCxnSpPr>
          <p:cNvPr name="Connector 18" id="18"/>
          <p:cNvCxnSpPr/>
          <p:nvPr/>
        </p:nvCxnSpPr>
        <p:spPr>
          <a:xfrm flipV="true">
            <a:off x="2915773" y="3264406"/>
            <a:ext cx="1433885" cy="173771"/>
          </a:xfrm>
          <a:prstGeom prst="line">
            <a:avLst/>
          </a:prstGeom>
          <a:ln w="25400" cap="flat">
            <a:solidFill>
              <a:srgbClr val="7C5CFC"/>
            </a:solidFill>
          </a:ln>
        </p:spPr>
      </p:cxnSp>
      <p:cxnSp>
        <p:nvCxnSpPr>
          <p:cNvPr name="Connector 19" id="19"/>
          <p:cNvCxnSpPr/>
          <p:nvPr/>
        </p:nvCxnSpPr>
        <p:spPr>
          <a:xfrm flipV="true">
            <a:off x="1481889" y="3238122"/>
            <a:ext cx="1433885" cy="194248"/>
          </a:xfrm>
          <a:prstGeom prst="line">
            <a:avLst/>
          </a:prstGeom>
          <a:ln w="25400" cap="flat">
            <a:solidFill>
              <a:srgbClr val="767E94"/>
            </a:solidFill>
          </a:ln>
        </p:spPr>
      </p:cxnSp>
      <p:cxnSp>
        <p:nvCxnSpPr>
          <p:cNvPr name="Connector 20" id="20"/>
          <p:cNvCxnSpPr/>
          <p:nvPr/>
        </p:nvCxnSpPr>
        <p:spPr>
          <a:xfrm flipV="true">
            <a:off x="2915773" y="2235934"/>
            <a:ext cx="1433885" cy="1002189"/>
          </a:xfrm>
          <a:prstGeom prst="line">
            <a:avLst/>
          </a:prstGeom>
          <a:ln w="25400" cap="flat">
            <a:solidFill>
              <a:srgbClr val="767E94"/>
            </a:solidFill>
          </a:ln>
        </p:spPr>
      </p:cxnSp>
      <p:cxnSp>
        <p:nvCxnSpPr>
          <p:cNvPr name="Connector 21" id="21"/>
          <p:cNvCxnSpPr/>
          <p:nvPr/>
        </p:nvCxnSpPr>
        <p:spPr>
          <a:xfrm flipV="true">
            <a:off x="1481889" y="3413811"/>
            <a:ext cx="1433885" cy="37948"/>
          </a:xfrm>
          <a:prstGeom prst="line">
            <a:avLst/>
          </a:prstGeom>
          <a:ln w="25400" cap="flat">
            <a:solidFill>
              <a:srgbClr val="E09E48"/>
            </a:solidFill>
          </a:ln>
        </p:spPr>
      </p:cxnSp>
      <p:cxnSp>
        <p:nvCxnSpPr>
          <p:cNvPr name="Connector 22" id="22"/>
          <p:cNvCxnSpPr/>
          <p:nvPr/>
        </p:nvCxnSpPr>
        <p:spPr>
          <a:xfrm flipV="true">
            <a:off x="2915773" y="3247817"/>
            <a:ext cx="1433885" cy="165995"/>
          </a:xfrm>
          <a:prstGeom prst="line">
            <a:avLst/>
          </a:prstGeom>
          <a:ln w="25400" cap="flat">
            <a:solidFill>
              <a:srgbClr val="E09E48"/>
            </a:solidFill>
          </a:ln>
        </p:spPr>
      </p:cxnSp>
      <p:sp>
        <p:nvSpPr>
          <p:cNvPr name="AutoShape 23" id="23"/>
          <p:cNvSpPr/>
          <p:nvPr/>
        </p:nvSpPr>
        <p:spPr>
          <a:xfrm>
            <a:off x="1450139" y="3443907"/>
            <a:ext cx="63500" cy="63500"/>
          </a:xfrm>
          <a:prstGeom prst="ellipse">
            <a:avLst/>
          </a:prstGeom>
          <a:solidFill>
            <a:srgbClr val="7C5CFC"/>
          </a:solidFill>
          <a:ln w="15240">
            <a:solidFill>
              <a:srgbClr val="FFFFFF"/>
            </a:solidFill>
          </a:ln>
        </p:spPr>
      </p:sp>
      <p:sp>
        <p:nvSpPr>
          <p:cNvPr name="AutoShape 24" id="24"/>
          <p:cNvSpPr/>
          <p:nvPr/>
        </p:nvSpPr>
        <p:spPr>
          <a:xfrm>
            <a:off x="2884023" y="3406426"/>
            <a:ext cx="63500" cy="63500"/>
          </a:xfrm>
          <a:prstGeom prst="ellipse">
            <a:avLst/>
          </a:prstGeom>
          <a:solidFill>
            <a:srgbClr val="7C5CFC"/>
          </a:solidFill>
          <a:ln w="15240">
            <a:solidFill>
              <a:srgbClr val="FFFFFF"/>
            </a:solidFill>
          </a:ln>
        </p:spPr>
      </p:sp>
      <p:sp>
        <p:nvSpPr>
          <p:cNvPr name="AutoShape 25" id="25"/>
          <p:cNvSpPr/>
          <p:nvPr/>
        </p:nvSpPr>
        <p:spPr>
          <a:xfrm>
            <a:off x="4317908" y="3232656"/>
            <a:ext cx="63500" cy="63500"/>
          </a:xfrm>
          <a:prstGeom prst="ellipse">
            <a:avLst/>
          </a:prstGeom>
          <a:solidFill>
            <a:srgbClr val="7C5CFC"/>
          </a:solidFill>
          <a:ln w="15240">
            <a:solidFill>
              <a:srgbClr val="FFFFFF"/>
            </a:solidFill>
          </a:ln>
        </p:spPr>
      </p:sp>
      <p:sp>
        <p:nvSpPr>
          <p:cNvPr name="AutoShape 26" id="26"/>
          <p:cNvSpPr/>
          <p:nvPr/>
        </p:nvSpPr>
        <p:spPr>
          <a:xfrm>
            <a:off x="1450139" y="3400620"/>
            <a:ext cx="63500" cy="63500"/>
          </a:xfrm>
          <a:prstGeom prst="ellipse">
            <a:avLst/>
          </a:prstGeom>
          <a:solidFill>
            <a:srgbClr val="767E94"/>
          </a:solidFill>
          <a:ln w="15240">
            <a:solidFill>
              <a:srgbClr val="FFFFFF"/>
            </a:solidFill>
          </a:ln>
        </p:spPr>
      </p:sp>
      <p:sp>
        <p:nvSpPr>
          <p:cNvPr name="AutoShape 27" id="27"/>
          <p:cNvSpPr/>
          <p:nvPr/>
        </p:nvSpPr>
        <p:spPr>
          <a:xfrm>
            <a:off x="2884023" y="3206372"/>
            <a:ext cx="63500" cy="63500"/>
          </a:xfrm>
          <a:prstGeom prst="ellipse">
            <a:avLst/>
          </a:prstGeom>
          <a:solidFill>
            <a:srgbClr val="767E94"/>
          </a:solidFill>
          <a:ln w="15240">
            <a:solidFill>
              <a:srgbClr val="FFFFFF"/>
            </a:solidFill>
          </a:ln>
        </p:spPr>
      </p:sp>
      <p:sp>
        <p:nvSpPr>
          <p:cNvPr name="AutoShape 28" id="28"/>
          <p:cNvSpPr/>
          <p:nvPr/>
        </p:nvSpPr>
        <p:spPr>
          <a:xfrm>
            <a:off x="4317908" y="2204184"/>
            <a:ext cx="63500" cy="63500"/>
          </a:xfrm>
          <a:prstGeom prst="ellipse">
            <a:avLst/>
          </a:prstGeom>
          <a:solidFill>
            <a:srgbClr val="767E94"/>
          </a:solidFill>
          <a:ln w="15240">
            <a:solidFill>
              <a:srgbClr val="FFFFFF"/>
            </a:solidFill>
          </a:ln>
        </p:spPr>
      </p:sp>
      <p:sp>
        <p:nvSpPr>
          <p:cNvPr name="AutoShape 29" id="29"/>
          <p:cNvSpPr/>
          <p:nvPr/>
        </p:nvSpPr>
        <p:spPr>
          <a:xfrm>
            <a:off x="1450139" y="3420009"/>
            <a:ext cx="63500" cy="63500"/>
          </a:xfrm>
          <a:prstGeom prst="ellipse">
            <a:avLst/>
          </a:prstGeom>
          <a:solidFill>
            <a:srgbClr val="E09E48"/>
          </a:solidFill>
          <a:ln w="15240">
            <a:solidFill>
              <a:srgbClr val="FFFFFF"/>
            </a:solidFill>
          </a:ln>
        </p:spPr>
      </p:sp>
      <p:sp>
        <p:nvSpPr>
          <p:cNvPr name="AutoShape 30" id="30"/>
          <p:cNvSpPr/>
          <p:nvPr/>
        </p:nvSpPr>
        <p:spPr>
          <a:xfrm>
            <a:off x="2884023" y="3382061"/>
            <a:ext cx="63500" cy="63500"/>
          </a:xfrm>
          <a:prstGeom prst="ellipse">
            <a:avLst/>
          </a:prstGeom>
          <a:solidFill>
            <a:srgbClr val="E09E48"/>
          </a:solidFill>
          <a:ln w="15240">
            <a:solidFill>
              <a:srgbClr val="FFFFFF"/>
            </a:solidFill>
          </a:ln>
        </p:spPr>
      </p:sp>
      <p:sp>
        <p:nvSpPr>
          <p:cNvPr name="AutoShape 31" id="31"/>
          <p:cNvSpPr/>
          <p:nvPr/>
        </p:nvSpPr>
        <p:spPr>
          <a:xfrm>
            <a:off x="4317908" y="3216067"/>
            <a:ext cx="63500" cy="63500"/>
          </a:xfrm>
          <a:prstGeom prst="ellipse">
            <a:avLst/>
          </a:prstGeom>
          <a:solidFill>
            <a:srgbClr val="E09E48"/>
          </a:solidFill>
          <a:ln w="15240">
            <a:solidFill>
              <a:srgbClr val="FFFFFF"/>
            </a:solidFill>
          </a:ln>
        </p:spPr>
      </p:sp>
      <p:sp>
        <p:nvSpPr>
          <p:cNvPr name="GraphCompose Text Line" id="32"/>
          <p:cNvSpPr txBox="true"/>
          <p:nvPr/>
        </p:nvSpPr>
        <p:spPr>
          <a:xfrm>
            <a:off x="1425399" y="3530863"/>
            <a:ext cx="114249" cy="9398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00" b="false" i="false" u="none" strike="noStrike" kern="0">
                <a:solidFill>
                  <a:srgbClr val="5A5A5A"/>
                </a:solidFill>
                <a:latin typeface="Arial"/>
              </a:rPr>
              <a:t>40</a:t>
            </a:r>
            <a:endParaRPr lang="en-US" sz="1100"/>
          </a:p>
        </p:txBody>
      </p:sp>
      <p:sp>
        <p:nvSpPr>
          <p:cNvPr name="GraphCompose Text Line" id="33"/>
          <p:cNvSpPr txBox="true"/>
          <p:nvPr/>
        </p:nvSpPr>
        <p:spPr>
          <a:xfrm>
            <a:off x="2831039" y="3530863"/>
            <a:ext cx="170739" cy="9398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00" b="false" i="false" u="none" strike="noStrike" kern="0">
                <a:solidFill>
                  <a:srgbClr val="5A5A5A"/>
                </a:solidFill>
                <a:latin typeface="Arial"/>
              </a:rPr>
              <a:t>200</a:t>
            </a:r>
            <a:endParaRPr lang="en-US" sz="1100"/>
          </a:p>
        </p:txBody>
      </p:sp>
      <p:sp>
        <p:nvSpPr>
          <p:cNvPr name="GraphCompose Text Line" id="34"/>
          <p:cNvSpPr txBox="true"/>
          <p:nvPr/>
        </p:nvSpPr>
        <p:spPr>
          <a:xfrm>
            <a:off x="4236679" y="3530863"/>
            <a:ext cx="227228" cy="9398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00" b="false" i="false" u="none" strike="noStrike" kern="0">
                <a:solidFill>
                  <a:srgbClr val="5A5A5A"/>
                </a:solidFill>
                <a:latin typeface="Arial"/>
              </a:rPr>
              <a:t>1000</a:t>
            </a:r>
            <a:endParaRPr lang="en-US" sz="1100"/>
          </a:p>
        </p:txBody>
      </p:sp>
      <p:sp>
        <p:nvSpPr>
          <p:cNvPr name="AutoShape 35" id="35"/>
          <p:cNvSpPr/>
          <p:nvPr/>
        </p:nvSpPr>
        <p:spPr>
          <a:xfrm>
            <a:off x="1351889" y="3654182"/>
            <a:ext cx="114300" cy="114300"/>
          </a:xfrm>
          <a:prstGeom prst="roundRect">
            <a:avLst>
              <a:gd name="adj" fmla="val 16667"/>
            </a:avLst>
          </a:prstGeom>
          <a:solidFill>
            <a:srgbClr val="7C5CFC"/>
          </a:solidFill>
          <a:ln>
            <a:noFill/>
          </a:ln>
        </p:spPr>
      </p:sp>
      <p:sp>
        <p:nvSpPr>
          <p:cNvPr name="GraphCompose Text Line" id="36"/>
          <p:cNvSpPr txBox="true"/>
          <p:nvPr/>
        </p:nvSpPr>
        <p:spPr>
          <a:xfrm>
            <a:off x="1516989" y="3647864"/>
            <a:ext cx="807999" cy="105727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900" b="false" i="false" u="none" strike="noStrike" kern="0">
                <a:solidFill>
                  <a:srgbClr val="3C3C3C"/>
                </a:solidFill>
                <a:latin typeface="Arial"/>
              </a:rPr>
              <a:t>GraphCompose</a:t>
            </a:r>
            <a:endParaRPr lang="en-US" sz="1100"/>
          </a:p>
        </p:txBody>
      </p:sp>
      <p:sp>
        <p:nvSpPr>
          <p:cNvPr name="AutoShape 37" id="37"/>
          <p:cNvSpPr/>
          <p:nvPr/>
        </p:nvSpPr>
        <p:spPr>
          <a:xfrm>
            <a:off x="2501518" y="3654182"/>
            <a:ext cx="114300" cy="114300"/>
          </a:xfrm>
          <a:prstGeom prst="roundRect">
            <a:avLst>
              <a:gd name="adj" fmla="val 16667"/>
            </a:avLst>
          </a:prstGeom>
          <a:solidFill>
            <a:srgbClr val="767E94"/>
          </a:solidFill>
          <a:ln>
            <a:noFill/>
          </a:ln>
        </p:spPr>
      </p:sp>
      <p:sp>
        <p:nvSpPr>
          <p:cNvPr name="GraphCompose Text Line" id="38"/>
          <p:cNvSpPr txBox="true"/>
          <p:nvPr/>
        </p:nvSpPr>
        <p:spPr>
          <a:xfrm>
            <a:off x="2666618" y="3647864"/>
            <a:ext cx="344284" cy="105727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900" b="false" i="false" u="none" strike="noStrike" kern="0">
                <a:solidFill>
                  <a:srgbClr val="3C3C3C"/>
                </a:solidFill>
                <a:latin typeface="Arial"/>
              </a:rPr>
              <a:t>iText 9</a:t>
            </a:r>
            <a:endParaRPr lang="en-US" sz="1100"/>
          </a:p>
        </p:txBody>
      </p:sp>
      <p:sp>
        <p:nvSpPr>
          <p:cNvPr name="AutoShape 39" id="39"/>
          <p:cNvSpPr/>
          <p:nvPr/>
        </p:nvSpPr>
        <p:spPr>
          <a:xfrm>
            <a:off x="3187433" y="3654182"/>
            <a:ext cx="114300" cy="114300"/>
          </a:xfrm>
          <a:prstGeom prst="roundRect">
            <a:avLst>
              <a:gd name="adj" fmla="val 16667"/>
            </a:avLst>
          </a:prstGeom>
          <a:solidFill>
            <a:srgbClr val="E09E48"/>
          </a:solidFill>
          <a:ln>
            <a:noFill/>
          </a:ln>
        </p:spPr>
      </p:sp>
      <p:sp>
        <p:nvSpPr>
          <p:cNvPr name="GraphCompose Text Line" id="40"/>
          <p:cNvSpPr txBox="true"/>
          <p:nvPr/>
        </p:nvSpPr>
        <p:spPr>
          <a:xfrm>
            <a:off x="3352533" y="3647864"/>
            <a:ext cx="744449" cy="105727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900" b="false" i="false" u="none" strike="noStrike" kern="0">
                <a:solidFill>
                  <a:srgbClr val="3C3C3C"/>
                </a:solidFill>
                <a:latin typeface="Arial"/>
              </a:rPr>
              <a:t>JasperReports</a:t>
            </a:r>
            <a:endParaRPr lang="en-US" sz="1100"/>
          </a:p>
        </p:txBody>
      </p:sp>
      <p:sp>
        <p:nvSpPr>
          <p:cNvPr name="AutoShape 41" id="41"/>
          <p:cNvSpPr/>
          <p:nvPr/>
        </p:nvSpPr>
        <p:spPr>
          <a:xfrm>
            <a:off x="5447600" y="1488249"/>
            <a:ext cx="5041200" cy="2489948"/>
          </a:xfrm>
          <a:prstGeom prst="roundRect">
            <a:avLst>
              <a:gd name="adj" fmla="val 5101"/>
            </a:avLst>
          </a:prstGeom>
          <a:solidFill>
            <a:srgbClr val="FFFFFF"/>
          </a:solidFill>
          <a:ln>
            <a:noFill/>
          </a:ln>
        </p:spPr>
      </p:sp>
      <p:cxnSp>
        <p:nvCxnSpPr>
          <p:cNvPr name="Connector 42" id="42"/>
          <p:cNvCxnSpPr/>
          <p:nvPr/>
        </p:nvCxnSpPr>
        <p:spPr>
          <a:xfrm>
            <a:off x="5447600" y="1488249"/>
            <a:ext cx="5041200" cy="0"/>
          </a:xfrm>
          <a:prstGeom prst="line">
            <a:avLst/>
          </a:prstGeom>
          <a:ln w="31750">
            <a:solidFill>
              <a:srgbClr val="7C5CFC"/>
            </a:solidFill>
          </a:ln>
        </p:spPr>
      </p:cxnSp>
      <p:sp>
        <p:nvSpPr>
          <p:cNvPr name="GraphCompose Text Line" id="43"/>
          <p:cNvSpPr txBox="true"/>
          <p:nvPr/>
        </p:nvSpPr>
        <p:spPr>
          <a:xfrm>
            <a:off x="5625400" y="1639887"/>
            <a:ext cx="2004428" cy="129222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100" b="true" i="false" u="none" strike="noStrike" kern="0">
                <a:solidFill>
                  <a:srgbClr val="1C1E2E"/>
                </a:solidFill>
                <a:latin typeface="Arial"/>
              </a:rPr>
              <a:t>Peak heap vs. report size — MB</a:t>
            </a:r>
            <a:endParaRPr lang="en-US" sz="1100"/>
          </a:p>
        </p:txBody>
      </p:sp>
      <p:cxnSp>
        <p:nvCxnSpPr>
          <p:cNvPr name="Connector 44" id="44"/>
          <p:cNvCxnSpPr/>
          <p:nvPr/>
        </p:nvCxnSpPr>
        <p:spPr>
          <a:xfrm flipV="false">
            <a:off x="5969824" y="3499090"/>
            <a:ext cx="4341176" cy="0"/>
          </a:xfrm>
          <a:prstGeom prst="line">
            <a:avLst/>
          </a:prstGeom>
          <a:ln w="6350" cap="flat">
            <a:solidFill>
              <a:srgbClr val="E0E0E0"/>
            </a:solidFill>
          </a:ln>
        </p:spPr>
      </p:cxnSp>
      <p:sp>
        <p:nvSpPr>
          <p:cNvPr name="GraphCompose Text Line" id="45"/>
          <p:cNvSpPr txBox="true"/>
          <p:nvPr/>
        </p:nvSpPr>
        <p:spPr>
          <a:xfrm>
            <a:off x="5681890" y="3442674"/>
            <a:ext cx="238404" cy="9398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00" b="false" i="false" u="none" strike="noStrike" kern="0">
                <a:solidFill>
                  <a:srgbClr val="5A5A5A"/>
                </a:solidFill>
                <a:latin typeface="Arial"/>
              </a:rPr>
              <a:t>0 MB</a:t>
            </a:r>
            <a:endParaRPr lang="en-US" sz="1100"/>
          </a:p>
        </p:txBody>
      </p:sp>
      <p:cxnSp>
        <p:nvCxnSpPr>
          <p:cNvPr name="Connector 46" id="46"/>
          <p:cNvCxnSpPr/>
          <p:nvPr/>
        </p:nvCxnSpPr>
        <p:spPr>
          <a:xfrm flipV="false">
            <a:off x="5969824" y="3110283"/>
            <a:ext cx="4341176" cy="0"/>
          </a:xfrm>
          <a:prstGeom prst="line">
            <a:avLst/>
          </a:prstGeom>
          <a:ln w="6350" cap="flat">
            <a:solidFill>
              <a:srgbClr val="E0E0E0"/>
            </a:solidFill>
          </a:ln>
        </p:spPr>
      </p:cxnSp>
      <p:sp>
        <p:nvSpPr>
          <p:cNvPr name="GraphCompose Text Line" id="47"/>
          <p:cNvSpPr txBox="true"/>
          <p:nvPr/>
        </p:nvSpPr>
        <p:spPr>
          <a:xfrm>
            <a:off x="5625400" y="3053867"/>
            <a:ext cx="294894" cy="9398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00" b="false" i="false" u="none" strike="noStrike" kern="0">
                <a:solidFill>
                  <a:srgbClr val="5A5A5A"/>
                </a:solidFill>
                <a:latin typeface="Arial"/>
              </a:rPr>
              <a:t>20 MB</a:t>
            </a:r>
            <a:endParaRPr lang="en-US" sz="1100"/>
          </a:p>
        </p:txBody>
      </p:sp>
      <p:cxnSp>
        <p:nvCxnSpPr>
          <p:cNvPr name="Connector 48" id="48"/>
          <p:cNvCxnSpPr/>
          <p:nvPr/>
        </p:nvCxnSpPr>
        <p:spPr>
          <a:xfrm flipV="false">
            <a:off x="5969824" y="2721476"/>
            <a:ext cx="4341176" cy="0"/>
          </a:xfrm>
          <a:prstGeom prst="line">
            <a:avLst/>
          </a:prstGeom>
          <a:ln w="6350" cap="flat">
            <a:solidFill>
              <a:srgbClr val="E0E0E0"/>
            </a:solidFill>
          </a:ln>
        </p:spPr>
      </p:cxnSp>
      <p:sp>
        <p:nvSpPr>
          <p:cNvPr name="GraphCompose Text Line" id="49"/>
          <p:cNvSpPr txBox="true"/>
          <p:nvPr/>
        </p:nvSpPr>
        <p:spPr>
          <a:xfrm>
            <a:off x="5625400" y="2665060"/>
            <a:ext cx="294894" cy="9398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00" b="false" i="false" u="none" strike="noStrike" kern="0">
                <a:solidFill>
                  <a:srgbClr val="5A5A5A"/>
                </a:solidFill>
                <a:latin typeface="Arial"/>
              </a:rPr>
              <a:t>40 MB</a:t>
            </a:r>
            <a:endParaRPr lang="en-US" sz="1100"/>
          </a:p>
        </p:txBody>
      </p:sp>
      <p:cxnSp>
        <p:nvCxnSpPr>
          <p:cNvPr name="Connector 50" id="50"/>
          <p:cNvCxnSpPr/>
          <p:nvPr/>
        </p:nvCxnSpPr>
        <p:spPr>
          <a:xfrm flipV="false">
            <a:off x="5969824" y="2332669"/>
            <a:ext cx="4341176" cy="0"/>
          </a:xfrm>
          <a:prstGeom prst="line">
            <a:avLst/>
          </a:prstGeom>
          <a:ln w="6350" cap="flat">
            <a:solidFill>
              <a:srgbClr val="E0E0E0"/>
            </a:solidFill>
          </a:ln>
        </p:spPr>
      </p:cxnSp>
      <p:sp>
        <p:nvSpPr>
          <p:cNvPr name="GraphCompose Text Line" id="51"/>
          <p:cNvSpPr txBox="true"/>
          <p:nvPr/>
        </p:nvSpPr>
        <p:spPr>
          <a:xfrm>
            <a:off x="5625400" y="2276253"/>
            <a:ext cx="294894" cy="9398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00" b="false" i="false" u="none" strike="noStrike" kern="0">
                <a:solidFill>
                  <a:srgbClr val="5A5A5A"/>
                </a:solidFill>
                <a:latin typeface="Arial"/>
              </a:rPr>
              <a:t>60 MB</a:t>
            </a:r>
            <a:endParaRPr lang="en-US" sz="1100"/>
          </a:p>
        </p:txBody>
      </p:sp>
      <p:cxnSp>
        <p:nvCxnSpPr>
          <p:cNvPr name="Connector 52" id="52"/>
          <p:cNvCxnSpPr/>
          <p:nvPr/>
        </p:nvCxnSpPr>
        <p:spPr>
          <a:xfrm flipV="false">
            <a:off x="5969824" y="1943862"/>
            <a:ext cx="4341176" cy="0"/>
          </a:xfrm>
          <a:prstGeom prst="line">
            <a:avLst/>
          </a:prstGeom>
          <a:ln w="6350" cap="flat">
            <a:solidFill>
              <a:srgbClr val="E0E0E0"/>
            </a:solidFill>
          </a:ln>
        </p:spPr>
      </p:cxnSp>
      <p:sp>
        <p:nvSpPr>
          <p:cNvPr name="GraphCompose Text Line" id="53"/>
          <p:cNvSpPr txBox="true"/>
          <p:nvPr/>
        </p:nvSpPr>
        <p:spPr>
          <a:xfrm>
            <a:off x="5625400" y="1887446"/>
            <a:ext cx="294894" cy="9398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00" b="false" i="false" u="none" strike="noStrike" kern="0">
                <a:solidFill>
                  <a:srgbClr val="5A5A5A"/>
                </a:solidFill>
                <a:latin typeface="Arial"/>
              </a:rPr>
              <a:t>80 MB</a:t>
            </a:r>
            <a:endParaRPr lang="en-US" sz="1100"/>
          </a:p>
        </p:txBody>
      </p:sp>
      <p:sp>
        <p:nvSpPr>
          <p:cNvPr name="Freeform 54" id="54"/>
          <p:cNvSpPr/>
          <p:nvPr/>
        </p:nvSpPr>
        <p:spPr>
          <a:xfrm>
            <a:off x="6693353" y="3193293"/>
            <a:ext cx="2894117" cy="305797"/>
          </a:xfrm>
          <a:custGeom>
            <a:avLst/>
            <a:gdLst/>
            <a:ahLst/>
            <a:cxnLst/>
            <a:rect r="r" b="b" t="t" l="l"/>
            <a:pathLst>
              <a:path h="305797" w="2894117">
                <a:moveTo>
                  <a:pt x="0" y="289467"/>
                </a:moveTo>
                <a:cubicBezTo>
                  <a:pt x="241177" y="281755"/>
                  <a:pt x="964706" y="291443"/>
                  <a:pt x="1447059" y="243199"/>
                </a:cubicBezTo>
                <a:cubicBezTo>
                  <a:pt x="1929412" y="194954"/>
                  <a:pt x="2652941" y="40533"/>
                  <a:pt x="2894118" y="0"/>
                </a:cubicBezTo>
                <a:lnTo>
                  <a:pt x="2894118" y="305797"/>
                </a:lnTo>
                <a:lnTo>
                  <a:pt x="0" y="305797"/>
                </a:lnTo>
                <a:close/>
              </a:path>
            </a:pathLst>
          </a:custGeom>
          <a:solidFill>
            <a:srgbClr val="7C5CFC">
              <a:alpha val="34902"/>
            </a:srgbClr>
          </a:solidFill>
          <a:ln cap="flat">
            <a:noFill/>
            <a:miter/>
          </a:ln>
        </p:spPr>
      </p:sp>
      <p:sp>
        <p:nvSpPr>
          <p:cNvPr name="Freeform 55" id="55"/>
          <p:cNvSpPr/>
          <p:nvPr/>
        </p:nvSpPr>
        <p:spPr>
          <a:xfrm>
            <a:off x="6693353" y="2216999"/>
            <a:ext cx="2894117" cy="1282091"/>
          </a:xfrm>
          <a:custGeom>
            <a:avLst/>
            <a:gdLst/>
            <a:ahLst/>
            <a:cxnLst/>
            <a:rect r="r" b="b" t="t" l="l"/>
            <a:pathLst>
              <a:path h="1282091" w="2894117">
                <a:moveTo>
                  <a:pt x="0" y="1224547"/>
                </a:moveTo>
                <a:cubicBezTo>
                  <a:pt x="241177" y="1190818"/>
                  <a:pt x="964706" y="1226264"/>
                  <a:pt x="1447059" y="1022173"/>
                </a:cubicBezTo>
                <a:cubicBezTo>
                  <a:pt x="1929412" y="818082"/>
                  <a:pt x="2652941" y="170362"/>
                  <a:pt x="2894118" y="0"/>
                </a:cubicBezTo>
                <a:lnTo>
                  <a:pt x="2894118" y="1282091"/>
                </a:lnTo>
                <a:lnTo>
                  <a:pt x="0" y="1282091"/>
                </a:lnTo>
                <a:close/>
              </a:path>
            </a:pathLst>
          </a:custGeom>
          <a:solidFill>
            <a:srgbClr val="767E94">
              <a:alpha val="34902"/>
            </a:srgbClr>
          </a:solidFill>
          <a:ln cap="flat">
            <a:noFill/>
            <a:miter/>
          </a:ln>
        </p:spPr>
      </p:sp>
      <p:sp>
        <p:nvSpPr>
          <p:cNvPr name="Freeform 56" id="56"/>
          <p:cNvSpPr/>
          <p:nvPr/>
        </p:nvSpPr>
        <p:spPr>
          <a:xfrm>
            <a:off x="6693353" y="2489164"/>
            <a:ext cx="2894117" cy="1009926"/>
          </a:xfrm>
          <a:custGeom>
            <a:avLst/>
            <a:gdLst/>
            <a:ahLst/>
            <a:cxnLst/>
            <a:rect r="r" b="b" t="t" l="l"/>
            <a:pathLst>
              <a:path h="1009926" w="2894117">
                <a:moveTo>
                  <a:pt x="0" y="960936"/>
                </a:moveTo>
                <a:cubicBezTo>
                  <a:pt x="241177" y="934432"/>
                  <a:pt x="964706" y="962070"/>
                  <a:pt x="1447059" y="801914"/>
                </a:cubicBezTo>
                <a:cubicBezTo>
                  <a:pt x="1929412" y="641758"/>
                  <a:pt x="2652941" y="133652"/>
                  <a:pt x="2894118" y="0"/>
                </a:cubicBezTo>
                <a:lnTo>
                  <a:pt x="2894118" y="1009926"/>
                </a:lnTo>
                <a:lnTo>
                  <a:pt x="0" y="1009926"/>
                </a:lnTo>
                <a:close/>
              </a:path>
            </a:pathLst>
          </a:custGeom>
          <a:solidFill>
            <a:srgbClr val="E09E48">
              <a:alpha val="34902"/>
            </a:srgbClr>
          </a:solidFill>
          <a:ln cap="flat">
            <a:noFill/>
            <a:miter/>
          </a:ln>
        </p:spPr>
      </p:sp>
      <p:sp>
        <p:nvSpPr>
          <p:cNvPr name="Freeform 57" id="57"/>
          <p:cNvSpPr/>
          <p:nvPr/>
        </p:nvSpPr>
        <p:spPr>
          <a:xfrm>
            <a:off x="6693353" y="3193293"/>
            <a:ext cx="2894117" cy="289467"/>
          </a:xfrm>
          <a:custGeom>
            <a:avLst/>
            <a:gdLst/>
            <a:ahLst/>
            <a:cxnLst/>
            <a:rect r="r" b="b" t="t" l="l"/>
            <a:pathLst>
              <a:path h="289467" w="2894117">
                <a:moveTo>
                  <a:pt x="0" y="289467"/>
                </a:moveTo>
                <a:cubicBezTo>
                  <a:pt x="241177" y="281755"/>
                  <a:pt x="964706" y="291443"/>
                  <a:pt x="1447059" y="243199"/>
                </a:cubicBezTo>
                <a:cubicBezTo>
                  <a:pt x="1929412" y="194954"/>
                  <a:pt x="2652941" y="40533"/>
                  <a:pt x="2894118" y="0"/>
                </a:cubicBezTo>
              </a:path>
            </a:pathLst>
          </a:custGeom>
          <a:noFill/>
          <a:ln w="20320" cap="flat">
            <a:solidFill>
              <a:srgbClr val="7C5CFC"/>
            </a:solidFill>
            <a:miter/>
          </a:ln>
        </p:spPr>
      </p:sp>
      <p:sp>
        <p:nvSpPr>
          <p:cNvPr name="Freeform 58" id="58"/>
          <p:cNvSpPr/>
          <p:nvPr/>
        </p:nvSpPr>
        <p:spPr>
          <a:xfrm>
            <a:off x="6693353" y="2216999"/>
            <a:ext cx="2894117" cy="1224547"/>
          </a:xfrm>
          <a:custGeom>
            <a:avLst/>
            <a:gdLst/>
            <a:ahLst/>
            <a:cxnLst/>
            <a:rect r="r" b="b" t="t" l="l"/>
            <a:pathLst>
              <a:path h="1224547" w="2894117">
                <a:moveTo>
                  <a:pt x="0" y="1224547"/>
                </a:moveTo>
                <a:cubicBezTo>
                  <a:pt x="241177" y="1190818"/>
                  <a:pt x="964706" y="1226264"/>
                  <a:pt x="1447059" y="1022173"/>
                </a:cubicBezTo>
                <a:cubicBezTo>
                  <a:pt x="1929412" y="818082"/>
                  <a:pt x="2652941" y="170362"/>
                  <a:pt x="2894118" y="0"/>
                </a:cubicBezTo>
              </a:path>
            </a:pathLst>
          </a:custGeom>
          <a:noFill/>
          <a:ln w="20320" cap="flat">
            <a:solidFill>
              <a:srgbClr val="767E94"/>
            </a:solidFill>
            <a:miter/>
          </a:ln>
        </p:spPr>
      </p:sp>
      <p:sp>
        <p:nvSpPr>
          <p:cNvPr name="Freeform 59" id="59"/>
          <p:cNvSpPr/>
          <p:nvPr/>
        </p:nvSpPr>
        <p:spPr>
          <a:xfrm>
            <a:off x="6693353" y="2489164"/>
            <a:ext cx="2894117" cy="960936"/>
          </a:xfrm>
          <a:custGeom>
            <a:avLst/>
            <a:gdLst/>
            <a:ahLst/>
            <a:cxnLst/>
            <a:rect r="r" b="b" t="t" l="l"/>
            <a:pathLst>
              <a:path h="960936" w="2894117">
                <a:moveTo>
                  <a:pt x="0" y="960936"/>
                </a:moveTo>
                <a:cubicBezTo>
                  <a:pt x="241177" y="934432"/>
                  <a:pt x="964706" y="962070"/>
                  <a:pt x="1447059" y="801914"/>
                </a:cubicBezTo>
                <a:cubicBezTo>
                  <a:pt x="1929412" y="641758"/>
                  <a:pt x="2652941" y="133652"/>
                  <a:pt x="2894118" y="0"/>
                </a:cubicBezTo>
              </a:path>
            </a:pathLst>
          </a:custGeom>
          <a:noFill/>
          <a:ln w="20320" cap="flat">
            <a:solidFill>
              <a:srgbClr val="E09E48"/>
            </a:solidFill>
            <a:miter/>
          </a:ln>
        </p:spPr>
      </p:sp>
      <p:sp>
        <p:nvSpPr>
          <p:cNvPr name="GraphCompose Text Line" id="60"/>
          <p:cNvSpPr txBox="true"/>
          <p:nvPr/>
        </p:nvSpPr>
        <p:spPr>
          <a:xfrm>
            <a:off x="6636864" y="3530863"/>
            <a:ext cx="114249" cy="9398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00" b="false" i="false" u="none" strike="noStrike" kern="0">
                <a:solidFill>
                  <a:srgbClr val="5A5A5A"/>
                </a:solidFill>
                <a:latin typeface="Arial"/>
              </a:rPr>
              <a:t>40</a:t>
            </a:r>
            <a:endParaRPr lang="en-US" sz="1100"/>
          </a:p>
        </p:txBody>
      </p:sp>
      <p:sp>
        <p:nvSpPr>
          <p:cNvPr name="GraphCompose Text Line" id="61"/>
          <p:cNvSpPr txBox="true"/>
          <p:nvPr/>
        </p:nvSpPr>
        <p:spPr>
          <a:xfrm>
            <a:off x="8055678" y="3530863"/>
            <a:ext cx="170739" cy="9398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00" b="false" i="false" u="none" strike="noStrike" kern="0">
                <a:solidFill>
                  <a:srgbClr val="5A5A5A"/>
                </a:solidFill>
                <a:latin typeface="Arial"/>
              </a:rPr>
              <a:t>200</a:t>
            </a:r>
            <a:endParaRPr lang="en-US" sz="1100"/>
          </a:p>
        </p:txBody>
      </p:sp>
      <p:sp>
        <p:nvSpPr>
          <p:cNvPr name="GraphCompose Text Line" id="62"/>
          <p:cNvSpPr txBox="true"/>
          <p:nvPr/>
        </p:nvSpPr>
        <p:spPr>
          <a:xfrm>
            <a:off x="9474492" y="3530863"/>
            <a:ext cx="227228" cy="9398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00" b="false" i="false" u="none" strike="noStrike" kern="0">
                <a:solidFill>
                  <a:srgbClr val="5A5A5A"/>
                </a:solidFill>
                <a:latin typeface="Arial"/>
              </a:rPr>
              <a:t>1000</a:t>
            </a:r>
            <a:endParaRPr lang="en-US" sz="1100"/>
          </a:p>
        </p:txBody>
      </p:sp>
      <p:sp>
        <p:nvSpPr>
          <p:cNvPr name="AutoShape 63" id="63"/>
          <p:cNvSpPr/>
          <p:nvPr/>
        </p:nvSpPr>
        <p:spPr>
          <a:xfrm>
            <a:off x="6596289" y="3654182"/>
            <a:ext cx="114300" cy="114300"/>
          </a:xfrm>
          <a:prstGeom prst="roundRect">
            <a:avLst>
              <a:gd name="adj" fmla="val 16667"/>
            </a:avLst>
          </a:prstGeom>
          <a:solidFill>
            <a:srgbClr val="7C5CFC"/>
          </a:solidFill>
          <a:ln>
            <a:noFill/>
          </a:ln>
        </p:spPr>
      </p:sp>
      <p:sp>
        <p:nvSpPr>
          <p:cNvPr name="GraphCompose Text Line" id="64"/>
          <p:cNvSpPr txBox="true"/>
          <p:nvPr/>
        </p:nvSpPr>
        <p:spPr>
          <a:xfrm>
            <a:off x="6761389" y="3647864"/>
            <a:ext cx="807999" cy="105727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900" b="false" i="false" u="none" strike="noStrike" kern="0">
                <a:solidFill>
                  <a:srgbClr val="3C3C3C"/>
                </a:solidFill>
                <a:latin typeface="Arial"/>
              </a:rPr>
              <a:t>GraphCompose</a:t>
            </a:r>
            <a:endParaRPr lang="en-US" sz="1100"/>
          </a:p>
        </p:txBody>
      </p:sp>
      <p:sp>
        <p:nvSpPr>
          <p:cNvPr name="AutoShape 65" id="65"/>
          <p:cNvSpPr/>
          <p:nvPr/>
        </p:nvSpPr>
        <p:spPr>
          <a:xfrm>
            <a:off x="7745918" y="3654182"/>
            <a:ext cx="114300" cy="114300"/>
          </a:xfrm>
          <a:prstGeom prst="roundRect">
            <a:avLst>
              <a:gd name="adj" fmla="val 16667"/>
            </a:avLst>
          </a:prstGeom>
          <a:solidFill>
            <a:srgbClr val="767E94"/>
          </a:solidFill>
          <a:ln>
            <a:noFill/>
          </a:ln>
        </p:spPr>
      </p:sp>
      <p:sp>
        <p:nvSpPr>
          <p:cNvPr name="GraphCompose Text Line" id="66"/>
          <p:cNvSpPr txBox="true"/>
          <p:nvPr/>
        </p:nvSpPr>
        <p:spPr>
          <a:xfrm>
            <a:off x="7911018" y="3647864"/>
            <a:ext cx="344284" cy="105727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900" b="false" i="false" u="none" strike="noStrike" kern="0">
                <a:solidFill>
                  <a:srgbClr val="3C3C3C"/>
                </a:solidFill>
                <a:latin typeface="Arial"/>
              </a:rPr>
              <a:t>iText 9</a:t>
            </a:r>
            <a:endParaRPr lang="en-US" sz="1100"/>
          </a:p>
        </p:txBody>
      </p:sp>
      <p:sp>
        <p:nvSpPr>
          <p:cNvPr name="AutoShape 67" id="67"/>
          <p:cNvSpPr/>
          <p:nvPr/>
        </p:nvSpPr>
        <p:spPr>
          <a:xfrm>
            <a:off x="8431833" y="3654182"/>
            <a:ext cx="114300" cy="114300"/>
          </a:xfrm>
          <a:prstGeom prst="roundRect">
            <a:avLst>
              <a:gd name="adj" fmla="val 16667"/>
            </a:avLst>
          </a:prstGeom>
          <a:solidFill>
            <a:srgbClr val="E09E48"/>
          </a:solidFill>
          <a:ln>
            <a:noFill/>
          </a:ln>
        </p:spPr>
      </p:sp>
      <p:sp>
        <p:nvSpPr>
          <p:cNvPr name="GraphCompose Text Line" id="68"/>
          <p:cNvSpPr txBox="true"/>
          <p:nvPr/>
        </p:nvSpPr>
        <p:spPr>
          <a:xfrm>
            <a:off x="8596933" y="3647864"/>
            <a:ext cx="744449" cy="105727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900" b="false" i="false" u="none" strike="noStrike" kern="0">
                <a:solidFill>
                  <a:srgbClr val="3C3C3C"/>
                </a:solidFill>
                <a:latin typeface="Arial"/>
              </a:rPr>
              <a:t>JasperReports</a:t>
            </a:r>
            <a:endParaRPr lang="en-US" sz="1100"/>
          </a:p>
        </p:txBody>
      </p:sp>
      <p:sp>
        <p:nvSpPr>
          <p:cNvPr name="AutoShape 69" id="69"/>
          <p:cNvSpPr/>
          <p:nvPr/>
        </p:nvSpPr>
        <p:spPr>
          <a:xfrm>
            <a:off x="203200" y="4181397"/>
            <a:ext cx="5041200" cy="2489948"/>
          </a:xfrm>
          <a:prstGeom prst="roundRect">
            <a:avLst>
              <a:gd name="adj" fmla="val 5101"/>
            </a:avLst>
          </a:prstGeom>
          <a:solidFill>
            <a:srgbClr val="FFFFFF"/>
          </a:solidFill>
          <a:ln>
            <a:noFill/>
          </a:ln>
        </p:spPr>
      </p:sp>
      <p:cxnSp>
        <p:nvCxnSpPr>
          <p:cNvPr name="Connector 70" id="70"/>
          <p:cNvCxnSpPr/>
          <p:nvPr/>
        </p:nvCxnSpPr>
        <p:spPr>
          <a:xfrm>
            <a:off x="203200" y="4181397"/>
            <a:ext cx="5041200" cy="0"/>
          </a:xfrm>
          <a:prstGeom prst="line">
            <a:avLst/>
          </a:prstGeom>
          <a:ln w="31750">
            <a:solidFill>
              <a:srgbClr val="7C5CFC"/>
            </a:solidFill>
          </a:ln>
        </p:spPr>
      </p:cxnSp>
      <p:sp>
        <p:nvSpPr>
          <p:cNvPr name="GraphCompose Text Line" id="71"/>
          <p:cNvSpPr txBox="true"/>
          <p:nvPr/>
        </p:nvSpPr>
        <p:spPr>
          <a:xfrm>
            <a:off x="381000" y="4333035"/>
            <a:ext cx="2369325" cy="129222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100" b="true" i="false" u="none" strike="noStrike" kern="0">
                <a:solidFill>
                  <a:srgbClr val="1C1E2E"/>
                </a:solidFill>
                <a:latin typeface="Arial"/>
              </a:rPr>
              <a:t>Memory at 1000 rows — share of total</a:t>
            </a:r>
            <a:endParaRPr lang="en-US" sz="1100"/>
          </a:p>
        </p:txBody>
      </p:sp>
      <p:sp>
        <p:nvSpPr>
          <p:cNvPr name="Freeform 72" id="72"/>
          <p:cNvSpPr/>
          <p:nvPr/>
        </p:nvSpPr>
        <p:spPr>
          <a:xfrm>
            <a:off x="2731305" y="4722212"/>
            <a:ext cx="482578" cy="418625"/>
          </a:xfrm>
          <a:custGeom>
            <a:avLst/>
            <a:gdLst/>
            <a:ahLst/>
            <a:cxnLst/>
            <a:rect r="r" b="b" t="t" l="l"/>
            <a:pathLst>
              <a:path h="418625" w="482578">
                <a:moveTo>
                  <a:pt x="5435" y="0"/>
                </a:moveTo>
                <a:lnTo>
                  <a:pt x="42717" y="1590"/>
                </a:lnTo>
                <a:lnTo>
                  <a:pt x="79872" y="5054"/>
                </a:lnTo>
                <a:lnTo>
                  <a:pt x="116806" y="10383"/>
                </a:lnTo>
                <a:lnTo>
                  <a:pt x="153425" y="17564"/>
                </a:lnTo>
                <a:lnTo>
                  <a:pt x="189636" y="26578"/>
                </a:lnTo>
                <a:lnTo>
                  <a:pt x="225348" y="37402"/>
                </a:lnTo>
                <a:lnTo>
                  <a:pt x="260470" y="50009"/>
                </a:lnTo>
                <a:lnTo>
                  <a:pt x="294913" y="64368"/>
                </a:lnTo>
                <a:lnTo>
                  <a:pt x="328590" y="80442"/>
                </a:lnTo>
                <a:lnTo>
                  <a:pt x="361416" y="98189"/>
                </a:lnTo>
                <a:lnTo>
                  <a:pt x="393307" y="117566"/>
                </a:lnTo>
                <a:lnTo>
                  <a:pt x="424182" y="138523"/>
                </a:lnTo>
                <a:lnTo>
                  <a:pt x="453965" y="161007"/>
                </a:lnTo>
                <a:lnTo>
                  <a:pt x="482578" y="184961"/>
                </a:lnTo>
                <a:lnTo>
                  <a:pt x="276743" y="418626"/>
                </a:lnTo>
                <a:lnTo>
                  <a:pt x="260147" y="404733"/>
                </a:lnTo>
                <a:lnTo>
                  <a:pt x="242874" y="391692"/>
                </a:lnTo>
                <a:lnTo>
                  <a:pt x="224966" y="379537"/>
                </a:lnTo>
                <a:lnTo>
                  <a:pt x="206469" y="368298"/>
                </a:lnTo>
                <a:lnTo>
                  <a:pt x="187430" y="358005"/>
                </a:lnTo>
                <a:lnTo>
                  <a:pt x="167897" y="348682"/>
                </a:lnTo>
                <a:lnTo>
                  <a:pt x="147920" y="340354"/>
                </a:lnTo>
                <a:lnTo>
                  <a:pt x="127550" y="333042"/>
                </a:lnTo>
                <a:lnTo>
                  <a:pt x="106837" y="326764"/>
                </a:lnTo>
                <a:lnTo>
                  <a:pt x="85834" y="321536"/>
                </a:lnTo>
                <a:lnTo>
                  <a:pt x="64595" y="317371"/>
                </a:lnTo>
                <a:lnTo>
                  <a:pt x="43174" y="314280"/>
                </a:lnTo>
                <a:lnTo>
                  <a:pt x="21624" y="312271"/>
                </a:lnTo>
                <a:lnTo>
                  <a:pt x="0" y="311349"/>
                </a:lnTo>
                <a:close/>
              </a:path>
            </a:pathLst>
          </a:custGeom>
          <a:solidFill>
            <a:srgbClr val="7C5CFC"/>
          </a:solidFill>
          <a:ln w="12700">
            <a:solidFill>
              <a:srgbClr val="FFFFFF"/>
            </a:solidFill>
          </a:ln>
        </p:spPr>
      </p:sp>
      <p:sp>
        <p:nvSpPr>
          <p:cNvPr name="Freeform 73" id="73"/>
          <p:cNvSpPr/>
          <p:nvPr/>
        </p:nvSpPr>
        <p:spPr>
          <a:xfrm>
            <a:off x="2256744" y="4924615"/>
            <a:ext cx="1208359" cy="1280309"/>
          </a:xfrm>
          <a:custGeom>
            <a:avLst/>
            <a:gdLst/>
            <a:ahLst/>
            <a:cxnLst/>
            <a:rect r="r" b="b" t="t" l="l"/>
            <a:pathLst>
              <a:path h="1280309" w="1208359">
                <a:moveTo>
                  <a:pt x="976257" y="0"/>
                </a:moveTo>
                <a:lnTo>
                  <a:pt x="1003561" y="27177"/>
                </a:lnTo>
                <a:lnTo>
                  <a:pt x="1029418" y="55736"/>
                </a:lnTo>
                <a:lnTo>
                  <a:pt x="1053756" y="85599"/>
                </a:lnTo>
                <a:lnTo>
                  <a:pt x="1076510" y="116685"/>
                </a:lnTo>
                <a:lnTo>
                  <a:pt x="1097618" y="148912"/>
                </a:lnTo>
                <a:lnTo>
                  <a:pt x="1117024" y="182192"/>
                </a:lnTo>
                <a:lnTo>
                  <a:pt x="1134676" y="216435"/>
                </a:lnTo>
                <a:lnTo>
                  <a:pt x="1150524" y="251548"/>
                </a:lnTo>
                <a:lnTo>
                  <a:pt x="1164528" y="287437"/>
                </a:lnTo>
                <a:lnTo>
                  <a:pt x="1176648" y="324006"/>
                </a:lnTo>
                <a:lnTo>
                  <a:pt x="1186853" y="361154"/>
                </a:lnTo>
                <a:lnTo>
                  <a:pt x="1195114" y="398782"/>
                </a:lnTo>
                <a:lnTo>
                  <a:pt x="1201409" y="436789"/>
                </a:lnTo>
                <a:lnTo>
                  <a:pt x="1205722" y="475071"/>
                </a:lnTo>
                <a:lnTo>
                  <a:pt x="1208040" y="513526"/>
                </a:lnTo>
                <a:lnTo>
                  <a:pt x="1208358" y="552049"/>
                </a:lnTo>
                <a:lnTo>
                  <a:pt x="1206675" y="590537"/>
                </a:lnTo>
                <a:lnTo>
                  <a:pt x="1202994" y="628885"/>
                </a:lnTo>
                <a:lnTo>
                  <a:pt x="1197327" y="666990"/>
                </a:lnTo>
                <a:lnTo>
                  <a:pt x="1189688" y="704750"/>
                </a:lnTo>
                <a:lnTo>
                  <a:pt x="1180098" y="742062"/>
                </a:lnTo>
                <a:lnTo>
                  <a:pt x="1168582" y="778825"/>
                </a:lnTo>
                <a:lnTo>
                  <a:pt x="1155173" y="814940"/>
                </a:lnTo>
                <a:lnTo>
                  <a:pt x="1139906" y="850311"/>
                </a:lnTo>
                <a:lnTo>
                  <a:pt x="1122822" y="884840"/>
                </a:lnTo>
                <a:lnTo>
                  <a:pt x="1103968" y="918436"/>
                </a:lnTo>
                <a:lnTo>
                  <a:pt x="1083394" y="951006"/>
                </a:lnTo>
                <a:lnTo>
                  <a:pt x="1061156" y="982464"/>
                </a:lnTo>
                <a:lnTo>
                  <a:pt x="1037315" y="1012725"/>
                </a:lnTo>
                <a:lnTo>
                  <a:pt x="1011933" y="1041706"/>
                </a:lnTo>
                <a:lnTo>
                  <a:pt x="985080" y="1069330"/>
                </a:lnTo>
                <a:lnTo>
                  <a:pt x="956829" y="1095522"/>
                </a:lnTo>
                <a:lnTo>
                  <a:pt x="927256" y="1120211"/>
                </a:lnTo>
                <a:lnTo>
                  <a:pt x="896440" y="1143330"/>
                </a:lnTo>
                <a:lnTo>
                  <a:pt x="864464" y="1164817"/>
                </a:lnTo>
                <a:lnTo>
                  <a:pt x="831416" y="1184615"/>
                </a:lnTo>
                <a:lnTo>
                  <a:pt x="797384" y="1202669"/>
                </a:lnTo>
                <a:lnTo>
                  <a:pt x="762460" y="1218931"/>
                </a:lnTo>
                <a:lnTo>
                  <a:pt x="726738" y="1233358"/>
                </a:lnTo>
                <a:lnTo>
                  <a:pt x="690316" y="1245909"/>
                </a:lnTo>
                <a:lnTo>
                  <a:pt x="653291" y="1256551"/>
                </a:lnTo>
                <a:lnTo>
                  <a:pt x="615762" y="1265256"/>
                </a:lnTo>
                <a:lnTo>
                  <a:pt x="577833" y="1272000"/>
                </a:lnTo>
                <a:lnTo>
                  <a:pt x="539604" y="1276764"/>
                </a:lnTo>
                <a:lnTo>
                  <a:pt x="501179" y="1279536"/>
                </a:lnTo>
                <a:lnTo>
                  <a:pt x="462663" y="1280309"/>
                </a:lnTo>
                <a:lnTo>
                  <a:pt x="424158" y="1279080"/>
                </a:lnTo>
                <a:lnTo>
                  <a:pt x="385769" y="1275852"/>
                </a:lnTo>
                <a:lnTo>
                  <a:pt x="347599" y="1270635"/>
                </a:lnTo>
                <a:lnTo>
                  <a:pt x="309752" y="1263443"/>
                </a:lnTo>
                <a:lnTo>
                  <a:pt x="272330" y="1254294"/>
                </a:lnTo>
                <a:lnTo>
                  <a:pt x="235433" y="1243213"/>
                </a:lnTo>
                <a:lnTo>
                  <a:pt x="199162" y="1230231"/>
                </a:lnTo>
                <a:lnTo>
                  <a:pt x="163614" y="1215383"/>
                </a:lnTo>
                <a:lnTo>
                  <a:pt x="128885" y="1198708"/>
                </a:lnTo>
                <a:lnTo>
                  <a:pt x="95069" y="1180252"/>
                </a:lnTo>
                <a:lnTo>
                  <a:pt x="62258" y="1160064"/>
                </a:lnTo>
                <a:lnTo>
                  <a:pt x="30540" y="1138199"/>
                </a:lnTo>
                <a:lnTo>
                  <a:pt x="0" y="1114716"/>
                </a:lnTo>
                <a:lnTo>
                  <a:pt x="196163" y="872875"/>
                </a:lnTo>
                <a:lnTo>
                  <a:pt x="213876" y="886495"/>
                </a:lnTo>
                <a:lnTo>
                  <a:pt x="232273" y="899176"/>
                </a:lnTo>
                <a:lnTo>
                  <a:pt x="251304" y="910885"/>
                </a:lnTo>
                <a:lnTo>
                  <a:pt x="270917" y="921590"/>
                </a:lnTo>
                <a:lnTo>
                  <a:pt x="291060" y="931261"/>
                </a:lnTo>
                <a:lnTo>
                  <a:pt x="311677" y="939874"/>
                </a:lnTo>
                <a:lnTo>
                  <a:pt x="332715" y="947403"/>
                </a:lnTo>
                <a:lnTo>
                  <a:pt x="354115" y="953830"/>
                </a:lnTo>
                <a:lnTo>
                  <a:pt x="375820" y="959136"/>
                </a:lnTo>
                <a:lnTo>
                  <a:pt x="397771" y="963308"/>
                </a:lnTo>
                <a:lnTo>
                  <a:pt x="419909" y="966334"/>
                </a:lnTo>
                <a:lnTo>
                  <a:pt x="442175" y="968206"/>
                </a:lnTo>
                <a:lnTo>
                  <a:pt x="464508" y="968919"/>
                </a:lnTo>
                <a:lnTo>
                  <a:pt x="486848" y="968470"/>
                </a:lnTo>
                <a:lnTo>
                  <a:pt x="509134" y="966863"/>
                </a:lnTo>
                <a:lnTo>
                  <a:pt x="531307" y="964099"/>
                </a:lnTo>
                <a:lnTo>
                  <a:pt x="553306" y="960188"/>
                </a:lnTo>
                <a:lnTo>
                  <a:pt x="575072" y="955139"/>
                </a:lnTo>
                <a:lnTo>
                  <a:pt x="596547" y="948966"/>
                </a:lnTo>
                <a:lnTo>
                  <a:pt x="617672" y="941687"/>
                </a:lnTo>
                <a:lnTo>
                  <a:pt x="638390" y="933320"/>
                </a:lnTo>
                <a:lnTo>
                  <a:pt x="658646" y="923888"/>
                </a:lnTo>
                <a:lnTo>
                  <a:pt x="678385" y="913416"/>
                </a:lnTo>
                <a:lnTo>
                  <a:pt x="697553" y="901933"/>
                </a:lnTo>
                <a:lnTo>
                  <a:pt x="716098" y="889471"/>
                </a:lnTo>
                <a:lnTo>
                  <a:pt x="733972" y="876061"/>
                </a:lnTo>
                <a:lnTo>
                  <a:pt x="751124" y="861742"/>
                </a:lnTo>
                <a:lnTo>
                  <a:pt x="767510" y="846551"/>
                </a:lnTo>
                <a:lnTo>
                  <a:pt x="783085" y="830529"/>
                </a:lnTo>
                <a:lnTo>
                  <a:pt x="797806" y="813720"/>
                </a:lnTo>
                <a:lnTo>
                  <a:pt x="811634" y="796169"/>
                </a:lnTo>
                <a:lnTo>
                  <a:pt x="824532" y="777923"/>
                </a:lnTo>
                <a:lnTo>
                  <a:pt x="836465" y="759032"/>
                </a:lnTo>
                <a:lnTo>
                  <a:pt x="847400" y="739547"/>
                </a:lnTo>
                <a:lnTo>
                  <a:pt x="857309" y="719520"/>
                </a:lnTo>
                <a:lnTo>
                  <a:pt x="866164" y="699005"/>
                </a:lnTo>
                <a:lnTo>
                  <a:pt x="873941" y="678058"/>
                </a:lnTo>
                <a:lnTo>
                  <a:pt x="880620" y="656735"/>
                </a:lnTo>
                <a:lnTo>
                  <a:pt x="886182" y="635094"/>
                </a:lnTo>
                <a:lnTo>
                  <a:pt x="890613" y="613194"/>
                </a:lnTo>
                <a:lnTo>
                  <a:pt x="893900" y="591093"/>
                </a:lnTo>
                <a:lnTo>
                  <a:pt x="896035" y="568851"/>
                </a:lnTo>
                <a:lnTo>
                  <a:pt x="897011" y="546528"/>
                </a:lnTo>
                <a:lnTo>
                  <a:pt x="896827" y="524184"/>
                </a:lnTo>
                <a:lnTo>
                  <a:pt x="895482" y="501881"/>
                </a:lnTo>
                <a:lnTo>
                  <a:pt x="892981" y="479677"/>
                </a:lnTo>
                <a:lnTo>
                  <a:pt x="889329" y="457633"/>
                </a:lnTo>
                <a:lnTo>
                  <a:pt x="884538" y="435809"/>
                </a:lnTo>
                <a:lnTo>
                  <a:pt x="878619" y="414263"/>
                </a:lnTo>
                <a:lnTo>
                  <a:pt x="871590" y="393053"/>
                </a:lnTo>
                <a:lnTo>
                  <a:pt x="863468" y="372237"/>
                </a:lnTo>
                <a:lnTo>
                  <a:pt x="854275" y="351872"/>
                </a:lnTo>
                <a:lnTo>
                  <a:pt x="844038" y="332011"/>
                </a:lnTo>
                <a:lnTo>
                  <a:pt x="832782" y="312708"/>
                </a:lnTo>
                <a:lnTo>
                  <a:pt x="820539" y="294017"/>
                </a:lnTo>
                <a:lnTo>
                  <a:pt x="807342" y="275987"/>
                </a:lnTo>
                <a:lnTo>
                  <a:pt x="793226" y="258666"/>
                </a:lnTo>
                <a:lnTo>
                  <a:pt x="778229" y="242102"/>
                </a:lnTo>
                <a:lnTo>
                  <a:pt x="762392" y="226339"/>
                </a:lnTo>
                <a:close/>
              </a:path>
            </a:pathLst>
          </a:custGeom>
          <a:solidFill>
            <a:srgbClr val="767E94"/>
          </a:solidFill>
          <a:ln w="12700">
            <a:solidFill>
              <a:srgbClr val="FFFFFF"/>
            </a:solidFill>
          </a:ln>
        </p:spPr>
      </p:sp>
      <p:sp>
        <p:nvSpPr>
          <p:cNvPr name="Freeform 74" id="74"/>
          <p:cNvSpPr/>
          <p:nvPr/>
        </p:nvSpPr>
        <p:spPr>
          <a:xfrm>
            <a:off x="1982487" y="4722212"/>
            <a:ext cx="733808" cy="1300468"/>
          </a:xfrm>
          <a:custGeom>
            <a:avLst/>
            <a:gdLst/>
            <a:ahLst/>
            <a:cxnLst/>
            <a:rect r="r" b="b" t="t" l="l"/>
            <a:pathLst>
              <a:path h="1300468" w="733808">
                <a:moveTo>
                  <a:pt x="254446" y="1300468"/>
                </a:moveTo>
                <a:lnTo>
                  <a:pt x="225858" y="1274230"/>
                </a:lnTo>
                <a:lnTo>
                  <a:pt x="198682" y="1246532"/>
                </a:lnTo>
                <a:lnTo>
                  <a:pt x="172993" y="1217451"/>
                </a:lnTo>
                <a:lnTo>
                  <a:pt x="148860" y="1187065"/>
                </a:lnTo>
                <a:lnTo>
                  <a:pt x="126350" y="1155459"/>
                </a:lnTo>
                <a:lnTo>
                  <a:pt x="105524" y="1122718"/>
                </a:lnTo>
                <a:lnTo>
                  <a:pt x="86440" y="1088932"/>
                </a:lnTo>
                <a:lnTo>
                  <a:pt x="69150" y="1054194"/>
                </a:lnTo>
                <a:lnTo>
                  <a:pt x="53701" y="1018599"/>
                </a:lnTo>
                <a:lnTo>
                  <a:pt x="40135" y="982244"/>
                </a:lnTo>
                <a:lnTo>
                  <a:pt x="28490" y="945230"/>
                </a:lnTo>
                <a:lnTo>
                  <a:pt x="18797" y="907657"/>
                </a:lnTo>
                <a:lnTo>
                  <a:pt x="11083" y="869628"/>
                </a:lnTo>
                <a:lnTo>
                  <a:pt x="5370" y="831248"/>
                </a:lnTo>
                <a:lnTo>
                  <a:pt x="1672" y="792621"/>
                </a:lnTo>
                <a:lnTo>
                  <a:pt x="0" y="753854"/>
                </a:lnTo>
                <a:lnTo>
                  <a:pt x="359" y="715053"/>
                </a:lnTo>
                <a:lnTo>
                  <a:pt x="2748" y="676323"/>
                </a:lnTo>
                <a:lnTo>
                  <a:pt x="7159" y="637772"/>
                </a:lnTo>
                <a:lnTo>
                  <a:pt x="13581" y="599504"/>
                </a:lnTo>
                <a:lnTo>
                  <a:pt x="21997" y="561624"/>
                </a:lnTo>
                <a:lnTo>
                  <a:pt x="32382" y="524237"/>
                </a:lnTo>
                <a:lnTo>
                  <a:pt x="44710" y="487444"/>
                </a:lnTo>
                <a:lnTo>
                  <a:pt x="58946" y="451347"/>
                </a:lnTo>
                <a:lnTo>
                  <a:pt x="75050" y="416043"/>
                </a:lnTo>
                <a:lnTo>
                  <a:pt x="92980" y="381631"/>
                </a:lnTo>
                <a:lnTo>
                  <a:pt x="112686" y="348204"/>
                </a:lnTo>
                <a:lnTo>
                  <a:pt x="134113" y="315854"/>
                </a:lnTo>
                <a:lnTo>
                  <a:pt x="157204" y="284668"/>
                </a:lnTo>
                <a:lnTo>
                  <a:pt x="181894" y="254734"/>
                </a:lnTo>
                <a:lnTo>
                  <a:pt x="208117" y="226133"/>
                </a:lnTo>
                <a:lnTo>
                  <a:pt x="235800" y="198942"/>
                </a:lnTo>
                <a:lnTo>
                  <a:pt x="264868" y="173238"/>
                </a:lnTo>
                <a:lnTo>
                  <a:pt x="295241" y="149089"/>
                </a:lnTo>
                <a:lnTo>
                  <a:pt x="326836" y="126562"/>
                </a:lnTo>
                <a:lnTo>
                  <a:pt x="359566" y="105719"/>
                </a:lnTo>
                <a:lnTo>
                  <a:pt x="393342" y="86617"/>
                </a:lnTo>
                <a:lnTo>
                  <a:pt x="428071" y="69309"/>
                </a:lnTo>
                <a:lnTo>
                  <a:pt x="463657" y="53841"/>
                </a:lnTo>
                <a:lnTo>
                  <a:pt x="500005" y="40256"/>
                </a:lnTo>
                <a:lnTo>
                  <a:pt x="537013" y="28591"/>
                </a:lnTo>
                <a:lnTo>
                  <a:pt x="574581" y="18878"/>
                </a:lnTo>
                <a:lnTo>
                  <a:pt x="612606" y="11145"/>
                </a:lnTo>
                <a:lnTo>
                  <a:pt x="650983" y="5411"/>
                </a:lnTo>
                <a:lnTo>
                  <a:pt x="689607" y="1693"/>
                </a:lnTo>
                <a:lnTo>
                  <a:pt x="728373" y="0"/>
                </a:lnTo>
                <a:lnTo>
                  <a:pt x="733808" y="311349"/>
                </a:lnTo>
                <a:lnTo>
                  <a:pt x="711324" y="312330"/>
                </a:lnTo>
                <a:lnTo>
                  <a:pt x="688921" y="314487"/>
                </a:lnTo>
                <a:lnTo>
                  <a:pt x="666663" y="317812"/>
                </a:lnTo>
                <a:lnTo>
                  <a:pt x="644608" y="322298"/>
                </a:lnTo>
                <a:lnTo>
                  <a:pt x="622819" y="327931"/>
                </a:lnTo>
                <a:lnTo>
                  <a:pt x="601354" y="334697"/>
                </a:lnTo>
                <a:lnTo>
                  <a:pt x="580273" y="342576"/>
                </a:lnTo>
                <a:lnTo>
                  <a:pt x="559632" y="351548"/>
                </a:lnTo>
                <a:lnTo>
                  <a:pt x="539490" y="361587"/>
                </a:lnTo>
                <a:lnTo>
                  <a:pt x="519900" y="372666"/>
                </a:lnTo>
                <a:lnTo>
                  <a:pt x="500916" y="384755"/>
                </a:lnTo>
                <a:lnTo>
                  <a:pt x="482591" y="397820"/>
                </a:lnTo>
                <a:lnTo>
                  <a:pt x="464975" y="411826"/>
                </a:lnTo>
                <a:lnTo>
                  <a:pt x="448116" y="426735"/>
                </a:lnTo>
                <a:lnTo>
                  <a:pt x="432059" y="442506"/>
                </a:lnTo>
                <a:lnTo>
                  <a:pt x="416850" y="459094"/>
                </a:lnTo>
                <a:lnTo>
                  <a:pt x="402530" y="476456"/>
                </a:lnTo>
                <a:lnTo>
                  <a:pt x="389137" y="494544"/>
                </a:lnTo>
                <a:lnTo>
                  <a:pt x="376709" y="513307"/>
                </a:lnTo>
                <a:lnTo>
                  <a:pt x="365280" y="532695"/>
                </a:lnTo>
                <a:lnTo>
                  <a:pt x="354881" y="552654"/>
                </a:lnTo>
                <a:lnTo>
                  <a:pt x="345540" y="573130"/>
                </a:lnTo>
                <a:lnTo>
                  <a:pt x="337283" y="594066"/>
                </a:lnTo>
                <a:lnTo>
                  <a:pt x="330133" y="615406"/>
                </a:lnTo>
                <a:lnTo>
                  <a:pt x="324109" y="637091"/>
                </a:lnTo>
                <a:lnTo>
                  <a:pt x="319228" y="659061"/>
                </a:lnTo>
                <a:lnTo>
                  <a:pt x="315504" y="681256"/>
                </a:lnTo>
                <a:lnTo>
                  <a:pt x="312945" y="703616"/>
                </a:lnTo>
                <a:lnTo>
                  <a:pt x="311560" y="726079"/>
                </a:lnTo>
                <a:lnTo>
                  <a:pt x="311352" y="748584"/>
                </a:lnTo>
                <a:lnTo>
                  <a:pt x="312321" y="771069"/>
                </a:lnTo>
                <a:lnTo>
                  <a:pt x="314466" y="793472"/>
                </a:lnTo>
                <a:lnTo>
                  <a:pt x="317780" y="815733"/>
                </a:lnTo>
                <a:lnTo>
                  <a:pt x="322254" y="837790"/>
                </a:lnTo>
                <a:lnTo>
                  <a:pt x="327876" y="859582"/>
                </a:lnTo>
                <a:lnTo>
                  <a:pt x="334630" y="881050"/>
                </a:lnTo>
                <a:lnTo>
                  <a:pt x="342498" y="902136"/>
                </a:lnTo>
                <a:lnTo>
                  <a:pt x="351458" y="922781"/>
                </a:lnTo>
                <a:lnTo>
                  <a:pt x="361487" y="942929"/>
                </a:lnTo>
                <a:lnTo>
                  <a:pt x="372556" y="962525"/>
                </a:lnTo>
                <a:lnTo>
                  <a:pt x="384634" y="981515"/>
                </a:lnTo>
                <a:lnTo>
                  <a:pt x="397690" y="999847"/>
                </a:lnTo>
                <a:lnTo>
                  <a:pt x="411687" y="1017470"/>
                </a:lnTo>
                <a:lnTo>
                  <a:pt x="426587" y="1034337"/>
                </a:lnTo>
                <a:lnTo>
                  <a:pt x="442349" y="1050402"/>
                </a:lnTo>
                <a:lnTo>
                  <a:pt x="458930" y="1065620"/>
                </a:lnTo>
                <a:close/>
              </a:path>
            </a:pathLst>
          </a:custGeom>
          <a:solidFill>
            <a:srgbClr val="E09E48"/>
          </a:solidFill>
          <a:ln w="12700">
            <a:solidFill>
              <a:srgbClr val="FFFFFF"/>
            </a:solidFill>
          </a:ln>
        </p:spPr>
      </p:sp>
      <p:sp>
        <p:nvSpPr>
          <p:cNvPr name="AutoShape 75" id="75"/>
          <p:cNvSpPr/>
          <p:nvPr/>
        </p:nvSpPr>
        <p:spPr>
          <a:xfrm>
            <a:off x="2835821" y="4645035"/>
            <a:ext cx="364236" cy="119380"/>
          </a:xfrm>
          <a:prstGeom prst="roundRect">
            <a:avLst>
              <a:gd name="adj" fmla="val 21277"/>
            </a:avLst>
          </a:prstGeom>
          <a:solidFill>
            <a:srgbClr val="FFFFFF"/>
          </a:solidFill>
          <a:ln>
            <a:noFill/>
          </a:ln>
        </p:spPr>
      </p:sp>
      <p:sp>
        <p:nvSpPr>
          <p:cNvPr name="GraphCompose Text Line" id="76"/>
          <p:cNvSpPr txBox="true"/>
          <p:nvPr/>
        </p:nvSpPr>
        <p:spPr>
          <a:xfrm>
            <a:off x="2873921" y="4638708"/>
            <a:ext cx="289306" cy="9398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00" b="false" i="false" u="none" strike="noStrike" kern="0">
                <a:solidFill>
                  <a:srgbClr val="3C3C3C"/>
                </a:solidFill>
                <a:latin typeface="Arial"/>
              </a:rPr>
              <a:t>11.8%</a:t>
            </a:r>
            <a:endParaRPr lang="en-US" sz="1100"/>
          </a:p>
        </p:txBody>
      </p:sp>
      <p:sp>
        <p:nvSpPr>
          <p:cNvPr name="AutoShape 77" id="77"/>
          <p:cNvSpPr/>
          <p:nvPr/>
        </p:nvSpPr>
        <p:spPr>
          <a:xfrm>
            <a:off x="3153896" y="5939999"/>
            <a:ext cx="364236" cy="119380"/>
          </a:xfrm>
          <a:prstGeom prst="roundRect">
            <a:avLst>
              <a:gd name="adj" fmla="val 21277"/>
            </a:avLst>
          </a:prstGeom>
          <a:solidFill>
            <a:srgbClr val="FFFFFF"/>
          </a:solidFill>
          <a:ln>
            <a:noFill/>
          </a:ln>
        </p:spPr>
      </p:sp>
      <p:sp>
        <p:nvSpPr>
          <p:cNvPr name="GraphCompose Text Line" id="78"/>
          <p:cNvSpPr txBox="true"/>
          <p:nvPr/>
        </p:nvSpPr>
        <p:spPr>
          <a:xfrm>
            <a:off x="3191996" y="5933672"/>
            <a:ext cx="289306" cy="9398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00" b="false" i="false" u="none" strike="noStrike" kern="0">
                <a:solidFill>
                  <a:srgbClr val="3C3C3C"/>
                </a:solidFill>
                <a:latin typeface="Arial"/>
              </a:rPr>
              <a:t>49.4%</a:t>
            </a:r>
            <a:endParaRPr lang="en-US" sz="1100"/>
          </a:p>
        </p:txBody>
      </p:sp>
      <p:sp>
        <p:nvSpPr>
          <p:cNvPr name="AutoShape 79" id="79"/>
          <p:cNvSpPr/>
          <p:nvPr/>
        </p:nvSpPr>
        <p:spPr>
          <a:xfrm>
            <a:off x="1777065" y="5125180"/>
            <a:ext cx="364236" cy="119380"/>
          </a:xfrm>
          <a:prstGeom prst="roundRect">
            <a:avLst>
              <a:gd name="adj" fmla="val 21277"/>
            </a:avLst>
          </a:prstGeom>
          <a:solidFill>
            <a:srgbClr val="FFFFFF"/>
          </a:solidFill>
          <a:ln>
            <a:noFill/>
          </a:ln>
        </p:spPr>
      </p:sp>
      <p:sp>
        <p:nvSpPr>
          <p:cNvPr name="GraphCompose Text Line" id="80"/>
          <p:cNvSpPr txBox="true"/>
          <p:nvPr/>
        </p:nvSpPr>
        <p:spPr>
          <a:xfrm>
            <a:off x="1815165" y="5118853"/>
            <a:ext cx="289306" cy="9398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00" b="false" i="false" u="none" strike="noStrike" kern="0">
                <a:solidFill>
                  <a:srgbClr val="3C3C3C"/>
                </a:solidFill>
                <a:latin typeface="Arial"/>
              </a:rPr>
              <a:t>38.9%</a:t>
            </a:r>
            <a:endParaRPr lang="en-US" sz="1100"/>
          </a:p>
        </p:txBody>
      </p:sp>
      <p:sp>
        <p:nvSpPr>
          <p:cNvPr name="GraphCompose Text Line" id="81"/>
          <p:cNvSpPr txBox="true"/>
          <p:nvPr/>
        </p:nvSpPr>
        <p:spPr>
          <a:xfrm>
            <a:off x="2342997" y="5356241"/>
            <a:ext cx="762876" cy="152718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300" b="true" i="false" u="none" strike="noStrike" kern="0">
                <a:solidFill>
                  <a:srgbClr val="2D2D2D"/>
                </a:solidFill>
                <a:latin typeface="Arial"/>
              </a:rPr>
              <a:t>1000 rows</a:t>
            </a:r>
            <a:endParaRPr lang="en-US" sz="1100"/>
          </a:p>
        </p:txBody>
      </p:sp>
      <p:sp>
        <p:nvSpPr>
          <p:cNvPr name="AutoShape 82" id="82"/>
          <p:cNvSpPr/>
          <p:nvPr/>
        </p:nvSpPr>
        <p:spPr>
          <a:xfrm>
            <a:off x="1351889" y="6347329"/>
            <a:ext cx="114300" cy="114300"/>
          </a:xfrm>
          <a:prstGeom prst="roundRect">
            <a:avLst>
              <a:gd name="adj" fmla="val 16667"/>
            </a:avLst>
          </a:prstGeom>
          <a:solidFill>
            <a:srgbClr val="7C5CFC"/>
          </a:solidFill>
          <a:ln>
            <a:noFill/>
          </a:ln>
        </p:spPr>
      </p:sp>
      <p:sp>
        <p:nvSpPr>
          <p:cNvPr name="GraphCompose Text Line" id="83"/>
          <p:cNvSpPr txBox="true"/>
          <p:nvPr/>
        </p:nvSpPr>
        <p:spPr>
          <a:xfrm>
            <a:off x="1516989" y="6341012"/>
            <a:ext cx="807999" cy="105727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900" b="false" i="false" u="none" strike="noStrike" kern="0">
                <a:solidFill>
                  <a:srgbClr val="3C3C3C"/>
                </a:solidFill>
                <a:latin typeface="Arial"/>
              </a:rPr>
              <a:t>GraphCompose</a:t>
            </a:r>
            <a:endParaRPr lang="en-US" sz="1100"/>
          </a:p>
        </p:txBody>
      </p:sp>
      <p:sp>
        <p:nvSpPr>
          <p:cNvPr name="AutoShape 84" id="84"/>
          <p:cNvSpPr/>
          <p:nvPr/>
        </p:nvSpPr>
        <p:spPr>
          <a:xfrm>
            <a:off x="2501518" y="6347329"/>
            <a:ext cx="114300" cy="114300"/>
          </a:xfrm>
          <a:prstGeom prst="roundRect">
            <a:avLst>
              <a:gd name="adj" fmla="val 16667"/>
            </a:avLst>
          </a:prstGeom>
          <a:solidFill>
            <a:srgbClr val="767E94"/>
          </a:solidFill>
          <a:ln>
            <a:noFill/>
          </a:ln>
        </p:spPr>
      </p:sp>
      <p:sp>
        <p:nvSpPr>
          <p:cNvPr name="GraphCompose Text Line" id="85"/>
          <p:cNvSpPr txBox="true"/>
          <p:nvPr/>
        </p:nvSpPr>
        <p:spPr>
          <a:xfrm>
            <a:off x="2666618" y="6341012"/>
            <a:ext cx="344284" cy="105727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900" b="false" i="false" u="none" strike="noStrike" kern="0">
                <a:solidFill>
                  <a:srgbClr val="3C3C3C"/>
                </a:solidFill>
                <a:latin typeface="Arial"/>
              </a:rPr>
              <a:t>iText 9</a:t>
            </a:r>
            <a:endParaRPr lang="en-US" sz="1100"/>
          </a:p>
        </p:txBody>
      </p:sp>
      <p:sp>
        <p:nvSpPr>
          <p:cNvPr name="AutoShape 86" id="86"/>
          <p:cNvSpPr/>
          <p:nvPr/>
        </p:nvSpPr>
        <p:spPr>
          <a:xfrm>
            <a:off x="3187433" y="6347329"/>
            <a:ext cx="114300" cy="114300"/>
          </a:xfrm>
          <a:prstGeom prst="roundRect">
            <a:avLst>
              <a:gd name="adj" fmla="val 16667"/>
            </a:avLst>
          </a:prstGeom>
          <a:solidFill>
            <a:srgbClr val="E09E48"/>
          </a:solidFill>
          <a:ln>
            <a:noFill/>
          </a:ln>
        </p:spPr>
      </p:sp>
      <p:sp>
        <p:nvSpPr>
          <p:cNvPr name="GraphCompose Text Line" id="87"/>
          <p:cNvSpPr txBox="true"/>
          <p:nvPr/>
        </p:nvSpPr>
        <p:spPr>
          <a:xfrm>
            <a:off x="3352533" y="6341012"/>
            <a:ext cx="744449" cy="105727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900" b="false" i="false" u="none" strike="noStrike" kern="0">
                <a:solidFill>
                  <a:srgbClr val="3C3C3C"/>
                </a:solidFill>
                <a:latin typeface="Arial"/>
              </a:rPr>
              <a:t>JasperReports</a:t>
            </a:r>
            <a:endParaRPr lang="en-US" sz="1100"/>
          </a:p>
        </p:txBody>
      </p:sp>
      <p:sp>
        <p:nvSpPr>
          <p:cNvPr name="AutoShape 88" id="88"/>
          <p:cNvSpPr/>
          <p:nvPr/>
        </p:nvSpPr>
        <p:spPr>
          <a:xfrm>
            <a:off x="5447600" y="4181397"/>
            <a:ext cx="5041200" cy="2489948"/>
          </a:xfrm>
          <a:prstGeom prst="roundRect">
            <a:avLst>
              <a:gd name="adj" fmla="val 5101"/>
            </a:avLst>
          </a:prstGeom>
          <a:solidFill>
            <a:srgbClr val="FFFFFF"/>
          </a:solidFill>
          <a:ln>
            <a:noFill/>
          </a:ln>
        </p:spPr>
      </p:sp>
      <p:cxnSp>
        <p:nvCxnSpPr>
          <p:cNvPr name="Connector 89" id="89"/>
          <p:cNvCxnSpPr/>
          <p:nvPr/>
        </p:nvCxnSpPr>
        <p:spPr>
          <a:xfrm>
            <a:off x="5447600" y="4181397"/>
            <a:ext cx="5041200" cy="0"/>
          </a:xfrm>
          <a:prstGeom prst="line">
            <a:avLst/>
          </a:prstGeom>
          <a:ln w="31750">
            <a:solidFill>
              <a:srgbClr val="7C5CFC"/>
            </a:solidFill>
          </a:ln>
        </p:spPr>
      </p:cxnSp>
      <p:sp>
        <p:nvSpPr>
          <p:cNvPr name="GraphCompose Text Line" id="90"/>
          <p:cNvSpPr txBox="true"/>
          <p:nvPr/>
        </p:nvSpPr>
        <p:spPr>
          <a:xfrm>
            <a:off x="5625400" y="4333035"/>
            <a:ext cx="3378797" cy="129222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100" b="true" i="false" u="none" strike="noStrike" kern="0">
                <a:solidFill>
                  <a:srgbClr val="1C1E2E"/>
                </a:solidFill>
                <a:latin typeface="Arial"/>
              </a:rPr>
              <a:t>Throughput at 1000 rows — docs/sec (higher is better)</a:t>
            </a:r>
            <a:endParaRPr lang="en-US" sz="1100"/>
          </a:p>
        </p:txBody>
      </p:sp>
      <p:cxnSp>
        <p:nvCxnSpPr>
          <p:cNvPr name="Connector 91" id="91"/>
          <p:cNvCxnSpPr/>
          <p:nvPr/>
        </p:nvCxnSpPr>
        <p:spPr>
          <a:xfrm flipV="false">
            <a:off x="5873914" y="6192237"/>
            <a:ext cx="4437086" cy="0"/>
          </a:xfrm>
          <a:prstGeom prst="line">
            <a:avLst/>
          </a:prstGeom>
          <a:ln w="6350" cap="flat">
            <a:solidFill>
              <a:srgbClr val="E0E0E0"/>
            </a:solidFill>
          </a:ln>
        </p:spPr>
      </p:cxnSp>
      <p:sp>
        <p:nvSpPr>
          <p:cNvPr name="GraphCompose Text Line" id="92"/>
          <p:cNvSpPr txBox="true"/>
          <p:nvPr/>
        </p:nvSpPr>
        <p:spPr>
          <a:xfrm>
            <a:off x="5681890" y="6135821"/>
            <a:ext cx="142494" cy="9398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00" b="false" i="false" u="none" strike="noStrike" kern="0">
                <a:solidFill>
                  <a:srgbClr val="5A5A5A"/>
                </a:solidFill>
                <a:latin typeface="Arial"/>
              </a:rPr>
              <a:t>0.0</a:t>
            </a:r>
            <a:endParaRPr lang="en-US" sz="1100"/>
          </a:p>
        </p:txBody>
      </p:sp>
      <p:cxnSp>
        <p:nvCxnSpPr>
          <p:cNvPr name="Connector 93" id="93"/>
          <p:cNvCxnSpPr/>
          <p:nvPr/>
        </p:nvCxnSpPr>
        <p:spPr>
          <a:xfrm flipV="false">
            <a:off x="5873914" y="5714891"/>
            <a:ext cx="4437086" cy="0"/>
          </a:xfrm>
          <a:prstGeom prst="line">
            <a:avLst/>
          </a:prstGeom>
          <a:ln w="6350" cap="flat">
            <a:solidFill>
              <a:srgbClr val="E0E0E0"/>
            </a:solidFill>
          </a:ln>
        </p:spPr>
      </p:cxnSp>
      <p:sp>
        <p:nvSpPr>
          <p:cNvPr name="GraphCompose Text Line" id="94"/>
          <p:cNvSpPr txBox="true"/>
          <p:nvPr/>
        </p:nvSpPr>
        <p:spPr>
          <a:xfrm>
            <a:off x="5625400" y="5658475"/>
            <a:ext cx="198984" cy="9398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00" b="false" i="false" u="none" strike="noStrike" kern="0">
                <a:solidFill>
                  <a:srgbClr val="5A5A5A"/>
                </a:solidFill>
                <a:latin typeface="Arial"/>
              </a:rPr>
              <a:t>10.0</a:t>
            </a:r>
            <a:endParaRPr lang="en-US" sz="1100"/>
          </a:p>
        </p:txBody>
      </p:sp>
      <p:cxnSp>
        <p:nvCxnSpPr>
          <p:cNvPr name="Connector 95" id="95"/>
          <p:cNvCxnSpPr/>
          <p:nvPr/>
        </p:nvCxnSpPr>
        <p:spPr>
          <a:xfrm flipV="false">
            <a:off x="5873914" y="5237545"/>
            <a:ext cx="4437086" cy="0"/>
          </a:xfrm>
          <a:prstGeom prst="line">
            <a:avLst/>
          </a:prstGeom>
          <a:ln w="6350" cap="flat">
            <a:solidFill>
              <a:srgbClr val="E0E0E0"/>
            </a:solidFill>
          </a:ln>
        </p:spPr>
      </p:cxnSp>
      <p:sp>
        <p:nvSpPr>
          <p:cNvPr name="GraphCompose Text Line" id="96"/>
          <p:cNvSpPr txBox="true"/>
          <p:nvPr/>
        </p:nvSpPr>
        <p:spPr>
          <a:xfrm>
            <a:off x="5625400" y="5181130"/>
            <a:ext cx="198984" cy="9398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00" b="false" i="false" u="none" strike="noStrike" kern="0">
                <a:solidFill>
                  <a:srgbClr val="5A5A5A"/>
                </a:solidFill>
                <a:latin typeface="Arial"/>
              </a:rPr>
              <a:t>20.0</a:t>
            </a:r>
            <a:endParaRPr lang="en-US" sz="1100"/>
          </a:p>
        </p:txBody>
      </p:sp>
      <p:cxnSp>
        <p:nvCxnSpPr>
          <p:cNvPr name="Connector 97" id="97"/>
          <p:cNvCxnSpPr/>
          <p:nvPr/>
        </p:nvCxnSpPr>
        <p:spPr>
          <a:xfrm flipV="false">
            <a:off x="5873914" y="4760200"/>
            <a:ext cx="4437086" cy="0"/>
          </a:xfrm>
          <a:prstGeom prst="line">
            <a:avLst/>
          </a:prstGeom>
          <a:ln w="6350" cap="flat">
            <a:solidFill>
              <a:srgbClr val="E0E0E0"/>
            </a:solidFill>
          </a:ln>
        </p:spPr>
      </p:cxnSp>
      <p:sp>
        <p:nvSpPr>
          <p:cNvPr name="GraphCompose Text Line" id="98"/>
          <p:cNvSpPr txBox="true"/>
          <p:nvPr/>
        </p:nvSpPr>
        <p:spPr>
          <a:xfrm>
            <a:off x="5625400" y="4703784"/>
            <a:ext cx="198984" cy="9398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00" b="false" i="false" u="none" strike="noStrike" kern="0">
                <a:solidFill>
                  <a:srgbClr val="5A5A5A"/>
                </a:solidFill>
                <a:latin typeface="Arial"/>
              </a:rPr>
              <a:t>30.0</a:t>
            </a:r>
            <a:endParaRPr lang="en-US" sz="1100"/>
          </a:p>
        </p:txBody>
      </p:sp>
      <p:sp>
        <p:nvSpPr>
          <p:cNvPr name="AutoShape 99" id="99"/>
          <p:cNvSpPr/>
          <p:nvPr/>
        </p:nvSpPr>
        <p:spPr>
          <a:xfrm>
            <a:off x="6569649" y="5137795"/>
            <a:ext cx="915815" cy="1054442"/>
          </a:xfrm>
          <a:prstGeom prst="roundRect">
            <a:avLst>
              <a:gd name="adj" fmla="val 2773"/>
            </a:avLst>
          </a:prstGeom>
          <a:solidFill>
            <a:srgbClr val="7C5CFC"/>
          </a:solidFill>
          <a:ln>
            <a:noFill/>
          </a:ln>
        </p:spPr>
      </p:sp>
      <p:sp>
        <p:nvSpPr>
          <p:cNvPr name="GraphCompose Text Line" id="100"/>
          <p:cNvSpPr txBox="true"/>
          <p:nvPr/>
        </p:nvSpPr>
        <p:spPr>
          <a:xfrm>
            <a:off x="6928699" y="4999388"/>
            <a:ext cx="198984" cy="9398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00" b="false" i="false" u="none" strike="noStrike" kern="0">
                <a:solidFill>
                  <a:srgbClr val="3C3C3C"/>
                </a:solidFill>
                <a:latin typeface="Arial"/>
              </a:rPr>
              <a:t>22.1</a:t>
            </a:r>
            <a:endParaRPr lang="en-US" sz="1100"/>
          </a:p>
        </p:txBody>
      </p:sp>
      <p:sp>
        <p:nvSpPr>
          <p:cNvPr name="AutoShape 101" id="101"/>
          <p:cNvSpPr/>
          <p:nvPr/>
        </p:nvSpPr>
        <p:spPr>
          <a:xfrm>
            <a:off x="7634550" y="5996331"/>
            <a:ext cx="915815" cy="195907"/>
          </a:xfrm>
          <a:prstGeom prst="roundRect">
            <a:avLst>
              <a:gd name="adj" fmla="val 12965"/>
            </a:avLst>
          </a:prstGeom>
          <a:solidFill>
            <a:srgbClr val="767E94"/>
          </a:solidFill>
          <a:ln>
            <a:noFill/>
          </a:ln>
        </p:spPr>
      </p:sp>
      <p:sp>
        <p:nvSpPr>
          <p:cNvPr name="GraphCompose Text Line" id="102"/>
          <p:cNvSpPr txBox="true"/>
          <p:nvPr/>
        </p:nvSpPr>
        <p:spPr>
          <a:xfrm>
            <a:off x="8021845" y="5857924"/>
            <a:ext cx="142494" cy="9398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00" b="false" i="false" u="none" strike="noStrike" kern="0">
                <a:solidFill>
                  <a:srgbClr val="3C3C3C"/>
                </a:solidFill>
                <a:latin typeface="Arial"/>
              </a:rPr>
              <a:t>4.1</a:t>
            </a:r>
            <a:endParaRPr lang="en-US" sz="1100"/>
          </a:p>
        </p:txBody>
      </p:sp>
      <p:sp>
        <p:nvSpPr>
          <p:cNvPr name="AutoShape 103" id="103"/>
          <p:cNvSpPr/>
          <p:nvPr/>
        </p:nvSpPr>
        <p:spPr>
          <a:xfrm>
            <a:off x="8699450" y="5207410"/>
            <a:ext cx="915815" cy="984827"/>
          </a:xfrm>
          <a:prstGeom prst="roundRect">
            <a:avLst>
              <a:gd name="adj" fmla="val 2773"/>
            </a:avLst>
          </a:prstGeom>
          <a:solidFill>
            <a:srgbClr val="E09E48"/>
          </a:solidFill>
          <a:ln>
            <a:noFill/>
          </a:ln>
        </p:spPr>
      </p:sp>
      <p:sp>
        <p:nvSpPr>
          <p:cNvPr name="GraphCompose Text Line" id="104"/>
          <p:cNvSpPr txBox="true"/>
          <p:nvPr/>
        </p:nvSpPr>
        <p:spPr>
          <a:xfrm>
            <a:off x="9058501" y="5069003"/>
            <a:ext cx="198984" cy="9398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00" b="false" i="false" u="none" strike="noStrike" kern="0">
                <a:solidFill>
                  <a:srgbClr val="3C3C3C"/>
                </a:solidFill>
                <a:latin typeface="Arial"/>
              </a:rPr>
              <a:t>20.6</a:t>
            </a:r>
            <a:endParaRPr lang="en-US" sz="1100"/>
          </a:p>
        </p:txBody>
      </p:sp>
      <p:sp>
        <p:nvSpPr>
          <p:cNvPr name="GraphCompose Text Line" id="105"/>
          <p:cNvSpPr txBox="true"/>
          <p:nvPr/>
        </p:nvSpPr>
        <p:spPr>
          <a:xfrm>
            <a:off x="7863755" y="6224010"/>
            <a:ext cx="458673" cy="9398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00" b="false" i="false" u="none" strike="noStrike" kern="0">
                <a:solidFill>
                  <a:srgbClr val="5A5A5A"/>
                </a:solidFill>
                <a:latin typeface="Arial"/>
              </a:rPr>
              <a:t>docs / sec</a:t>
            </a:r>
            <a:endParaRPr lang="en-US" sz="1100"/>
          </a:p>
        </p:txBody>
      </p:sp>
      <p:sp>
        <p:nvSpPr>
          <p:cNvPr name="AutoShape 106" id="106"/>
          <p:cNvSpPr/>
          <p:nvPr/>
        </p:nvSpPr>
        <p:spPr>
          <a:xfrm>
            <a:off x="6596289" y="6347329"/>
            <a:ext cx="114300" cy="114300"/>
          </a:xfrm>
          <a:prstGeom prst="roundRect">
            <a:avLst>
              <a:gd name="adj" fmla="val 16667"/>
            </a:avLst>
          </a:prstGeom>
          <a:solidFill>
            <a:srgbClr val="7C5CFC"/>
          </a:solidFill>
          <a:ln>
            <a:noFill/>
          </a:ln>
        </p:spPr>
      </p:sp>
      <p:sp>
        <p:nvSpPr>
          <p:cNvPr name="GraphCompose Text Line" id="107"/>
          <p:cNvSpPr txBox="true"/>
          <p:nvPr/>
        </p:nvSpPr>
        <p:spPr>
          <a:xfrm>
            <a:off x="6761389" y="6341012"/>
            <a:ext cx="807999" cy="105727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900" b="false" i="false" u="none" strike="noStrike" kern="0">
                <a:solidFill>
                  <a:srgbClr val="3C3C3C"/>
                </a:solidFill>
                <a:latin typeface="Arial"/>
              </a:rPr>
              <a:t>GraphCompose</a:t>
            </a:r>
            <a:endParaRPr lang="en-US" sz="1100"/>
          </a:p>
        </p:txBody>
      </p:sp>
      <p:sp>
        <p:nvSpPr>
          <p:cNvPr name="AutoShape 108" id="108"/>
          <p:cNvSpPr/>
          <p:nvPr/>
        </p:nvSpPr>
        <p:spPr>
          <a:xfrm>
            <a:off x="7745918" y="6347329"/>
            <a:ext cx="114300" cy="114300"/>
          </a:xfrm>
          <a:prstGeom prst="roundRect">
            <a:avLst>
              <a:gd name="adj" fmla="val 16667"/>
            </a:avLst>
          </a:prstGeom>
          <a:solidFill>
            <a:srgbClr val="767E94"/>
          </a:solidFill>
          <a:ln>
            <a:noFill/>
          </a:ln>
        </p:spPr>
      </p:sp>
      <p:sp>
        <p:nvSpPr>
          <p:cNvPr name="GraphCompose Text Line" id="109"/>
          <p:cNvSpPr txBox="true"/>
          <p:nvPr/>
        </p:nvSpPr>
        <p:spPr>
          <a:xfrm>
            <a:off x="7911018" y="6341012"/>
            <a:ext cx="344284" cy="105727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900" b="false" i="false" u="none" strike="noStrike" kern="0">
                <a:solidFill>
                  <a:srgbClr val="3C3C3C"/>
                </a:solidFill>
                <a:latin typeface="Arial"/>
              </a:rPr>
              <a:t>iText 9</a:t>
            </a:r>
            <a:endParaRPr lang="en-US" sz="1100"/>
          </a:p>
        </p:txBody>
      </p:sp>
      <p:sp>
        <p:nvSpPr>
          <p:cNvPr name="AutoShape 110" id="110"/>
          <p:cNvSpPr/>
          <p:nvPr/>
        </p:nvSpPr>
        <p:spPr>
          <a:xfrm>
            <a:off x="8431833" y="6347329"/>
            <a:ext cx="114300" cy="114300"/>
          </a:xfrm>
          <a:prstGeom prst="roundRect">
            <a:avLst>
              <a:gd name="adj" fmla="val 16667"/>
            </a:avLst>
          </a:prstGeom>
          <a:solidFill>
            <a:srgbClr val="E09E48"/>
          </a:solidFill>
          <a:ln>
            <a:noFill/>
          </a:ln>
        </p:spPr>
      </p:sp>
      <p:sp>
        <p:nvSpPr>
          <p:cNvPr name="GraphCompose Text Line" id="111"/>
          <p:cNvSpPr txBox="true"/>
          <p:nvPr/>
        </p:nvSpPr>
        <p:spPr>
          <a:xfrm>
            <a:off x="8596933" y="6341012"/>
            <a:ext cx="744449" cy="105727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900" b="false" i="false" u="none" strike="noStrike" kern="0">
                <a:solidFill>
                  <a:srgbClr val="3C3C3C"/>
                </a:solidFill>
                <a:latin typeface="Arial"/>
              </a:rPr>
              <a:t>JasperReports</a:t>
            </a:r>
            <a:endParaRPr lang="en-US" sz="1100"/>
          </a:p>
        </p:txBody>
      </p:sp>
      <p:sp>
        <p:nvSpPr>
          <p:cNvPr name="GraphCompose Footer" id="112"/>
          <p:cNvSpPr txBox="true"/>
          <p:nvPr/>
        </p:nvSpPr>
        <p:spPr>
          <a:xfrm>
            <a:off x="203200" y="7189226"/>
            <a:ext cx="2340978" cy="140335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850" b="false" i="false" u="none" strike="noStrike" kern="0">
                <a:solidFill>
                  <a:srgbClr val="707484"/>
                </a:solidFill>
                <a:latin typeface="Arial"/>
              </a:rPr>
              <a:t>GraphCompose · v2.1.0-SNAPSHOT “navigable”</a:t>
            </a:r>
            <a:endParaRPr lang="en-US" sz="1100"/>
          </a:p>
        </p:txBody>
      </p:sp>
      <p:sp>
        <p:nvSpPr>
          <p:cNvPr name="GraphCompose Footer" id="113"/>
          <p:cNvSpPr txBox="true"/>
          <p:nvPr/>
        </p:nvSpPr>
        <p:spPr>
          <a:xfrm>
            <a:off x="9936636" y="7189226"/>
            <a:ext cx="553434" cy="140335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850" b="false" i="false" u="none" strike="noStrike" kern="0">
                <a:solidFill>
                  <a:srgbClr val="707484"/>
                </a:solidFill>
                <a:latin typeface="Arial"/>
              </a:rPr>
              <a:t>Page 4 of 4</a:t>
            </a:r>
            <a:endParaRPr lang="en-US" sz="1100"/>
          </a:p>
        </p:txBody>
      </p:sp>
      <p:cxnSp>
        <p:nvCxnSpPr>
          <p:cNvPr name="GraphCompose Footer Separator" id="114"/>
          <p:cNvCxnSpPr/>
          <p:nvPr/>
        </p:nvCxnSpPr>
        <p:spPr>
          <a:xfrm>
            <a:off x="203200" y="7179001"/>
            <a:ext cx="10285600" cy="0"/>
          </a:xfrm>
          <a:prstGeom prst="line">
            <a:avLst/>
          </a:prstGeom>
          <a:ln w="6350">
            <a:solidFill>
              <a:srgbClr val="A78BFA"/>
            </a:solidFill>
          </a:ln>
        </p:spPr>
      </p:cxn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GraphCompose Examples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creator>GraphCompose</dc:creator>
  <cp:keywords>graphcompose, pdf, java, dsl, charts, svg, showcase, 2.1.0-SNAPSHOT</cp:keywords>
  <dcterms:modified xsi:type="dcterms:W3CDTF">2011-08-01T06:04:30Z</dcterms:modified>
  <cp:revision>1</cp:revision>
  <dc:subject>What the GraphCompose document engine is — rendered by the engine itself</dc:subject>
  <dc:title>GraphCompose 2.1.0-SNAPSHOT — navigable</dc:title>
</cp:coreProperties>
</file>