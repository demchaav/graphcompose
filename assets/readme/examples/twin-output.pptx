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C1B"/>
          </a:solidFill>
          <a:ln>
            <a:noFill/>
          </a:ln>
        </p:spPr>
      </p:sp>
      <p:sp>
        <p:nvSpPr>
          <p:cNvPr name="AutoShape 3" id="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90C1B"/>
              </a:gs>
              <a:gs pos="58000">
                <a:srgbClr val="111127"/>
              </a:gs>
              <a:gs pos="100000">
                <a:srgbClr val="1F153D"/>
              </a:gs>
            </a:gsLst>
            <a:lin ang="20880000"/>
          </a:gradFill>
          <a:ln>
            <a:noFill/>
          </a:ln>
        </p:spPr>
      </p:sp>
      <p:sp>
        <p:nvSpPr>
          <p:cNvPr name="AutoShape 4" id="4"/>
          <p:cNvSpPr/>
          <p:nvPr/>
        </p:nvSpPr>
        <p:spPr>
          <a:xfrm>
            <a:off x="8128000" y="-2159000"/>
            <a:ext cx="5461000" cy="5461000"/>
          </a:xfrm>
          <a:prstGeom prst="ellipse">
            <a:avLst/>
          </a:prstGeom>
          <a:solidFill>
            <a:srgbClr val="7C5CFC">
              <a:alpha val="12941"/>
            </a:srgbClr>
          </a:solidFill>
          <a:ln>
            <a:noFill/>
          </a:ln>
        </p:spPr>
      </p:sp>
      <p:sp>
        <p:nvSpPr>
          <p:cNvPr name="AutoShape 5" id="5"/>
          <p:cNvSpPr/>
          <p:nvPr/>
        </p:nvSpPr>
        <p:spPr>
          <a:xfrm>
            <a:off x="8890000" y="2413000"/>
            <a:ext cx="3810000" cy="3810000"/>
          </a:xfrm>
          <a:prstGeom prst="ellipse">
            <a:avLst/>
          </a:prstGeom>
          <a:solidFill>
            <a:srgbClr val="4EA1FF">
              <a:alpha val="9020"/>
            </a:srgbClr>
          </a:solidFill>
          <a:ln>
            <a:noFill/>
          </a:ln>
        </p:spPr>
      </p:sp>
      <p:sp>
        <p:nvSpPr>
          <p:cNvPr name="AutoShape 6" id="6"/>
          <p:cNvSpPr/>
          <p:nvPr/>
        </p:nvSpPr>
        <p:spPr>
          <a:xfrm>
            <a:off x="533400" y="304800"/>
            <a:ext cx="3937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sp>
      <p:pic>
        <p:nvPicPr>
          <p:cNvPr name="GraphCompose Clipped Composite" id="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262113"/>
            <a:ext cx="3810000" cy="898175"/>
          </a:xfrm>
          <a:prstGeom prst="rect">
            <a:avLst/>
          </a:prstGeom>
        </p:spPr>
      </p:pic>
      <p:sp>
        <p:nvSpPr>
          <p:cNvPr name="GraphCompose Text Line" id="8"/>
          <p:cNvSpPr txBox="true"/>
          <p:nvPr/>
        </p:nvSpPr>
        <p:spPr>
          <a:xfrm>
            <a:off x="660400" y="1348855"/>
            <a:ext cx="2549398" cy="87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80" b="true" i="false" u="none" strike="noStrike" kern="0">
                <a:solidFill>
                  <a:srgbClr val="37D6A1"/>
                </a:solidFill>
                <a:latin typeface="Courier New"/>
              </a:rPr>
              <a:t>GRAPHCOMPOSE / ONE SOURCE, TWO FORMATS</a:t>
            </a:r>
            <a:endParaRPr lang="en-US" sz="1100"/>
          </a:p>
        </p:txBody>
      </p:sp>
      <p:sp>
        <p:nvSpPr>
          <p:cNvPr name="GraphCompose Text Line" id="9"/>
          <p:cNvSpPr txBox="true"/>
          <p:nvPr/>
        </p:nvSpPr>
        <p:spPr>
          <a:xfrm>
            <a:off x="660400" y="1625692"/>
            <a:ext cx="2575408" cy="37592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true" i="false" u="none" strike="noStrike" kern="0">
                <a:solidFill>
                  <a:srgbClr val="F5F7FC"/>
                </a:solidFill>
                <a:latin typeface="Arial"/>
              </a:rPr>
              <a:t>Written once.</a:t>
            </a:r>
            <a:endParaRPr lang="en-US" sz="1100"/>
          </a:p>
        </p:txBody>
      </p:sp>
      <p:sp>
        <p:nvSpPr>
          <p:cNvPr name="GraphCompose Text Line" id="10"/>
          <p:cNvSpPr txBox="true"/>
          <p:nvPr/>
        </p:nvSpPr>
        <p:spPr>
          <a:xfrm>
            <a:off x="660400" y="2159092"/>
            <a:ext cx="3117952" cy="37592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true" i="false" u="none" strike="noStrike" kern="0">
                <a:solidFill>
                  <a:srgbClr val="B59FFF"/>
                </a:solidFill>
                <a:latin typeface="Arial"/>
              </a:rPr>
              <a:t>Rendered twice.</a:t>
            </a:r>
            <a:endParaRPr lang="en-US" sz="1100"/>
          </a:p>
        </p:txBody>
      </p:sp>
      <p:sp>
        <p:nvSpPr>
          <p:cNvPr name="GraphCompose Text Line" id="11"/>
          <p:cNvSpPr txBox="true"/>
          <p:nvPr/>
        </p:nvSpPr>
        <p:spPr>
          <a:xfrm>
            <a:off x="685800" y="2866346"/>
            <a:ext cx="6226551" cy="14449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30" b="false" i="false" u="none" strike="noStrike" kern="0">
                <a:solidFill>
                  <a:srgbClr val="B1B9CF"/>
                </a:solidFill>
                <a:latin typeface="Arial"/>
              </a:rPr>
              <a:t>One Java composition, one resolved layout graph, two backends: a print-ready PDF and a</a:t>
            </a:r>
            <a:endParaRPr lang="en-US" sz="1100"/>
          </a:p>
        </p:txBody>
      </p:sp>
      <p:sp>
        <p:nvSpPr>
          <p:cNvPr name="GraphCompose Text Line" id="12"/>
          <p:cNvSpPr txBox="true"/>
          <p:nvPr/>
        </p:nvSpPr>
        <p:spPr>
          <a:xfrm>
            <a:off x="685800" y="3025826"/>
            <a:ext cx="6000515" cy="14449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30" b="false" i="false" u="none" strike="noStrike" kern="0">
                <a:solidFill>
                  <a:srgbClr val="B1B9CF"/>
                </a:solidFill>
                <a:latin typeface="Arial"/>
              </a:rPr>
              <a:t>PowerPoint slide with the same geometry - where text, panels, and vectors stay native,</a:t>
            </a:r>
            <a:endParaRPr lang="en-US" sz="1100"/>
          </a:p>
        </p:txBody>
      </p:sp>
      <p:sp>
        <p:nvSpPr>
          <p:cNvPr name="GraphCompose Text Line" id="13"/>
          <p:cNvSpPr txBox="true"/>
          <p:nvPr/>
        </p:nvSpPr>
        <p:spPr>
          <a:xfrm>
            <a:off x="685800" y="3185307"/>
            <a:ext cx="1138791" cy="14449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30" b="false" i="false" u="none" strike="noStrike" kern="0">
                <a:solidFill>
                  <a:srgbClr val="B1B9CF"/>
                </a:solidFill>
                <a:latin typeface="Arial"/>
              </a:rPr>
              <a:t>editable shapes.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>
            <a:off x="660400" y="3708400"/>
            <a:ext cx="5969000" cy="1930400"/>
          </a:xfrm>
          <a:prstGeom prst="roundRect">
            <a:avLst>
              <a:gd name="adj" fmla="val 9211"/>
            </a:avLst>
          </a:prstGeom>
          <a:solidFill>
            <a:srgbClr val="070A18">
              <a:alpha val="86275"/>
            </a:srgbClr>
          </a:solidFill>
          <a:ln w="10160">
            <a:solidFill>
              <a:srgbClr val="40436C"/>
            </a:solidFill>
          </a:ln>
        </p:spPr>
      </p:sp>
      <p:sp>
        <p:nvSpPr>
          <p:cNvPr name="GraphCompose Text Line" id="15"/>
          <p:cNvSpPr txBox="true"/>
          <p:nvPr/>
        </p:nvSpPr>
        <p:spPr>
          <a:xfrm>
            <a:off x="914400" y="3836245"/>
            <a:ext cx="2896870" cy="9483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96BEFF"/>
                </a:solidFill>
                <a:latin typeface="Courier New"/>
              </a:rPr>
              <a:t>Path</a:t>
            </a:r>
            <a:r>
              <a:rPr lang="en-US" sz="950" b="false" i="false" u="none" strike="noStrike" kern="0">
                <a:solidFill>
                  <a:srgbClr val="BEC3D6"/>
                </a:solidFill>
                <a:latin typeface="Courier New"/>
              </a:rPr>
              <a:t> </a:t>
            </a:r>
            <a:r>
              <a:rPr lang="en-US" sz="950" b="false" i="false" u="none" strike="noStrike" kern="0">
                <a:solidFill>
                  <a:srgbClr val="BEC3D6"/>
                </a:solidFill>
                <a:latin typeface="Courier New"/>
              </a:rPr>
              <a:t>deck</a:t>
            </a:r>
            <a:r>
              <a:rPr lang="en-US" sz="950" b="false" i="false" u="none" strike="noStrike" kern="0">
                <a:solidFill>
                  <a:srgbClr val="BEC3D6"/>
                </a:solidFill>
                <a:latin typeface="Courier New"/>
              </a:rPr>
              <a:t> </a:t>
            </a:r>
            <a:r>
              <a:rPr lang="en-US" sz="950" b="false" i="false" u="none" strike="noStrike" kern="0">
                <a:solidFill>
                  <a:srgbClr val="BEC3D6"/>
                </a:solidFill>
                <a:latin typeface="Courier New"/>
              </a:rPr>
              <a:t>=</a:t>
            </a:r>
            <a:r>
              <a:rPr lang="en-US" sz="950" b="false" i="false" u="none" strike="noStrike" kern="0">
                <a:solidFill>
                  <a:srgbClr val="BEC3D6"/>
                </a:solidFill>
                <a:latin typeface="Courier New"/>
              </a:rPr>
              <a:t> </a:t>
            </a:r>
            <a:r>
              <a:rPr lang="en-US" sz="950" b="false" i="false" u="none" strike="noStrike" kern="0">
                <a:solidFill>
                  <a:srgbClr val="96BEFF"/>
                </a:solidFill>
                <a:latin typeface="Courier New"/>
              </a:rPr>
              <a:t>Path</a:t>
            </a:r>
            <a:r>
              <a:rPr lang="en-US" sz="950" b="false" i="false" u="none" strike="noStrike" kern="0">
                <a:solidFill>
                  <a:srgbClr val="BEC3D6"/>
                </a:solidFill>
                <a:latin typeface="Courier New"/>
              </a:rPr>
              <a:t>.of(</a:t>
            </a:r>
            <a:r>
              <a:rPr lang="en-US" sz="950" b="false" i="false" u="none" strike="noStrike" kern="0">
                <a:solidFill>
                  <a:srgbClr val="78CCAA"/>
                </a:solidFill>
                <a:latin typeface="Courier New"/>
              </a:rPr>
              <a:t>"twin-output.pptx"</a:t>
            </a:r>
            <a:r>
              <a:rPr lang="en-US" sz="950" b="false" i="false" u="none" strike="noStrike" kern="0">
                <a:solidFill>
                  <a:srgbClr val="BEC3D6"/>
                </a:solidFill>
                <a:latin typeface="Courier New"/>
              </a:rPr>
              <a:t>);</a:t>
            </a:r>
            <a:endParaRPr lang="en-US" sz="1100"/>
          </a:p>
        </p:txBody>
      </p:sp>
      <p:sp>
        <p:nvSpPr>
          <p:cNvPr name="GraphCompose Text Line" id="16"/>
          <p:cNvSpPr txBox="true"/>
          <p:nvPr/>
        </p:nvSpPr>
        <p:spPr>
          <a:xfrm>
            <a:off x="914400" y="4021665"/>
            <a:ext cx="2824480" cy="9483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B59FFF"/>
                </a:solidFill>
                <a:latin typeface="Courier New"/>
              </a:rPr>
              <a:t>try</a:t>
            </a:r>
            <a:r>
              <a:rPr lang="en-US" sz="950" b="false" i="false" u="none" strike="noStrike" kern="0">
                <a:solidFill>
                  <a:srgbClr val="BEC3D6"/>
                </a:solidFill>
                <a:latin typeface="Courier New"/>
              </a:rPr>
              <a:t> </a:t>
            </a:r>
            <a:r>
              <a:rPr lang="en-US" sz="950" b="false" i="false" u="none" strike="noStrike" kern="0">
                <a:solidFill>
                  <a:srgbClr val="BEC3D6"/>
                </a:solidFill>
                <a:latin typeface="Courier New"/>
              </a:rPr>
              <a:t>(</a:t>
            </a:r>
            <a:r>
              <a:rPr lang="en-US" sz="950" b="false" i="false" u="none" strike="noStrike" kern="0">
                <a:solidFill>
                  <a:srgbClr val="96BEFF"/>
                </a:solidFill>
                <a:latin typeface="Courier New"/>
              </a:rPr>
              <a:t>DocumentSession</a:t>
            </a:r>
            <a:r>
              <a:rPr lang="en-US" sz="950" b="false" i="false" u="none" strike="noStrike" kern="0">
                <a:solidFill>
                  <a:srgbClr val="BEC3D6"/>
                </a:solidFill>
                <a:latin typeface="Courier New"/>
              </a:rPr>
              <a:t> </a:t>
            </a:r>
            <a:r>
              <a:rPr lang="en-US" sz="950" b="false" i="false" u="none" strike="noStrike" kern="0">
                <a:solidFill>
                  <a:srgbClr val="BEC3D6"/>
                </a:solidFill>
                <a:latin typeface="Courier New"/>
              </a:rPr>
              <a:t>doc</a:t>
            </a:r>
            <a:r>
              <a:rPr lang="en-US" sz="950" b="false" i="false" u="none" strike="noStrike" kern="0">
                <a:solidFill>
                  <a:srgbClr val="BEC3D6"/>
                </a:solidFill>
                <a:latin typeface="Courier New"/>
              </a:rPr>
              <a:t> </a:t>
            </a:r>
            <a:r>
              <a:rPr lang="en-US" sz="950" b="false" i="false" u="none" strike="noStrike" kern="0">
                <a:solidFill>
                  <a:srgbClr val="BEC3D6"/>
                </a:solidFill>
                <a:latin typeface="Courier New"/>
              </a:rPr>
              <a:t>=</a:t>
            </a:r>
            <a:r>
              <a:rPr lang="en-US" sz="950" b="false" i="false" u="none" strike="noStrike" kern="0">
                <a:solidFill>
                  <a:srgbClr val="BEC3D6"/>
                </a:solidFill>
                <a:latin typeface="Courier New"/>
              </a:rPr>
              <a:t> </a:t>
            </a:r>
            <a:r>
              <a:rPr lang="en-US" sz="950" b="false" i="false" u="none" strike="noStrike" kern="0">
                <a:solidFill>
                  <a:srgbClr val="96BEFF"/>
                </a:solidFill>
                <a:latin typeface="Courier New"/>
              </a:rPr>
              <a:t>GraphCompose</a:t>
            </a:r>
            <a:endParaRPr lang="en-US" sz="1100"/>
          </a:p>
        </p:txBody>
      </p:sp>
      <p:sp>
        <p:nvSpPr>
          <p:cNvPr name="GraphCompose Text Line" id="17"/>
          <p:cNvSpPr txBox="true"/>
          <p:nvPr/>
        </p:nvSpPr>
        <p:spPr>
          <a:xfrm>
            <a:off x="1371600" y="4207085"/>
            <a:ext cx="2679700" cy="9483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BEC3D6"/>
                </a:solidFill>
                <a:latin typeface="Courier New"/>
              </a:rPr>
              <a:t>.document(</a:t>
            </a:r>
            <a:r>
              <a:rPr lang="en-US" sz="950" b="false" i="false" u="none" strike="noStrike" kern="0">
                <a:solidFill>
                  <a:srgbClr val="96BEFF"/>
                </a:solidFill>
                <a:latin typeface="Courier New"/>
              </a:rPr>
              <a:t>Path</a:t>
            </a:r>
            <a:r>
              <a:rPr lang="en-US" sz="950" b="false" i="false" u="none" strike="noStrike" kern="0">
                <a:solidFill>
                  <a:srgbClr val="BEC3D6"/>
                </a:solidFill>
                <a:latin typeface="Courier New"/>
              </a:rPr>
              <a:t>.of(</a:t>
            </a:r>
            <a:r>
              <a:rPr lang="en-US" sz="950" b="false" i="false" u="none" strike="noStrike" kern="0">
                <a:solidFill>
                  <a:srgbClr val="78CCAA"/>
                </a:solidFill>
                <a:latin typeface="Courier New"/>
              </a:rPr>
              <a:t>"twin-output.pdf"</a:t>
            </a:r>
            <a:r>
              <a:rPr lang="en-US" sz="950" b="false" i="false" u="none" strike="noStrike" kern="0">
                <a:solidFill>
                  <a:srgbClr val="BEC3D6"/>
                </a:solidFill>
                <a:latin typeface="Courier New"/>
              </a:rPr>
              <a:t>))</a:t>
            </a:r>
            <a:endParaRPr lang="en-US" sz="1100"/>
          </a:p>
        </p:txBody>
      </p:sp>
      <p:sp>
        <p:nvSpPr>
          <p:cNvPr name="GraphCompose Text Line" id="18"/>
          <p:cNvSpPr txBox="true"/>
          <p:nvPr/>
        </p:nvSpPr>
        <p:spPr>
          <a:xfrm>
            <a:off x="1371600" y="4392505"/>
            <a:ext cx="2752090" cy="9483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BEC3D6"/>
                </a:solidFill>
                <a:latin typeface="Courier New"/>
              </a:rPr>
              <a:t>.pageSize(</a:t>
            </a:r>
            <a:r>
              <a:rPr lang="en-US" sz="950" b="false" i="false" u="none" strike="noStrike" kern="0">
                <a:solidFill>
                  <a:srgbClr val="96BEFF"/>
                </a:solidFill>
                <a:latin typeface="Courier New"/>
              </a:rPr>
              <a:t>DocumentPageSize</a:t>
            </a:r>
            <a:r>
              <a:rPr lang="en-US" sz="950" b="false" i="false" u="none" strike="noStrike" kern="0">
                <a:solidFill>
                  <a:srgbClr val="BEC3D6"/>
                </a:solidFill>
                <a:latin typeface="Courier New"/>
              </a:rPr>
              <a:t>.SLIDE_16_9)</a:t>
            </a:r>
            <a:endParaRPr lang="en-US" sz="1100"/>
          </a:p>
        </p:txBody>
      </p:sp>
      <p:sp>
        <p:nvSpPr>
          <p:cNvPr name="GraphCompose Text Line" id="19"/>
          <p:cNvSpPr txBox="true"/>
          <p:nvPr/>
        </p:nvSpPr>
        <p:spPr>
          <a:xfrm>
            <a:off x="1371600" y="4577925"/>
            <a:ext cx="869950" cy="9483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BEC3D6"/>
                </a:solidFill>
                <a:latin typeface="Courier New"/>
              </a:rPr>
              <a:t>.create())</a:t>
            </a:r>
            <a:r>
              <a:rPr lang="en-US" sz="950" b="false" i="false" u="none" strike="noStrike" kern="0">
                <a:solidFill>
                  <a:srgbClr val="BEC3D6"/>
                </a:solidFill>
                <a:latin typeface="Courier New"/>
              </a:rPr>
              <a:t> </a:t>
            </a:r>
            <a:r>
              <a:rPr lang="en-US" sz="950" b="false" i="false" u="none" strike="noStrike" kern="0">
                <a:solidFill>
                  <a:srgbClr val="BEC3D6"/>
                </a:solidFill>
                <a:latin typeface="Courier New"/>
              </a:rPr>
              <a:t>{</a:t>
            </a:r>
            <a:endParaRPr lang="en-US" sz="1100"/>
          </a:p>
        </p:txBody>
      </p:sp>
      <p:sp>
        <p:nvSpPr>
          <p:cNvPr name="GraphCompose Text Line" id="20"/>
          <p:cNvSpPr txBox="true"/>
          <p:nvPr/>
        </p:nvSpPr>
        <p:spPr>
          <a:xfrm>
            <a:off x="1143000" y="4763345"/>
            <a:ext cx="942340" cy="9483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BEC3D6"/>
                </a:solidFill>
                <a:latin typeface="Courier New"/>
              </a:rPr>
              <a:t>compose(doc);</a:t>
            </a:r>
            <a:endParaRPr lang="en-US" sz="1100"/>
          </a:p>
        </p:txBody>
      </p:sp>
      <p:sp>
        <p:nvSpPr>
          <p:cNvPr name="GraphCompose Text Line" id="21"/>
          <p:cNvSpPr txBox="true"/>
          <p:nvPr/>
        </p:nvSpPr>
        <p:spPr>
          <a:xfrm>
            <a:off x="3835400" y="4763345"/>
            <a:ext cx="1304290" cy="9483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37D6A1"/>
                </a:solidFill>
                <a:latin typeface="Courier New"/>
              </a:rPr>
              <a:t>// one description</a:t>
            </a:r>
            <a:endParaRPr lang="en-US" sz="1100"/>
          </a:p>
        </p:txBody>
      </p:sp>
      <p:sp>
        <p:nvSpPr>
          <p:cNvPr name="GraphCompose Text Line" id="22"/>
          <p:cNvSpPr txBox="true"/>
          <p:nvPr/>
        </p:nvSpPr>
        <p:spPr>
          <a:xfrm>
            <a:off x="1143000" y="4948765"/>
            <a:ext cx="1087120" cy="9483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BEC3D6"/>
                </a:solidFill>
                <a:latin typeface="Courier New"/>
              </a:rPr>
              <a:t>doc.</a:t>
            </a:r>
            <a:r>
              <a:rPr lang="en-US" sz="950" b="false" i="false" u="none" strike="noStrike" kern="0">
                <a:solidFill>
                  <a:srgbClr val="B59FFF"/>
                </a:solidFill>
                <a:latin typeface="Courier New"/>
              </a:rPr>
              <a:t>buildPdf</a:t>
            </a:r>
            <a:r>
              <a:rPr lang="en-US" sz="950" b="false" i="false" u="none" strike="noStrike" kern="0">
                <a:solidFill>
                  <a:srgbClr val="BEC3D6"/>
                </a:solidFill>
                <a:latin typeface="Courier New"/>
              </a:rPr>
              <a:t>();</a:t>
            </a:r>
            <a:endParaRPr lang="en-US" sz="1100"/>
          </a:p>
        </p:txBody>
      </p:sp>
      <p:sp>
        <p:nvSpPr>
          <p:cNvPr name="GraphCompose Text Line" id="23"/>
          <p:cNvSpPr txBox="true"/>
          <p:nvPr/>
        </p:nvSpPr>
        <p:spPr>
          <a:xfrm>
            <a:off x="3835400" y="4948765"/>
            <a:ext cx="1304290" cy="9483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37D6A1"/>
                </a:solidFill>
                <a:latin typeface="Courier New"/>
              </a:rPr>
              <a:t>// print-ready PDF</a:t>
            </a:r>
            <a:endParaRPr lang="en-US" sz="1100"/>
          </a:p>
        </p:txBody>
      </p:sp>
      <p:sp>
        <p:nvSpPr>
          <p:cNvPr name="GraphCompose Text Line" id="24"/>
          <p:cNvSpPr txBox="true"/>
          <p:nvPr/>
        </p:nvSpPr>
        <p:spPr>
          <a:xfrm>
            <a:off x="1143000" y="5134185"/>
            <a:ext cx="1449070" cy="9483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BEC3D6"/>
                </a:solidFill>
                <a:latin typeface="Courier New"/>
              </a:rPr>
              <a:t>doc.</a:t>
            </a:r>
            <a:r>
              <a:rPr lang="en-US" sz="950" b="false" i="false" u="none" strike="noStrike" kern="0">
                <a:solidFill>
                  <a:srgbClr val="B59FFF"/>
                </a:solidFill>
                <a:latin typeface="Courier New"/>
              </a:rPr>
              <a:t>buildPptx</a:t>
            </a:r>
            <a:r>
              <a:rPr lang="en-US" sz="950" b="false" i="false" u="none" strike="noStrike" kern="0">
                <a:solidFill>
                  <a:srgbClr val="BEC3D6"/>
                </a:solidFill>
                <a:latin typeface="Courier New"/>
              </a:rPr>
              <a:t>(deck);</a:t>
            </a:r>
            <a:endParaRPr lang="en-US" sz="1100"/>
          </a:p>
        </p:txBody>
      </p:sp>
      <p:sp>
        <p:nvSpPr>
          <p:cNvPr name="GraphCompose Text Line" id="25"/>
          <p:cNvSpPr txBox="true"/>
          <p:nvPr/>
        </p:nvSpPr>
        <p:spPr>
          <a:xfrm>
            <a:off x="3835400" y="5134185"/>
            <a:ext cx="1593850" cy="9483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37D6A1"/>
                </a:solidFill>
                <a:latin typeface="Courier New"/>
              </a:rPr>
              <a:t>// editable PowerPoint</a:t>
            </a:r>
            <a:endParaRPr lang="en-US" sz="1100"/>
          </a:p>
        </p:txBody>
      </p:sp>
      <p:sp>
        <p:nvSpPr>
          <p:cNvPr name="GraphCompose Text Line" id="26"/>
          <p:cNvSpPr txBox="true"/>
          <p:nvPr/>
        </p:nvSpPr>
        <p:spPr>
          <a:xfrm>
            <a:off x="914400" y="5319605"/>
            <a:ext cx="73660" cy="9483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BEC3D6"/>
                </a:solidFill>
                <a:latin typeface="Courier New"/>
              </a:rPr>
              <a:t>}</a:t>
            </a:r>
            <a:endParaRPr lang="en-US" sz="1100"/>
          </a:p>
        </p:txBody>
      </p:sp>
      <p:sp>
        <p:nvSpPr>
          <p:cNvPr name="GraphCompose Text Line" id="27"/>
          <p:cNvSpPr txBox="true"/>
          <p:nvPr/>
        </p:nvSpPr>
        <p:spPr>
          <a:xfrm>
            <a:off x="7899400" y="1475855"/>
            <a:ext cx="2281174" cy="87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80" b="true" i="false" u="none" strike="noStrike" kern="0">
                <a:solidFill>
                  <a:srgbClr val="37D6A1"/>
                </a:solidFill>
                <a:latin typeface="Courier New"/>
              </a:rPr>
              <a:t>ONE RESOLVED LAYOUT / TWO BACKENDS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>
            <a:off x="8255000" y="1879600"/>
            <a:ext cx="3048000" cy="711200"/>
          </a:xfrm>
          <a:prstGeom prst="roundRect">
            <a:avLst>
              <a:gd name="adj" fmla="val 26786"/>
            </a:avLst>
          </a:prstGeom>
          <a:solidFill>
            <a:srgbClr val="1B2240"/>
          </a:solidFill>
          <a:ln w="15240">
            <a:solidFill>
              <a:srgbClr val="7C5CFC"/>
            </a:solidFill>
          </a:ln>
        </p:spPr>
      </p:sp>
      <p:sp>
        <p:nvSpPr>
          <p:cNvPr name="Freeform 29" id="29"/>
          <p:cNvSpPr/>
          <p:nvPr/>
        </p:nvSpPr>
        <p:spPr>
          <a:xfrm>
            <a:off x="8502650" y="2101850"/>
            <a:ext cx="266700" cy="266700"/>
          </a:xfrm>
          <a:custGeom>
            <a:avLst/>
            <a:gdLst/>
            <a:ahLst/>
            <a:cxnLst/>
            <a:rect r="r" b="b" t="t" l="l"/>
            <a:pathLst>
              <a:path h="266700" w="266700">
                <a:moveTo>
                  <a:pt x="0" y="42862"/>
                </a:moveTo>
                <a:cubicBezTo>
                  <a:pt x="0" y="19190"/>
                  <a:pt x="19190" y="0"/>
                  <a:pt x="42862" y="0"/>
                </a:cubicBezTo>
                <a:lnTo>
                  <a:pt x="223838" y="0"/>
                </a:lnTo>
                <a:cubicBezTo>
                  <a:pt x="247510" y="0"/>
                  <a:pt x="266700" y="19190"/>
                  <a:pt x="266700" y="42862"/>
                </a:cubicBezTo>
                <a:lnTo>
                  <a:pt x="266700" y="223838"/>
                </a:lnTo>
                <a:cubicBezTo>
                  <a:pt x="266700" y="247510"/>
                  <a:pt x="247510" y="266700"/>
                  <a:pt x="223838" y="266700"/>
                </a:cubicBezTo>
                <a:lnTo>
                  <a:pt x="42862" y="266700"/>
                </a:lnTo>
                <a:cubicBezTo>
                  <a:pt x="19190" y="266700"/>
                  <a:pt x="0" y="247510"/>
                  <a:pt x="0" y="223838"/>
                </a:cubicBezTo>
                <a:lnTo>
                  <a:pt x="0" y="42862"/>
                </a:lnTo>
                <a:close/>
                <a:moveTo>
                  <a:pt x="104775" y="238125"/>
                </a:moveTo>
                <a:lnTo>
                  <a:pt x="223838" y="238125"/>
                </a:lnTo>
                <a:cubicBezTo>
                  <a:pt x="231728" y="238125"/>
                  <a:pt x="238125" y="231728"/>
                  <a:pt x="238125" y="223838"/>
                </a:cubicBezTo>
                <a:lnTo>
                  <a:pt x="238125" y="104775"/>
                </a:lnTo>
                <a:lnTo>
                  <a:pt x="104775" y="104775"/>
                </a:lnTo>
                <a:lnTo>
                  <a:pt x="104775" y="238125"/>
                </a:lnTo>
                <a:close/>
                <a:moveTo>
                  <a:pt x="76200" y="104775"/>
                </a:moveTo>
                <a:lnTo>
                  <a:pt x="76200" y="238125"/>
                </a:lnTo>
                <a:lnTo>
                  <a:pt x="42862" y="238125"/>
                </a:lnTo>
                <a:cubicBezTo>
                  <a:pt x="34972" y="238125"/>
                  <a:pt x="28575" y="231728"/>
                  <a:pt x="28575" y="223838"/>
                </a:cubicBezTo>
                <a:lnTo>
                  <a:pt x="28575" y="104775"/>
                </a:lnTo>
                <a:lnTo>
                  <a:pt x="76200" y="104775"/>
                </a:lnTo>
                <a:close/>
                <a:moveTo>
                  <a:pt x="238125" y="76200"/>
                </a:moveTo>
                <a:lnTo>
                  <a:pt x="238125" y="42862"/>
                </a:lnTo>
                <a:cubicBezTo>
                  <a:pt x="238125" y="34972"/>
                  <a:pt x="231728" y="28575"/>
                  <a:pt x="223838" y="28575"/>
                </a:cubicBezTo>
                <a:lnTo>
                  <a:pt x="42862" y="28575"/>
                </a:lnTo>
                <a:cubicBezTo>
                  <a:pt x="34972" y="28575"/>
                  <a:pt x="28575" y="34972"/>
                  <a:pt x="28575" y="42862"/>
                </a:cubicBezTo>
                <a:lnTo>
                  <a:pt x="28575" y="76200"/>
                </a:lnTo>
                <a:lnTo>
                  <a:pt x="238125" y="76200"/>
                </a:ln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GraphCompose Text Line" id="30"/>
          <p:cNvSpPr txBox="true"/>
          <p:nvPr/>
        </p:nvSpPr>
        <p:spPr>
          <a:xfrm>
            <a:off x="8940800" y="2033778"/>
            <a:ext cx="965200" cy="11479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50" b="false" i="false" u="none" strike="noStrike" kern="0">
                <a:solidFill>
                  <a:srgbClr val="F5F7FC"/>
                </a:solidFill>
                <a:latin typeface="Courier New"/>
              </a:rPr>
              <a:t>LayoutGraph</a:t>
            </a:r>
            <a:endParaRPr lang="en-US" sz="1100"/>
          </a:p>
        </p:txBody>
      </p:sp>
      <p:sp>
        <p:nvSpPr>
          <p:cNvPr name="GraphCompose Text Line" id="31"/>
          <p:cNvSpPr txBox="true"/>
          <p:nvPr/>
        </p:nvSpPr>
        <p:spPr>
          <a:xfrm>
            <a:off x="8940800" y="2278532"/>
            <a:ext cx="1913275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B59FFF"/>
                </a:solidFill>
                <a:latin typeface="Arial"/>
              </a:rPr>
              <a:t>deterministic geometry, measured once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>
            <a:off x="9766300" y="2590800"/>
            <a:ext cx="25400" cy="482600"/>
          </a:xfrm>
          <a:prstGeom prst="rect">
            <a:avLst/>
          </a:prstGeom>
          <a:solidFill>
            <a:srgbClr val="A78BFA">
              <a:alpha val="58824"/>
            </a:srgbClr>
          </a:solidFill>
          <a:ln>
            <a:noFill/>
          </a:ln>
        </p:spPr>
      </p:sp>
      <p:sp>
        <p:nvSpPr>
          <p:cNvPr name="AutoShape 33" id="33"/>
          <p:cNvSpPr/>
          <p:nvPr/>
        </p:nvSpPr>
        <p:spPr>
          <a:xfrm>
            <a:off x="8483600" y="3073400"/>
            <a:ext cx="2590800" cy="25400"/>
          </a:xfrm>
          <a:prstGeom prst="rect">
            <a:avLst/>
          </a:prstGeom>
          <a:solidFill>
            <a:srgbClr val="A78BFA">
              <a:alpha val="58824"/>
            </a:srgbClr>
          </a:solidFill>
          <a:ln>
            <a:noFill/>
          </a:ln>
        </p:spPr>
      </p:sp>
      <p:sp>
        <p:nvSpPr>
          <p:cNvPr name="AutoShape 34" id="34"/>
          <p:cNvSpPr/>
          <p:nvPr/>
        </p:nvSpPr>
        <p:spPr>
          <a:xfrm>
            <a:off x="8483600" y="3073400"/>
            <a:ext cx="25400" cy="558800"/>
          </a:xfrm>
          <a:prstGeom prst="rect">
            <a:avLst/>
          </a:prstGeom>
          <a:solidFill>
            <a:srgbClr val="A78BFA">
              <a:alpha val="58824"/>
            </a:srgbClr>
          </a:solidFill>
          <a:ln>
            <a:noFill/>
          </a:ln>
        </p:spPr>
      </p:sp>
      <p:sp>
        <p:nvSpPr>
          <p:cNvPr name="AutoShape 35" id="35"/>
          <p:cNvSpPr/>
          <p:nvPr/>
        </p:nvSpPr>
        <p:spPr>
          <a:xfrm>
            <a:off x="11049000" y="3073400"/>
            <a:ext cx="25400" cy="558800"/>
          </a:xfrm>
          <a:prstGeom prst="rect">
            <a:avLst/>
          </a:prstGeom>
          <a:solidFill>
            <a:srgbClr val="A78BFA">
              <a:alpha val="58824"/>
            </a:srgbClr>
          </a:solidFill>
          <a:ln>
            <a:noFill/>
          </a:ln>
        </p:spPr>
      </p:sp>
      <p:sp>
        <p:nvSpPr>
          <p:cNvPr name="AutoShape 36" id="36"/>
          <p:cNvSpPr/>
          <p:nvPr/>
        </p:nvSpPr>
        <p:spPr>
          <a:xfrm>
            <a:off x="9728200" y="3035300"/>
            <a:ext cx="101600" cy="101600"/>
          </a:xfrm>
          <a:prstGeom prst="ellipse">
            <a:avLst/>
          </a:prstGeom>
          <a:solidFill>
            <a:srgbClr val="7C5CFC"/>
          </a:solidFill>
          <a:ln>
            <a:noFill/>
          </a:ln>
        </p:spPr>
      </p:sp>
      <p:sp>
        <p:nvSpPr>
          <p:cNvPr name="AutoShape 37" id="37"/>
          <p:cNvSpPr/>
          <p:nvPr/>
        </p:nvSpPr>
        <p:spPr>
          <a:xfrm>
            <a:off x="8458200" y="3048000"/>
            <a:ext cx="76200" cy="76200"/>
          </a:xfrm>
          <a:prstGeom prst="ellipse">
            <a:avLst/>
          </a:prstGeom>
          <a:solidFill>
            <a:srgbClr val="B59FFF"/>
          </a:solidFill>
          <a:ln>
            <a:noFill/>
          </a:ln>
        </p:spPr>
      </p:sp>
      <p:sp>
        <p:nvSpPr>
          <p:cNvPr name="AutoShape 38" id="38"/>
          <p:cNvSpPr/>
          <p:nvPr/>
        </p:nvSpPr>
        <p:spPr>
          <a:xfrm>
            <a:off x="11023600" y="3048000"/>
            <a:ext cx="76200" cy="76200"/>
          </a:xfrm>
          <a:prstGeom prst="ellipse">
            <a:avLst/>
          </a:prstGeom>
          <a:solidFill>
            <a:srgbClr val="B59FFF"/>
          </a:solidFill>
          <a:ln>
            <a:noFill/>
          </a:ln>
        </p:spPr>
      </p:sp>
      <p:sp>
        <p:nvSpPr>
          <p:cNvPr name="AutoShape 39" id="39"/>
          <p:cNvSpPr/>
          <p:nvPr/>
        </p:nvSpPr>
        <p:spPr>
          <a:xfrm>
            <a:off x="7429500" y="3657600"/>
            <a:ext cx="2159000" cy="1168400"/>
          </a:xfrm>
          <a:prstGeom prst="roundRect">
            <a:avLst>
              <a:gd name="adj" fmla="val 15217"/>
            </a:avLst>
          </a:prstGeom>
          <a:solidFill>
            <a:srgbClr val="141B33"/>
          </a:solidFill>
          <a:ln w="12700">
            <a:solidFill>
              <a:srgbClr val="37D6A1">
                <a:alpha val="78039"/>
              </a:srgbClr>
            </a:solidFill>
          </a:ln>
        </p:spPr>
      </p:sp>
      <p:sp>
        <p:nvSpPr>
          <p:cNvPr name="Freeform 40" id="40"/>
          <p:cNvSpPr/>
          <p:nvPr/>
        </p:nvSpPr>
        <p:spPr>
          <a:xfrm>
            <a:off x="7675990" y="3995050"/>
            <a:ext cx="13613" cy="15627"/>
          </a:xfrm>
          <a:custGeom>
            <a:avLst/>
            <a:gdLst/>
            <a:ahLst/>
            <a:cxnLst/>
            <a:rect r="r" b="b" t="t" l="l"/>
            <a:pathLst>
              <a:path h="15627" w="13613">
                <a:moveTo>
                  <a:pt x="13613" y="7407"/>
                </a:moveTo>
                <a:cubicBezTo>
                  <a:pt x="13613" y="2767"/>
                  <a:pt x="10393" y="0"/>
                  <a:pt x="4712" y="0"/>
                </a:cubicBezTo>
                <a:cubicBezTo>
                  <a:pt x="2393" y="0"/>
                  <a:pt x="822" y="229"/>
                  <a:pt x="0" y="448"/>
                </a:cubicBezTo>
                <a:lnTo>
                  <a:pt x="0" y="15335"/>
                </a:lnTo>
                <a:cubicBezTo>
                  <a:pt x="973" y="15555"/>
                  <a:pt x="2169" y="15628"/>
                  <a:pt x="3818" y="15628"/>
                </a:cubicBezTo>
                <a:cubicBezTo>
                  <a:pt x="9873" y="15628"/>
                  <a:pt x="13613" y="12568"/>
                  <a:pt x="13613" y="7407"/>
                </a:cubicBez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Freeform 41" id="41"/>
          <p:cNvSpPr/>
          <p:nvPr/>
        </p:nvSpPr>
        <p:spPr>
          <a:xfrm>
            <a:off x="7719609" y="3995206"/>
            <a:ext cx="21016" cy="33648"/>
          </a:xfrm>
          <a:custGeom>
            <a:avLst/>
            <a:gdLst/>
            <a:ahLst/>
            <a:cxnLst/>
            <a:rect r="r" b="b" t="t" l="l"/>
            <a:pathLst>
              <a:path h="33648" w="21016">
                <a:moveTo>
                  <a:pt x="5161" y="0"/>
                </a:moveTo>
                <a:cubicBezTo>
                  <a:pt x="2617" y="0"/>
                  <a:pt x="973" y="220"/>
                  <a:pt x="0" y="447"/>
                </a:cubicBezTo>
                <a:lnTo>
                  <a:pt x="0" y="33419"/>
                </a:lnTo>
                <a:cubicBezTo>
                  <a:pt x="973" y="33647"/>
                  <a:pt x="2544" y="33647"/>
                  <a:pt x="3965" y="33647"/>
                </a:cubicBezTo>
                <a:cubicBezTo>
                  <a:pt x="14285" y="33720"/>
                  <a:pt x="21016" y="28039"/>
                  <a:pt x="21016" y="16002"/>
                </a:cubicBezTo>
                <a:cubicBezTo>
                  <a:pt x="21089" y="5534"/>
                  <a:pt x="14956" y="0"/>
                  <a:pt x="5161" y="0"/>
                </a:cubicBez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Freeform 42" id="42"/>
          <p:cNvSpPr/>
          <p:nvPr/>
        </p:nvSpPr>
        <p:spPr>
          <a:xfrm>
            <a:off x="7633265" y="3822700"/>
            <a:ext cx="227470" cy="279399"/>
          </a:xfrm>
          <a:custGeom>
            <a:avLst/>
            <a:gdLst/>
            <a:ahLst/>
            <a:cxnLst/>
            <a:rect r="r" b="b" t="t" l="l"/>
            <a:pathLst>
              <a:path h="279399" w="227470">
                <a:moveTo>
                  <a:pt x="156843" y="0"/>
                </a:moveTo>
                <a:lnTo>
                  <a:pt x="44624" y="0"/>
                </a:lnTo>
                <a:cubicBezTo>
                  <a:pt x="28230" y="0"/>
                  <a:pt x="14887" y="13352"/>
                  <a:pt x="14887" y="29737"/>
                </a:cubicBezTo>
                <a:lnTo>
                  <a:pt x="14887" y="139699"/>
                </a:lnTo>
                <a:lnTo>
                  <a:pt x="11983" y="139699"/>
                </a:lnTo>
                <a:cubicBezTo>
                  <a:pt x="5366" y="139699"/>
                  <a:pt x="0" y="145060"/>
                  <a:pt x="0" y="151683"/>
                </a:cubicBezTo>
                <a:lnTo>
                  <a:pt x="0" y="224354"/>
                </a:lnTo>
                <a:cubicBezTo>
                  <a:pt x="0" y="230976"/>
                  <a:pt x="5366" y="236337"/>
                  <a:pt x="11983" y="236337"/>
                </a:cubicBezTo>
                <a:lnTo>
                  <a:pt x="14887" y="236337"/>
                </a:lnTo>
                <a:lnTo>
                  <a:pt x="14887" y="249662"/>
                </a:lnTo>
                <a:cubicBezTo>
                  <a:pt x="14887" y="266065"/>
                  <a:pt x="28230" y="279399"/>
                  <a:pt x="44624" y="279399"/>
                </a:cubicBezTo>
                <a:lnTo>
                  <a:pt x="197742" y="279399"/>
                </a:lnTo>
                <a:cubicBezTo>
                  <a:pt x="214125" y="279399"/>
                  <a:pt x="227470" y="266065"/>
                  <a:pt x="227470" y="249662"/>
                </a:cubicBezTo>
                <a:lnTo>
                  <a:pt x="227470" y="70380"/>
                </a:lnTo>
                <a:lnTo>
                  <a:pt x="156843" y="0"/>
                </a:lnTo>
                <a:close/>
                <a:moveTo>
                  <a:pt x="31436" y="164798"/>
                </a:moveTo>
                <a:cubicBezTo>
                  <a:pt x="34948" y="164204"/>
                  <a:pt x="39884" y="163757"/>
                  <a:pt x="46839" y="163757"/>
                </a:cubicBezTo>
                <a:cubicBezTo>
                  <a:pt x="53867" y="163757"/>
                  <a:pt x="58876" y="165098"/>
                  <a:pt x="62242" y="167793"/>
                </a:cubicBezTo>
                <a:cubicBezTo>
                  <a:pt x="65457" y="170332"/>
                  <a:pt x="67627" y="174524"/>
                  <a:pt x="67627" y="179457"/>
                </a:cubicBezTo>
                <a:cubicBezTo>
                  <a:pt x="67627" y="184388"/>
                  <a:pt x="65982" y="188581"/>
                  <a:pt x="62991" y="191421"/>
                </a:cubicBezTo>
                <a:cubicBezTo>
                  <a:pt x="59100" y="195083"/>
                  <a:pt x="53346" y="196727"/>
                  <a:pt x="46616" y="196727"/>
                </a:cubicBezTo>
                <a:cubicBezTo>
                  <a:pt x="45118" y="196727"/>
                  <a:pt x="43775" y="196653"/>
                  <a:pt x="42725" y="196508"/>
                </a:cubicBezTo>
                <a:lnTo>
                  <a:pt x="42725" y="214528"/>
                </a:lnTo>
                <a:lnTo>
                  <a:pt x="31436" y="214528"/>
                </a:lnTo>
                <a:lnTo>
                  <a:pt x="31436" y="164798"/>
                </a:lnTo>
                <a:close/>
                <a:moveTo>
                  <a:pt x="197742" y="261188"/>
                </a:moveTo>
                <a:lnTo>
                  <a:pt x="44624" y="261188"/>
                </a:lnTo>
                <a:cubicBezTo>
                  <a:pt x="38277" y="261188"/>
                  <a:pt x="33107" y="256019"/>
                  <a:pt x="33107" y="249662"/>
                </a:cubicBezTo>
                <a:lnTo>
                  <a:pt x="33107" y="236337"/>
                </a:lnTo>
                <a:lnTo>
                  <a:pt x="175844" y="236337"/>
                </a:lnTo>
                <a:cubicBezTo>
                  <a:pt x="182462" y="236337"/>
                  <a:pt x="187828" y="230976"/>
                  <a:pt x="187828" y="224354"/>
                </a:cubicBezTo>
                <a:lnTo>
                  <a:pt x="187828" y="151683"/>
                </a:lnTo>
                <a:cubicBezTo>
                  <a:pt x="187828" y="145060"/>
                  <a:pt x="182462" y="139699"/>
                  <a:pt x="175844" y="139699"/>
                </a:cubicBezTo>
                <a:lnTo>
                  <a:pt x="33107" y="139699"/>
                </a:lnTo>
                <a:lnTo>
                  <a:pt x="33107" y="29737"/>
                </a:lnTo>
                <a:cubicBezTo>
                  <a:pt x="33107" y="23398"/>
                  <a:pt x="38277" y="18229"/>
                  <a:pt x="44624" y="18229"/>
                </a:cubicBezTo>
                <a:lnTo>
                  <a:pt x="150030" y="18119"/>
                </a:lnTo>
                <a:lnTo>
                  <a:pt x="150030" y="57081"/>
                </a:lnTo>
                <a:cubicBezTo>
                  <a:pt x="150030" y="68461"/>
                  <a:pt x="159263" y="77703"/>
                  <a:pt x="170652" y="77703"/>
                </a:cubicBezTo>
                <a:lnTo>
                  <a:pt x="208819" y="77594"/>
                </a:lnTo>
                <a:lnTo>
                  <a:pt x="209249" y="249662"/>
                </a:lnTo>
                <a:cubicBezTo>
                  <a:pt x="209249" y="256019"/>
                  <a:pt x="204089" y="261188"/>
                  <a:pt x="197742" y="261188"/>
                </a:cubicBezTo>
                <a:close/>
                <a:moveTo>
                  <a:pt x="74906" y="214300"/>
                </a:moveTo>
                <a:lnTo>
                  <a:pt x="74906" y="164798"/>
                </a:lnTo>
                <a:cubicBezTo>
                  <a:pt x="79093" y="164131"/>
                  <a:pt x="84550" y="163757"/>
                  <a:pt x="90309" y="163757"/>
                </a:cubicBezTo>
                <a:cubicBezTo>
                  <a:pt x="99880" y="163757"/>
                  <a:pt x="106086" y="165474"/>
                  <a:pt x="110949" y="169136"/>
                </a:cubicBezTo>
                <a:cubicBezTo>
                  <a:pt x="116183" y="173026"/>
                  <a:pt x="119470" y="179228"/>
                  <a:pt x="119470" y="188132"/>
                </a:cubicBezTo>
                <a:cubicBezTo>
                  <a:pt x="119470" y="197777"/>
                  <a:pt x="115959" y="204435"/>
                  <a:pt x="111095" y="208545"/>
                </a:cubicBezTo>
                <a:cubicBezTo>
                  <a:pt x="105788" y="212956"/>
                  <a:pt x="97711" y="215048"/>
                  <a:pt x="87842" y="215048"/>
                </a:cubicBezTo>
                <a:cubicBezTo>
                  <a:pt x="81933" y="215048"/>
                  <a:pt x="77746" y="214673"/>
                  <a:pt x="74906" y="214300"/>
                </a:cubicBezTo>
                <a:close/>
                <a:moveTo>
                  <a:pt x="156515" y="184991"/>
                </a:moveTo>
                <a:lnTo>
                  <a:pt x="156515" y="194261"/>
                </a:lnTo>
                <a:lnTo>
                  <a:pt x="138417" y="194261"/>
                </a:lnTo>
                <a:lnTo>
                  <a:pt x="138417" y="214528"/>
                </a:lnTo>
                <a:lnTo>
                  <a:pt x="126978" y="214528"/>
                </a:lnTo>
                <a:lnTo>
                  <a:pt x="126978" y="164131"/>
                </a:lnTo>
                <a:lnTo>
                  <a:pt x="157784" y="164131"/>
                </a:lnTo>
                <a:lnTo>
                  <a:pt x="157784" y="173474"/>
                </a:lnTo>
                <a:lnTo>
                  <a:pt x="138417" y="173474"/>
                </a:lnTo>
                <a:lnTo>
                  <a:pt x="138417" y="184991"/>
                </a:lnTo>
                <a:lnTo>
                  <a:pt x="156515" y="184991"/>
                </a:ln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GraphCompose Text Line" id="43"/>
          <p:cNvSpPr txBox="true"/>
          <p:nvPr/>
        </p:nvSpPr>
        <p:spPr>
          <a:xfrm>
            <a:off x="7988300" y="3889672"/>
            <a:ext cx="1098550" cy="958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60" b="false" i="false" u="none" strike="noStrike" kern="0">
                <a:solidFill>
                  <a:srgbClr val="F5F7FC"/>
                </a:solidFill>
                <a:latin typeface="Courier New"/>
              </a:rPr>
              <a:t>twin-output.pdf</a:t>
            </a:r>
            <a:endParaRPr lang="en-US" sz="1100"/>
          </a:p>
        </p:txBody>
      </p:sp>
      <p:sp>
        <p:nvSpPr>
          <p:cNvPr name="GraphCompose Text Line" id="44"/>
          <p:cNvSpPr txBox="true"/>
          <p:nvPr/>
        </p:nvSpPr>
        <p:spPr>
          <a:xfrm>
            <a:off x="7607300" y="4269131"/>
            <a:ext cx="1227252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7D6A1"/>
                </a:solidFill>
                <a:latin typeface="Arial"/>
              </a:rPr>
              <a:t>fixed layout - print-ready</a:t>
            </a:r>
            <a:endParaRPr lang="en-US" sz="1100"/>
          </a:p>
        </p:txBody>
      </p:sp>
      <p:sp>
        <p:nvSpPr>
          <p:cNvPr name="GraphCompose Text Line" id="45"/>
          <p:cNvSpPr txBox="true"/>
          <p:nvPr/>
        </p:nvSpPr>
        <p:spPr>
          <a:xfrm>
            <a:off x="7607300" y="4504333"/>
            <a:ext cx="1048814" cy="9633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19" b="false" i="false" u="none" strike="noStrike" kern="0">
                <a:solidFill>
                  <a:srgbClr val="B1B9CF"/>
                </a:solidFill>
                <a:latin typeface="Arial"/>
              </a:rPr>
              <a:t>from the same session</a:t>
            </a:r>
            <a:endParaRPr lang="en-US" sz="1100"/>
          </a:p>
        </p:txBody>
      </p:sp>
      <p:sp>
        <p:nvSpPr>
          <p:cNvPr name="AutoShape 46" id="46"/>
          <p:cNvSpPr/>
          <p:nvPr/>
        </p:nvSpPr>
        <p:spPr>
          <a:xfrm>
            <a:off x="9969500" y="3657600"/>
            <a:ext cx="2159000" cy="1168400"/>
          </a:xfrm>
          <a:prstGeom prst="roundRect">
            <a:avLst>
              <a:gd name="adj" fmla="val 15217"/>
            </a:avLst>
          </a:prstGeom>
          <a:solidFill>
            <a:srgbClr val="141B33"/>
          </a:solidFill>
          <a:ln w="12700">
            <a:solidFill>
              <a:srgbClr val="4EA1FF">
                <a:alpha val="78039"/>
              </a:srgbClr>
            </a:solidFill>
          </a:ln>
        </p:spPr>
      </p:sp>
      <p:sp>
        <p:nvSpPr>
          <p:cNvPr name="Freeform 47" id="47"/>
          <p:cNvSpPr/>
          <p:nvPr/>
        </p:nvSpPr>
        <p:spPr>
          <a:xfrm>
            <a:off x="10229064" y="3883589"/>
            <a:ext cx="13609" cy="15627"/>
          </a:xfrm>
          <a:custGeom>
            <a:avLst/>
            <a:gdLst/>
            <a:ahLst/>
            <a:cxnLst/>
            <a:rect r="r" b="b" t="t" l="l"/>
            <a:pathLst>
              <a:path h="15627" w="13609">
                <a:moveTo>
                  <a:pt x="13609" y="7408"/>
                </a:moveTo>
                <a:cubicBezTo>
                  <a:pt x="13609" y="2768"/>
                  <a:pt x="10393" y="0"/>
                  <a:pt x="4693" y="0"/>
                </a:cubicBezTo>
                <a:cubicBezTo>
                  <a:pt x="2392" y="0"/>
                  <a:pt x="822" y="230"/>
                  <a:pt x="0" y="449"/>
                </a:cubicBezTo>
                <a:lnTo>
                  <a:pt x="0" y="15336"/>
                </a:lnTo>
                <a:cubicBezTo>
                  <a:pt x="968" y="15555"/>
                  <a:pt x="2155" y="15628"/>
                  <a:pt x="3799" y="15628"/>
                </a:cubicBezTo>
                <a:cubicBezTo>
                  <a:pt x="9864" y="15628"/>
                  <a:pt x="13609" y="12569"/>
                  <a:pt x="13609" y="7408"/>
                </a:cubicBez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Freeform 48" id="48"/>
          <p:cNvSpPr/>
          <p:nvPr/>
        </p:nvSpPr>
        <p:spPr>
          <a:xfrm>
            <a:off x="10185591" y="3883589"/>
            <a:ext cx="13608" cy="15627"/>
          </a:xfrm>
          <a:custGeom>
            <a:avLst/>
            <a:gdLst/>
            <a:ahLst/>
            <a:cxnLst/>
            <a:rect r="r" b="b" t="t" l="l"/>
            <a:pathLst>
              <a:path h="15627" w="13608">
                <a:moveTo>
                  <a:pt x="4712" y="0"/>
                </a:moveTo>
                <a:cubicBezTo>
                  <a:pt x="2392" y="0"/>
                  <a:pt x="821" y="230"/>
                  <a:pt x="0" y="449"/>
                </a:cubicBezTo>
                <a:lnTo>
                  <a:pt x="0" y="15336"/>
                </a:lnTo>
                <a:cubicBezTo>
                  <a:pt x="967" y="15555"/>
                  <a:pt x="2163" y="15628"/>
                  <a:pt x="3817" y="15628"/>
                </a:cubicBezTo>
                <a:cubicBezTo>
                  <a:pt x="9863" y="15628"/>
                  <a:pt x="13607" y="12569"/>
                  <a:pt x="13607" y="7408"/>
                </a:cubicBezTo>
                <a:cubicBezTo>
                  <a:pt x="13607" y="2769"/>
                  <a:pt x="10393" y="0"/>
                  <a:pt x="4712" y="0"/>
                </a:cubicBez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Freeform 49" id="49"/>
          <p:cNvSpPr/>
          <p:nvPr/>
        </p:nvSpPr>
        <p:spPr>
          <a:xfrm>
            <a:off x="10149095" y="3822700"/>
            <a:ext cx="275811" cy="279400"/>
          </a:xfrm>
          <a:custGeom>
            <a:avLst/>
            <a:gdLst/>
            <a:ahLst/>
            <a:cxnLst/>
            <a:rect r="r" b="b" t="t" l="l"/>
            <a:pathLst>
              <a:path h="279400" w="275811">
                <a:moveTo>
                  <a:pt x="205184" y="0"/>
                </a:moveTo>
                <a:lnTo>
                  <a:pt x="92965" y="0"/>
                </a:lnTo>
                <a:cubicBezTo>
                  <a:pt x="76571" y="0"/>
                  <a:pt x="63228" y="13352"/>
                  <a:pt x="63228" y="29737"/>
                </a:cubicBezTo>
                <a:lnTo>
                  <a:pt x="63228" y="35245"/>
                </a:lnTo>
                <a:lnTo>
                  <a:pt x="11983" y="35245"/>
                </a:lnTo>
                <a:cubicBezTo>
                  <a:pt x="5360" y="35245"/>
                  <a:pt x="0" y="40606"/>
                  <a:pt x="0" y="47227"/>
                </a:cubicBezTo>
                <a:lnTo>
                  <a:pt x="0" y="108246"/>
                </a:lnTo>
                <a:cubicBezTo>
                  <a:pt x="0" y="114867"/>
                  <a:pt x="5360" y="120228"/>
                  <a:pt x="11983" y="120228"/>
                </a:cubicBezTo>
                <a:lnTo>
                  <a:pt x="63228" y="120228"/>
                </a:lnTo>
                <a:lnTo>
                  <a:pt x="63228" y="249663"/>
                </a:lnTo>
                <a:cubicBezTo>
                  <a:pt x="63228" y="266066"/>
                  <a:pt x="76571" y="279400"/>
                  <a:pt x="92965" y="279400"/>
                </a:cubicBezTo>
                <a:lnTo>
                  <a:pt x="246082" y="279400"/>
                </a:lnTo>
                <a:cubicBezTo>
                  <a:pt x="262467" y="279400"/>
                  <a:pt x="275811" y="266066"/>
                  <a:pt x="275811" y="249663"/>
                </a:cubicBezTo>
                <a:lnTo>
                  <a:pt x="275811" y="70380"/>
                </a:lnTo>
                <a:lnTo>
                  <a:pt x="205184" y="0"/>
                </a:lnTo>
                <a:close/>
                <a:moveTo>
                  <a:pt x="56753" y="79960"/>
                </a:moveTo>
                <a:cubicBezTo>
                  <a:pt x="52862" y="83622"/>
                  <a:pt x="47108" y="85267"/>
                  <a:pt x="40386" y="85267"/>
                </a:cubicBezTo>
                <a:cubicBezTo>
                  <a:pt x="38888" y="85267"/>
                  <a:pt x="37536" y="85193"/>
                  <a:pt x="36496" y="85048"/>
                </a:cubicBezTo>
                <a:lnTo>
                  <a:pt x="36496" y="103067"/>
                </a:lnTo>
                <a:lnTo>
                  <a:pt x="25207" y="103067"/>
                </a:lnTo>
                <a:lnTo>
                  <a:pt x="25207" y="53337"/>
                </a:lnTo>
                <a:cubicBezTo>
                  <a:pt x="28713" y="52743"/>
                  <a:pt x="33646" y="52296"/>
                  <a:pt x="40605" y="52296"/>
                </a:cubicBezTo>
                <a:cubicBezTo>
                  <a:pt x="47638" y="52296"/>
                  <a:pt x="52642" y="53639"/>
                  <a:pt x="56003" y="56333"/>
                </a:cubicBezTo>
                <a:cubicBezTo>
                  <a:pt x="59218" y="58871"/>
                  <a:pt x="61393" y="63064"/>
                  <a:pt x="61393" y="67996"/>
                </a:cubicBezTo>
                <a:cubicBezTo>
                  <a:pt x="61393" y="72928"/>
                  <a:pt x="59748" y="77120"/>
                  <a:pt x="56753" y="79960"/>
                </a:cubicBezTo>
                <a:close/>
                <a:moveTo>
                  <a:pt x="79969" y="103067"/>
                </a:moveTo>
                <a:lnTo>
                  <a:pt x="68662" y="103067"/>
                </a:lnTo>
                <a:lnTo>
                  <a:pt x="68662" y="53337"/>
                </a:lnTo>
                <a:cubicBezTo>
                  <a:pt x="72188" y="52743"/>
                  <a:pt x="77120" y="52296"/>
                  <a:pt x="84078" y="52296"/>
                </a:cubicBezTo>
                <a:cubicBezTo>
                  <a:pt x="91112" y="52296"/>
                  <a:pt x="96116" y="53639"/>
                  <a:pt x="99477" y="56333"/>
                </a:cubicBezTo>
                <a:cubicBezTo>
                  <a:pt x="102692" y="58871"/>
                  <a:pt x="104866" y="63064"/>
                  <a:pt x="104866" y="67996"/>
                </a:cubicBezTo>
                <a:cubicBezTo>
                  <a:pt x="104866" y="72928"/>
                  <a:pt x="103222" y="77120"/>
                  <a:pt x="100226" y="79960"/>
                </a:cubicBezTo>
                <a:cubicBezTo>
                  <a:pt x="96335" y="83622"/>
                  <a:pt x="90582" y="85267"/>
                  <a:pt x="83842" y="85267"/>
                </a:cubicBezTo>
                <a:cubicBezTo>
                  <a:pt x="82361" y="85267"/>
                  <a:pt x="81010" y="85193"/>
                  <a:pt x="79969" y="85048"/>
                </a:cubicBezTo>
                <a:lnTo>
                  <a:pt x="79969" y="103067"/>
                </a:lnTo>
                <a:close/>
                <a:moveTo>
                  <a:pt x="246082" y="261189"/>
                </a:moveTo>
                <a:lnTo>
                  <a:pt x="92965" y="261189"/>
                </a:lnTo>
                <a:cubicBezTo>
                  <a:pt x="86618" y="261189"/>
                  <a:pt x="81449" y="256019"/>
                  <a:pt x="81449" y="249663"/>
                </a:cubicBezTo>
                <a:lnTo>
                  <a:pt x="81449" y="120228"/>
                </a:lnTo>
                <a:lnTo>
                  <a:pt x="162423" y="120228"/>
                </a:lnTo>
                <a:cubicBezTo>
                  <a:pt x="169044" y="120228"/>
                  <a:pt x="174405" y="114867"/>
                  <a:pt x="174405" y="108246"/>
                </a:cubicBezTo>
                <a:lnTo>
                  <a:pt x="174405" y="47227"/>
                </a:lnTo>
                <a:cubicBezTo>
                  <a:pt x="174405" y="40606"/>
                  <a:pt x="169044" y="35245"/>
                  <a:pt x="162423" y="35245"/>
                </a:cubicBezTo>
                <a:lnTo>
                  <a:pt x="81449" y="35245"/>
                </a:lnTo>
                <a:lnTo>
                  <a:pt x="81449" y="29737"/>
                </a:lnTo>
                <a:cubicBezTo>
                  <a:pt x="81449" y="23399"/>
                  <a:pt x="86618" y="18229"/>
                  <a:pt x="92965" y="18229"/>
                </a:cubicBezTo>
                <a:lnTo>
                  <a:pt x="198371" y="18120"/>
                </a:lnTo>
                <a:lnTo>
                  <a:pt x="198371" y="57082"/>
                </a:lnTo>
                <a:cubicBezTo>
                  <a:pt x="198371" y="68462"/>
                  <a:pt x="207604" y="77704"/>
                  <a:pt x="218994" y="77704"/>
                </a:cubicBezTo>
                <a:lnTo>
                  <a:pt x="257161" y="77595"/>
                </a:lnTo>
                <a:lnTo>
                  <a:pt x="257590" y="249663"/>
                </a:lnTo>
                <a:cubicBezTo>
                  <a:pt x="257590" y="256019"/>
                  <a:pt x="252430" y="261189"/>
                  <a:pt x="246082" y="261189"/>
                </a:cubicBezTo>
                <a:close/>
                <a:moveTo>
                  <a:pt x="108337" y="62242"/>
                </a:moveTo>
                <a:lnTo>
                  <a:pt x="108337" y="52670"/>
                </a:lnTo>
                <a:lnTo>
                  <a:pt x="147060" y="52670"/>
                </a:lnTo>
                <a:lnTo>
                  <a:pt x="147060" y="62242"/>
                </a:lnTo>
                <a:lnTo>
                  <a:pt x="133306" y="62242"/>
                </a:lnTo>
                <a:lnTo>
                  <a:pt x="133306" y="103067"/>
                </a:lnTo>
                <a:lnTo>
                  <a:pt x="121872" y="103067"/>
                </a:lnTo>
                <a:lnTo>
                  <a:pt x="121872" y="62242"/>
                </a:lnTo>
                <a:lnTo>
                  <a:pt x="108337" y="62242"/>
                </a:ln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Freeform 50" id="50"/>
          <p:cNvSpPr/>
          <p:nvPr/>
        </p:nvSpPr>
        <p:spPr>
          <a:xfrm>
            <a:off x="10256408" y="3957951"/>
            <a:ext cx="112876" cy="112877"/>
          </a:xfrm>
          <a:custGeom>
            <a:avLst/>
            <a:gdLst/>
            <a:ahLst/>
            <a:cxnLst/>
            <a:rect r="r" b="b" t="t" l="l"/>
            <a:pathLst>
              <a:path h="112877" w="112876">
                <a:moveTo>
                  <a:pt x="109351" y="41055"/>
                </a:moveTo>
                <a:cubicBezTo>
                  <a:pt x="108274" y="40434"/>
                  <a:pt x="106986" y="40306"/>
                  <a:pt x="105817" y="40689"/>
                </a:cubicBezTo>
                <a:lnTo>
                  <a:pt x="64425" y="53905"/>
                </a:lnTo>
                <a:cubicBezTo>
                  <a:pt x="62854" y="54398"/>
                  <a:pt x="61155" y="53987"/>
                  <a:pt x="59977" y="52836"/>
                </a:cubicBezTo>
                <a:cubicBezTo>
                  <a:pt x="58808" y="51695"/>
                  <a:pt x="58361" y="49986"/>
                  <a:pt x="58835" y="48425"/>
                </a:cubicBezTo>
                <a:lnTo>
                  <a:pt x="71237" y="6796"/>
                </a:lnTo>
                <a:cubicBezTo>
                  <a:pt x="71594" y="5608"/>
                  <a:pt x="71429" y="4321"/>
                  <a:pt x="70791" y="3261"/>
                </a:cubicBezTo>
                <a:cubicBezTo>
                  <a:pt x="70169" y="2203"/>
                  <a:pt x="69111" y="1453"/>
                  <a:pt x="67905" y="1197"/>
                </a:cubicBezTo>
                <a:cubicBezTo>
                  <a:pt x="64206" y="421"/>
                  <a:pt x="60370" y="0"/>
                  <a:pt x="56451" y="0"/>
                </a:cubicBezTo>
                <a:cubicBezTo>
                  <a:pt x="25271" y="0"/>
                  <a:pt x="0" y="25281"/>
                  <a:pt x="0" y="56443"/>
                </a:cubicBezTo>
                <a:cubicBezTo>
                  <a:pt x="0" y="87624"/>
                  <a:pt x="25271" y="112877"/>
                  <a:pt x="56451" y="112877"/>
                </a:cubicBezTo>
                <a:cubicBezTo>
                  <a:pt x="87605" y="112877"/>
                  <a:pt x="112876" y="87624"/>
                  <a:pt x="112876" y="56443"/>
                </a:cubicBezTo>
                <a:cubicBezTo>
                  <a:pt x="112876" y="52141"/>
                  <a:pt x="112392" y="47940"/>
                  <a:pt x="111470" y="43913"/>
                </a:cubicBezTo>
                <a:cubicBezTo>
                  <a:pt x="111197" y="42698"/>
                  <a:pt x="110428" y="41667"/>
                  <a:pt x="109351" y="41055"/>
                </a:cubicBez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Freeform 51" id="51"/>
          <p:cNvSpPr/>
          <p:nvPr/>
        </p:nvSpPr>
        <p:spPr>
          <a:xfrm>
            <a:off x="10323342" y="3941362"/>
            <a:ext cx="62232" cy="62539"/>
          </a:xfrm>
          <a:custGeom>
            <a:avLst/>
            <a:gdLst/>
            <a:ahLst/>
            <a:cxnLst/>
            <a:rect r="r" b="b" t="t" l="l"/>
            <a:pathLst>
              <a:path h="62539" w="62232">
                <a:moveTo>
                  <a:pt x="21557" y="177"/>
                </a:moveTo>
                <a:cubicBezTo>
                  <a:pt x="19320" y="-489"/>
                  <a:pt x="16954" y="781"/>
                  <a:pt x="16287" y="3027"/>
                </a:cubicBezTo>
                <a:lnTo>
                  <a:pt x="176" y="57096"/>
                </a:lnTo>
                <a:cubicBezTo>
                  <a:pt x="-272" y="58603"/>
                  <a:pt x="149" y="60237"/>
                  <a:pt x="1272" y="61324"/>
                </a:cubicBezTo>
                <a:cubicBezTo>
                  <a:pt x="2066" y="62109"/>
                  <a:pt x="3145" y="62539"/>
                  <a:pt x="4231" y="62539"/>
                </a:cubicBezTo>
                <a:cubicBezTo>
                  <a:pt x="4670" y="62539"/>
                  <a:pt x="5099" y="62484"/>
                  <a:pt x="5519" y="62338"/>
                </a:cubicBezTo>
                <a:lnTo>
                  <a:pt x="59286" y="45177"/>
                </a:lnTo>
                <a:cubicBezTo>
                  <a:pt x="61515" y="44455"/>
                  <a:pt x="62747" y="42081"/>
                  <a:pt x="62026" y="39852"/>
                </a:cubicBezTo>
                <a:cubicBezTo>
                  <a:pt x="55935" y="20727"/>
                  <a:pt x="40810" y="5895"/>
                  <a:pt x="21557" y="177"/>
                </a:cubicBezTo>
                <a:close/>
                <a:moveTo>
                  <a:pt x="10579" y="51835"/>
                </a:moveTo>
                <a:lnTo>
                  <a:pt x="23155" y="9667"/>
                </a:lnTo>
                <a:cubicBezTo>
                  <a:pt x="36471" y="14827"/>
                  <a:pt x="47084" y="25230"/>
                  <a:pt x="52519" y="38445"/>
                </a:cubicBezTo>
                <a:lnTo>
                  <a:pt x="10579" y="51835"/>
                </a:ln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GraphCompose Text Line" id="52"/>
          <p:cNvSpPr txBox="true"/>
          <p:nvPr/>
        </p:nvSpPr>
        <p:spPr>
          <a:xfrm>
            <a:off x="10528300" y="3889672"/>
            <a:ext cx="1171702" cy="958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60" b="false" i="false" u="none" strike="noStrike" kern="0">
                <a:solidFill>
                  <a:srgbClr val="F5F7FC"/>
                </a:solidFill>
                <a:latin typeface="Courier New"/>
              </a:rPr>
              <a:t>twin-output.pptx</a:t>
            </a:r>
            <a:endParaRPr lang="en-US" sz="1100"/>
          </a:p>
        </p:txBody>
      </p:sp>
      <p:sp>
        <p:nvSpPr>
          <p:cNvPr name="GraphCompose Text Line" id="53"/>
          <p:cNvSpPr txBox="true"/>
          <p:nvPr/>
        </p:nvSpPr>
        <p:spPr>
          <a:xfrm>
            <a:off x="10147300" y="4269131"/>
            <a:ext cx="1208392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4EA1FF"/>
                </a:solidFill>
                <a:latin typeface="Arial"/>
              </a:rPr>
              <a:t>native shapes - editable</a:t>
            </a:r>
            <a:endParaRPr lang="en-US" sz="1100"/>
          </a:p>
        </p:txBody>
      </p:sp>
      <p:sp>
        <p:nvSpPr>
          <p:cNvPr name="GraphCompose Text Line" id="54"/>
          <p:cNvSpPr txBox="true"/>
          <p:nvPr/>
        </p:nvSpPr>
        <p:spPr>
          <a:xfrm>
            <a:off x="10147300" y="4504333"/>
            <a:ext cx="1048814" cy="9633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19" b="false" i="false" u="none" strike="noStrike" kern="0">
                <a:solidFill>
                  <a:srgbClr val="B1B9CF"/>
                </a:solidFill>
                <a:latin typeface="Arial"/>
              </a:rPr>
              <a:t>from the same session</a:t>
            </a:r>
            <a:endParaRPr lang="en-US" sz="1100"/>
          </a:p>
        </p:txBody>
      </p:sp>
      <p:sp>
        <p:nvSpPr>
          <p:cNvPr name="GraphCompose Text Line" id="55"/>
          <p:cNvSpPr txBox="true"/>
          <p:nvPr/>
        </p:nvSpPr>
        <p:spPr>
          <a:xfrm>
            <a:off x="7899400" y="5032481"/>
            <a:ext cx="2547840" cy="10925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30" b="false" i="false" u="none" strike="noStrike" kern="0">
                <a:solidFill>
                  <a:srgbClr val="B1B9CF"/>
                </a:solidFill>
                <a:latin typeface="Arial"/>
              </a:rPr>
              <a:t>same coordinates - same metrics - same colours</a:t>
            </a:r>
            <a:endParaRPr lang="en-US" sz="1100"/>
          </a:p>
        </p:txBody>
      </p:sp>
      <p:sp>
        <p:nvSpPr>
          <p:cNvPr name="AutoShape 56" id="56"/>
          <p:cNvSpPr/>
          <p:nvPr/>
        </p:nvSpPr>
        <p:spPr>
          <a:xfrm>
            <a:off x="609600" y="5803900"/>
            <a:ext cx="2565400" cy="685800"/>
          </a:xfrm>
          <a:prstGeom prst="roundRect">
            <a:avLst>
              <a:gd name="adj" fmla="val 24074"/>
            </a:avLst>
          </a:prstGeom>
          <a:solidFill>
            <a:srgbClr val="FFFFFF">
              <a:alpha val="8627"/>
            </a:srgbClr>
          </a:solidFill>
          <a:ln w="11430">
            <a:solidFill>
              <a:srgbClr val="40436C"/>
            </a:solidFill>
          </a:ln>
        </p:spPr>
      </p:sp>
      <p:sp>
        <p:nvSpPr>
          <p:cNvPr name="AutoShape 57" id="57"/>
          <p:cNvSpPr/>
          <p:nvPr/>
        </p:nvSpPr>
        <p:spPr>
          <a:xfrm>
            <a:off x="812800" y="5988050"/>
            <a:ext cx="114300" cy="114300"/>
          </a:xfrm>
          <a:prstGeom prst="ellipse">
            <a:avLst/>
          </a:prstGeom>
          <a:solidFill>
            <a:srgbClr val="37D6A1"/>
          </a:solidFill>
          <a:ln>
            <a:noFill/>
          </a:ln>
        </p:spPr>
      </p:sp>
      <p:sp>
        <p:nvSpPr>
          <p:cNvPr name="GraphCompose Text Line" id="58"/>
          <p:cNvSpPr txBox="true"/>
          <p:nvPr/>
        </p:nvSpPr>
        <p:spPr>
          <a:xfrm>
            <a:off x="1041400" y="5955227"/>
            <a:ext cx="1244854" cy="1018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19" b="false" i="false" u="none" strike="noStrike" kern="0">
                <a:solidFill>
                  <a:srgbClr val="F5F7FC"/>
                </a:solidFill>
                <a:latin typeface="Courier New"/>
              </a:rPr>
              <a:t>one layout graph</a:t>
            </a:r>
            <a:endParaRPr lang="en-US" sz="1100"/>
          </a:p>
        </p:txBody>
      </p:sp>
      <p:sp>
        <p:nvSpPr>
          <p:cNvPr name="GraphCompose Text Line" id="59"/>
          <p:cNvSpPr txBox="true"/>
          <p:nvPr/>
        </p:nvSpPr>
        <p:spPr>
          <a:xfrm>
            <a:off x="1041400" y="6195405"/>
            <a:ext cx="832790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B1B9CF"/>
                </a:solidFill>
                <a:latin typeface="Arial"/>
              </a:rPr>
              <a:t>measured once</a:t>
            </a:r>
            <a:endParaRPr lang="en-US" sz="1100"/>
          </a:p>
        </p:txBody>
      </p:sp>
      <p:sp>
        <p:nvSpPr>
          <p:cNvPr name="AutoShape 60" id="60"/>
          <p:cNvSpPr/>
          <p:nvPr/>
        </p:nvSpPr>
        <p:spPr>
          <a:xfrm>
            <a:off x="3454400" y="5803900"/>
            <a:ext cx="2565400" cy="685800"/>
          </a:xfrm>
          <a:prstGeom prst="roundRect">
            <a:avLst>
              <a:gd name="adj" fmla="val 24074"/>
            </a:avLst>
          </a:prstGeom>
          <a:solidFill>
            <a:srgbClr val="FFFFFF">
              <a:alpha val="8627"/>
            </a:srgbClr>
          </a:solidFill>
          <a:ln w="11430">
            <a:solidFill>
              <a:srgbClr val="40436C"/>
            </a:solidFill>
          </a:ln>
        </p:spPr>
      </p:sp>
      <p:sp>
        <p:nvSpPr>
          <p:cNvPr name="AutoShape 61" id="61"/>
          <p:cNvSpPr/>
          <p:nvPr/>
        </p:nvSpPr>
        <p:spPr>
          <a:xfrm>
            <a:off x="3657600" y="5988050"/>
            <a:ext cx="114300" cy="114300"/>
          </a:xfrm>
          <a:prstGeom prst="ellipse">
            <a:avLst/>
          </a:prstGeom>
          <a:solidFill>
            <a:srgbClr val="37D6A1"/>
          </a:solidFill>
          <a:ln>
            <a:noFill/>
          </a:ln>
        </p:spPr>
      </p:sp>
      <p:sp>
        <p:nvSpPr>
          <p:cNvPr name="GraphCompose Text Line" id="62"/>
          <p:cNvSpPr txBox="true"/>
          <p:nvPr/>
        </p:nvSpPr>
        <p:spPr>
          <a:xfrm>
            <a:off x="3886200" y="5955227"/>
            <a:ext cx="1244854" cy="1018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19" b="false" i="false" u="none" strike="noStrike" kern="0">
                <a:solidFill>
                  <a:srgbClr val="F5F7FC"/>
                </a:solidFill>
                <a:latin typeface="Courier New"/>
              </a:rPr>
              <a:t>1 page = 1 slide</a:t>
            </a:r>
            <a:endParaRPr lang="en-US" sz="1100"/>
          </a:p>
        </p:txBody>
      </p:sp>
      <p:sp>
        <p:nvSpPr>
          <p:cNvPr name="GraphCompose Text Line" id="63"/>
          <p:cNvSpPr txBox="true"/>
          <p:nvPr/>
        </p:nvSpPr>
        <p:spPr>
          <a:xfrm>
            <a:off x="3886200" y="6195405"/>
            <a:ext cx="98022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B1B9CF"/>
                </a:solidFill>
                <a:latin typeface="Arial"/>
              </a:rPr>
              <a:t>identical geometry</a:t>
            </a:r>
            <a:endParaRPr lang="en-US" sz="1100"/>
          </a:p>
        </p:txBody>
      </p:sp>
      <p:sp>
        <p:nvSpPr>
          <p:cNvPr name="AutoShape 64" id="64"/>
          <p:cNvSpPr/>
          <p:nvPr/>
        </p:nvSpPr>
        <p:spPr>
          <a:xfrm>
            <a:off x="6299200" y="5803900"/>
            <a:ext cx="2565400" cy="685800"/>
          </a:xfrm>
          <a:prstGeom prst="roundRect">
            <a:avLst>
              <a:gd name="adj" fmla="val 24074"/>
            </a:avLst>
          </a:prstGeom>
          <a:solidFill>
            <a:srgbClr val="FFFFFF">
              <a:alpha val="8627"/>
            </a:srgbClr>
          </a:solidFill>
          <a:ln w="11430">
            <a:solidFill>
              <a:srgbClr val="40436C"/>
            </a:solidFill>
          </a:ln>
        </p:spPr>
      </p:sp>
      <p:sp>
        <p:nvSpPr>
          <p:cNvPr name="AutoShape 65" id="65"/>
          <p:cNvSpPr/>
          <p:nvPr/>
        </p:nvSpPr>
        <p:spPr>
          <a:xfrm>
            <a:off x="6502400" y="5988050"/>
            <a:ext cx="114300" cy="114300"/>
          </a:xfrm>
          <a:prstGeom prst="ellipse">
            <a:avLst/>
          </a:prstGeom>
          <a:solidFill>
            <a:srgbClr val="37D6A1"/>
          </a:solidFill>
          <a:ln>
            <a:noFill/>
          </a:ln>
        </p:spPr>
      </p:sp>
      <p:sp>
        <p:nvSpPr>
          <p:cNvPr name="GraphCompose Text Line" id="66"/>
          <p:cNvSpPr txBox="true"/>
          <p:nvPr/>
        </p:nvSpPr>
        <p:spPr>
          <a:xfrm>
            <a:off x="6731000" y="5955227"/>
            <a:ext cx="1400302" cy="1018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19" b="false" i="false" u="none" strike="noStrike" kern="0">
                <a:solidFill>
                  <a:srgbClr val="F5F7FC"/>
                </a:solidFill>
                <a:latin typeface="Courier New"/>
              </a:rPr>
              <a:t>shapes stay native</a:t>
            </a:r>
            <a:endParaRPr lang="en-US" sz="1100"/>
          </a:p>
        </p:txBody>
      </p:sp>
      <p:sp>
        <p:nvSpPr>
          <p:cNvPr name="GraphCompose Text Line" id="67"/>
          <p:cNvSpPr txBox="true"/>
          <p:nvPr/>
        </p:nvSpPr>
        <p:spPr>
          <a:xfrm>
            <a:off x="6731000" y="6195405"/>
            <a:ext cx="97358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B1B9CF"/>
                </a:solidFill>
                <a:latin typeface="Arial"/>
              </a:rPr>
              <a:t>edit in PowerPoint</a:t>
            </a:r>
            <a:endParaRPr lang="en-US" sz="1100"/>
          </a:p>
        </p:txBody>
      </p:sp>
      <p:sp>
        <p:nvSpPr>
          <p:cNvPr name="AutoShape 68" id="68"/>
          <p:cNvSpPr/>
          <p:nvPr/>
        </p:nvSpPr>
        <p:spPr>
          <a:xfrm>
            <a:off x="9144000" y="5803900"/>
            <a:ext cx="2565400" cy="685800"/>
          </a:xfrm>
          <a:prstGeom prst="roundRect">
            <a:avLst>
              <a:gd name="adj" fmla="val 24074"/>
            </a:avLst>
          </a:prstGeom>
          <a:solidFill>
            <a:srgbClr val="FFFFFF">
              <a:alpha val="8627"/>
            </a:srgbClr>
          </a:solidFill>
          <a:ln w="11430">
            <a:solidFill>
              <a:srgbClr val="40436C"/>
            </a:solidFill>
          </a:ln>
        </p:spPr>
      </p:sp>
      <p:sp>
        <p:nvSpPr>
          <p:cNvPr name="AutoShape 69" id="69"/>
          <p:cNvSpPr/>
          <p:nvPr/>
        </p:nvSpPr>
        <p:spPr>
          <a:xfrm>
            <a:off x="9347200" y="5988050"/>
            <a:ext cx="114300" cy="114300"/>
          </a:xfrm>
          <a:prstGeom prst="ellipse">
            <a:avLst/>
          </a:prstGeom>
          <a:solidFill>
            <a:srgbClr val="37D6A1"/>
          </a:solidFill>
          <a:ln>
            <a:noFill/>
          </a:ln>
        </p:spPr>
      </p:sp>
      <p:sp>
        <p:nvSpPr>
          <p:cNvPr name="GraphCompose Text Line" id="70"/>
          <p:cNvSpPr txBox="true"/>
          <p:nvPr/>
        </p:nvSpPr>
        <p:spPr>
          <a:xfrm>
            <a:off x="9575800" y="5955227"/>
            <a:ext cx="856234" cy="1018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19" b="false" i="false" u="none" strike="noStrike" kern="0">
                <a:solidFill>
                  <a:srgbClr val="F5F7FC"/>
                </a:solidFill>
                <a:latin typeface="Courier New"/>
              </a:rPr>
              <a:t>render-pptx</a:t>
            </a:r>
            <a:endParaRPr lang="en-US" sz="1100"/>
          </a:p>
        </p:txBody>
      </p:sp>
      <p:sp>
        <p:nvSpPr>
          <p:cNvPr name="GraphCompose Text Line" id="71"/>
          <p:cNvSpPr txBox="true"/>
          <p:nvPr/>
        </p:nvSpPr>
        <p:spPr>
          <a:xfrm>
            <a:off x="9575800" y="6195405"/>
            <a:ext cx="1074210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B1B9CF"/>
                </a:solidFill>
                <a:latin typeface="Arial"/>
              </a:rPr>
              <a:t>beta - opt-in module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GraphCompose Examples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creator>GraphCompose</dc:creator>
  <cp:keywords>graphcompose, java, pdf, pptx, dual output, editable slides</cp:keywords>
  <dcterms:modified xsi:type="dcterms:W3CDTF">2011-08-01T06:04:30Z</dcterms:modified>
  <cp:revision>1</cp:revision>
  <dc:subject>The same composed page emitted as a print PDF and an editable PowerPoint slide</dc:subject>
  <dc:title>GraphCompose - one source, two formats</dc:title>
</cp:coreProperties>
</file>