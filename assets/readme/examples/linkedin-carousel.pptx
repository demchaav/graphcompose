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6256000" cy="2032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101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4" id="4"/>
          <p:cNvSpPr/>
          <p:nvPr/>
        </p:nvSpPr>
        <p:spPr>
          <a:xfrm>
            <a:off x="203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5" id="5"/>
          <p:cNvSpPr/>
          <p:nvPr/>
        </p:nvSpPr>
        <p:spPr>
          <a:xfrm>
            <a:off x="304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6" id="6"/>
          <p:cNvSpPr/>
          <p:nvPr/>
        </p:nvSpPr>
        <p:spPr>
          <a:xfrm>
            <a:off x="406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7" id="7"/>
          <p:cNvSpPr/>
          <p:nvPr/>
        </p:nvSpPr>
        <p:spPr>
          <a:xfrm>
            <a:off x="508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8" id="8"/>
          <p:cNvSpPr/>
          <p:nvPr/>
        </p:nvSpPr>
        <p:spPr>
          <a:xfrm>
            <a:off x="609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9" id="9"/>
          <p:cNvSpPr/>
          <p:nvPr/>
        </p:nvSpPr>
        <p:spPr>
          <a:xfrm>
            <a:off x="711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0" id="10"/>
          <p:cNvSpPr/>
          <p:nvPr/>
        </p:nvSpPr>
        <p:spPr>
          <a:xfrm>
            <a:off x="812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1" id="11"/>
          <p:cNvSpPr/>
          <p:nvPr/>
        </p:nvSpPr>
        <p:spPr>
          <a:xfrm>
            <a:off x="914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2" id="12"/>
          <p:cNvSpPr/>
          <p:nvPr/>
        </p:nvSpPr>
        <p:spPr>
          <a:xfrm>
            <a:off x="1016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3" id="13"/>
          <p:cNvSpPr/>
          <p:nvPr/>
        </p:nvSpPr>
        <p:spPr>
          <a:xfrm>
            <a:off x="11176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4" id="14"/>
          <p:cNvSpPr/>
          <p:nvPr/>
        </p:nvSpPr>
        <p:spPr>
          <a:xfrm>
            <a:off x="12192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5" id="15"/>
          <p:cNvSpPr/>
          <p:nvPr/>
        </p:nvSpPr>
        <p:spPr>
          <a:xfrm>
            <a:off x="13208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6" id="16"/>
          <p:cNvSpPr/>
          <p:nvPr/>
        </p:nvSpPr>
        <p:spPr>
          <a:xfrm>
            <a:off x="14224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7" id="17"/>
          <p:cNvSpPr/>
          <p:nvPr/>
        </p:nvSpPr>
        <p:spPr>
          <a:xfrm>
            <a:off x="15240000" y="6096000"/>
            <a:ext cx="7620" cy="812800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0" y="711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19" id="19"/>
          <p:cNvSpPr/>
          <p:nvPr/>
        </p:nvSpPr>
        <p:spPr>
          <a:xfrm>
            <a:off x="0" y="8128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0" id="20"/>
          <p:cNvSpPr/>
          <p:nvPr/>
        </p:nvSpPr>
        <p:spPr>
          <a:xfrm>
            <a:off x="0" y="9144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0" y="10160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2" id="22"/>
          <p:cNvSpPr/>
          <p:nvPr/>
        </p:nvSpPr>
        <p:spPr>
          <a:xfrm>
            <a:off x="0" y="11176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3" id="23"/>
          <p:cNvSpPr/>
          <p:nvPr/>
        </p:nvSpPr>
        <p:spPr>
          <a:xfrm>
            <a:off x="0" y="12192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0" y="13208000"/>
            <a:ext cx="16256000" cy="7620"/>
          </a:xfrm>
          <a:prstGeom prst="rect">
            <a:avLst/>
          </a:prstGeom>
          <a:solidFill>
            <a:srgbClr val="262C4E">
              <a:alpha val="50196"/>
            </a:srgbClr>
          </a:solidFill>
          <a:ln>
            <a:noFill/>
          </a:ln>
        </p:spPr>
      </p:sp>
      <p:sp>
        <p:nvSpPr>
          <p:cNvPr name="AutoShape 25" id="25"/>
          <p:cNvSpPr/>
          <p:nvPr/>
        </p:nvSpPr>
        <p:spPr>
          <a:xfrm>
            <a:off x="711200" y="6527800"/>
            <a:ext cx="4318000" cy="939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pic>
        <p:nvPicPr>
          <p:cNvPr name="GraphCompose Clipped Composite" id="2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77000"/>
            <a:ext cx="4191000" cy="987992"/>
          </a:xfrm>
          <a:prstGeom prst="rect">
            <a:avLst/>
          </a:prstGeom>
        </p:spPr>
      </p:pic>
      <p:sp>
        <p:nvSpPr>
          <p:cNvPr name="GraphCompose Text Line" id="27"/>
          <p:cNvSpPr txBox="true"/>
          <p:nvPr/>
        </p:nvSpPr>
        <p:spPr>
          <a:xfrm>
            <a:off x="762000" y="7373989"/>
            <a:ext cx="3316656" cy="21145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b="true" i="false" u="none" strike="noStrike" kern="0">
                <a:solidFill>
                  <a:srgbClr val="F5F7FC"/>
                </a:solidFill>
                <a:latin typeface="Arial"/>
              </a:rPr>
              <a:t>One layout pass. Two outputs.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762000" y="13508476"/>
            <a:ext cx="3331210" cy="11479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50" b="false" i="false" u="none" strike="noStrike" kern="0">
                <a:solidFill>
                  <a:srgbClr val="37D6A1"/>
                </a:solidFill>
                <a:latin typeface="Courier New"/>
              </a:rPr>
              <a:t>Java 17+   ·   MIT   ·   Maven Central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787400" y="9906000"/>
            <a:ext cx="1498600" cy="1422400"/>
          </a:xfrm>
          <a:prstGeom prst="roundRect">
            <a:avLst>
              <a:gd name="adj" fmla="val 5357"/>
            </a:avLst>
          </a:prstGeom>
          <a:solidFill>
            <a:srgbClr val="000000">
              <a:alpha val="0"/>
            </a:srgbClr>
          </a:solidFill>
          <a:ln w="11430">
            <a:solidFill>
              <a:srgbClr val="37D6A1">
                <a:alpha val="45098"/>
              </a:srgbClr>
            </a:solidFill>
          </a:ln>
        </p:spPr>
      </p:sp>
      <p:sp>
        <p:nvSpPr>
          <p:cNvPr name="AutoShape 30" id="30"/>
          <p:cNvSpPr/>
          <p:nvPr/>
        </p:nvSpPr>
        <p:spPr>
          <a:xfrm>
            <a:off x="990600" y="101600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1" id="31"/>
          <p:cNvSpPr/>
          <p:nvPr/>
        </p:nvSpPr>
        <p:spPr>
          <a:xfrm>
            <a:off x="1104900" y="103124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2" id="32"/>
          <p:cNvSpPr/>
          <p:nvPr/>
        </p:nvSpPr>
        <p:spPr>
          <a:xfrm>
            <a:off x="1104900" y="104140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3" id="33"/>
          <p:cNvSpPr/>
          <p:nvPr/>
        </p:nvSpPr>
        <p:spPr>
          <a:xfrm>
            <a:off x="1104900" y="105156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4" id="34"/>
          <p:cNvSpPr/>
          <p:nvPr/>
        </p:nvSpPr>
        <p:spPr>
          <a:xfrm>
            <a:off x="1104900" y="10617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5" id="35"/>
          <p:cNvSpPr/>
          <p:nvPr/>
        </p:nvSpPr>
        <p:spPr>
          <a:xfrm>
            <a:off x="1143000" y="102489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36" id="36"/>
          <p:cNvSpPr/>
          <p:nvPr/>
        </p:nvSpPr>
        <p:spPr>
          <a:xfrm>
            <a:off x="1257300" y="104013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7" id="37"/>
          <p:cNvSpPr/>
          <p:nvPr/>
        </p:nvSpPr>
        <p:spPr>
          <a:xfrm>
            <a:off x="1257300" y="105029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8" id="38"/>
          <p:cNvSpPr/>
          <p:nvPr/>
        </p:nvSpPr>
        <p:spPr>
          <a:xfrm>
            <a:off x="1257300" y="106045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39" id="39"/>
          <p:cNvSpPr/>
          <p:nvPr/>
        </p:nvSpPr>
        <p:spPr>
          <a:xfrm>
            <a:off x="1257300" y="107061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0" id="40"/>
          <p:cNvSpPr/>
          <p:nvPr/>
        </p:nvSpPr>
        <p:spPr>
          <a:xfrm>
            <a:off x="1295400" y="10337800"/>
            <a:ext cx="736600" cy="939800"/>
          </a:xfrm>
          <a:prstGeom prst="roundRect">
            <a:avLst>
              <a:gd name="adj" fmla="val 5172"/>
            </a:avLst>
          </a:prstGeom>
          <a:solidFill>
            <a:srgbClr val="141B33">
              <a:alpha val="92157"/>
            </a:srgbClr>
          </a:solidFill>
          <a:ln w="8890">
            <a:solidFill>
              <a:srgbClr val="CED5EB">
                <a:alpha val="45098"/>
              </a:srgbClr>
            </a:solidFill>
          </a:ln>
        </p:spPr>
      </p:sp>
      <p:sp>
        <p:nvSpPr>
          <p:cNvPr name="AutoShape 41" id="41"/>
          <p:cNvSpPr/>
          <p:nvPr/>
        </p:nvSpPr>
        <p:spPr>
          <a:xfrm>
            <a:off x="1409700" y="104902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2" id="42"/>
          <p:cNvSpPr/>
          <p:nvPr/>
        </p:nvSpPr>
        <p:spPr>
          <a:xfrm>
            <a:off x="1409700" y="10591800"/>
            <a:ext cx="4318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3" id="43"/>
          <p:cNvSpPr/>
          <p:nvPr/>
        </p:nvSpPr>
        <p:spPr>
          <a:xfrm>
            <a:off x="1409700" y="10693400"/>
            <a:ext cx="3810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4" id="44"/>
          <p:cNvSpPr/>
          <p:nvPr/>
        </p:nvSpPr>
        <p:spPr>
          <a:xfrm>
            <a:off x="1409700" y="10795000"/>
            <a:ext cx="330200" cy="3048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45" id="45"/>
          <p:cNvSpPr/>
          <p:nvPr/>
        </p:nvSpPr>
        <p:spPr>
          <a:xfrm>
            <a:off x="2489200" y="10617200"/>
            <a:ext cx="584200" cy="12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46" id="46"/>
          <p:cNvSpPr/>
          <p:nvPr/>
        </p:nvSpPr>
        <p:spPr>
          <a:xfrm>
            <a:off x="2489200" y="10674350"/>
            <a:ext cx="482600" cy="13970"/>
          </a:xfrm>
          <a:prstGeom prst="rect">
            <a:avLst/>
          </a:prstGeom>
          <a:solidFill>
            <a:srgbClr val="37D6A1">
              <a:alpha val="74902"/>
            </a:srgbClr>
          </a:solidFill>
          <a:ln>
            <a:noFill/>
          </a:ln>
        </p:spPr>
      </p:sp>
      <p:sp>
        <p:nvSpPr>
          <p:cNvPr name="AutoShape 47" id="47"/>
          <p:cNvSpPr/>
          <p:nvPr/>
        </p:nvSpPr>
        <p:spPr>
          <a:xfrm>
            <a:off x="2971800" y="10648950"/>
            <a:ext cx="63500" cy="635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48" id="48"/>
          <p:cNvSpPr/>
          <p:nvPr/>
        </p:nvSpPr>
        <p:spPr>
          <a:xfrm>
            <a:off x="3225800" y="8001000"/>
            <a:ext cx="5283200" cy="5029200"/>
          </a:xfrm>
          <a:prstGeom prst="roundRect">
            <a:avLst>
              <a:gd name="adj" fmla="val 2020"/>
            </a:avLst>
          </a:prstGeom>
          <a:solidFill>
            <a:srgbClr val="0F1428">
              <a:alpha val="66667"/>
            </a:srgbClr>
          </a:solidFill>
          <a:ln w="12700">
            <a:solidFill>
              <a:srgbClr val="7C5CFC">
                <a:alpha val="41961"/>
              </a:srgbClr>
            </a:solidFill>
          </a:ln>
        </p:spPr>
      </p:sp>
      <p:sp>
        <p:nvSpPr>
          <p:cNvPr name="AutoShape 49" id="49"/>
          <p:cNvSpPr/>
          <p:nvPr/>
        </p:nvSpPr>
        <p:spPr>
          <a:xfrm>
            <a:off x="5406644" y="8331200"/>
            <a:ext cx="863600" cy="381000"/>
          </a:xfrm>
          <a:prstGeom prst="roundRect">
            <a:avLst>
              <a:gd name="adj" fmla="val 13333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B59FFF"/>
            </a:solidFill>
          </a:ln>
        </p:spPr>
      </p:sp>
      <p:sp>
        <p:nvSpPr>
          <p:cNvPr name="AutoShape 50" id="50"/>
          <p:cNvSpPr/>
          <p:nvPr/>
        </p:nvSpPr>
        <p:spPr>
          <a:xfrm>
            <a:off x="5508244" y="8432800"/>
            <a:ext cx="474980" cy="38100"/>
          </a:xfrm>
          <a:prstGeom prst="rect">
            <a:avLst/>
          </a:prstGeom>
          <a:solidFill>
            <a:srgbClr val="B59FFF">
              <a:alpha val="54902"/>
            </a:srgbClr>
          </a:solidFill>
          <a:ln>
            <a:noFill/>
          </a:ln>
        </p:spPr>
      </p:sp>
      <p:sp>
        <p:nvSpPr>
          <p:cNvPr name="AutoShape 51" id="51"/>
          <p:cNvSpPr/>
          <p:nvPr/>
        </p:nvSpPr>
        <p:spPr>
          <a:xfrm>
            <a:off x="5508244" y="8534400"/>
            <a:ext cx="310896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2" id="52"/>
          <p:cNvSpPr/>
          <p:nvPr/>
        </p:nvSpPr>
        <p:spPr>
          <a:xfrm>
            <a:off x="5838444" y="8712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3" id="53"/>
          <p:cNvSpPr/>
          <p:nvPr/>
        </p:nvSpPr>
        <p:spPr>
          <a:xfrm>
            <a:off x="4359148" y="8966200"/>
            <a:ext cx="2958592" cy="127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4" id="54"/>
          <p:cNvSpPr/>
          <p:nvPr/>
        </p:nvSpPr>
        <p:spPr>
          <a:xfrm>
            <a:off x="4359148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55" id="55"/>
          <p:cNvSpPr/>
          <p:nvPr/>
        </p:nvSpPr>
        <p:spPr>
          <a:xfrm>
            <a:off x="3965448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56" id="56"/>
          <p:cNvSpPr/>
          <p:nvPr/>
        </p:nvSpPr>
        <p:spPr>
          <a:xfrm>
            <a:off x="4067048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57" id="57"/>
          <p:cNvSpPr/>
          <p:nvPr/>
        </p:nvSpPr>
        <p:spPr>
          <a:xfrm>
            <a:off x="4067048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58" id="58"/>
          <p:cNvSpPr/>
          <p:nvPr/>
        </p:nvSpPr>
        <p:spPr>
          <a:xfrm>
            <a:off x="4359148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59" id="59"/>
          <p:cNvSpPr/>
          <p:nvPr/>
        </p:nvSpPr>
        <p:spPr>
          <a:xfrm>
            <a:off x="3990848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0" id="60"/>
          <p:cNvSpPr/>
          <p:nvPr/>
        </p:nvSpPr>
        <p:spPr>
          <a:xfrm>
            <a:off x="39908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1" id="61"/>
          <p:cNvSpPr/>
          <p:nvPr/>
        </p:nvSpPr>
        <p:spPr>
          <a:xfrm>
            <a:off x="38765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2" id="62"/>
          <p:cNvSpPr/>
          <p:nvPr/>
        </p:nvSpPr>
        <p:spPr>
          <a:xfrm>
            <a:off x="43591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3" id="63"/>
          <p:cNvSpPr/>
          <p:nvPr/>
        </p:nvSpPr>
        <p:spPr>
          <a:xfrm>
            <a:off x="42448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4" id="64"/>
          <p:cNvSpPr/>
          <p:nvPr/>
        </p:nvSpPr>
        <p:spPr>
          <a:xfrm>
            <a:off x="4727448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65" id="65"/>
          <p:cNvSpPr/>
          <p:nvPr/>
        </p:nvSpPr>
        <p:spPr>
          <a:xfrm>
            <a:off x="4613148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66" id="66"/>
          <p:cNvSpPr/>
          <p:nvPr/>
        </p:nvSpPr>
        <p:spPr>
          <a:xfrm>
            <a:off x="5838444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67" id="67"/>
          <p:cNvSpPr/>
          <p:nvPr/>
        </p:nvSpPr>
        <p:spPr>
          <a:xfrm>
            <a:off x="5444744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68" id="68"/>
          <p:cNvSpPr/>
          <p:nvPr/>
        </p:nvSpPr>
        <p:spPr>
          <a:xfrm>
            <a:off x="5546344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69" id="69"/>
          <p:cNvSpPr/>
          <p:nvPr/>
        </p:nvSpPr>
        <p:spPr>
          <a:xfrm>
            <a:off x="5546344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70" id="70"/>
          <p:cNvSpPr/>
          <p:nvPr/>
        </p:nvSpPr>
        <p:spPr>
          <a:xfrm>
            <a:off x="5838444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1" id="71"/>
          <p:cNvSpPr/>
          <p:nvPr/>
        </p:nvSpPr>
        <p:spPr>
          <a:xfrm>
            <a:off x="5470144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2" id="72"/>
          <p:cNvSpPr/>
          <p:nvPr/>
        </p:nvSpPr>
        <p:spPr>
          <a:xfrm>
            <a:off x="54701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3" id="73"/>
          <p:cNvSpPr/>
          <p:nvPr/>
        </p:nvSpPr>
        <p:spPr>
          <a:xfrm>
            <a:off x="53558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4" id="74"/>
          <p:cNvSpPr/>
          <p:nvPr/>
        </p:nvSpPr>
        <p:spPr>
          <a:xfrm>
            <a:off x="58384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5" id="75"/>
          <p:cNvSpPr/>
          <p:nvPr/>
        </p:nvSpPr>
        <p:spPr>
          <a:xfrm>
            <a:off x="57241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6" id="76"/>
          <p:cNvSpPr/>
          <p:nvPr/>
        </p:nvSpPr>
        <p:spPr>
          <a:xfrm>
            <a:off x="6206744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77" id="77"/>
          <p:cNvSpPr/>
          <p:nvPr/>
        </p:nvSpPr>
        <p:spPr>
          <a:xfrm>
            <a:off x="6092444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78" id="78"/>
          <p:cNvSpPr/>
          <p:nvPr/>
        </p:nvSpPr>
        <p:spPr>
          <a:xfrm>
            <a:off x="7317740" y="8966200"/>
            <a:ext cx="12700" cy="254000"/>
          </a:xfrm>
          <a:prstGeom prst="rect">
            <a:avLst/>
          </a:prstGeom>
          <a:solidFill>
            <a:srgbClr val="7C5CFC">
              <a:alpha val="50196"/>
            </a:srgbClr>
          </a:solidFill>
          <a:ln>
            <a:noFill/>
          </a:ln>
        </p:spPr>
      </p:sp>
      <p:sp>
        <p:nvSpPr>
          <p:cNvPr name="AutoShape 79" id="79"/>
          <p:cNvSpPr/>
          <p:nvPr/>
        </p:nvSpPr>
        <p:spPr>
          <a:xfrm>
            <a:off x="6924040" y="9220200"/>
            <a:ext cx="787400" cy="355600"/>
          </a:xfrm>
          <a:prstGeom prst="roundRect">
            <a:avLst>
              <a:gd name="adj" fmla="val 14286"/>
            </a:avLst>
          </a:prstGeom>
          <a:solidFill>
            <a:srgbClr val="141B33">
              <a:alpha val="85098"/>
            </a:srgbClr>
          </a:solidFill>
          <a:ln w="11430">
            <a:solidFill>
              <a:srgbClr val="7C5CFC">
                <a:alpha val="85098"/>
              </a:srgbClr>
            </a:solidFill>
          </a:ln>
        </p:spPr>
      </p:sp>
      <p:sp>
        <p:nvSpPr>
          <p:cNvPr name="AutoShape 80" id="80"/>
          <p:cNvSpPr/>
          <p:nvPr/>
        </p:nvSpPr>
        <p:spPr>
          <a:xfrm>
            <a:off x="7025640" y="9321800"/>
            <a:ext cx="433070" cy="38100"/>
          </a:xfrm>
          <a:prstGeom prst="rect">
            <a:avLst/>
          </a:prstGeom>
          <a:solidFill>
            <a:srgbClr val="7C5CFC">
              <a:alpha val="54902"/>
            </a:srgbClr>
          </a:solidFill>
          <a:ln>
            <a:noFill/>
          </a:ln>
        </p:spPr>
      </p:sp>
      <p:sp>
        <p:nvSpPr>
          <p:cNvPr name="AutoShape 81" id="81"/>
          <p:cNvSpPr/>
          <p:nvPr/>
        </p:nvSpPr>
        <p:spPr>
          <a:xfrm>
            <a:off x="7025640" y="9423400"/>
            <a:ext cx="283464" cy="30480"/>
          </a:xfrm>
          <a:prstGeom prst="rect">
            <a:avLst/>
          </a:prstGeom>
          <a:solidFill>
            <a:srgbClr val="F5F7FC">
              <a:alpha val="21961"/>
            </a:srgbClr>
          </a:solidFill>
          <a:ln>
            <a:noFill/>
          </a:ln>
        </p:spPr>
      </p:sp>
      <p:sp>
        <p:nvSpPr>
          <p:cNvPr name="AutoShape 82" id="82"/>
          <p:cNvSpPr/>
          <p:nvPr/>
        </p:nvSpPr>
        <p:spPr>
          <a:xfrm>
            <a:off x="7317740" y="9575800"/>
            <a:ext cx="12700" cy="2286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3" id="83"/>
          <p:cNvSpPr/>
          <p:nvPr/>
        </p:nvSpPr>
        <p:spPr>
          <a:xfrm>
            <a:off x="6949440" y="9804400"/>
            <a:ext cx="736600" cy="127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4" id="84"/>
          <p:cNvSpPr/>
          <p:nvPr/>
        </p:nvSpPr>
        <p:spPr>
          <a:xfrm>
            <a:off x="69494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5" id="85"/>
          <p:cNvSpPr/>
          <p:nvPr/>
        </p:nvSpPr>
        <p:spPr>
          <a:xfrm>
            <a:off x="68351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6" id="86"/>
          <p:cNvSpPr/>
          <p:nvPr/>
        </p:nvSpPr>
        <p:spPr>
          <a:xfrm>
            <a:off x="73177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7" id="87"/>
          <p:cNvSpPr/>
          <p:nvPr/>
        </p:nvSpPr>
        <p:spPr>
          <a:xfrm>
            <a:off x="72034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88" id="88"/>
          <p:cNvSpPr/>
          <p:nvPr/>
        </p:nvSpPr>
        <p:spPr>
          <a:xfrm>
            <a:off x="7686040" y="9804400"/>
            <a:ext cx="12700" cy="152400"/>
          </a:xfrm>
          <a:prstGeom prst="rect">
            <a:avLst/>
          </a:prstGeom>
          <a:solidFill>
            <a:srgbClr val="7C5CFC">
              <a:alpha val="34902"/>
            </a:srgbClr>
          </a:solidFill>
          <a:ln>
            <a:noFill/>
          </a:ln>
        </p:spPr>
      </p:sp>
      <p:sp>
        <p:nvSpPr>
          <p:cNvPr name="AutoShape 89" id="89"/>
          <p:cNvSpPr/>
          <p:nvPr/>
        </p:nvSpPr>
        <p:spPr>
          <a:xfrm>
            <a:off x="7571740" y="9956800"/>
            <a:ext cx="228600" cy="203200"/>
          </a:xfrm>
          <a:prstGeom prst="roundRect">
            <a:avLst>
              <a:gd name="adj" fmla="val 18750"/>
            </a:avLst>
          </a:prstGeom>
          <a:solidFill>
            <a:srgbClr val="141B33">
              <a:alpha val="90196"/>
            </a:srgbClr>
          </a:solidFill>
          <a:ln w="8890">
            <a:solidFill>
              <a:srgbClr val="7C5CFC">
                <a:alpha val="50196"/>
              </a:srgbClr>
            </a:solidFill>
          </a:ln>
        </p:spPr>
      </p:sp>
      <p:sp>
        <p:nvSpPr>
          <p:cNvPr name="AutoShape 90" id="90"/>
          <p:cNvSpPr/>
          <p:nvPr/>
        </p:nvSpPr>
        <p:spPr>
          <a:xfrm>
            <a:off x="3581400" y="10744200"/>
            <a:ext cx="4572000" cy="12700"/>
          </a:xfrm>
          <a:prstGeom prst="rect">
            <a:avLst/>
          </a:prstGeom>
          <a:solidFill>
            <a:srgbClr val="7C5CFC">
              <a:alpha val="27843"/>
            </a:srgbClr>
          </a:solidFill>
          <a:ln>
            <a:noFill/>
          </a:ln>
        </p:spPr>
      </p:sp>
      <p:sp>
        <p:nvSpPr>
          <p:cNvPr name="AutoShape 91" id="91"/>
          <p:cNvSpPr/>
          <p:nvPr/>
        </p:nvSpPr>
        <p:spPr>
          <a:xfrm>
            <a:off x="3606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2" id="92"/>
          <p:cNvSpPr/>
          <p:nvPr/>
        </p:nvSpPr>
        <p:spPr>
          <a:xfrm>
            <a:off x="4114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3" id="93"/>
          <p:cNvSpPr/>
          <p:nvPr/>
        </p:nvSpPr>
        <p:spPr>
          <a:xfrm>
            <a:off x="4622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4" id="94"/>
          <p:cNvSpPr/>
          <p:nvPr/>
        </p:nvSpPr>
        <p:spPr>
          <a:xfrm>
            <a:off x="5130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5" id="95"/>
          <p:cNvSpPr/>
          <p:nvPr/>
        </p:nvSpPr>
        <p:spPr>
          <a:xfrm>
            <a:off x="5638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6" id="96"/>
          <p:cNvSpPr/>
          <p:nvPr/>
        </p:nvSpPr>
        <p:spPr>
          <a:xfrm>
            <a:off x="6146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7" id="97"/>
          <p:cNvSpPr/>
          <p:nvPr/>
        </p:nvSpPr>
        <p:spPr>
          <a:xfrm>
            <a:off x="6654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8" id="98"/>
          <p:cNvSpPr/>
          <p:nvPr/>
        </p:nvSpPr>
        <p:spPr>
          <a:xfrm>
            <a:off x="7162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99" id="99"/>
          <p:cNvSpPr/>
          <p:nvPr/>
        </p:nvSpPr>
        <p:spPr>
          <a:xfrm>
            <a:off x="7670800" y="10972800"/>
            <a:ext cx="355600" cy="127000"/>
          </a:xfrm>
          <a:prstGeom prst="rect">
            <a:avLst/>
          </a:prstGeom>
          <a:solidFill>
            <a:srgbClr val="7C5CFC">
              <a:alpha val="30196"/>
            </a:srgbClr>
          </a:solidFill>
          <a:ln>
            <a:noFill/>
          </a:ln>
        </p:spPr>
      </p:sp>
      <p:sp>
        <p:nvSpPr>
          <p:cNvPr name="AutoShape 100" id="100"/>
          <p:cNvSpPr/>
          <p:nvPr/>
        </p:nvSpPr>
        <p:spPr>
          <a:xfrm>
            <a:off x="36068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1" id="101"/>
          <p:cNvSpPr/>
          <p:nvPr/>
        </p:nvSpPr>
        <p:spPr>
          <a:xfrm>
            <a:off x="42672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2" id="102"/>
          <p:cNvSpPr/>
          <p:nvPr/>
        </p:nvSpPr>
        <p:spPr>
          <a:xfrm>
            <a:off x="49276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3" id="103"/>
          <p:cNvSpPr/>
          <p:nvPr/>
        </p:nvSpPr>
        <p:spPr>
          <a:xfrm>
            <a:off x="55880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4" id="104"/>
          <p:cNvSpPr/>
          <p:nvPr/>
        </p:nvSpPr>
        <p:spPr>
          <a:xfrm>
            <a:off x="62484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5" id="105"/>
          <p:cNvSpPr/>
          <p:nvPr/>
        </p:nvSpPr>
        <p:spPr>
          <a:xfrm>
            <a:off x="69088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6" id="106"/>
          <p:cNvSpPr/>
          <p:nvPr/>
        </p:nvSpPr>
        <p:spPr>
          <a:xfrm>
            <a:off x="7569200" y="11353800"/>
            <a:ext cx="457200" cy="76200"/>
          </a:xfrm>
          <a:prstGeom prst="rect">
            <a:avLst/>
          </a:prstGeom>
          <a:solidFill>
            <a:srgbClr val="F5F7FC">
              <a:alpha val="12941"/>
            </a:srgbClr>
          </a:solidFill>
          <a:ln>
            <a:noFill/>
          </a:ln>
        </p:spPr>
      </p:sp>
      <p:sp>
        <p:nvSpPr>
          <p:cNvPr name="AutoShape 107" id="107"/>
          <p:cNvSpPr/>
          <p:nvPr/>
        </p:nvSpPr>
        <p:spPr>
          <a:xfrm>
            <a:off x="36068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8" id="108"/>
          <p:cNvSpPr/>
          <p:nvPr/>
        </p:nvSpPr>
        <p:spPr>
          <a:xfrm>
            <a:off x="45212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09" id="109"/>
          <p:cNvSpPr/>
          <p:nvPr/>
        </p:nvSpPr>
        <p:spPr>
          <a:xfrm>
            <a:off x="54356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0" id="110"/>
          <p:cNvSpPr/>
          <p:nvPr/>
        </p:nvSpPr>
        <p:spPr>
          <a:xfrm>
            <a:off x="63500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1" id="111"/>
          <p:cNvSpPr/>
          <p:nvPr/>
        </p:nvSpPr>
        <p:spPr>
          <a:xfrm>
            <a:off x="7264400" y="11607800"/>
            <a:ext cx="660400" cy="76200"/>
          </a:xfrm>
          <a:prstGeom prst="rect">
            <a:avLst/>
          </a:prstGeom>
          <a:solidFill>
            <a:srgbClr val="F5F7FC">
              <a:alpha val="10196"/>
            </a:srgbClr>
          </a:solidFill>
          <a:ln>
            <a:noFill/>
          </a:ln>
        </p:spPr>
      </p:sp>
      <p:sp>
        <p:nvSpPr>
          <p:cNvPr name="AutoShape 112" id="112"/>
          <p:cNvSpPr/>
          <p:nvPr/>
        </p:nvSpPr>
        <p:spPr>
          <a:xfrm>
            <a:off x="3581400" y="11963400"/>
            <a:ext cx="4572000" cy="12700"/>
          </a:xfrm>
          <a:prstGeom prst="rect">
            <a:avLst/>
          </a:prstGeom>
          <a:solidFill>
            <a:srgbClr val="7C5CFC">
              <a:alpha val="21961"/>
            </a:srgbClr>
          </a:solidFill>
          <a:ln>
            <a:noFill/>
          </a:ln>
        </p:spPr>
      </p:sp>
      <p:sp>
        <p:nvSpPr>
          <p:cNvPr name="GraphCompose Text Line" id="113"/>
          <p:cNvSpPr txBox="true"/>
          <p:nvPr/>
        </p:nvSpPr>
        <p:spPr>
          <a:xfrm>
            <a:off x="3581400" y="12116645"/>
            <a:ext cx="217297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50" b="false" i="false" u="none" strike="noStrike" kern="0">
                <a:solidFill>
                  <a:srgbClr val="B1B9CF"/>
                </a:solidFill>
                <a:latin typeface="Courier New"/>
              </a:rPr>
              <a:t>measure  ·  paginate  ·  place</a:t>
            </a:r>
            <a:endParaRPr lang="en-US" sz="1100"/>
          </a:p>
        </p:txBody>
      </p:sp>
      <p:sp>
        <p:nvSpPr>
          <p:cNvPr name="GraphCompose Text Line" id="114"/>
          <p:cNvSpPr txBox="true"/>
          <p:nvPr/>
        </p:nvSpPr>
        <p:spPr>
          <a:xfrm>
            <a:off x="3276600" y="7642368"/>
            <a:ext cx="1761490" cy="10980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false" i="false" u="none" strike="noStrike" kern="0">
                <a:solidFill>
                  <a:srgbClr val="B59FFF"/>
                </a:solidFill>
                <a:latin typeface="Courier New"/>
              </a:rPr>
              <a:t>RESOLVED LAYOUT GRAPH</a:t>
            </a:r>
            <a:endParaRPr lang="en-US" sz="1100"/>
          </a:p>
        </p:txBody>
      </p:sp>
      <p:sp>
        <p:nvSpPr>
          <p:cNvPr name="Freeform 115" id="115"/>
          <p:cNvSpPr/>
          <p:nvPr/>
        </p:nvSpPr>
        <p:spPr>
          <a:xfrm>
            <a:off x="8509000" y="7289800"/>
            <a:ext cx="1422400" cy="2921000"/>
          </a:xfrm>
          <a:custGeom>
            <a:avLst/>
            <a:gdLst/>
            <a:ahLst/>
            <a:cxnLst/>
            <a:rect r="r" b="b" t="t" l="l"/>
            <a:pathLst>
              <a:path h="2921000" w="1422400">
                <a:moveTo>
                  <a:pt x="0" y="1968500"/>
                </a:moveTo>
                <a:lnTo>
                  <a:pt x="1422400" y="0"/>
                </a:lnTo>
                <a:lnTo>
                  <a:pt x="1422400" y="2921000"/>
                </a:lnTo>
                <a:close/>
              </a:path>
            </a:pathLst>
          </a:custGeom>
          <a:solidFill>
            <a:srgbClr val="7C5CFC">
              <a:alpha val="14902"/>
            </a:srgbClr>
          </a:solidFill>
          <a:ln cap="flat">
            <a:noFill/>
            <a:miter/>
          </a:ln>
        </p:spPr>
      </p:sp>
      <p:sp>
        <p:nvSpPr>
          <p:cNvPr name="Freeform 116" id="116"/>
          <p:cNvSpPr/>
          <p:nvPr/>
        </p:nvSpPr>
        <p:spPr>
          <a:xfrm>
            <a:off x="8509000" y="11249660"/>
            <a:ext cx="1422400" cy="2240280"/>
          </a:xfrm>
          <a:custGeom>
            <a:avLst/>
            <a:gdLst/>
            <a:ahLst/>
            <a:cxnLst/>
            <a:rect r="r" b="b" t="t" l="l"/>
            <a:pathLst>
              <a:path h="2240280" w="1422400">
                <a:moveTo>
                  <a:pt x="0" y="572516"/>
                </a:moveTo>
                <a:lnTo>
                  <a:pt x="1422400" y="0"/>
                </a:lnTo>
                <a:lnTo>
                  <a:pt x="1422400" y="2240280"/>
                </a:lnTo>
                <a:close/>
              </a:path>
            </a:pathLst>
          </a:custGeom>
          <a:solidFill>
            <a:srgbClr val="37D6A1">
              <a:alpha val="12941"/>
            </a:srgbClr>
          </a:solidFill>
          <a:ln cap="flat">
            <a:noFill/>
            <a:miter/>
          </a:ln>
        </p:spPr>
      </p:sp>
      <p:sp>
        <p:nvSpPr>
          <p:cNvPr name="AutoShape 117" id="117"/>
          <p:cNvSpPr/>
          <p:nvPr/>
        </p:nvSpPr>
        <p:spPr>
          <a:xfrm>
            <a:off x="8458200" y="9220200"/>
            <a:ext cx="101600" cy="101600"/>
          </a:xfrm>
          <a:prstGeom prst="ellipse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AutoShape 118" id="118"/>
          <p:cNvSpPr/>
          <p:nvPr/>
        </p:nvSpPr>
        <p:spPr>
          <a:xfrm>
            <a:off x="8458200" y="11785600"/>
            <a:ext cx="101600" cy="101600"/>
          </a:xfrm>
          <a:prstGeom prst="ellipse">
            <a:avLst/>
          </a:prstGeom>
          <a:solidFill>
            <a:srgbClr val="37D6A1"/>
          </a:solidFill>
          <a:ln>
            <a:noFill/>
          </a:ln>
        </p:spPr>
      </p:sp>
      <p:sp>
        <p:nvSpPr>
          <p:cNvPr name="AutoShape 119" id="119"/>
          <p:cNvSpPr/>
          <p:nvPr/>
        </p:nvSpPr>
        <p:spPr>
          <a:xfrm>
            <a:off x="9931400" y="7162800"/>
            <a:ext cx="2413000" cy="3175000"/>
          </a:xfrm>
          <a:prstGeom prst="roundRect">
            <a:avLst>
              <a:gd name="adj" fmla="val 3158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7C5CFC"/>
            </a:solidFill>
          </a:ln>
        </p:spPr>
      </p:sp>
      <p:sp>
        <p:nvSpPr>
          <p:cNvPr name="AutoShape 120" id="120"/>
          <p:cNvSpPr/>
          <p:nvPr/>
        </p:nvSpPr>
        <p:spPr>
          <a:xfrm>
            <a:off x="10109200" y="7340600"/>
            <a:ext cx="2057400" cy="281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21"/>
          <p:cNvSpPr txBox="true"/>
          <p:nvPr/>
        </p:nvSpPr>
        <p:spPr>
          <a:xfrm>
            <a:off x="10109200" y="73096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22"/>
          <p:cNvSpPr txBox="true"/>
          <p:nvPr/>
        </p:nvSpPr>
        <p:spPr>
          <a:xfrm>
            <a:off x="10109200" y="7562715"/>
            <a:ext cx="1940357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</a:t>
            </a:r>
            <a:endParaRPr lang="en-US" sz="1100"/>
          </a:p>
        </p:txBody>
      </p:sp>
      <p:sp>
        <p:nvSpPr>
          <p:cNvPr name="GraphCompose Text Line" id="123"/>
          <p:cNvSpPr txBox="true"/>
          <p:nvPr/>
        </p:nvSpPr>
        <p:spPr>
          <a:xfrm>
            <a:off x="10109200" y="7659044"/>
            <a:ext cx="267452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twice.</a:t>
            </a:r>
            <a:endParaRPr lang="en-US" sz="1100"/>
          </a:p>
        </p:txBody>
      </p:sp>
      <p:cxnSp>
        <p:nvCxnSpPr>
          <p:cNvPr name="Connector 124" id="124"/>
          <p:cNvCxnSpPr/>
          <p:nvPr/>
        </p:nvCxnSpPr>
        <p:spPr>
          <a:xfrm flipV="false">
            <a:off x="10274300" y="93129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5"/>
          <p:cNvSpPr txBox="true"/>
          <p:nvPr/>
        </p:nvSpPr>
        <p:spPr>
          <a:xfrm>
            <a:off x="10166350" y="9266950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26" id="126"/>
          <p:cNvCxnSpPr/>
          <p:nvPr/>
        </p:nvCxnSpPr>
        <p:spPr>
          <a:xfrm flipV="false">
            <a:off x="10274300" y="895998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7"/>
          <p:cNvSpPr txBox="true"/>
          <p:nvPr/>
        </p:nvSpPr>
        <p:spPr>
          <a:xfrm>
            <a:off x="10109200" y="89140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28" id="128"/>
          <p:cNvCxnSpPr/>
          <p:nvPr/>
        </p:nvCxnSpPr>
        <p:spPr>
          <a:xfrm flipV="false">
            <a:off x="10274300" y="860706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9"/>
          <p:cNvSpPr txBox="true"/>
          <p:nvPr/>
        </p:nvSpPr>
        <p:spPr>
          <a:xfrm>
            <a:off x="10109200" y="856110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30" id="130"/>
          <p:cNvCxnSpPr/>
          <p:nvPr/>
        </p:nvCxnSpPr>
        <p:spPr>
          <a:xfrm flipV="false">
            <a:off x="10274300" y="8254135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1"/>
          <p:cNvSpPr txBox="true"/>
          <p:nvPr/>
        </p:nvSpPr>
        <p:spPr>
          <a:xfrm>
            <a:off x="10109200" y="820817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32" id="132"/>
          <p:cNvCxnSpPr/>
          <p:nvPr/>
        </p:nvCxnSpPr>
        <p:spPr>
          <a:xfrm flipV="false">
            <a:off x="10274300" y="7901210"/>
            <a:ext cx="1892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33"/>
          <p:cNvSpPr txBox="true"/>
          <p:nvPr/>
        </p:nvSpPr>
        <p:spPr>
          <a:xfrm>
            <a:off x="10109200" y="785525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34" id="134"/>
          <p:cNvSpPr/>
          <p:nvPr/>
        </p:nvSpPr>
        <p:spPr>
          <a:xfrm>
            <a:off x="10398955" y="8571767"/>
            <a:ext cx="223764" cy="74114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5" id="135"/>
          <p:cNvSpPr/>
          <p:nvPr/>
        </p:nvSpPr>
        <p:spPr>
          <a:xfrm>
            <a:off x="10872030" y="8289427"/>
            <a:ext cx="223764" cy="102348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6" id="136"/>
          <p:cNvSpPr/>
          <p:nvPr/>
        </p:nvSpPr>
        <p:spPr>
          <a:xfrm>
            <a:off x="11345105" y="8412951"/>
            <a:ext cx="223764" cy="899959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AutoShape 137" id="137"/>
          <p:cNvSpPr/>
          <p:nvPr/>
        </p:nvSpPr>
        <p:spPr>
          <a:xfrm>
            <a:off x="11818180" y="8007087"/>
            <a:ext cx="223764" cy="1305823"/>
          </a:xfrm>
          <a:prstGeom prst="roundRect">
            <a:avLst>
              <a:gd name="adj" fmla="val 8513"/>
            </a:avLst>
          </a:prstGeom>
          <a:solidFill>
            <a:srgbClr val="B59FFF"/>
          </a:solidFill>
          <a:ln>
            <a:noFill/>
          </a:ln>
        </p:spPr>
      </p:sp>
      <p:sp>
        <p:nvSpPr>
          <p:cNvPr name="GraphCompose Text Line" id="138"/>
          <p:cNvSpPr txBox="true"/>
          <p:nvPr/>
        </p:nvSpPr>
        <p:spPr>
          <a:xfrm>
            <a:off x="10453688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39"/>
          <p:cNvSpPr txBox="true"/>
          <p:nvPr/>
        </p:nvSpPr>
        <p:spPr>
          <a:xfrm>
            <a:off x="10926762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40"/>
          <p:cNvSpPr txBox="true"/>
          <p:nvPr/>
        </p:nvSpPr>
        <p:spPr>
          <a:xfrm>
            <a:off x="11399838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41"/>
          <p:cNvSpPr txBox="true"/>
          <p:nvPr/>
        </p:nvSpPr>
        <p:spPr>
          <a:xfrm>
            <a:off x="11872912" y="934432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42" id="142"/>
          <p:cNvSpPr/>
          <p:nvPr/>
        </p:nvSpPr>
        <p:spPr>
          <a:xfrm>
            <a:off x="10109200" y="9527477"/>
            <a:ext cx="2057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43" id="143"/>
          <p:cNvSpPr/>
          <p:nvPr/>
        </p:nvSpPr>
        <p:spPr>
          <a:xfrm>
            <a:off x="10109200" y="9527477"/>
            <a:ext cx="2057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4" id="144"/>
          <p:cNvSpPr/>
          <p:nvPr/>
        </p:nvSpPr>
        <p:spPr>
          <a:xfrm>
            <a:off x="10109200" y="9667177"/>
            <a:ext cx="193395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5" id="145"/>
          <p:cNvSpPr/>
          <p:nvPr/>
        </p:nvSpPr>
        <p:spPr>
          <a:xfrm>
            <a:off x="10109200" y="9806877"/>
            <a:ext cx="199567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6" id="146"/>
          <p:cNvSpPr/>
          <p:nvPr/>
        </p:nvSpPr>
        <p:spPr>
          <a:xfrm>
            <a:off x="10109200" y="9946577"/>
            <a:ext cx="127558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47" id="147"/>
          <p:cNvSpPr/>
          <p:nvPr/>
        </p:nvSpPr>
        <p:spPr>
          <a:xfrm>
            <a:off x="9931400" y="11125200"/>
            <a:ext cx="5080000" cy="2489200"/>
          </a:xfrm>
          <a:prstGeom prst="roundRect">
            <a:avLst>
              <a:gd name="adj" fmla="val 3061"/>
            </a:avLst>
          </a:prstGeom>
          <a:solidFill>
            <a:srgbClr val="0C1022">
              <a:alpha val="92549"/>
            </a:srgbClr>
          </a:solidFill>
          <a:ln w="19050">
            <a:solidFill>
              <a:srgbClr val="37D6A1"/>
            </a:solidFill>
          </a:ln>
        </p:spPr>
      </p:sp>
      <p:sp>
        <p:nvSpPr>
          <p:cNvPr name="AutoShape 148" id="148"/>
          <p:cNvSpPr/>
          <p:nvPr/>
        </p:nvSpPr>
        <p:spPr>
          <a:xfrm>
            <a:off x="10109200" y="11303000"/>
            <a:ext cx="4724400" cy="213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GraphCompose Text Line" id="149"/>
          <p:cNvSpPr txBox="true"/>
          <p:nvPr/>
        </p:nvSpPr>
        <p:spPr>
          <a:xfrm>
            <a:off x="10109200" y="11272081"/>
            <a:ext cx="1414361" cy="15271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true" i="false" u="none" strike="noStrike" kern="0">
                <a:solidFill>
                  <a:srgbClr val="F5F7FC"/>
                </a:solidFill>
                <a:latin typeface="Arial"/>
              </a:rPr>
              <a:t>Quarterly revenue</a:t>
            </a:r>
            <a:endParaRPr lang="en-US" sz="1100"/>
          </a:p>
        </p:txBody>
      </p:sp>
      <p:sp>
        <p:nvSpPr>
          <p:cNvPr name="GraphCompose Text Line" id="150"/>
          <p:cNvSpPr txBox="true"/>
          <p:nvPr/>
        </p:nvSpPr>
        <p:spPr>
          <a:xfrm>
            <a:off x="10109200" y="11525115"/>
            <a:ext cx="2235490" cy="963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19" b="false" i="false" u="none" strike="noStrike" kern="0">
                <a:solidFill>
                  <a:srgbClr val="B1B9CF"/>
                </a:solidFill>
                <a:latin typeface="Arial"/>
              </a:rPr>
              <a:t>Composed once, resolved once, rendered twice.</a:t>
            </a:r>
            <a:endParaRPr lang="en-US" sz="1100"/>
          </a:p>
        </p:txBody>
      </p:sp>
      <p:cxnSp>
        <p:nvCxnSpPr>
          <p:cNvPr name="Connector 151" id="151"/>
          <p:cNvCxnSpPr/>
          <p:nvPr/>
        </p:nvCxnSpPr>
        <p:spPr>
          <a:xfrm flipV="false">
            <a:off x="10274300" y="12493181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2"/>
          <p:cNvSpPr txBox="true"/>
          <p:nvPr/>
        </p:nvSpPr>
        <p:spPr>
          <a:xfrm>
            <a:off x="10166350" y="12447221"/>
            <a:ext cx="5842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153" id="153"/>
          <p:cNvCxnSpPr/>
          <p:nvPr/>
        </p:nvCxnSpPr>
        <p:spPr>
          <a:xfrm flipV="false">
            <a:off x="10274300" y="1231170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4"/>
          <p:cNvSpPr txBox="true"/>
          <p:nvPr/>
        </p:nvSpPr>
        <p:spPr>
          <a:xfrm>
            <a:off x="10109200" y="1226574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20</a:t>
            </a:r>
            <a:endParaRPr lang="en-US" sz="1100"/>
          </a:p>
        </p:txBody>
      </p:sp>
      <p:cxnSp>
        <p:nvCxnSpPr>
          <p:cNvPr name="Connector 155" id="155"/>
          <p:cNvCxnSpPr/>
          <p:nvPr/>
        </p:nvCxnSpPr>
        <p:spPr>
          <a:xfrm flipV="false">
            <a:off x="10274300" y="1213023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6"/>
          <p:cNvSpPr txBox="true"/>
          <p:nvPr/>
        </p:nvSpPr>
        <p:spPr>
          <a:xfrm>
            <a:off x="10109200" y="1208427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40</a:t>
            </a:r>
            <a:endParaRPr lang="en-US" sz="1100"/>
          </a:p>
        </p:txBody>
      </p:sp>
      <p:cxnSp>
        <p:nvCxnSpPr>
          <p:cNvPr name="Connector 157" id="157"/>
          <p:cNvCxnSpPr/>
          <p:nvPr/>
        </p:nvCxnSpPr>
        <p:spPr>
          <a:xfrm flipV="false">
            <a:off x="10274300" y="11948755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58"/>
          <p:cNvSpPr txBox="true"/>
          <p:nvPr/>
        </p:nvSpPr>
        <p:spPr>
          <a:xfrm>
            <a:off x="10109200" y="119027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60</a:t>
            </a:r>
            <a:endParaRPr lang="en-US" sz="1100"/>
          </a:p>
        </p:txBody>
      </p:sp>
      <p:cxnSp>
        <p:nvCxnSpPr>
          <p:cNvPr name="Connector 159" id="159"/>
          <p:cNvCxnSpPr/>
          <p:nvPr/>
        </p:nvCxnSpPr>
        <p:spPr>
          <a:xfrm flipV="false">
            <a:off x="10274300" y="11767280"/>
            <a:ext cx="4559300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0"/>
          <p:cNvSpPr txBox="true"/>
          <p:nvPr/>
        </p:nvSpPr>
        <p:spPr>
          <a:xfrm>
            <a:off x="10109200" y="11721320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80</a:t>
            </a:r>
            <a:endParaRPr lang="en-US" sz="1100"/>
          </a:p>
        </p:txBody>
      </p:sp>
      <p:sp>
        <p:nvSpPr>
          <p:cNvPr name="AutoShape 161" id="161"/>
          <p:cNvSpPr/>
          <p:nvPr/>
        </p:nvSpPr>
        <p:spPr>
          <a:xfrm>
            <a:off x="10574644" y="12112083"/>
            <a:ext cx="539137" cy="381098"/>
          </a:xfrm>
          <a:prstGeom prst="roundRect">
            <a:avLst>
              <a:gd name="adj" fmla="val 4999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2" id="162"/>
          <p:cNvSpPr/>
          <p:nvPr/>
        </p:nvSpPr>
        <p:spPr>
          <a:xfrm>
            <a:off x="11714469" y="11966903"/>
            <a:ext cx="539137" cy="526278"/>
          </a:xfrm>
          <a:prstGeom prst="roundRect">
            <a:avLst>
              <a:gd name="adj" fmla="val 3620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3" id="163"/>
          <p:cNvSpPr/>
          <p:nvPr/>
        </p:nvSpPr>
        <p:spPr>
          <a:xfrm>
            <a:off x="12854294" y="12030419"/>
            <a:ext cx="539137" cy="462761"/>
          </a:xfrm>
          <a:prstGeom prst="roundRect">
            <a:avLst>
              <a:gd name="adj" fmla="val 4117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AutoShape 164" id="164"/>
          <p:cNvSpPr/>
          <p:nvPr/>
        </p:nvSpPr>
        <p:spPr>
          <a:xfrm>
            <a:off x="13994119" y="11821723"/>
            <a:ext cx="539137" cy="671458"/>
          </a:xfrm>
          <a:prstGeom prst="roundRect">
            <a:avLst>
              <a:gd name="adj" fmla="val 3533"/>
            </a:avLst>
          </a:prstGeom>
          <a:solidFill>
            <a:srgbClr val="37D6A1"/>
          </a:solidFill>
          <a:ln>
            <a:noFill/>
          </a:ln>
        </p:spPr>
      </p:sp>
      <p:sp>
        <p:nvSpPr>
          <p:cNvPr name="GraphCompose Text Line" id="165"/>
          <p:cNvSpPr txBox="true"/>
          <p:nvPr/>
        </p:nvSpPr>
        <p:spPr>
          <a:xfrm>
            <a:off x="10787062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Q1</a:t>
            </a:r>
            <a:endParaRPr lang="en-US" sz="1100"/>
          </a:p>
        </p:txBody>
      </p:sp>
      <p:sp>
        <p:nvSpPr>
          <p:cNvPr name="GraphCompose Text Line" id="166"/>
          <p:cNvSpPr txBox="true"/>
          <p:nvPr/>
        </p:nvSpPr>
        <p:spPr>
          <a:xfrm>
            <a:off x="11926888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Q2</a:t>
            </a:r>
            <a:endParaRPr lang="en-US" sz="1100"/>
          </a:p>
        </p:txBody>
      </p:sp>
      <p:sp>
        <p:nvSpPr>
          <p:cNvPr name="GraphCompose Text Line" id="167"/>
          <p:cNvSpPr txBox="true"/>
          <p:nvPr/>
        </p:nvSpPr>
        <p:spPr>
          <a:xfrm>
            <a:off x="13066712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Q3</a:t>
            </a:r>
            <a:endParaRPr lang="en-US" sz="1100"/>
          </a:p>
        </p:txBody>
      </p:sp>
      <p:sp>
        <p:nvSpPr>
          <p:cNvPr name="GraphCompose Text Line" id="168"/>
          <p:cNvSpPr txBox="true"/>
          <p:nvPr/>
        </p:nvSpPr>
        <p:spPr>
          <a:xfrm>
            <a:off x="14206538" y="12524595"/>
            <a:ext cx="115570" cy="7486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0" b="false" i="false" u="none" strike="noStrike" kern="0">
                <a:solidFill>
                  <a:srgbClr val="B1B9CF"/>
                </a:solidFill>
                <a:latin typeface="Courier New"/>
              </a:rPr>
              <a:t>Q4</a:t>
            </a:r>
            <a:endParaRPr lang="en-US" sz="1100"/>
          </a:p>
        </p:txBody>
      </p:sp>
      <p:sp>
        <p:nvSpPr>
          <p:cNvPr name="AutoShape 169" id="169"/>
          <p:cNvSpPr/>
          <p:nvPr/>
        </p:nvSpPr>
        <p:spPr>
          <a:xfrm>
            <a:off x="10109200" y="12707747"/>
            <a:ext cx="4724400" cy="55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name="AutoShape 170" id="170"/>
          <p:cNvSpPr/>
          <p:nvPr/>
        </p:nvSpPr>
        <p:spPr>
          <a:xfrm>
            <a:off x="10109200" y="12707747"/>
            <a:ext cx="4724400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1" id="171"/>
          <p:cNvSpPr/>
          <p:nvPr/>
        </p:nvSpPr>
        <p:spPr>
          <a:xfrm>
            <a:off x="10109200" y="12847447"/>
            <a:ext cx="4440936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2" id="172"/>
          <p:cNvSpPr/>
          <p:nvPr/>
        </p:nvSpPr>
        <p:spPr>
          <a:xfrm>
            <a:off x="10109200" y="12987147"/>
            <a:ext cx="458266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AutoShape 173" id="173"/>
          <p:cNvSpPr/>
          <p:nvPr/>
        </p:nvSpPr>
        <p:spPr>
          <a:xfrm>
            <a:off x="10109200" y="13126847"/>
            <a:ext cx="2929128" cy="53340"/>
          </a:xfrm>
          <a:prstGeom prst="rect">
            <a:avLst/>
          </a:prstGeom>
          <a:solidFill>
            <a:srgbClr val="F5F7FC">
              <a:alpha val="23922"/>
            </a:srgbClr>
          </a:solidFill>
          <a:ln>
            <a:noFill/>
          </a:ln>
        </p:spPr>
      </p:sp>
      <p:sp>
        <p:nvSpPr>
          <p:cNvPr name="GraphCompose Text Line" id="174"/>
          <p:cNvSpPr txBox="true"/>
          <p:nvPr/>
        </p:nvSpPr>
        <p:spPr>
          <a:xfrm>
            <a:off x="9982200" y="6776184"/>
            <a:ext cx="27559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B59FFF"/>
                </a:solidFill>
                <a:latin typeface="Courier New"/>
              </a:rPr>
              <a:t>PDF</a:t>
            </a:r>
            <a:endParaRPr lang="en-US" sz="1100"/>
          </a:p>
        </p:txBody>
      </p:sp>
      <p:sp>
        <p:nvSpPr>
          <p:cNvPr name="GraphCompose Text Line" id="175"/>
          <p:cNvSpPr txBox="true"/>
          <p:nvPr/>
        </p:nvSpPr>
        <p:spPr>
          <a:xfrm>
            <a:off x="9982200" y="10738584"/>
            <a:ext cx="367030" cy="1197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b="false" i="false" u="none" strike="noStrike" kern="0">
                <a:solidFill>
                  <a:srgbClr val="37D6A1"/>
                </a:solidFill>
                <a:latin typeface="Courier New"/>
              </a:rPr>
              <a:t>PPTX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758212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B59FFF"/>
                </a:solidFill>
                <a:latin typeface="Courier New"/>
              </a:rPr>
              <a:t>GRAPHCOMPOSE 2.4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982568"/>
            <a:ext cx="3865682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true" i="false" u="none" strike="noStrike" kern="0">
                <a:solidFill>
                  <a:srgbClr val="F5F7FC"/>
                </a:solidFill>
                <a:latin typeface="Arial"/>
              </a:rPr>
              <a:t>One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3940814"/>
            <a:ext cx="12365403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true" i="false" u="none" strike="noStrike" kern="0">
                <a:solidFill>
                  <a:srgbClr val="F5F7FC"/>
                </a:solidFill>
                <a:latin typeface="Arial"/>
              </a:rPr>
              <a:t>composition.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1204148" y="5899060"/>
            <a:ext cx="12365403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true" i="false" u="none" strike="noStrike" kern="0">
                <a:solidFill>
                  <a:srgbClr val="F5F7FC"/>
                </a:solidFill>
                <a:latin typeface="Arial"/>
              </a:rPr>
              <a:t>Two formats.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204148" y="9129678"/>
            <a:ext cx="2408296" cy="105363"/>
          </a:xfrm>
          <a:prstGeom prst="rect">
            <a:avLst/>
          </a:prstGeom>
          <a:solidFill>
            <a:srgbClr val="7C5CFC"/>
          </a:solidFill>
          <a:ln>
            <a:noFill/>
          </a:ln>
        </p:spPr>
      </p:sp>
      <p:sp>
        <p:nvSpPr>
          <p:cNvPr name="GraphCompose Text Line" id="8"/>
          <p:cNvSpPr txBox="true"/>
          <p:nvPr/>
        </p:nvSpPr>
        <p:spPr>
          <a:xfrm>
            <a:off x="1204148" y="10142992"/>
            <a:ext cx="13086146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A Java DSL describes the document. The engine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204148" y="10775170"/>
            <a:ext cx="1291997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resolves layout and pagination once, then hands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204148" y="11407348"/>
            <a:ext cx="13018111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the same fragments to every backend — so PDF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204148" y="12039526"/>
            <a:ext cx="1288505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and PowerPoint are the same geometry, not two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204148" y="12671703"/>
            <a:ext cx="5088194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A8B1CA"/>
                </a:solidFill>
                <a:latin typeface="Arial"/>
              </a:rPr>
              <a:t>hand-kept designs.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204148" y="14184278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14"/>
          <p:cNvSpPr txBox="true"/>
          <p:nvPr/>
        </p:nvSpPr>
        <p:spPr>
          <a:xfrm>
            <a:off x="2598953" y="14331225"/>
            <a:ext cx="1687077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true" i="false" u="none" strike="noStrike" kern="0">
                <a:solidFill>
                  <a:srgbClr val="37D6A1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978817" y="15216157"/>
            <a:ext cx="292735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fixed layout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2818710" y="15638152"/>
            <a:ext cx="1247563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PDFBox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5890291" y="14184278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18"/>
          <p:cNvSpPr txBox="true"/>
          <p:nvPr/>
        </p:nvSpPr>
        <p:spPr>
          <a:xfrm>
            <a:off x="7027168" y="14331225"/>
            <a:ext cx="2202934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true" i="false" u="none" strike="noStrike" kern="0">
                <a:solidFill>
                  <a:srgbClr val="B59FFF"/>
                </a:solidFill>
                <a:latin typeface="Arial"/>
              </a:rPr>
              <a:t>PPTX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664960" y="15216157"/>
            <a:ext cx="292735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fixed layout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7089422" y="15638152"/>
            <a:ext cx="2078426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Apache POI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>
            <a:off x="10576435" y="14184278"/>
            <a:ext cx="4475417" cy="2101239"/>
          </a:xfrm>
          <a:prstGeom prst="roundRect">
            <a:avLst>
              <a:gd name="adj" fmla="val 12088"/>
            </a:avLst>
          </a:prstGeom>
          <a:solidFill>
            <a:srgbClr val="1B2240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22"/>
          <p:cNvSpPr txBox="true"/>
          <p:nvPr/>
        </p:nvSpPr>
        <p:spPr>
          <a:xfrm>
            <a:off x="11596569" y="14331225"/>
            <a:ext cx="2436419" cy="77968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637" b="true" i="false" u="none" strike="noStrike" kern="0">
                <a:solidFill>
                  <a:srgbClr val="E6A044"/>
                </a:solidFill>
                <a:latin typeface="Arial"/>
              </a:rPr>
              <a:t>DOCX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1838783" y="15216157"/>
            <a:ext cx="195199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A8B1CA"/>
                </a:solidFill>
                <a:latin typeface="Courier New"/>
              </a:rPr>
              <a:t>semantic</a:t>
            </a:r>
            <a:endParaRPr lang="en-US" sz="1100"/>
          </a:p>
        </p:txBody>
      </p:sp>
      <p:sp>
        <p:nvSpPr>
          <p:cNvPr name="GraphCompose Text Line" id="24"/>
          <p:cNvSpPr txBox="true"/>
          <p:nvPr/>
        </p:nvSpPr>
        <p:spPr>
          <a:xfrm>
            <a:off x="11775565" y="15638152"/>
            <a:ext cx="2078426" cy="27210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725" b="false" i="false" u="none" strike="noStrike" kern="0">
                <a:solidFill>
                  <a:srgbClr val="7A83A2"/>
                </a:solidFill>
                <a:latin typeface="Courier New"/>
              </a:rPr>
              <a:t>Apache POI</a:t>
            </a:r>
            <a:endParaRPr lang="en-US" sz="1100"/>
          </a:p>
        </p:txBody>
      </p:sp>
      <p:sp>
        <p:nvSpPr>
          <p:cNvPr name="GraphCompose Text Line" id="25"/>
          <p:cNvSpPr txBox="true"/>
          <p:nvPr/>
        </p:nvSpPr>
        <p:spPr>
          <a:xfrm>
            <a:off x="1204148" y="17156718"/>
            <a:ext cx="10289151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This carousel is a GraphCompose document. So is the deck it links to.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053786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37D6A1"/>
                </a:solidFill>
                <a:latin typeface="Courier New"/>
              </a:rPr>
              <a:t>WHAT 2.4 ADDS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732161"/>
            <a:ext cx="9192744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true" i="false" u="none" strike="noStrike" kern="0">
                <a:solidFill>
                  <a:srgbClr val="F5F7FC"/>
                </a:solidFill>
                <a:latin typeface="Arial"/>
              </a:rPr>
              <a:t>PowerPoint is a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2964155"/>
            <a:ext cx="11525480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true" i="false" u="none" strike="noStrike" kern="0">
                <a:solidFill>
                  <a:srgbClr val="F5F7FC"/>
                </a:solidFill>
                <a:latin typeface="Arial"/>
              </a:rPr>
              <a:t>first-class backend.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4788536"/>
            <a:ext cx="13847704" cy="3380646"/>
          </a:xfrm>
          <a:prstGeom prst="roundRect">
            <a:avLst>
              <a:gd name="adj" fmla="val 11576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1204148" y="4788536"/>
            <a:ext cx="0" cy="3380646"/>
          </a:xfrm>
          <a:prstGeom prst="line">
            <a:avLst/>
          </a:prstGeom>
          <a:ln w="60207">
            <a:solidFill>
              <a:srgbClr val="37D6A1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655704" y="5217650"/>
            <a:ext cx="6792666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Fixed layout, not export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655704" y="5898705"/>
            <a:ext cx="8902333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PptxFixedLayoutBackend implements the same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655704" y="6348756"/>
            <a:ext cx="1084691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FixedLayoutRenderer contract as the PDF backend and is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655704" y="6798806"/>
            <a:ext cx="12931834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discovered through the same ServiceLoader SPI. It consumes placed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655704" y="7248857"/>
            <a:ext cx="8667584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fragments, so it never re-flows your document.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204148" y="8620737"/>
            <a:ext cx="13847704" cy="2930596"/>
          </a:xfrm>
          <a:prstGeom prst="roundRect">
            <a:avLst>
              <a:gd name="adj" fmla="val 13354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14" id="14"/>
          <p:cNvCxnSpPr/>
          <p:nvPr/>
        </p:nvCxnSpPr>
        <p:spPr>
          <a:xfrm>
            <a:off x="1204148" y="8620737"/>
            <a:ext cx="0" cy="2930596"/>
          </a:xfrm>
          <a:prstGeom prst="line">
            <a:avLst/>
          </a:prstGeom>
          <a:ln w="60207">
            <a:solidFill>
              <a:srgbClr val="B59FFF"/>
            </a:solidFill>
          </a:ln>
        </p:spPr>
      </p:cxnSp>
      <p:sp>
        <p:nvSpPr>
          <p:cNvPr name="GraphCompose Text Line" id="15"/>
          <p:cNvSpPr txBox="true"/>
          <p:nvPr/>
        </p:nvSpPr>
        <p:spPr>
          <a:xfrm>
            <a:off x="1655704" y="9049852"/>
            <a:ext cx="9035391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Native shapes, not screenshots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730907"/>
            <a:ext cx="11385106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Text stays text, rectangles stay rectangles, charts stay drawn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10180957"/>
            <a:ext cx="1274428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geometry. The deck opens editable in PowerPoint instead of arriving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655704" y="10631008"/>
            <a:ext cx="358571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as a picture of one.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204148" y="12002888"/>
            <a:ext cx="13847704" cy="2480545"/>
          </a:xfrm>
          <a:prstGeom prst="roundRect">
            <a:avLst>
              <a:gd name="adj" fmla="val 15777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0" id="20"/>
          <p:cNvCxnSpPr/>
          <p:nvPr/>
        </p:nvCxnSpPr>
        <p:spPr>
          <a:xfrm>
            <a:off x="1204148" y="12002888"/>
            <a:ext cx="0" cy="2480545"/>
          </a:xfrm>
          <a:prstGeom prst="line">
            <a:avLst/>
          </a:prstGeom>
          <a:ln w="60207">
            <a:solidFill>
              <a:srgbClr val="E6A044"/>
            </a:solidFill>
          </a:ln>
        </p:spPr>
      </p:cxnSp>
      <p:sp>
        <p:nvSpPr>
          <p:cNvPr name="GraphCompose Text Line" id="21"/>
          <p:cNvSpPr txBox="true"/>
          <p:nvPr/>
        </p:nvSpPr>
        <p:spPr>
          <a:xfrm>
            <a:off x="1655704" y="12432003"/>
            <a:ext cx="605753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One source, two files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1655704" y="13113058"/>
            <a:ext cx="12813406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The same compose(...) call writes the PDF and the PPTX. Nothing is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655704" y="13563108"/>
            <a:ext cx="829417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authored twice, so the two cannot drift apart.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204148" y="14934989"/>
            <a:ext cx="13847704" cy="2930596"/>
          </a:xfrm>
          <a:prstGeom prst="roundRect">
            <a:avLst>
              <a:gd name="adj" fmla="val 13354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5" id="25"/>
          <p:cNvCxnSpPr/>
          <p:nvPr/>
        </p:nvCxnSpPr>
        <p:spPr>
          <a:xfrm>
            <a:off x="1204148" y="14934989"/>
            <a:ext cx="0" cy="2930596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26"/>
          <p:cNvSpPr txBox="true"/>
          <p:nvPr/>
        </p:nvSpPr>
        <p:spPr>
          <a:xfrm>
            <a:off x="1655704" y="15364103"/>
            <a:ext cx="7796925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It tells you what it swapped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1655704" y="16045159"/>
            <a:ext cx="11805715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PowerPoint has no Helvetica or Courier. When a PDF built-in is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1655704" y="16495209"/>
            <a:ext cx="1232325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substituted the render logs the family, the replacement and how to</a:t>
            </a:r>
            <a:endParaRPr lang="en-US" sz="1100"/>
          </a:p>
        </p:txBody>
      </p:sp>
      <p:sp>
        <p:nvSpPr>
          <p:cNvPr name="GraphCompose Text Line" id="29"/>
          <p:cNvSpPr txBox="true"/>
          <p:nvPr/>
        </p:nvSpPr>
        <p:spPr>
          <a:xfrm>
            <a:off x="1655704" y="16945259"/>
            <a:ext cx="10706147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get identical glyphs - rather than silently shifting your text.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4932257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E6A044"/>
                </a:solidFill>
                <a:latin typeface="Courier New"/>
              </a:rPr>
              <a:t>MEASURED, NOT CLAIMED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882679"/>
            <a:ext cx="10494879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true" i="false" u="none" strike="noStrike" kern="0">
                <a:solidFill>
                  <a:srgbClr val="F5F7FC"/>
                </a:solidFill>
                <a:latin typeface="Arial"/>
              </a:rPr>
              <a:t>A 1000-row report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3773015"/>
            <a:ext cx="10992584" cy="41768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A8B1CA"/>
                </a:solidFill>
                <a:latin typeface="Arial"/>
              </a:rPr>
              <a:t>Average render latency, milliseconds — lower is faster.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5027860"/>
            <a:ext cx="13847704" cy="7857067"/>
          </a:xfrm>
          <a:prstGeom prst="roundRect">
            <a:avLst>
              <a:gd name="adj" fmla="val 3831"/>
            </a:avLst>
          </a:prstGeom>
          <a:solidFill>
            <a:srgbClr val="141B33"/>
          </a:solidFill>
          <a:ln w="15052">
            <a:solidFill>
              <a:srgbClr val="303860"/>
            </a:solidFill>
          </a:ln>
        </p:spPr>
      </p:sp>
      <p:cxnSp>
        <p:nvCxnSpPr>
          <p:cNvPr name="Connector 7" id="7"/>
          <p:cNvCxnSpPr/>
          <p:nvPr/>
        </p:nvCxnSpPr>
        <p:spPr>
          <a:xfrm flipV="false">
            <a:off x="2242350" y="12182502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992865" y="12022720"/>
            <a:ext cx="199954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0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flipV="false">
            <a:off x="2242350" y="10584671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0"/>
          <p:cNvSpPr txBox="true"/>
          <p:nvPr/>
        </p:nvSpPr>
        <p:spPr>
          <a:xfrm>
            <a:off x="1794181" y="10424889"/>
            <a:ext cx="398639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50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flipV="false">
            <a:off x="2242350" y="8986840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2"/>
          <p:cNvSpPr txBox="true"/>
          <p:nvPr/>
        </p:nvSpPr>
        <p:spPr>
          <a:xfrm>
            <a:off x="1595496" y="8827058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100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flipV="false">
            <a:off x="2242350" y="7389009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1595496" y="7229227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150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flipV="false">
            <a:off x="2242350" y="5791177"/>
            <a:ext cx="12418154" cy="0"/>
          </a:xfrm>
          <a:prstGeom prst="line">
            <a:avLst/>
          </a:prstGeom>
          <a:ln w="6350" cap="flat">
            <a:solidFill>
              <a:srgbClr val="E0E0E0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1595496" y="5631396"/>
            <a:ext cx="59732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200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3422074" y="10816037"/>
            <a:ext cx="1779935" cy="1366465"/>
          </a:xfrm>
          <a:prstGeom prst="roundRect">
            <a:avLst>
              <a:gd name="adj" fmla="val 4406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18" id="18"/>
          <p:cNvSpPr/>
          <p:nvPr/>
        </p:nvSpPr>
        <p:spPr>
          <a:xfrm>
            <a:off x="3396674" y="10482168"/>
            <a:ext cx="1830735" cy="321169"/>
          </a:xfrm>
          <a:prstGeom prst="roundRect">
            <a:avLst>
              <a:gd name="adj" fmla="val 7909"/>
            </a:avLst>
          </a:prstGeom>
          <a:solidFill>
            <a:srgbClr val="141B33"/>
          </a:solidFill>
          <a:ln>
            <a:noFill/>
          </a:ln>
        </p:spPr>
      </p:sp>
      <p:sp>
        <p:nvSpPr>
          <p:cNvPr name="GraphCompose Text Line" id="19"/>
          <p:cNvSpPr txBox="true"/>
          <p:nvPr/>
        </p:nvSpPr>
        <p:spPr>
          <a:xfrm>
            <a:off x="3747598" y="10418284"/>
            <a:ext cx="1130159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E6A044"/>
                </a:solidFill>
                <a:latin typeface="Courier New"/>
              </a:rPr>
              <a:t>42.76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7561459" y="6138865"/>
            <a:ext cx="1779935" cy="6043637"/>
          </a:xfrm>
          <a:prstGeom prst="roundRect">
            <a:avLst>
              <a:gd name="adj" fmla="val 338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21" id="21"/>
          <p:cNvSpPr/>
          <p:nvPr/>
        </p:nvSpPr>
        <p:spPr>
          <a:xfrm>
            <a:off x="7536059" y="5804997"/>
            <a:ext cx="1830735" cy="321169"/>
          </a:xfrm>
          <a:prstGeom prst="roundRect">
            <a:avLst>
              <a:gd name="adj" fmla="val 7909"/>
            </a:avLst>
          </a:prstGeom>
          <a:solidFill>
            <a:srgbClr val="141B33"/>
          </a:solidFill>
          <a:ln>
            <a:noFill/>
          </a:ln>
        </p:spPr>
      </p:sp>
      <p:sp>
        <p:nvSpPr>
          <p:cNvPr name="GraphCompose Text Line" id="22"/>
          <p:cNvSpPr txBox="true"/>
          <p:nvPr/>
        </p:nvSpPr>
        <p:spPr>
          <a:xfrm>
            <a:off x="7774093" y="5741113"/>
            <a:ext cx="1355937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E6A044"/>
                </a:solidFill>
                <a:latin typeface="Courier New"/>
              </a:rPr>
              <a:t>189.12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>
            <a:off x="11700844" y="10786637"/>
            <a:ext cx="1779935" cy="1395865"/>
          </a:xfrm>
          <a:prstGeom prst="roundRect">
            <a:avLst>
              <a:gd name="adj" fmla="val 4313"/>
            </a:avLst>
          </a:prstGeom>
          <a:solidFill>
            <a:srgbClr val="7C5CFC"/>
          </a:solidFill>
          <a:ln>
            <a:noFill/>
          </a:ln>
        </p:spPr>
      </p:sp>
      <p:sp>
        <p:nvSpPr>
          <p:cNvPr name="AutoShape 24" id="24"/>
          <p:cNvSpPr/>
          <p:nvPr/>
        </p:nvSpPr>
        <p:spPr>
          <a:xfrm>
            <a:off x="11675444" y="10452768"/>
            <a:ext cx="1830735" cy="321169"/>
          </a:xfrm>
          <a:prstGeom prst="roundRect">
            <a:avLst>
              <a:gd name="adj" fmla="val 7909"/>
            </a:avLst>
          </a:prstGeom>
          <a:solidFill>
            <a:srgbClr val="141B33"/>
          </a:solidFill>
          <a:ln>
            <a:noFill/>
          </a:ln>
        </p:spPr>
      </p:sp>
      <p:sp>
        <p:nvSpPr>
          <p:cNvPr name="GraphCompose Text Line" id="25"/>
          <p:cNvSpPr txBox="true"/>
          <p:nvPr/>
        </p:nvSpPr>
        <p:spPr>
          <a:xfrm>
            <a:off x="12026367" y="10388884"/>
            <a:ext cx="1130159" cy="29576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962" b="false" i="false" u="none" strike="noStrike" kern="0">
                <a:solidFill>
                  <a:srgbClr val="E6A044"/>
                </a:solidFill>
                <a:latin typeface="Courier New"/>
              </a:rPr>
              <a:t>43.68</a:t>
            </a:r>
            <a:endParaRPr lang="en-US" sz="1100"/>
          </a:p>
        </p:txBody>
      </p:sp>
      <p:sp>
        <p:nvSpPr>
          <p:cNvPr name="GraphCompose Text Line" id="26"/>
          <p:cNvSpPr txBox="true"/>
          <p:nvPr/>
        </p:nvSpPr>
        <p:spPr>
          <a:xfrm>
            <a:off x="3119935" y="12165909"/>
            <a:ext cx="2385483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7756031" y="12165909"/>
            <a:ext cx="1392061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iText 9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11299362" y="12165909"/>
            <a:ext cx="2584168" cy="260277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A8B1CA"/>
                </a:solidFill>
                <a:latin typeface="Courier New"/>
              </a:rPr>
              <a:t>JasperReports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>
            <a:off x="1204148" y="13487001"/>
            <a:ext cx="3613889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30" id="30"/>
          <p:cNvCxnSpPr/>
          <p:nvPr/>
        </p:nvCxnSpPr>
        <p:spPr>
          <a:xfrm>
            <a:off x="1204148" y="13487001"/>
            <a:ext cx="3613889" cy="0"/>
          </a:xfrm>
          <a:prstGeom prst="line">
            <a:avLst/>
          </a:prstGeom>
          <a:ln w="45156">
            <a:solidFill>
              <a:srgbClr val="B59FFF"/>
            </a:solidFill>
          </a:ln>
        </p:spPr>
      </p:cxnSp>
      <p:sp>
        <p:nvSpPr>
          <p:cNvPr name="GraphCompose Text Line" id="31"/>
          <p:cNvSpPr txBox="true"/>
          <p:nvPr/>
        </p:nvSpPr>
        <p:spPr>
          <a:xfrm>
            <a:off x="1565393" y="13667842"/>
            <a:ext cx="1875888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true" i="false" u="none" strike="noStrike" kern="0">
                <a:solidFill>
                  <a:srgbClr val="B59FFF"/>
                </a:solidFill>
                <a:latin typeface="Arial"/>
              </a:rPr>
              <a:t>4.4x</a:t>
            </a:r>
            <a:endParaRPr lang="en-US" sz="1100"/>
          </a:p>
        </p:txBody>
      </p:sp>
      <p:sp>
        <p:nvSpPr>
          <p:cNvPr name="GraphCompose Text Line" id="32"/>
          <p:cNvSpPr txBox="true"/>
          <p:nvPr/>
        </p:nvSpPr>
        <p:spPr>
          <a:xfrm>
            <a:off x="1565393" y="14701767"/>
            <a:ext cx="2892671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faster than iText 9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>
            <a:off x="5890291" y="13487001"/>
            <a:ext cx="3694086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34" id="34"/>
          <p:cNvCxnSpPr/>
          <p:nvPr/>
        </p:nvCxnSpPr>
        <p:spPr>
          <a:xfrm>
            <a:off x="5890291" y="13487001"/>
            <a:ext cx="3694086" cy="0"/>
          </a:xfrm>
          <a:prstGeom prst="line">
            <a:avLst/>
          </a:prstGeom>
          <a:ln w="45156">
            <a:solidFill>
              <a:srgbClr val="37D6A1"/>
            </a:solidFill>
          </a:ln>
        </p:spPr>
      </p:cxnSp>
      <p:sp>
        <p:nvSpPr>
          <p:cNvPr name="GraphCompose Text Line" id="35"/>
          <p:cNvSpPr txBox="true"/>
          <p:nvPr/>
        </p:nvSpPr>
        <p:spPr>
          <a:xfrm>
            <a:off x="6251536" y="13667842"/>
            <a:ext cx="1875888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true" i="false" u="none" strike="noStrike" kern="0">
                <a:solidFill>
                  <a:srgbClr val="37D6A1"/>
                </a:solidFill>
                <a:latin typeface="Arial"/>
              </a:rPr>
              <a:t>3.5x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6251536" y="14701767"/>
            <a:ext cx="2972867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lighter than iText 9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10576435" y="13487001"/>
            <a:ext cx="3694086" cy="1977813"/>
          </a:xfrm>
          <a:prstGeom prst="roundRect">
            <a:avLst>
              <a:gd name="adj" fmla="val 10654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38" id="38"/>
          <p:cNvCxnSpPr/>
          <p:nvPr/>
        </p:nvCxnSpPr>
        <p:spPr>
          <a:xfrm>
            <a:off x="10576435" y="13487001"/>
            <a:ext cx="3694086" cy="0"/>
          </a:xfrm>
          <a:prstGeom prst="line">
            <a:avLst/>
          </a:prstGeom>
          <a:ln w="45156">
            <a:solidFill>
              <a:srgbClr val="E6A044"/>
            </a:solidFill>
          </a:ln>
        </p:spPr>
      </p:cxnSp>
      <p:sp>
        <p:nvSpPr>
          <p:cNvPr name="GraphCompose Text Line" id="39"/>
          <p:cNvSpPr txBox="true"/>
          <p:nvPr/>
        </p:nvSpPr>
        <p:spPr>
          <a:xfrm>
            <a:off x="10937679" y="13667842"/>
            <a:ext cx="1875888" cy="89107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7585" b="true" i="false" u="none" strike="noStrike" kern="0">
                <a:solidFill>
                  <a:srgbClr val="E6A044"/>
                </a:solidFill>
                <a:latin typeface="Arial"/>
              </a:rPr>
              <a:t>2.7x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10937679" y="14701767"/>
            <a:ext cx="2972867" cy="33415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44" b="false" i="false" u="none" strike="noStrike" kern="0">
                <a:solidFill>
                  <a:srgbClr val="A8B1CA"/>
                </a:solidFill>
                <a:latin typeface="Arial"/>
              </a:rPr>
              <a:t>lighter than Jasper</a:t>
            </a:r>
            <a:endParaRPr lang="en-US" sz="1100"/>
          </a:p>
        </p:txBody>
      </p:sp>
      <p:sp>
        <p:nvSpPr>
          <p:cNvPr name="GraphCompose Text Line" id="41"/>
          <p:cNvSpPr txBox="true"/>
          <p:nvPr/>
        </p:nvSpPr>
        <p:spPr>
          <a:xfrm>
            <a:off x="1204148" y="16095186"/>
            <a:ext cx="13363461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One machine, single run, 2026-08-04. Read the ratios rather than the timings: both libraries</a:t>
            </a:r>
            <a:endParaRPr lang="en-US" sz="1100"/>
          </a:p>
        </p:txBody>
      </p:sp>
      <p:sp>
        <p:nvSpPr>
          <p:cNvPr name="GraphCompose Text Line" id="42"/>
          <p:cNvSpPr txBox="true"/>
          <p:nvPr/>
        </p:nvSpPr>
        <p:spPr>
          <a:xfrm>
            <a:off x="1204148" y="16446647"/>
            <a:ext cx="13142259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are measured in the same run, so their proportions survive a change of machine while the</a:t>
            </a:r>
            <a:endParaRPr lang="en-US" sz="1100"/>
          </a:p>
        </p:txBody>
      </p:sp>
      <p:sp>
        <p:nvSpPr>
          <p:cNvPr name="GraphCompose Text Line" id="43"/>
          <p:cNvSpPr txBox="true"/>
          <p:nvPr/>
        </p:nvSpPr>
        <p:spPr>
          <a:xfrm>
            <a:off x="1204148" y="16798107"/>
            <a:ext cx="9258309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milliseconds do not. On time, Jasper reaches parity at this size.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4462639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B59FFF"/>
                </a:solidFill>
                <a:latin typeface="Courier New"/>
              </a:rPr>
              <a:t>HOW IT STAYS HONEST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732161"/>
            <a:ext cx="9329745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true" i="false" u="none" strike="noStrike" kern="0">
                <a:solidFill>
                  <a:srgbClr val="F5F7FC"/>
                </a:solidFill>
                <a:latin typeface="Arial"/>
              </a:rPr>
              <a:t>Guarantees you</a:t>
            </a:r>
            <a:endParaRPr lang="en-US" sz="1100"/>
          </a:p>
        </p:txBody>
      </p:sp>
      <p:sp>
        <p:nvSpPr>
          <p:cNvPr name="GraphCompose Text Line" id="5"/>
          <p:cNvSpPr txBox="true"/>
          <p:nvPr/>
        </p:nvSpPr>
        <p:spPr>
          <a:xfrm>
            <a:off x="1204148" y="2964155"/>
            <a:ext cx="4802510" cy="114168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718" b="true" i="false" u="none" strike="noStrike" kern="0">
                <a:solidFill>
                  <a:srgbClr val="F5F7FC"/>
                </a:solidFill>
                <a:latin typeface="Arial"/>
              </a:rPr>
              <a:t>can run.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204148" y="4788536"/>
            <a:ext cx="13847704" cy="2930596"/>
          </a:xfrm>
          <a:prstGeom prst="roundRect">
            <a:avLst>
              <a:gd name="adj" fmla="val 13354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7" id="7"/>
          <p:cNvCxnSpPr/>
          <p:nvPr/>
        </p:nvCxnSpPr>
        <p:spPr>
          <a:xfrm>
            <a:off x="1204148" y="4788536"/>
            <a:ext cx="0" cy="2930596"/>
          </a:xfrm>
          <a:prstGeom prst="line">
            <a:avLst/>
          </a:prstGeom>
          <a:ln w="60207">
            <a:solidFill>
              <a:srgbClr val="B59FFF"/>
            </a:solidFill>
          </a:ln>
        </p:spPr>
      </p:cxnSp>
      <p:sp>
        <p:nvSpPr>
          <p:cNvPr name="GraphCompose Text Line" id="8"/>
          <p:cNvSpPr txBox="true"/>
          <p:nvPr/>
        </p:nvSpPr>
        <p:spPr>
          <a:xfrm>
            <a:off x="1655704" y="5217650"/>
            <a:ext cx="893424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Deterministic layout snapshots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1655704" y="5898705"/>
            <a:ext cx="1192372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Every flagship document has its geometry recorded as JSON. A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1655704" y="6348756"/>
            <a:ext cx="1279191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layout change that moves a fragment fails the build instead of quietly</a:t>
            </a:r>
            <a:endParaRPr lang="en-US" sz="1100"/>
          </a:p>
        </p:txBody>
      </p:sp>
      <p:sp>
        <p:nvSpPr>
          <p:cNvPr name="GraphCompose Text Line" id="11"/>
          <p:cNvSpPr txBox="true"/>
          <p:nvPr/>
        </p:nvSpPr>
        <p:spPr>
          <a:xfrm>
            <a:off x="1655704" y="6798806"/>
            <a:ext cx="1687920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shipping.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1204148" y="8170687"/>
            <a:ext cx="13847704" cy="3380646"/>
          </a:xfrm>
          <a:prstGeom prst="roundRect">
            <a:avLst>
              <a:gd name="adj" fmla="val 11576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13" id="13"/>
          <p:cNvCxnSpPr/>
          <p:nvPr/>
        </p:nvCxnSpPr>
        <p:spPr>
          <a:xfrm>
            <a:off x="1204148" y="8170687"/>
            <a:ext cx="0" cy="3380646"/>
          </a:xfrm>
          <a:prstGeom prst="line">
            <a:avLst/>
          </a:prstGeom>
          <a:ln w="60207">
            <a:solidFill>
              <a:srgbClr val="37D6A1"/>
            </a:solidFill>
          </a:ln>
        </p:spPr>
      </p:cxnSp>
      <p:sp>
        <p:nvSpPr>
          <p:cNvPr name="GraphCompose Text Line" id="14"/>
          <p:cNvSpPr txBox="true"/>
          <p:nvPr/>
        </p:nvSpPr>
        <p:spPr>
          <a:xfrm>
            <a:off x="1655704" y="8599801"/>
            <a:ext cx="11108333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Measurement counts, not stopwatches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655704" y="9280857"/>
            <a:ext cx="1272110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 CI gate asserts the exact number of text measurements the layout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730907"/>
            <a:ext cx="12556742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pass costs. Those are integers, identical on every machine, so they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10180957"/>
            <a:ext cx="12906969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separate a slower engine from a slower laptop — which a millisecond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655704" y="10631008"/>
            <a:ext cx="2695190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ceiling cannot.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1204148" y="12002888"/>
            <a:ext cx="13847704" cy="2480545"/>
          </a:xfrm>
          <a:prstGeom prst="roundRect">
            <a:avLst>
              <a:gd name="adj" fmla="val 15777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0" id="20"/>
          <p:cNvCxnSpPr/>
          <p:nvPr/>
        </p:nvCxnSpPr>
        <p:spPr>
          <a:xfrm>
            <a:off x="1204148" y="12002888"/>
            <a:ext cx="0" cy="2480545"/>
          </a:xfrm>
          <a:prstGeom prst="line">
            <a:avLst/>
          </a:prstGeom>
          <a:ln w="60207">
            <a:solidFill>
              <a:srgbClr val="E6A044"/>
            </a:solidFill>
          </a:ln>
        </p:spPr>
      </p:cxnSp>
      <p:sp>
        <p:nvSpPr>
          <p:cNvPr name="GraphCompose Text Line" id="21"/>
          <p:cNvSpPr txBox="true"/>
          <p:nvPr/>
        </p:nvSpPr>
        <p:spPr>
          <a:xfrm>
            <a:off x="1655704" y="12432003"/>
            <a:ext cx="9402657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A capability matrix, written down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1655704" y="13113058"/>
            <a:ext cx="10543045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Where a backend cannot do something, the difference is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1655704" y="13563108"/>
            <a:ext cx="1173786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documented per payload rather than discovered in your output.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1204148" y="14934989"/>
            <a:ext cx="13847704" cy="2480545"/>
          </a:xfrm>
          <a:prstGeom prst="roundRect">
            <a:avLst>
              <a:gd name="adj" fmla="val 15777"/>
            </a:avLst>
          </a:prstGeom>
          <a:solidFill>
            <a:srgbClr val="141B33"/>
          </a:solidFill>
          <a:ln>
            <a:noFill/>
          </a:ln>
        </p:spPr>
      </p:sp>
      <p:cxnSp>
        <p:nvCxnSpPr>
          <p:cNvPr name="Connector 25" id="25"/>
          <p:cNvCxnSpPr/>
          <p:nvPr/>
        </p:nvCxnSpPr>
        <p:spPr>
          <a:xfrm>
            <a:off x="1204148" y="14934989"/>
            <a:ext cx="0" cy="2480545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26"/>
          <p:cNvSpPr txBox="true"/>
          <p:nvPr/>
        </p:nvSpPr>
        <p:spPr>
          <a:xfrm>
            <a:off x="1655704" y="15364103"/>
            <a:ext cx="7696379" cy="55691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true" i="false" u="none" strike="noStrike" kern="0">
                <a:solidFill>
                  <a:srgbClr val="F5F7FC"/>
                </a:solidFill>
                <a:latin typeface="Arial"/>
              </a:rPr>
              <a:t>Binary compatibility, gated</a:t>
            </a:r>
            <a:endParaRPr lang="en-US" sz="1100"/>
          </a:p>
        </p:txBody>
      </p:sp>
      <p:sp>
        <p:nvSpPr>
          <p:cNvPr name="GraphCompose Text Line" id="27"/>
          <p:cNvSpPr txBox="true"/>
          <p:nvPr/>
        </p:nvSpPr>
        <p:spPr>
          <a:xfrm>
            <a:off x="1655704" y="16045159"/>
            <a:ext cx="12791491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japicmp checks every build against the published 2.0 baseline, so an</a:t>
            </a:r>
            <a:endParaRPr lang="en-US" sz="1100"/>
          </a:p>
        </p:txBody>
      </p:sp>
      <p:sp>
        <p:nvSpPr>
          <p:cNvPr name="GraphCompose Text Line" id="28"/>
          <p:cNvSpPr txBox="true"/>
          <p:nvPr/>
        </p:nvSpPr>
        <p:spPr>
          <a:xfrm>
            <a:off x="1655704" y="16495209"/>
            <a:ext cx="11760198" cy="38984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318" b="false" i="false" u="none" strike="noStrike" kern="0">
                <a:solidFill>
                  <a:srgbClr val="A8B1CA"/>
                </a:solidFill>
                <a:latin typeface="Arial"/>
              </a:rPr>
              <a:t>accidental break in a minor release fails CI instead of your app.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20320000"/>
          </a:xfrm>
          <a:prstGeom prst="rect">
            <a:avLst/>
          </a:prstGeom>
          <a:solidFill>
            <a:srgbClr val="090C1B"/>
          </a:solidFill>
          <a:ln>
            <a:noFill/>
          </a:ln>
        </p:spPr>
      </p:sp>
      <p:sp>
        <p:nvSpPr>
          <p:cNvPr name="GraphCompose Text Line" id="3"/>
          <p:cNvSpPr txBox="true"/>
          <p:nvPr/>
        </p:nvSpPr>
        <p:spPr>
          <a:xfrm>
            <a:off x="1204148" y="1124501"/>
            <a:ext cx="3993021" cy="30760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081" b="false" i="false" u="none" strike="noStrike" kern="0">
                <a:solidFill>
                  <a:srgbClr val="37D6A1"/>
                </a:solidFill>
                <a:latin typeface="Courier New"/>
              </a:rPr>
              <a:t>OPEN SOURCE · MIT</a:t>
            </a:r>
            <a:endParaRPr lang="en-US" sz="1100"/>
          </a:p>
        </p:txBody>
      </p:sp>
      <p:sp>
        <p:nvSpPr>
          <p:cNvPr name="GraphCompose Text Line" id="4"/>
          <p:cNvSpPr txBox="true"/>
          <p:nvPr/>
        </p:nvSpPr>
        <p:spPr>
          <a:xfrm>
            <a:off x="1204148" y="1591220"/>
            <a:ext cx="5411447" cy="1837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644" b="true" i="false" u="none" strike="noStrike" kern="0">
                <a:solidFill>
                  <a:srgbClr val="F5F7FC"/>
                </a:solidFill>
                <a:latin typeface="Arial"/>
              </a:rPr>
              <a:t>Try it.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1204148" y="4252690"/>
            <a:ext cx="13847704" cy="2243147"/>
          </a:xfrm>
          <a:prstGeom prst="roundRect">
            <a:avLst>
              <a:gd name="adj" fmla="val 13420"/>
            </a:avLst>
          </a:prstGeom>
          <a:solidFill>
            <a:srgbClr val="141B33"/>
          </a:solidFill>
          <a:ln w="15052">
            <a:solidFill>
              <a:srgbClr val="303860"/>
            </a:solidFill>
          </a:ln>
        </p:spPr>
      </p:sp>
      <p:sp>
        <p:nvSpPr>
          <p:cNvPr name="GraphCompose Text Line" id="6"/>
          <p:cNvSpPr txBox="true"/>
          <p:nvPr/>
        </p:nvSpPr>
        <p:spPr>
          <a:xfrm>
            <a:off x="1655704" y="4669489"/>
            <a:ext cx="5040630" cy="36675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74" b="false" i="false" u="none" strike="noStrike" kern="0">
                <a:solidFill>
                  <a:srgbClr val="A8B1CA"/>
                </a:solidFill>
                <a:latin typeface="Courier New"/>
              </a:rPr>
              <a:t>io.github.demchaav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1655704" y="5068880"/>
            <a:ext cx="7226159" cy="4732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740" b="false" i="false" u="none" strike="noStrike" kern="0">
                <a:solidFill>
                  <a:srgbClr val="F5F7FC"/>
                </a:solidFill>
                <a:latin typeface="Courier New"/>
              </a:rPr>
              <a:t>graph-compose-bundle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1655704" y="5642141"/>
            <a:ext cx="7560310" cy="3194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false" i="false" u="none" strike="noStrike" kern="0">
                <a:solidFill>
                  <a:srgbClr val="37D6A1"/>
                </a:solidFill>
                <a:latin typeface="Courier New"/>
              </a:rPr>
              <a:t>latest release on Maven Central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204148" y="6947393"/>
            <a:ext cx="13847704" cy="3598296"/>
          </a:xfrm>
          <a:prstGeom prst="roundRect">
            <a:avLst>
              <a:gd name="adj" fmla="val 8366"/>
            </a:avLst>
          </a:prstGeom>
          <a:solidFill>
            <a:srgbClr val="1B2240"/>
          </a:solidFill>
          <a:ln>
            <a:noFill/>
          </a:ln>
        </p:spPr>
      </p:sp>
      <p:cxnSp>
        <p:nvCxnSpPr>
          <p:cNvPr name="Connector 10" id="10"/>
          <p:cNvCxnSpPr/>
          <p:nvPr/>
        </p:nvCxnSpPr>
        <p:spPr>
          <a:xfrm>
            <a:off x="1204148" y="6947393"/>
            <a:ext cx="0" cy="3598296"/>
          </a:xfrm>
          <a:prstGeom prst="line">
            <a:avLst/>
          </a:prstGeom>
          <a:ln w="60207">
            <a:solidFill>
              <a:srgbClr val="7C5CFC"/>
            </a:solidFill>
          </a:ln>
        </p:spPr>
      </p:cxnSp>
      <p:sp>
        <p:nvSpPr>
          <p:cNvPr name="GraphCompose Text Line" id="11"/>
          <p:cNvSpPr txBox="true"/>
          <p:nvPr/>
        </p:nvSpPr>
        <p:spPr>
          <a:xfrm>
            <a:off x="1655704" y="7337152"/>
            <a:ext cx="7045537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try (DocumentSession doc =</a:t>
            </a:r>
            <a:endParaRPr lang="en-US" sz="1100"/>
          </a:p>
        </p:txBody>
      </p:sp>
      <p:sp>
        <p:nvSpPr>
          <p:cNvPr name="GraphCompose Text Line" id="12"/>
          <p:cNvSpPr txBox="true"/>
          <p:nvPr/>
        </p:nvSpPr>
        <p:spPr>
          <a:xfrm>
            <a:off x="1655704" y="7722178"/>
            <a:ext cx="12464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 GraphCompose.document(out).create()) {</a:t>
            </a:r>
            <a:endParaRPr lang="en-US" sz="1100"/>
          </a:p>
        </p:txBody>
      </p:sp>
      <p:sp>
        <p:nvSpPr>
          <p:cNvPr name="GraphCompose Text Line" id="13"/>
          <p:cNvSpPr txBox="true"/>
          <p:nvPr/>
        </p:nvSpPr>
        <p:spPr>
          <a:xfrm>
            <a:off x="1655704" y="8107205"/>
            <a:ext cx="4878070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doc.pageFlow()</a:t>
            </a:r>
            <a:endParaRPr lang="en-US" sz="1100"/>
          </a:p>
        </p:txBody>
      </p:sp>
      <p:sp>
        <p:nvSpPr>
          <p:cNvPr name="GraphCompose Text Line" id="14"/>
          <p:cNvSpPr txBox="true"/>
          <p:nvPr/>
        </p:nvSpPr>
        <p:spPr>
          <a:xfrm>
            <a:off x="1655704" y="8492231"/>
            <a:ext cx="116514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.addParagraph(p -&gt; p.text("Hello."))</a:t>
            </a:r>
            <a:endParaRPr lang="en-US" sz="1100"/>
          </a:p>
        </p:txBody>
      </p:sp>
      <p:sp>
        <p:nvSpPr>
          <p:cNvPr name="GraphCompose Text Line" id="15"/>
          <p:cNvSpPr txBox="true"/>
          <p:nvPr/>
        </p:nvSpPr>
        <p:spPr>
          <a:xfrm>
            <a:off x="1655704" y="8877257"/>
            <a:ext cx="4336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   .build();</a:t>
            </a:r>
            <a:endParaRPr lang="en-US" sz="1100"/>
          </a:p>
        </p:txBody>
      </p:sp>
      <p:sp>
        <p:nvSpPr>
          <p:cNvPr name="GraphCompose Text Line" id="16"/>
          <p:cNvSpPr txBox="true"/>
          <p:nvPr/>
        </p:nvSpPr>
        <p:spPr>
          <a:xfrm>
            <a:off x="1655704" y="9262284"/>
            <a:ext cx="12193270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    doc.buildPdf();      // or buildPptx(out)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1655704" y="9647310"/>
            <a:ext cx="272203" cy="354923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555" b="false" i="false" u="none" strike="noStrike" kern="0">
                <a:solidFill>
                  <a:srgbClr val="F5F7FC"/>
                </a:solidFill>
                <a:latin typeface="Courier New"/>
              </a:rPr>
              <a:t>}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1204148" y="10927786"/>
            <a:ext cx="12160939" cy="640456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5451" b="false" i="false" u="none" strike="noStrike" kern="0">
                <a:solidFill>
                  <a:srgbClr val="B59FFF"/>
                </a:solidFill>
                <a:latin typeface="Arial"/>
              </a:rPr>
              <a:t>github.com/DemchaAV/GraphCompose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1204148" y="12177761"/>
            <a:ext cx="13611154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Java 17+. Every slide in this carousel was composed with the library and rendered by its own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1204148" y="12529222"/>
            <a:ext cx="10270607" cy="30630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607" b="false" i="false" u="none" strike="noStrike" kern="0">
                <a:solidFill>
                  <a:srgbClr val="828BAA"/>
                </a:solidFill>
                <a:latin typeface="Arial"/>
              </a:rPr>
              <a:t>PDF backend - the PPTX beside it comes from the same composition.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  <dc:subject>One composition, rendered to PDF and PowerPoint</dc:subject>
  <dc:title>GraphCompose 2.4</dc:title>
</cp:coreProperties>
</file>