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0692000" cy="7560001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3200" y="203200"/>
            <a:ext cx="10285600" cy="6544037"/>
          </a:xfrm>
          <a:prstGeom prst="roundRect">
            <a:avLst>
              <a:gd name="adj" fmla="val 2329"/>
            </a:avLst>
          </a:prstGeom>
          <a:solidFill>
            <a:srgbClr val="121221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431800" y="431800"/>
            <a:ext cx="8509000" cy="1317323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pic>
        <p:nvPicPr>
          <p:cNvPr name="GraphCompose Clipped Composite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431800"/>
            <a:ext cx="8509000" cy="1317323"/>
          </a:xfrm>
          <a:prstGeom prst="rect">
            <a:avLst/>
          </a:prstGeom>
        </p:spPr>
      </p:pic>
      <p:sp>
        <p:nvSpPr>
          <p:cNvPr name="GraphCompose Text Line" id="5"/>
          <p:cNvSpPr txBox="true"/>
          <p:nvPr/>
        </p:nvSpPr>
        <p:spPr>
          <a:xfrm>
            <a:off x="431800" y="1968637"/>
            <a:ext cx="9672828" cy="17033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D0D3E2"/>
                </a:solidFill>
                <a:latin typeface="Arial"/>
              </a:rPr>
              <a:t>Open-source Java library for generating structured business documents with a declarative DSL — print-ready PDF and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431800" y="2155486"/>
            <a:ext cx="4197680" cy="17033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D0D3E2"/>
                </a:solidFill>
                <a:latin typeface="Arial"/>
              </a:rPr>
              <a:t>an editable PowerPoint deck from one composition.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431800" y="2665111"/>
            <a:ext cx="9512300" cy="15240"/>
          </a:xfrm>
          <a:prstGeom prst="rect">
            <a:avLst/>
          </a:prstGeom>
          <a:solidFill>
            <a:srgbClr val="3A385C"/>
          </a:solidFill>
          <a:ln>
            <a:noFill/>
          </a:ln>
        </p:spPr>
      </p:sp>
      <p:sp>
        <p:nvSpPr>
          <p:cNvPr name="GraphCompose Inline Text Span" id="8"/>
          <p:cNvSpPr txBox="true"/>
          <p:nvPr/>
        </p:nvSpPr>
        <p:spPr>
          <a:xfrm>
            <a:off x="431800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1</a:t>
            </a:r>
            <a:endParaRPr lang="en-US" sz="1100"/>
          </a:p>
        </p:txBody>
      </p:sp>
      <p:sp>
        <p:nvSpPr>
          <p:cNvPr name="GraphCompose Inline Text Span" id="9"/>
          <p:cNvSpPr txBox="true"/>
          <p:nvPr/>
        </p:nvSpPr>
        <p:spPr>
          <a:xfrm>
            <a:off x="544779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0"/>
          <p:cNvSpPr txBox="true"/>
          <p:nvPr/>
        </p:nvSpPr>
        <p:spPr>
          <a:xfrm>
            <a:off x="682473" y="2879988"/>
            <a:ext cx="36845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Java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1049655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2"/>
          <p:cNvSpPr txBox="true"/>
          <p:nvPr/>
        </p:nvSpPr>
        <p:spPr>
          <a:xfrm>
            <a:off x="1095553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·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1141451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4"/>
          <p:cNvSpPr txBox="true"/>
          <p:nvPr/>
        </p:nvSpPr>
        <p:spPr>
          <a:xfrm>
            <a:off x="1187348" y="2879988"/>
            <a:ext cx="88224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Declarative</a:t>
            </a:r>
            <a:endParaRPr lang="en-US" sz="1100"/>
          </a:p>
        </p:txBody>
      </p:sp>
      <p:sp>
        <p:nvSpPr>
          <p:cNvPr name="GraphCompose Inline Text Span" id="15"/>
          <p:cNvSpPr txBox="true"/>
          <p:nvPr/>
        </p:nvSpPr>
        <p:spPr>
          <a:xfrm>
            <a:off x="2068322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6"/>
          <p:cNvSpPr txBox="true"/>
          <p:nvPr/>
        </p:nvSpPr>
        <p:spPr>
          <a:xfrm>
            <a:off x="2114220" y="2879988"/>
            <a:ext cx="3314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DSL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431800" y="3198511"/>
            <a:ext cx="1884680" cy="1466190"/>
          </a:xfrm>
          <a:prstGeom prst="roundRect">
            <a:avLst>
              <a:gd name="adj" fmla="val 6930"/>
            </a:avLst>
          </a:prstGeom>
          <a:solidFill>
            <a:srgbClr val="0C0C16"/>
          </a:solidFill>
          <a:ln>
            <a:noFill/>
          </a:ln>
        </p:spPr>
      </p:sp>
      <p:sp>
        <p:nvSpPr>
          <p:cNvPr name="GraphCompose Text Line" id="18"/>
          <p:cNvSpPr txBox="true"/>
          <p:nvPr/>
        </p:nvSpPr>
        <p:spPr>
          <a:xfrm>
            <a:off x="596900" y="3346035"/>
            <a:ext cx="155575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A78BFA"/>
                </a:solidFill>
                <a:latin typeface="Courier New"/>
              </a:rPr>
              <a:t>var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out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=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Path.of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"deck.pdf"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);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596900" y="3464714"/>
            <a:ext cx="1400302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A78BFA"/>
                </a:solidFill>
                <a:latin typeface="Courier New"/>
              </a:rPr>
              <a:t>try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(var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=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596900" y="3583393"/>
            <a:ext cx="72669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.document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(out)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596900" y="3702072"/>
            <a:ext cx="155575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.pageSize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DocumentPageSize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.A4)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596900" y="3820751"/>
            <a:ext cx="623062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.create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())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596900" y="3939430"/>
            <a:ext cx="129667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doc.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pageFlow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(page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-&gt;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page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596900" y="4058109"/>
            <a:ext cx="150393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.addParagraph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"GraphCompose"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596900" y="4176787"/>
            <a:ext cx="150393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.addParagraph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"Cinematic."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));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596900" y="4295466"/>
            <a:ext cx="77851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doc.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buildPdf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();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596900" y="4414145"/>
            <a:ext cx="53086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}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431800" y="4848873"/>
            <a:ext cx="214736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You describe the document intent — the engine</a:t>
            </a:r>
            <a:endParaRPr lang="en-US" sz="1100"/>
          </a:p>
        </p:txBody>
      </p:sp>
      <p:sp>
        <p:nvSpPr>
          <p:cNvPr name="GraphCompose Text Line" id="29"/>
          <p:cNvSpPr txBox="true"/>
          <p:nvPr/>
        </p:nvSpPr>
        <p:spPr>
          <a:xfrm>
            <a:off x="431800" y="4959363"/>
            <a:ext cx="77485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resolves the rest.</a:t>
            </a:r>
            <a:endParaRPr lang="en-US" sz="1100"/>
          </a:p>
        </p:txBody>
      </p:sp>
      <p:sp>
        <p:nvSpPr>
          <p:cNvPr name="GraphCompose Text Line" id="30"/>
          <p:cNvSpPr txBox="true"/>
          <p:nvPr/>
        </p:nvSpPr>
        <p:spPr>
          <a:xfrm>
            <a:off x="2775167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31"/>
          <p:cNvSpPr txBox="true"/>
          <p:nvPr/>
        </p:nvSpPr>
        <p:spPr>
          <a:xfrm>
            <a:off x="3054681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2</a:t>
            </a:r>
            <a:endParaRPr lang="en-US" sz="1100"/>
          </a:p>
        </p:txBody>
      </p:sp>
      <p:sp>
        <p:nvSpPr>
          <p:cNvPr name="GraphCompose Inline Text Span" id="32"/>
          <p:cNvSpPr txBox="true"/>
          <p:nvPr/>
        </p:nvSpPr>
        <p:spPr>
          <a:xfrm>
            <a:off x="3167660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33"/>
          <p:cNvSpPr txBox="true"/>
          <p:nvPr/>
        </p:nvSpPr>
        <p:spPr>
          <a:xfrm>
            <a:off x="3305354" y="2879988"/>
            <a:ext cx="1239685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GraphCompose Inline Text Span" id="34"/>
          <p:cNvSpPr txBox="true"/>
          <p:nvPr/>
        </p:nvSpPr>
        <p:spPr>
          <a:xfrm>
            <a:off x="4543769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35"/>
          <p:cNvSpPr txBox="true"/>
          <p:nvPr/>
        </p:nvSpPr>
        <p:spPr>
          <a:xfrm>
            <a:off x="4589667" y="2879988"/>
            <a:ext cx="55171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Engine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3054681" y="3178295"/>
            <a:ext cx="177111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989CB2"/>
                </a:solidFill>
                <a:latin typeface="Arial"/>
              </a:rPr>
              <a:t>Semantic graph · deterministic layout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3054681" y="3628564"/>
            <a:ext cx="2514600" cy="1397000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3080081" y="36539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39" id="39"/>
          <p:cNvSpPr/>
          <p:nvPr/>
        </p:nvSpPr>
        <p:spPr>
          <a:xfrm>
            <a:off x="3207081" y="3755564"/>
            <a:ext cx="177800" cy="177800"/>
          </a:xfrm>
          <a:custGeom>
            <a:avLst/>
            <a:gdLst/>
            <a:ahLst/>
            <a:cxnLst/>
            <a:rect r="r" b="b" t="t" l="l"/>
            <a:pathLst>
              <a:path h="177800" w="177800">
                <a:moveTo>
                  <a:pt x="0" y="28575"/>
                </a:moveTo>
                <a:cubicBezTo>
                  <a:pt x="0" y="12794"/>
                  <a:pt x="12794" y="0"/>
                  <a:pt x="28575" y="0"/>
                </a:cubicBezTo>
                <a:lnTo>
                  <a:pt x="149225" y="0"/>
                </a:lnTo>
                <a:cubicBezTo>
                  <a:pt x="165007" y="0"/>
                  <a:pt x="177800" y="12794"/>
                  <a:pt x="177800" y="28575"/>
                </a:cubicBezTo>
                <a:lnTo>
                  <a:pt x="177800" y="149225"/>
                </a:lnTo>
                <a:cubicBezTo>
                  <a:pt x="177800" y="165007"/>
                  <a:pt x="165007" y="177800"/>
                  <a:pt x="149225" y="177800"/>
                </a:cubicBezTo>
                <a:lnTo>
                  <a:pt x="28575" y="177800"/>
                </a:lnTo>
                <a:cubicBezTo>
                  <a:pt x="12794" y="177800"/>
                  <a:pt x="0" y="165007"/>
                  <a:pt x="0" y="149225"/>
                </a:cubicBezTo>
                <a:lnTo>
                  <a:pt x="0" y="28575"/>
                </a:lnTo>
                <a:close/>
                <a:moveTo>
                  <a:pt x="69850" y="158750"/>
                </a:moveTo>
                <a:lnTo>
                  <a:pt x="149225" y="158750"/>
                </a:lnTo>
                <a:cubicBezTo>
                  <a:pt x="154486" y="158750"/>
                  <a:pt x="158750" y="154486"/>
                  <a:pt x="158750" y="149225"/>
                </a:cubicBezTo>
                <a:lnTo>
                  <a:pt x="158750" y="69850"/>
                </a:lnTo>
                <a:lnTo>
                  <a:pt x="69850" y="69850"/>
                </a:lnTo>
                <a:lnTo>
                  <a:pt x="69850" y="158750"/>
                </a:lnTo>
                <a:close/>
                <a:moveTo>
                  <a:pt x="50800" y="69850"/>
                </a:moveTo>
                <a:lnTo>
                  <a:pt x="50800" y="158750"/>
                </a:lnTo>
                <a:lnTo>
                  <a:pt x="28575" y="158750"/>
                </a:lnTo>
                <a:cubicBezTo>
                  <a:pt x="23315" y="158750"/>
                  <a:pt x="19050" y="154486"/>
                  <a:pt x="19050" y="149225"/>
                </a:cubicBezTo>
                <a:lnTo>
                  <a:pt x="19050" y="69850"/>
                </a:lnTo>
                <a:lnTo>
                  <a:pt x="50800" y="69850"/>
                </a:lnTo>
                <a:close/>
                <a:moveTo>
                  <a:pt x="158750" y="50800"/>
                </a:moveTo>
                <a:lnTo>
                  <a:pt x="158750" y="28575"/>
                </a:lnTo>
                <a:cubicBezTo>
                  <a:pt x="158750" y="23315"/>
                  <a:pt x="154486" y="19050"/>
                  <a:pt x="149225" y="19050"/>
                </a:cubicBezTo>
                <a:lnTo>
                  <a:pt x="28575" y="19050"/>
                </a:lnTo>
                <a:cubicBezTo>
                  <a:pt x="23315" y="19050"/>
                  <a:pt x="19050" y="23315"/>
                  <a:pt x="19050" y="28575"/>
                </a:cubicBezTo>
                <a:lnTo>
                  <a:pt x="19050" y="50800"/>
                </a:lnTo>
                <a:lnTo>
                  <a:pt x="158750" y="50800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40"/>
          <p:cNvSpPr txBox="true"/>
          <p:nvPr/>
        </p:nvSpPr>
        <p:spPr>
          <a:xfrm>
            <a:off x="3461081" y="3774321"/>
            <a:ext cx="35513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Layout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080081" y="41365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4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381" y="4225464"/>
            <a:ext cx="203200" cy="203200"/>
          </a:xfrm>
          <a:prstGeom prst="rect">
            <a:avLst/>
          </a:prstGeom>
        </p:spPr>
      </p:pic>
      <p:sp>
        <p:nvSpPr>
          <p:cNvPr name="GraphCompose Text Line" id="43"/>
          <p:cNvSpPr txBox="true"/>
          <p:nvPr/>
        </p:nvSpPr>
        <p:spPr>
          <a:xfrm>
            <a:off x="3461081" y="4256921"/>
            <a:ext cx="55311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Pagination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>
            <a:off x="3080081" y="46191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45" id="45"/>
          <p:cNvSpPr/>
          <p:nvPr/>
        </p:nvSpPr>
        <p:spPr>
          <a:xfrm>
            <a:off x="3214701" y="4733533"/>
            <a:ext cx="162560" cy="157412"/>
          </a:xfrm>
          <a:custGeom>
            <a:avLst/>
            <a:gdLst/>
            <a:ahLst/>
            <a:cxnLst/>
            <a:rect r="r" b="b" t="t" l="l"/>
            <a:pathLst>
              <a:path h="157412" w="162560">
                <a:moveTo>
                  <a:pt x="152651" y="11"/>
                </a:moveTo>
                <a:cubicBezTo>
                  <a:pt x="147909" y="380"/>
                  <a:pt x="135226" y="9804"/>
                  <a:pt x="121894" y="23135"/>
                </a:cubicBezTo>
                <a:lnTo>
                  <a:pt x="71596" y="73433"/>
                </a:lnTo>
                <a:cubicBezTo>
                  <a:pt x="73847" y="74268"/>
                  <a:pt x="75945" y="75453"/>
                  <a:pt x="77682" y="77190"/>
                </a:cubicBezTo>
                <a:cubicBezTo>
                  <a:pt x="79322" y="78830"/>
                  <a:pt x="80445" y="80801"/>
                  <a:pt x="81280" y="82905"/>
                </a:cubicBezTo>
                <a:lnTo>
                  <a:pt x="131472" y="32713"/>
                </a:lnTo>
                <a:cubicBezTo>
                  <a:pt x="146708" y="17477"/>
                  <a:pt x="156826" y="3074"/>
                  <a:pt x="154173" y="421"/>
                </a:cubicBezTo>
                <a:cubicBezTo>
                  <a:pt x="153841" y="89"/>
                  <a:pt x="153329" y="-42"/>
                  <a:pt x="152651" y="11"/>
                </a:cubicBezTo>
                <a:close/>
                <a:moveTo>
                  <a:pt x="81412" y="30927"/>
                </a:moveTo>
                <a:cubicBezTo>
                  <a:pt x="36451" y="30927"/>
                  <a:pt x="0" y="59249"/>
                  <a:pt x="0" y="94176"/>
                </a:cubicBezTo>
                <a:cubicBezTo>
                  <a:pt x="0" y="129103"/>
                  <a:pt x="36451" y="157412"/>
                  <a:pt x="81412" y="157411"/>
                </a:cubicBezTo>
                <a:cubicBezTo>
                  <a:pt x="99415" y="157411"/>
                  <a:pt x="113682" y="153686"/>
                  <a:pt x="126908" y="148217"/>
                </a:cubicBezTo>
                <a:cubicBezTo>
                  <a:pt x="136075" y="144426"/>
                  <a:pt x="145068" y="137367"/>
                  <a:pt x="146593" y="128029"/>
                </a:cubicBezTo>
                <a:cubicBezTo>
                  <a:pt x="146959" y="125786"/>
                  <a:pt x="145948" y="121225"/>
                  <a:pt x="142663" y="115845"/>
                </a:cubicBezTo>
                <a:cubicBezTo>
                  <a:pt x="137943" y="108115"/>
                  <a:pt x="129430" y="99161"/>
                  <a:pt x="129752" y="96610"/>
                </a:cubicBezTo>
                <a:cubicBezTo>
                  <a:pt x="130279" y="92425"/>
                  <a:pt x="136313" y="95412"/>
                  <a:pt x="144542" y="96544"/>
                </a:cubicBezTo>
                <a:cubicBezTo>
                  <a:pt x="152771" y="97676"/>
                  <a:pt x="162560" y="103730"/>
                  <a:pt x="162560" y="84400"/>
                </a:cubicBezTo>
                <a:cubicBezTo>
                  <a:pt x="162560" y="74001"/>
                  <a:pt x="152025" y="59343"/>
                  <a:pt x="135348" y="47993"/>
                </a:cubicBezTo>
                <a:lnTo>
                  <a:pt x="86850" y="96491"/>
                </a:lnTo>
                <a:cubicBezTo>
                  <a:pt x="86844" y="96542"/>
                  <a:pt x="86868" y="96597"/>
                  <a:pt x="86863" y="96650"/>
                </a:cubicBezTo>
                <a:cubicBezTo>
                  <a:pt x="85967" y="103922"/>
                  <a:pt x="82536" y="110647"/>
                  <a:pt x="77126" y="116057"/>
                </a:cubicBezTo>
                <a:cubicBezTo>
                  <a:pt x="69164" y="124020"/>
                  <a:pt x="60886" y="125120"/>
                  <a:pt x="53763" y="126693"/>
                </a:cubicBezTo>
                <a:cubicBezTo>
                  <a:pt x="46641" y="128267"/>
                  <a:pt x="40548" y="128850"/>
                  <a:pt x="40548" y="128850"/>
                </a:cubicBezTo>
                <a:lnTo>
                  <a:pt x="23905" y="130490"/>
                </a:lnTo>
                <a:lnTo>
                  <a:pt x="25771" y="113874"/>
                </a:lnTo>
                <a:cubicBezTo>
                  <a:pt x="25771" y="113874"/>
                  <a:pt x="26425" y="107848"/>
                  <a:pt x="28072" y="100804"/>
                </a:cubicBezTo>
                <a:cubicBezTo>
                  <a:pt x="29720" y="93760"/>
                  <a:pt x="30975" y="85585"/>
                  <a:pt x="38815" y="77745"/>
                </a:cubicBezTo>
                <a:cubicBezTo>
                  <a:pt x="44090" y="72469"/>
                  <a:pt x="50641" y="69164"/>
                  <a:pt x="57706" y="68167"/>
                </a:cubicBezTo>
                <a:lnTo>
                  <a:pt x="93954" y="31906"/>
                </a:lnTo>
                <a:cubicBezTo>
                  <a:pt x="89857" y="31330"/>
                  <a:pt x="85692" y="30927"/>
                  <a:pt x="81412" y="30927"/>
                </a:cubicBezTo>
                <a:close/>
                <a:moveTo>
                  <a:pt x="62786" y="81370"/>
                </a:moveTo>
                <a:cubicBezTo>
                  <a:pt x="58033" y="81027"/>
                  <a:pt x="52630" y="83085"/>
                  <a:pt x="48392" y="87323"/>
                </a:cubicBezTo>
                <a:cubicBezTo>
                  <a:pt x="41612" y="94104"/>
                  <a:pt x="39238" y="115369"/>
                  <a:pt x="39238" y="115369"/>
                </a:cubicBezTo>
                <a:cubicBezTo>
                  <a:pt x="39238" y="115369"/>
                  <a:pt x="60767" y="113260"/>
                  <a:pt x="67548" y="106479"/>
                </a:cubicBezTo>
                <a:cubicBezTo>
                  <a:pt x="74329" y="99698"/>
                  <a:pt x="75537" y="89915"/>
                  <a:pt x="70247" y="84625"/>
                </a:cubicBezTo>
                <a:cubicBezTo>
                  <a:pt x="68263" y="82641"/>
                  <a:pt x="65638" y="81576"/>
                  <a:pt x="62786" y="8137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46"/>
          <p:cNvSpPr txBox="true"/>
          <p:nvPr/>
        </p:nvSpPr>
        <p:spPr>
          <a:xfrm>
            <a:off x="3461081" y="4739521"/>
            <a:ext cx="409213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Themes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>
            <a:off x="4362781" y="36539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4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081" y="3742864"/>
            <a:ext cx="203200" cy="203200"/>
          </a:xfrm>
          <a:prstGeom prst="rect">
            <a:avLst/>
          </a:prstGeom>
        </p:spPr>
      </p:pic>
      <p:sp>
        <p:nvSpPr>
          <p:cNvPr name="GraphCompose Text Line" id="49"/>
          <p:cNvSpPr txBox="true"/>
          <p:nvPr/>
        </p:nvSpPr>
        <p:spPr>
          <a:xfrm>
            <a:off x="4743781" y="3774321"/>
            <a:ext cx="660952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Components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>
            <a:off x="4362781" y="41365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5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781" y="4136564"/>
            <a:ext cx="1181100" cy="381000"/>
          </a:xfrm>
          <a:prstGeom prst="rect">
            <a:avLst/>
          </a:prstGeom>
        </p:spPr>
      </p:pic>
      <p:sp>
        <p:nvSpPr>
          <p:cNvPr name="AutoShape 52" id="52"/>
          <p:cNvSpPr/>
          <p:nvPr/>
        </p:nvSpPr>
        <p:spPr>
          <a:xfrm>
            <a:off x="4362781" y="46191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5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4477081" y="4708064"/>
            <a:ext cx="203200" cy="203200"/>
          </a:xfrm>
          <a:prstGeom prst="rect">
            <a:avLst/>
          </a:prstGeom>
        </p:spPr>
      </p:pic>
      <p:sp>
        <p:nvSpPr>
          <p:cNvPr name="GraphCompose Text Line" id="54"/>
          <p:cNvSpPr txBox="true"/>
          <p:nvPr/>
        </p:nvSpPr>
        <p:spPr>
          <a:xfrm>
            <a:off x="4743781" y="4739521"/>
            <a:ext cx="21717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DSL</a:t>
            </a:r>
            <a:endParaRPr lang="en-US" sz="1100"/>
          </a:p>
        </p:txBody>
      </p:sp>
      <p:sp>
        <p:nvSpPr>
          <p:cNvPr name="GraphCompose Text Line" id="55"/>
          <p:cNvSpPr txBox="true"/>
          <p:nvPr/>
        </p:nvSpPr>
        <p:spPr>
          <a:xfrm>
            <a:off x="5754367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56"/>
          <p:cNvSpPr txBox="true"/>
          <p:nvPr/>
        </p:nvSpPr>
        <p:spPr>
          <a:xfrm>
            <a:off x="6033882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3</a:t>
            </a:r>
            <a:endParaRPr lang="en-US" sz="1100"/>
          </a:p>
        </p:txBody>
      </p:sp>
      <p:sp>
        <p:nvSpPr>
          <p:cNvPr name="GraphCompose Inline Text Span" id="57"/>
          <p:cNvSpPr txBox="true"/>
          <p:nvPr/>
        </p:nvSpPr>
        <p:spPr>
          <a:xfrm>
            <a:off x="6146861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58"/>
          <p:cNvSpPr txBox="true"/>
          <p:nvPr/>
        </p:nvSpPr>
        <p:spPr>
          <a:xfrm>
            <a:off x="6284554" y="2879988"/>
            <a:ext cx="5423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Output</a:t>
            </a:r>
            <a:endParaRPr lang="en-US" sz="1100"/>
          </a:p>
        </p:txBody>
      </p:sp>
      <p:sp>
        <p:nvSpPr>
          <p:cNvPr name="GraphCompose Text Line" id="59"/>
          <p:cNvSpPr txBox="true"/>
          <p:nvPr/>
        </p:nvSpPr>
        <p:spPr>
          <a:xfrm>
            <a:off x="6033882" y="3040592"/>
            <a:ext cx="78120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Backends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>
            <a:off x="6033882" y="33512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6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882" y="3351228"/>
            <a:ext cx="1397000" cy="558800"/>
          </a:xfrm>
          <a:prstGeom prst="rect">
            <a:avLst/>
          </a:prstGeom>
        </p:spPr>
      </p:pic>
      <p:sp>
        <p:nvSpPr>
          <p:cNvPr name="AutoShape 62" id="62"/>
          <p:cNvSpPr/>
          <p:nvPr/>
        </p:nvSpPr>
        <p:spPr>
          <a:xfrm>
            <a:off x="6033882" y="40370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63" id="63"/>
          <p:cNvSpPr/>
          <p:nvPr/>
        </p:nvSpPr>
        <p:spPr>
          <a:xfrm>
            <a:off x="6253179" y="4251947"/>
            <a:ext cx="11135" cy="12786"/>
          </a:xfrm>
          <a:custGeom>
            <a:avLst/>
            <a:gdLst/>
            <a:ahLst/>
            <a:cxnLst/>
            <a:rect r="r" b="b" t="t" l="l"/>
            <a:pathLst>
              <a:path h="12786" w="11135">
                <a:moveTo>
                  <a:pt x="11135" y="6060"/>
                </a:moveTo>
                <a:cubicBezTo>
                  <a:pt x="11135" y="2264"/>
                  <a:pt x="8504" y="0"/>
                  <a:pt x="3841" y="0"/>
                </a:cubicBezTo>
                <a:cubicBezTo>
                  <a:pt x="1957" y="0"/>
                  <a:pt x="673" y="187"/>
                  <a:pt x="0" y="367"/>
                </a:cubicBezTo>
                <a:lnTo>
                  <a:pt x="0" y="12547"/>
                </a:lnTo>
                <a:cubicBezTo>
                  <a:pt x="792" y="12726"/>
                  <a:pt x="1764" y="12786"/>
                  <a:pt x="3109" y="12786"/>
                </a:cubicBezTo>
                <a:cubicBezTo>
                  <a:pt x="8071" y="12786"/>
                  <a:pt x="11135" y="10283"/>
                  <a:pt x="11135" y="606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4" id="64"/>
          <p:cNvSpPr/>
          <p:nvPr/>
        </p:nvSpPr>
        <p:spPr>
          <a:xfrm>
            <a:off x="6217610" y="4251947"/>
            <a:ext cx="11134" cy="12786"/>
          </a:xfrm>
          <a:custGeom>
            <a:avLst/>
            <a:gdLst/>
            <a:ahLst/>
            <a:cxnLst/>
            <a:rect r="r" b="b" t="t" l="l"/>
            <a:pathLst>
              <a:path h="12786" w="11134">
                <a:moveTo>
                  <a:pt x="3856" y="0"/>
                </a:moveTo>
                <a:cubicBezTo>
                  <a:pt x="1958" y="0"/>
                  <a:pt x="672" y="187"/>
                  <a:pt x="0" y="367"/>
                </a:cubicBezTo>
                <a:lnTo>
                  <a:pt x="0" y="12547"/>
                </a:lnTo>
                <a:cubicBezTo>
                  <a:pt x="792" y="12726"/>
                  <a:pt x="1771" y="12786"/>
                  <a:pt x="3124" y="12786"/>
                </a:cubicBezTo>
                <a:cubicBezTo>
                  <a:pt x="8070" y="12786"/>
                  <a:pt x="11134" y="10283"/>
                  <a:pt x="11134" y="6060"/>
                </a:cubicBezTo>
                <a:cubicBezTo>
                  <a:pt x="11134" y="2265"/>
                  <a:pt x="8504" y="0"/>
                  <a:pt x="3856" y="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5" id="65"/>
          <p:cNvSpPr/>
          <p:nvPr/>
        </p:nvSpPr>
        <p:spPr>
          <a:xfrm>
            <a:off x="6187750" y="4202128"/>
            <a:ext cx="225664" cy="228600"/>
          </a:xfrm>
          <a:custGeom>
            <a:avLst/>
            <a:gdLst/>
            <a:ahLst/>
            <a:cxnLst/>
            <a:rect r="r" b="b" t="t" l="l"/>
            <a:pathLst>
              <a:path h="228600" w="225664">
                <a:moveTo>
                  <a:pt x="167878" y="0"/>
                </a:moveTo>
                <a:lnTo>
                  <a:pt x="76063" y="0"/>
                </a:lnTo>
                <a:cubicBezTo>
                  <a:pt x="62650" y="0"/>
                  <a:pt x="51732" y="10925"/>
                  <a:pt x="51732" y="24331"/>
                </a:cubicBezTo>
                <a:lnTo>
                  <a:pt x="51732" y="28837"/>
                </a:lnTo>
                <a:lnTo>
                  <a:pt x="9804" y="28837"/>
                </a:lnTo>
                <a:cubicBezTo>
                  <a:pt x="4386" y="28837"/>
                  <a:pt x="0" y="33223"/>
                  <a:pt x="0" y="38640"/>
                </a:cubicBezTo>
                <a:lnTo>
                  <a:pt x="0" y="88565"/>
                </a:lnTo>
                <a:cubicBezTo>
                  <a:pt x="0" y="93982"/>
                  <a:pt x="4386" y="98369"/>
                  <a:pt x="9804" y="98369"/>
                </a:cubicBezTo>
                <a:lnTo>
                  <a:pt x="51732" y="98369"/>
                </a:lnTo>
                <a:lnTo>
                  <a:pt x="51732" y="204270"/>
                </a:lnTo>
                <a:cubicBezTo>
                  <a:pt x="51732" y="217690"/>
                  <a:pt x="62650" y="228600"/>
                  <a:pt x="76063" y="228600"/>
                </a:cubicBezTo>
                <a:lnTo>
                  <a:pt x="201341" y="228600"/>
                </a:lnTo>
                <a:cubicBezTo>
                  <a:pt x="214746" y="228600"/>
                  <a:pt x="225664" y="217690"/>
                  <a:pt x="225664" y="204270"/>
                </a:cubicBezTo>
                <a:lnTo>
                  <a:pt x="225664" y="57584"/>
                </a:lnTo>
                <a:lnTo>
                  <a:pt x="167878" y="0"/>
                </a:lnTo>
                <a:close/>
                <a:moveTo>
                  <a:pt x="46434" y="65422"/>
                </a:moveTo>
                <a:cubicBezTo>
                  <a:pt x="43251" y="68418"/>
                  <a:pt x="38543" y="69764"/>
                  <a:pt x="33044" y="69764"/>
                </a:cubicBezTo>
                <a:cubicBezTo>
                  <a:pt x="31818" y="69764"/>
                  <a:pt x="30712" y="69704"/>
                  <a:pt x="29860" y="69585"/>
                </a:cubicBezTo>
                <a:lnTo>
                  <a:pt x="29860" y="84327"/>
                </a:lnTo>
                <a:lnTo>
                  <a:pt x="20624" y="84327"/>
                </a:lnTo>
                <a:lnTo>
                  <a:pt x="20624" y="43639"/>
                </a:lnTo>
                <a:cubicBezTo>
                  <a:pt x="23493" y="43154"/>
                  <a:pt x="27529" y="42788"/>
                  <a:pt x="33223" y="42788"/>
                </a:cubicBezTo>
                <a:cubicBezTo>
                  <a:pt x="38977" y="42788"/>
                  <a:pt x="43071" y="43886"/>
                  <a:pt x="45821" y="46091"/>
                </a:cubicBezTo>
                <a:cubicBezTo>
                  <a:pt x="48451" y="48168"/>
                  <a:pt x="50231" y="51598"/>
                  <a:pt x="50231" y="55633"/>
                </a:cubicBezTo>
                <a:cubicBezTo>
                  <a:pt x="50231" y="59669"/>
                  <a:pt x="48885" y="63098"/>
                  <a:pt x="46434" y="65422"/>
                </a:cubicBezTo>
                <a:close/>
                <a:moveTo>
                  <a:pt x="65430" y="84328"/>
                </a:moveTo>
                <a:lnTo>
                  <a:pt x="56178" y="84328"/>
                </a:lnTo>
                <a:lnTo>
                  <a:pt x="56178" y="43639"/>
                </a:lnTo>
                <a:cubicBezTo>
                  <a:pt x="59063" y="43154"/>
                  <a:pt x="63098" y="42788"/>
                  <a:pt x="68792" y="42788"/>
                </a:cubicBezTo>
                <a:cubicBezTo>
                  <a:pt x="74546" y="42788"/>
                  <a:pt x="78641" y="43886"/>
                  <a:pt x="81390" y="46091"/>
                </a:cubicBezTo>
                <a:cubicBezTo>
                  <a:pt x="84021" y="48168"/>
                  <a:pt x="85799" y="51598"/>
                  <a:pt x="85799" y="55633"/>
                </a:cubicBezTo>
                <a:cubicBezTo>
                  <a:pt x="85799" y="59669"/>
                  <a:pt x="84454" y="63098"/>
                  <a:pt x="82004" y="65422"/>
                </a:cubicBezTo>
                <a:cubicBezTo>
                  <a:pt x="78820" y="68418"/>
                  <a:pt x="74113" y="69764"/>
                  <a:pt x="68598" y="69764"/>
                </a:cubicBezTo>
                <a:cubicBezTo>
                  <a:pt x="67387" y="69764"/>
                  <a:pt x="66281" y="69704"/>
                  <a:pt x="65430" y="69585"/>
                </a:cubicBezTo>
                <a:lnTo>
                  <a:pt x="65430" y="84328"/>
                </a:lnTo>
                <a:close/>
                <a:moveTo>
                  <a:pt x="201340" y="213700"/>
                </a:moveTo>
                <a:lnTo>
                  <a:pt x="76063" y="213700"/>
                </a:lnTo>
                <a:cubicBezTo>
                  <a:pt x="70869" y="213700"/>
                  <a:pt x="66641" y="209471"/>
                  <a:pt x="66641" y="204270"/>
                </a:cubicBezTo>
                <a:lnTo>
                  <a:pt x="66641" y="98369"/>
                </a:lnTo>
                <a:lnTo>
                  <a:pt x="132892" y="98369"/>
                </a:lnTo>
                <a:cubicBezTo>
                  <a:pt x="138309" y="98369"/>
                  <a:pt x="142695" y="93982"/>
                  <a:pt x="142695" y="88565"/>
                </a:cubicBezTo>
                <a:lnTo>
                  <a:pt x="142695" y="38640"/>
                </a:lnTo>
                <a:cubicBezTo>
                  <a:pt x="142695" y="33223"/>
                  <a:pt x="138309" y="28837"/>
                  <a:pt x="132892" y="28837"/>
                </a:cubicBezTo>
                <a:lnTo>
                  <a:pt x="66641" y="28837"/>
                </a:lnTo>
                <a:lnTo>
                  <a:pt x="66641" y="24331"/>
                </a:lnTo>
                <a:cubicBezTo>
                  <a:pt x="66641" y="19144"/>
                  <a:pt x="70869" y="14915"/>
                  <a:pt x="76063" y="14915"/>
                </a:cubicBezTo>
                <a:lnTo>
                  <a:pt x="162304" y="14826"/>
                </a:lnTo>
                <a:lnTo>
                  <a:pt x="162304" y="46704"/>
                </a:lnTo>
                <a:cubicBezTo>
                  <a:pt x="162304" y="56014"/>
                  <a:pt x="169858" y="63576"/>
                  <a:pt x="179177" y="63576"/>
                </a:cubicBezTo>
                <a:lnTo>
                  <a:pt x="210405" y="63487"/>
                </a:lnTo>
                <a:lnTo>
                  <a:pt x="210756" y="204270"/>
                </a:lnTo>
                <a:cubicBezTo>
                  <a:pt x="210756" y="209471"/>
                  <a:pt x="206534" y="213700"/>
                  <a:pt x="201340" y="213700"/>
                </a:cubicBezTo>
                <a:close/>
                <a:moveTo>
                  <a:pt x="88640" y="50925"/>
                </a:moveTo>
                <a:lnTo>
                  <a:pt x="88640" y="43094"/>
                </a:lnTo>
                <a:lnTo>
                  <a:pt x="120322" y="43094"/>
                </a:lnTo>
                <a:lnTo>
                  <a:pt x="120322" y="50925"/>
                </a:lnTo>
                <a:lnTo>
                  <a:pt x="109069" y="50925"/>
                </a:lnTo>
                <a:lnTo>
                  <a:pt x="109069" y="84327"/>
                </a:lnTo>
                <a:lnTo>
                  <a:pt x="99713" y="84327"/>
                </a:lnTo>
                <a:lnTo>
                  <a:pt x="99713" y="50925"/>
                </a:lnTo>
                <a:lnTo>
                  <a:pt x="88640" y="50925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6" id="66"/>
          <p:cNvSpPr/>
          <p:nvPr/>
        </p:nvSpPr>
        <p:spPr>
          <a:xfrm>
            <a:off x="6275552" y="4312788"/>
            <a:ext cx="92353" cy="92354"/>
          </a:xfrm>
          <a:custGeom>
            <a:avLst/>
            <a:gdLst/>
            <a:ahLst/>
            <a:cxnLst/>
            <a:rect r="r" b="b" t="t" l="l"/>
            <a:pathLst>
              <a:path h="92354" w="92353">
                <a:moveTo>
                  <a:pt x="89469" y="33590"/>
                </a:moveTo>
                <a:cubicBezTo>
                  <a:pt x="88588" y="33082"/>
                  <a:pt x="87534" y="32978"/>
                  <a:pt x="86577" y="33291"/>
                </a:cubicBezTo>
                <a:lnTo>
                  <a:pt x="52711" y="44104"/>
                </a:lnTo>
                <a:cubicBezTo>
                  <a:pt x="51426" y="44508"/>
                  <a:pt x="50036" y="44172"/>
                  <a:pt x="49072" y="43229"/>
                </a:cubicBezTo>
                <a:cubicBezTo>
                  <a:pt x="48115" y="42296"/>
                  <a:pt x="47750" y="40898"/>
                  <a:pt x="48137" y="39620"/>
                </a:cubicBezTo>
                <a:lnTo>
                  <a:pt x="58285" y="5561"/>
                </a:lnTo>
                <a:cubicBezTo>
                  <a:pt x="58577" y="4589"/>
                  <a:pt x="58442" y="3536"/>
                  <a:pt x="57919" y="2668"/>
                </a:cubicBezTo>
                <a:cubicBezTo>
                  <a:pt x="57411" y="1802"/>
                  <a:pt x="56545" y="1189"/>
                  <a:pt x="55558" y="979"/>
                </a:cubicBezTo>
                <a:cubicBezTo>
                  <a:pt x="52532" y="344"/>
                  <a:pt x="49393" y="0"/>
                  <a:pt x="46187" y="0"/>
                </a:cubicBezTo>
                <a:cubicBezTo>
                  <a:pt x="20676" y="0"/>
                  <a:pt x="0" y="20684"/>
                  <a:pt x="0" y="46181"/>
                </a:cubicBezTo>
                <a:cubicBezTo>
                  <a:pt x="0" y="71693"/>
                  <a:pt x="20676" y="92354"/>
                  <a:pt x="46187" y="92354"/>
                </a:cubicBezTo>
                <a:cubicBezTo>
                  <a:pt x="71676" y="92354"/>
                  <a:pt x="92353" y="71693"/>
                  <a:pt x="92353" y="46181"/>
                </a:cubicBezTo>
                <a:cubicBezTo>
                  <a:pt x="92353" y="42661"/>
                  <a:pt x="91957" y="39224"/>
                  <a:pt x="91202" y="35929"/>
                </a:cubicBezTo>
                <a:cubicBezTo>
                  <a:pt x="90979" y="34935"/>
                  <a:pt x="90350" y="34091"/>
                  <a:pt x="89469" y="3359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7" id="67"/>
          <p:cNvSpPr/>
          <p:nvPr/>
        </p:nvSpPr>
        <p:spPr>
          <a:xfrm>
            <a:off x="6330316" y="4299215"/>
            <a:ext cx="50917" cy="51168"/>
          </a:xfrm>
          <a:custGeom>
            <a:avLst/>
            <a:gdLst/>
            <a:ahLst/>
            <a:cxnLst/>
            <a:rect r="r" b="b" t="t" l="l"/>
            <a:pathLst>
              <a:path h="51168" w="50917">
                <a:moveTo>
                  <a:pt x="17637" y="145"/>
                </a:moveTo>
                <a:cubicBezTo>
                  <a:pt x="15807" y="-400"/>
                  <a:pt x="13871" y="639"/>
                  <a:pt x="13326" y="2477"/>
                </a:cubicBezTo>
                <a:lnTo>
                  <a:pt x="144" y="46715"/>
                </a:lnTo>
                <a:cubicBezTo>
                  <a:pt x="-222" y="47948"/>
                  <a:pt x="122" y="49285"/>
                  <a:pt x="1041" y="50174"/>
                </a:cubicBezTo>
                <a:cubicBezTo>
                  <a:pt x="1691" y="50817"/>
                  <a:pt x="2573" y="51169"/>
                  <a:pt x="3462" y="51169"/>
                </a:cubicBezTo>
                <a:cubicBezTo>
                  <a:pt x="3821" y="51169"/>
                  <a:pt x="4172" y="51123"/>
                  <a:pt x="4516" y="51004"/>
                </a:cubicBezTo>
                <a:lnTo>
                  <a:pt x="48507" y="36964"/>
                </a:lnTo>
                <a:cubicBezTo>
                  <a:pt x="50330" y="36373"/>
                  <a:pt x="51339" y="34430"/>
                  <a:pt x="50749" y="32606"/>
                </a:cubicBezTo>
                <a:cubicBezTo>
                  <a:pt x="45765" y="16959"/>
                  <a:pt x="33390" y="4824"/>
                  <a:pt x="17637" y="145"/>
                </a:cubicBezTo>
                <a:close/>
                <a:moveTo>
                  <a:pt x="8656" y="42411"/>
                </a:moveTo>
                <a:lnTo>
                  <a:pt x="18945" y="7910"/>
                </a:lnTo>
                <a:cubicBezTo>
                  <a:pt x="29840" y="12131"/>
                  <a:pt x="38524" y="20643"/>
                  <a:pt x="42970" y="31456"/>
                </a:cubicBezTo>
                <a:lnTo>
                  <a:pt x="8656" y="42411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68"/>
          <p:cNvSpPr txBox="true"/>
          <p:nvPr/>
        </p:nvSpPr>
        <p:spPr>
          <a:xfrm>
            <a:off x="6503782" y="4149133"/>
            <a:ext cx="31640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PPTX</a:t>
            </a:r>
            <a:endParaRPr lang="en-US" sz="1100"/>
          </a:p>
        </p:txBody>
      </p:sp>
      <p:sp>
        <p:nvSpPr>
          <p:cNvPr name="GraphCompose Text Line" id="69"/>
          <p:cNvSpPr txBox="true"/>
          <p:nvPr/>
        </p:nvSpPr>
        <p:spPr>
          <a:xfrm>
            <a:off x="6503782" y="4356137"/>
            <a:ext cx="901192" cy="8810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2EC48A"/>
                </a:solidFill>
                <a:latin typeface="Arial"/>
              </a:rPr>
              <a:t>Editable deck · Beta</a:t>
            </a:r>
            <a:endParaRPr lang="en-US" sz="1100"/>
          </a:p>
        </p:txBody>
      </p:sp>
      <p:sp>
        <p:nvSpPr>
          <p:cNvPr name="AutoShape 70" id="70"/>
          <p:cNvSpPr/>
          <p:nvPr/>
        </p:nvSpPr>
        <p:spPr>
          <a:xfrm>
            <a:off x="6033882" y="47228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71" id="71"/>
          <p:cNvSpPr/>
          <p:nvPr/>
        </p:nvSpPr>
        <p:spPr>
          <a:xfrm>
            <a:off x="6199357" y="4887928"/>
            <a:ext cx="202449" cy="228600"/>
          </a:xfrm>
          <a:custGeom>
            <a:avLst/>
            <a:gdLst/>
            <a:ahLst/>
            <a:cxnLst/>
            <a:rect r="r" b="b" t="t" l="l"/>
            <a:pathLst>
              <a:path h="228600" w="202449">
                <a:moveTo>
                  <a:pt x="189637" y="81769"/>
                </a:moveTo>
                <a:lnTo>
                  <a:pt x="184148" y="81769"/>
                </a:lnTo>
                <a:lnTo>
                  <a:pt x="184148" y="55284"/>
                </a:lnTo>
                <a:cubicBezTo>
                  <a:pt x="184148" y="55117"/>
                  <a:pt x="184122" y="54952"/>
                  <a:pt x="184100" y="54783"/>
                </a:cubicBezTo>
                <a:cubicBezTo>
                  <a:pt x="184091" y="53732"/>
                  <a:pt x="183756" y="52699"/>
                  <a:pt x="183036" y="51882"/>
                </a:cubicBezTo>
                <a:lnTo>
                  <a:pt x="138962" y="1532"/>
                </a:lnTo>
                <a:cubicBezTo>
                  <a:pt x="138948" y="1519"/>
                  <a:pt x="138935" y="1515"/>
                  <a:pt x="138926" y="1502"/>
                </a:cubicBezTo>
                <a:cubicBezTo>
                  <a:pt x="138664" y="1208"/>
                  <a:pt x="138358" y="963"/>
                  <a:pt x="138033" y="753"/>
                </a:cubicBezTo>
                <a:cubicBezTo>
                  <a:pt x="137937" y="688"/>
                  <a:pt x="137841" y="634"/>
                  <a:pt x="137740" y="578"/>
                </a:cubicBezTo>
                <a:cubicBezTo>
                  <a:pt x="137460" y="426"/>
                  <a:pt x="137162" y="298"/>
                  <a:pt x="136856" y="206"/>
                </a:cubicBezTo>
                <a:cubicBezTo>
                  <a:pt x="136772" y="184"/>
                  <a:pt x="136698" y="150"/>
                  <a:pt x="136615" y="128"/>
                </a:cubicBezTo>
                <a:cubicBezTo>
                  <a:pt x="136282" y="49"/>
                  <a:pt x="135937" y="0"/>
                  <a:pt x="135587" y="0"/>
                </a:cubicBezTo>
                <a:lnTo>
                  <a:pt x="27266" y="0"/>
                </a:lnTo>
                <a:cubicBezTo>
                  <a:pt x="22320" y="0"/>
                  <a:pt x="18301" y="4023"/>
                  <a:pt x="18301" y="8965"/>
                </a:cubicBezTo>
                <a:lnTo>
                  <a:pt x="18301" y="81767"/>
                </a:lnTo>
                <a:lnTo>
                  <a:pt x="12813" y="81767"/>
                </a:lnTo>
                <a:cubicBezTo>
                  <a:pt x="5737" y="81767"/>
                  <a:pt x="0" y="87502"/>
                  <a:pt x="0" y="94579"/>
                </a:cubicBezTo>
                <a:lnTo>
                  <a:pt x="0" y="161209"/>
                </a:lnTo>
                <a:cubicBezTo>
                  <a:pt x="0" y="168283"/>
                  <a:pt x="5737" y="174024"/>
                  <a:pt x="12813" y="174024"/>
                </a:cubicBezTo>
                <a:lnTo>
                  <a:pt x="18301" y="174024"/>
                </a:lnTo>
                <a:lnTo>
                  <a:pt x="18301" y="219636"/>
                </a:lnTo>
                <a:cubicBezTo>
                  <a:pt x="18301" y="224578"/>
                  <a:pt x="22320" y="228600"/>
                  <a:pt x="27266" y="228600"/>
                </a:cubicBezTo>
                <a:lnTo>
                  <a:pt x="175183" y="228600"/>
                </a:lnTo>
                <a:cubicBezTo>
                  <a:pt x="180125" y="228600"/>
                  <a:pt x="184148" y="224578"/>
                  <a:pt x="184148" y="219636"/>
                </a:cubicBezTo>
                <a:lnTo>
                  <a:pt x="184148" y="174024"/>
                </a:lnTo>
                <a:lnTo>
                  <a:pt x="189637" y="174024"/>
                </a:lnTo>
                <a:cubicBezTo>
                  <a:pt x="196711" y="174024"/>
                  <a:pt x="202449" y="168286"/>
                  <a:pt x="202449" y="161211"/>
                </a:cubicBezTo>
                <a:lnTo>
                  <a:pt x="202449" y="94582"/>
                </a:lnTo>
                <a:cubicBezTo>
                  <a:pt x="202449" y="87505"/>
                  <a:pt x="196711" y="81769"/>
                  <a:pt x="189637" y="81769"/>
                </a:cubicBezTo>
                <a:close/>
                <a:moveTo>
                  <a:pt x="27266" y="8967"/>
                </a:moveTo>
                <a:lnTo>
                  <a:pt x="131104" y="8967"/>
                </a:lnTo>
                <a:lnTo>
                  <a:pt x="131104" y="54832"/>
                </a:lnTo>
                <a:cubicBezTo>
                  <a:pt x="131104" y="57309"/>
                  <a:pt x="133113" y="59315"/>
                  <a:pt x="135587" y="59315"/>
                </a:cubicBezTo>
                <a:lnTo>
                  <a:pt x="175184" y="59315"/>
                </a:lnTo>
                <a:lnTo>
                  <a:pt x="175184" y="81771"/>
                </a:lnTo>
                <a:lnTo>
                  <a:pt x="27266" y="81771"/>
                </a:lnTo>
                <a:lnTo>
                  <a:pt x="27266" y="8967"/>
                </a:lnTo>
                <a:close/>
                <a:moveTo>
                  <a:pt x="140167" y="140026"/>
                </a:moveTo>
                <a:cubicBezTo>
                  <a:pt x="143437" y="140026"/>
                  <a:pt x="147066" y="139316"/>
                  <a:pt x="149200" y="138458"/>
                </a:cubicBezTo>
                <a:lnTo>
                  <a:pt x="150833" y="146922"/>
                </a:lnTo>
                <a:cubicBezTo>
                  <a:pt x="148845" y="147913"/>
                  <a:pt x="144366" y="148986"/>
                  <a:pt x="138536" y="148986"/>
                </a:cubicBezTo>
                <a:cubicBezTo>
                  <a:pt x="121964" y="148986"/>
                  <a:pt x="113435" y="138675"/>
                  <a:pt x="113435" y="125024"/>
                </a:cubicBezTo>
                <a:cubicBezTo>
                  <a:pt x="113435" y="108669"/>
                  <a:pt x="125096" y="99568"/>
                  <a:pt x="139603" y="99568"/>
                </a:cubicBezTo>
                <a:cubicBezTo>
                  <a:pt x="145217" y="99568"/>
                  <a:pt x="149486" y="100709"/>
                  <a:pt x="151406" y="101702"/>
                </a:cubicBezTo>
                <a:lnTo>
                  <a:pt x="149202" y="110308"/>
                </a:lnTo>
                <a:cubicBezTo>
                  <a:pt x="146998" y="109380"/>
                  <a:pt x="143943" y="108530"/>
                  <a:pt x="140100" y="108530"/>
                </a:cubicBezTo>
                <a:cubicBezTo>
                  <a:pt x="131494" y="108530"/>
                  <a:pt x="124814" y="113719"/>
                  <a:pt x="124814" y="124385"/>
                </a:cubicBezTo>
                <a:cubicBezTo>
                  <a:pt x="124812" y="133976"/>
                  <a:pt x="130500" y="140026"/>
                  <a:pt x="140167" y="140026"/>
                </a:cubicBezTo>
                <a:close/>
                <a:moveTo>
                  <a:pt x="108522" y="123816"/>
                </a:moveTo>
                <a:cubicBezTo>
                  <a:pt x="108522" y="139529"/>
                  <a:pt x="98993" y="149056"/>
                  <a:pt x="84988" y="149056"/>
                </a:cubicBezTo>
                <a:cubicBezTo>
                  <a:pt x="70765" y="149056"/>
                  <a:pt x="62446" y="138317"/>
                  <a:pt x="62446" y="124668"/>
                </a:cubicBezTo>
                <a:cubicBezTo>
                  <a:pt x="62446" y="110306"/>
                  <a:pt x="71617" y="99566"/>
                  <a:pt x="85770" y="99566"/>
                </a:cubicBezTo>
                <a:cubicBezTo>
                  <a:pt x="100493" y="99566"/>
                  <a:pt x="108522" y="110591"/>
                  <a:pt x="108522" y="123816"/>
                </a:cubicBezTo>
                <a:close/>
                <a:moveTo>
                  <a:pt x="15159" y="148063"/>
                </a:moveTo>
                <a:lnTo>
                  <a:pt x="15159" y="100990"/>
                </a:lnTo>
                <a:cubicBezTo>
                  <a:pt x="19142" y="100351"/>
                  <a:pt x="24331" y="100000"/>
                  <a:pt x="29806" y="100000"/>
                </a:cubicBezTo>
                <a:cubicBezTo>
                  <a:pt x="38908" y="100000"/>
                  <a:pt x="44808" y="101632"/>
                  <a:pt x="49425" y="105118"/>
                </a:cubicBezTo>
                <a:cubicBezTo>
                  <a:pt x="54405" y="108813"/>
                  <a:pt x="57536" y="114716"/>
                  <a:pt x="57536" y="123176"/>
                </a:cubicBezTo>
                <a:cubicBezTo>
                  <a:pt x="57536" y="132346"/>
                  <a:pt x="54194" y="138678"/>
                  <a:pt x="49571" y="142586"/>
                </a:cubicBezTo>
                <a:cubicBezTo>
                  <a:pt x="44521" y="146780"/>
                  <a:pt x="36843" y="148774"/>
                  <a:pt x="27455" y="148774"/>
                </a:cubicBezTo>
                <a:cubicBezTo>
                  <a:pt x="21842" y="148772"/>
                  <a:pt x="17860" y="148415"/>
                  <a:pt x="15159" y="148063"/>
                </a:cubicBezTo>
                <a:close/>
                <a:moveTo>
                  <a:pt x="175184" y="217208"/>
                </a:moveTo>
                <a:lnTo>
                  <a:pt x="27266" y="217208"/>
                </a:lnTo>
                <a:lnTo>
                  <a:pt x="27266" y="174024"/>
                </a:lnTo>
                <a:lnTo>
                  <a:pt x="175183" y="174024"/>
                </a:lnTo>
                <a:lnTo>
                  <a:pt x="175183" y="217208"/>
                </a:lnTo>
                <a:close/>
                <a:moveTo>
                  <a:pt x="183402" y="148272"/>
                </a:moveTo>
                <a:lnTo>
                  <a:pt x="179062" y="139599"/>
                </a:lnTo>
                <a:cubicBezTo>
                  <a:pt x="177285" y="136258"/>
                  <a:pt x="176147" y="133766"/>
                  <a:pt x="174796" y="130995"/>
                </a:cubicBezTo>
                <a:lnTo>
                  <a:pt x="174654" y="130995"/>
                </a:lnTo>
                <a:cubicBezTo>
                  <a:pt x="173658" y="133770"/>
                  <a:pt x="172452" y="136258"/>
                  <a:pt x="170959" y="139599"/>
                </a:cubicBezTo>
                <a:lnTo>
                  <a:pt x="166977" y="148272"/>
                </a:lnTo>
                <a:lnTo>
                  <a:pt x="154604" y="148272"/>
                </a:lnTo>
                <a:lnTo>
                  <a:pt x="168469" y="124025"/>
                </a:lnTo>
                <a:lnTo>
                  <a:pt x="155105" y="100349"/>
                </a:lnTo>
                <a:lnTo>
                  <a:pt x="167550" y="100349"/>
                </a:lnTo>
                <a:lnTo>
                  <a:pt x="171743" y="109098"/>
                </a:lnTo>
                <a:cubicBezTo>
                  <a:pt x="173166" y="112007"/>
                  <a:pt x="174229" y="114357"/>
                  <a:pt x="175368" y="117058"/>
                </a:cubicBezTo>
                <a:lnTo>
                  <a:pt x="175508" y="117058"/>
                </a:lnTo>
                <a:cubicBezTo>
                  <a:pt x="176645" y="114001"/>
                  <a:pt x="177573" y="111868"/>
                  <a:pt x="178778" y="109098"/>
                </a:cubicBezTo>
                <a:lnTo>
                  <a:pt x="182831" y="100349"/>
                </a:lnTo>
                <a:lnTo>
                  <a:pt x="195206" y="100349"/>
                </a:lnTo>
                <a:lnTo>
                  <a:pt x="181695" y="123740"/>
                </a:lnTo>
                <a:lnTo>
                  <a:pt x="195915" y="148272"/>
                </a:lnTo>
                <a:lnTo>
                  <a:pt x="183402" y="148272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72" id="72"/>
          <p:cNvSpPr/>
          <p:nvPr/>
        </p:nvSpPr>
        <p:spPr>
          <a:xfrm>
            <a:off x="6225393" y="4996240"/>
            <a:ext cx="19981" cy="31994"/>
          </a:xfrm>
          <a:custGeom>
            <a:avLst/>
            <a:gdLst/>
            <a:ahLst/>
            <a:cxnLst/>
            <a:rect r="r" b="b" t="t" l="l"/>
            <a:pathLst>
              <a:path h="31994" w="19981">
                <a:moveTo>
                  <a:pt x="19980" y="15216"/>
                </a:moveTo>
                <a:cubicBezTo>
                  <a:pt x="20049" y="5264"/>
                  <a:pt x="14221" y="0"/>
                  <a:pt x="4908" y="0"/>
                </a:cubicBezTo>
                <a:cubicBezTo>
                  <a:pt x="2487" y="0"/>
                  <a:pt x="925" y="214"/>
                  <a:pt x="0" y="428"/>
                </a:cubicBezTo>
                <a:lnTo>
                  <a:pt x="0" y="31781"/>
                </a:lnTo>
                <a:cubicBezTo>
                  <a:pt x="928" y="31994"/>
                  <a:pt x="2421" y="31994"/>
                  <a:pt x="3772" y="31994"/>
                </a:cubicBezTo>
                <a:cubicBezTo>
                  <a:pt x="13584" y="32068"/>
                  <a:pt x="19980" y="26667"/>
                  <a:pt x="19980" y="15216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73" id="73"/>
          <p:cNvSpPr/>
          <p:nvPr/>
        </p:nvSpPr>
        <p:spPr>
          <a:xfrm>
            <a:off x="6273255" y="4996098"/>
            <a:ext cx="23176" cy="32280"/>
          </a:xfrm>
          <a:custGeom>
            <a:avLst/>
            <a:gdLst/>
            <a:ahLst/>
            <a:cxnLst/>
            <a:rect r="r" b="b" t="t" l="l"/>
            <a:pathLst>
              <a:path h="32280" w="23176">
                <a:moveTo>
                  <a:pt x="0" y="16281"/>
                </a:moveTo>
                <a:cubicBezTo>
                  <a:pt x="0" y="25669"/>
                  <a:pt x="4409" y="32280"/>
                  <a:pt x="11661" y="32280"/>
                </a:cubicBezTo>
                <a:cubicBezTo>
                  <a:pt x="18986" y="32280"/>
                  <a:pt x="23176" y="25316"/>
                  <a:pt x="23176" y="16001"/>
                </a:cubicBezTo>
                <a:cubicBezTo>
                  <a:pt x="23176" y="7395"/>
                  <a:pt x="19055" y="0"/>
                  <a:pt x="11585" y="0"/>
                </a:cubicBezTo>
                <a:cubicBezTo>
                  <a:pt x="4263" y="2"/>
                  <a:pt x="0" y="6971"/>
                  <a:pt x="0" y="16281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74"/>
          <p:cNvSpPr txBox="true"/>
          <p:nvPr/>
        </p:nvSpPr>
        <p:spPr>
          <a:xfrm>
            <a:off x="6503782" y="4834933"/>
            <a:ext cx="7520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DOCX export</a:t>
            </a:r>
            <a:endParaRPr lang="en-US" sz="1100"/>
          </a:p>
        </p:txBody>
      </p:sp>
      <p:sp>
        <p:nvSpPr>
          <p:cNvPr name="GraphCompose Text Line" id="75"/>
          <p:cNvSpPr txBox="true"/>
          <p:nvPr/>
        </p:nvSpPr>
        <p:spPr>
          <a:xfrm>
            <a:off x="6503782" y="5041937"/>
            <a:ext cx="742315" cy="8810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767E94"/>
                </a:solidFill>
                <a:latin typeface="Arial"/>
              </a:rPr>
              <a:t>Semantic export</a:t>
            </a:r>
            <a:endParaRPr lang="en-US" sz="1100"/>
          </a:p>
        </p:txBody>
      </p:sp>
      <p:sp>
        <p:nvSpPr>
          <p:cNvPr name="GraphCompose Text Line" id="76"/>
          <p:cNvSpPr txBox="true"/>
          <p:nvPr/>
        </p:nvSpPr>
        <p:spPr>
          <a:xfrm>
            <a:off x="7664610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77"/>
          <p:cNvSpPr txBox="true"/>
          <p:nvPr/>
        </p:nvSpPr>
        <p:spPr>
          <a:xfrm>
            <a:off x="7944124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4</a:t>
            </a:r>
            <a:endParaRPr lang="en-US" sz="1100"/>
          </a:p>
        </p:txBody>
      </p:sp>
      <p:sp>
        <p:nvSpPr>
          <p:cNvPr name="GraphCompose Inline Text Span" id="78"/>
          <p:cNvSpPr txBox="true"/>
          <p:nvPr/>
        </p:nvSpPr>
        <p:spPr>
          <a:xfrm>
            <a:off x="8057103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79"/>
          <p:cNvSpPr txBox="true"/>
          <p:nvPr/>
        </p:nvSpPr>
        <p:spPr>
          <a:xfrm>
            <a:off x="8194797" y="2879988"/>
            <a:ext cx="3499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Real</a:t>
            </a:r>
            <a:endParaRPr lang="en-US" sz="1100"/>
          </a:p>
        </p:txBody>
      </p:sp>
      <p:sp>
        <p:nvSpPr>
          <p:cNvPr name="GraphCompose Inline Text Span" id="80"/>
          <p:cNvSpPr txBox="true"/>
          <p:nvPr/>
        </p:nvSpPr>
        <p:spPr>
          <a:xfrm>
            <a:off x="8543488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81"/>
          <p:cNvSpPr txBox="true"/>
          <p:nvPr/>
        </p:nvSpPr>
        <p:spPr>
          <a:xfrm>
            <a:off x="8589386" y="2879988"/>
            <a:ext cx="3314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PDF</a:t>
            </a:r>
            <a:endParaRPr lang="en-US" sz="1100"/>
          </a:p>
        </p:txBody>
      </p:sp>
      <p:sp>
        <p:nvSpPr>
          <p:cNvPr name="GraphCompose Inline Text Span" id="82"/>
          <p:cNvSpPr txBox="true"/>
          <p:nvPr/>
        </p:nvSpPr>
        <p:spPr>
          <a:xfrm>
            <a:off x="8919586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83"/>
          <p:cNvSpPr txBox="true"/>
          <p:nvPr/>
        </p:nvSpPr>
        <p:spPr>
          <a:xfrm>
            <a:off x="8965483" y="2879988"/>
            <a:ext cx="5423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Output</a:t>
            </a:r>
            <a:endParaRPr lang="en-US" sz="1100"/>
          </a:p>
        </p:txBody>
      </p:sp>
      <p:sp>
        <p:nvSpPr>
          <p:cNvPr name="AutoShape 84" id="84"/>
          <p:cNvSpPr/>
          <p:nvPr/>
        </p:nvSpPr>
        <p:spPr>
          <a:xfrm>
            <a:off x="7944124" y="3198511"/>
            <a:ext cx="2209800" cy="1855817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pic>
        <p:nvPicPr>
          <p:cNvPr name="GraphCompose Clipped Composite" id="8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7944124" y="3198511"/>
            <a:ext cx="2209800" cy="1855817"/>
          </a:xfrm>
          <a:prstGeom prst="rect">
            <a:avLst/>
          </a:prstGeom>
        </p:spPr>
      </p:pic>
      <p:sp>
        <p:nvSpPr>
          <p:cNvPr name="GraphCompose Text Line" id="86"/>
          <p:cNvSpPr txBox="true"/>
          <p:nvPr/>
        </p:nvSpPr>
        <p:spPr>
          <a:xfrm>
            <a:off x="7944124" y="5263900"/>
            <a:ext cx="21639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CVs, invoices, reports — every one rendered by</a:t>
            </a:r>
            <a:endParaRPr lang="en-US" sz="1100"/>
          </a:p>
        </p:txBody>
      </p:sp>
      <p:sp>
        <p:nvSpPr>
          <p:cNvPr name="GraphCompose Text Line" id="87"/>
          <p:cNvSpPr txBox="true"/>
          <p:nvPr/>
        </p:nvSpPr>
        <p:spPr>
          <a:xfrm>
            <a:off x="7944124" y="5374390"/>
            <a:ext cx="102915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the engine in this repo.</a:t>
            </a:r>
            <a:endParaRPr lang="en-US" sz="1100"/>
          </a:p>
        </p:txBody>
      </p:sp>
      <p:sp>
        <p:nvSpPr>
          <p:cNvPr name="AutoShape 88" id="88"/>
          <p:cNvSpPr/>
          <p:nvPr/>
        </p:nvSpPr>
        <p:spPr>
          <a:xfrm>
            <a:off x="431800" y="5766797"/>
            <a:ext cx="9512300" cy="15240"/>
          </a:xfrm>
          <a:prstGeom prst="rect">
            <a:avLst/>
          </a:prstGeom>
          <a:solidFill>
            <a:srgbClr val="3A385C"/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55227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755475" y="6115088"/>
            <a:ext cx="279400" cy="273698"/>
          </a:xfrm>
          <a:prstGeom prst="rect">
            <a:avLst/>
          </a:prstGeom>
        </p:spPr>
      </p:pic>
      <p:sp>
        <p:nvSpPr>
          <p:cNvPr name="GraphCompose Text Line" id="91"/>
          <p:cNvSpPr txBox="true"/>
          <p:nvPr/>
        </p:nvSpPr>
        <p:spPr>
          <a:xfrm>
            <a:off x="1136475" y="6173542"/>
            <a:ext cx="75219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Open Source</a:t>
            </a:r>
            <a:endParaRPr lang="en-US" sz="1100"/>
          </a:p>
        </p:txBody>
      </p:sp>
      <p:sp>
        <p:nvSpPr>
          <p:cNvPr name="AutoShape 92" id="92"/>
          <p:cNvSpPr/>
          <p:nvPr/>
        </p:nvSpPr>
        <p:spPr>
          <a:xfrm>
            <a:off x="307922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2425" y="6112237"/>
            <a:ext cx="279400" cy="279400"/>
          </a:xfrm>
          <a:prstGeom prst="rect">
            <a:avLst/>
          </a:prstGeom>
        </p:spPr>
      </p:pic>
      <p:sp>
        <p:nvSpPr>
          <p:cNvPr name="GraphCompose Text Line" id="94"/>
          <p:cNvSpPr txBox="true"/>
          <p:nvPr/>
        </p:nvSpPr>
        <p:spPr>
          <a:xfrm>
            <a:off x="3663425" y="6173542"/>
            <a:ext cx="8259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Maven Central</a:t>
            </a:r>
            <a:endParaRPr lang="en-US" sz="1100"/>
          </a:p>
        </p:txBody>
      </p:sp>
      <p:sp>
        <p:nvSpPr>
          <p:cNvPr name="AutoShape 95" id="95"/>
          <p:cNvSpPr/>
          <p:nvPr/>
        </p:nvSpPr>
        <p:spPr>
          <a:xfrm>
            <a:off x="560617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sp>
        <p:nvSpPr>
          <p:cNvPr name="Freeform 96" id="96"/>
          <p:cNvSpPr/>
          <p:nvPr/>
        </p:nvSpPr>
        <p:spPr>
          <a:xfrm>
            <a:off x="5852519" y="6121004"/>
            <a:ext cx="193115" cy="261863"/>
          </a:xfrm>
          <a:custGeom>
            <a:avLst/>
            <a:gdLst/>
            <a:ahLst/>
            <a:cxnLst/>
            <a:rect r="r" b="b" t="t" l="l"/>
            <a:pathLst>
              <a:path h="261863" w="193115">
                <a:moveTo>
                  <a:pt x="71829" y="261038"/>
                </a:moveTo>
                <a:cubicBezTo>
                  <a:pt x="118987" y="264059"/>
                  <a:pt x="191404" y="259370"/>
                  <a:pt x="193115" y="237053"/>
                </a:cubicBezTo>
                <a:cubicBezTo>
                  <a:pt x="193115" y="237053"/>
                  <a:pt x="189823" y="245505"/>
                  <a:pt x="154139" y="252228"/>
                </a:cubicBezTo>
                <a:cubicBezTo>
                  <a:pt x="134432" y="255782"/>
                  <a:pt x="111748" y="257807"/>
                  <a:pt x="88584" y="257807"/>
                </a:cubicBezTo>
                <a:cubicBezTo>
                  <a:pt x="69611" y="257807"/>
                  <a:pt x="50961" y="256445"/>
                  <a:pt x="32722" y="253817"/>
                </a:cubicBezTo>
                <a:lnTo>
                  <a:pt x="34809" y="254061"/>
                </a:lnTo>
                <a:cubicBezTo>
                  <a:pt x="34809" y="254053"/>
                  <a:pt x="40842" y="259047"/>
                  <a:pt x="71829" y="261038"/>
                </a:cubicBezTo>
                <a:close/>
                <a:moveTo>
                  <a:pt x="122750" y="0"/>
                </a:moveTo>
                <a:cubicBezTo>
                  <a:pt x="122750" y="0"/>
                  <a:pt x="149965" y="27215"/>
                  <a:pt x="96949" y="69064"/>
                </a:cubicBezTo>
                <a:cubicBezTo>
                  <a:pt x="54436" y="102635"/>
                  <a:pt x="87257" y="121783"/>
                  <a:pt x="96940" y="143655"/>
                </a:cubicBezTo>
                <a:cubicBezTo>
                  <a:pt x="72126" y="121250"/>
                  <a:pt x="53921" y="101561"/>
                  <a:pt x="66128" y="83217"/>
                </a:cubicBezTo>
                <a:cubicBezTo>
                  <a:pt x="84062" y="56281"/>
                  <a:pt x="133742" y="43228"/>
                  <a:pt x="122759" y="0"/>
                </a:cubicBezTo>
                <a:close/>
                <a:moveTo>
                  <a:pt x="152375" y="191860"/>
                </a:moveTo>
                <a:cubicBezTo>
                  <a:pt x="201506" y="166330"/>
                  <a:pt x="178787" y="141786"/>
                  <a:pt x="162940" y="145104"/>
                </a:cubicBezTo>
                <a:cubicBezTo>
                  <a:pt x="160766" y="145515"/>
                  <a:pt x="158880" y="146038"/>
                  <a:pt x="157055" y="146693"/>
                </a:cubicBezTo>
                <a:lnTo>
                  <a:pt x="157317" y="146615"/>
                </a:lnTo>
                <a:cubicBezTo>
                  <a:pt x="158356" y="145157"/>
                  <a:pt x="159788" y="144030"/>
                  <a:pt x="161455" y="143393"/>
                </a:cubicBezTo>
                <a:lnTo>
                  <a:pt x="161517" y="143375"/>
                </a:lnTo>
                <a:cubicBezTo>
                  <a:pt x="192888" y="132348"/>
                  <a:pt x="217012" y="175899"/>
                  <a:pt x="151388" y="193152"/>
                </a:cubicBezTo>
                <a:cubicBezTo>
                  <a:pt x="151790" y="192794"/>
                  <a:pt x="152122" y="192366"/>
                  <a:pt x="152357" y="191886"/>
                </a:cubicBezTo>
                <a:lnTo>
                  <a:pt x="152366" y="191860"/>
                </a:lnTo>
                <a:close/>
                <a:moveTo>
                  <a:pt x="67009" y="144135"/>
                </a:moveTo>
                <a:cubicBezTo>
                  <a:pt x="67009" y="144135"/>
                  <a:pt x="19415" y="155442"/>
                  <a:pt x="50167" y="159537"/>
                </a:cubicBezTo>
                <a:cubicBezTo>
                  <a:pt x="58444" y="160218"/>
                  <a:pt x="68083" y="160602"/>
                  <a:pt x="77810" y="160602"/>
                </a:cubicBezTo>
                <a:cubicBezTo>
                  <a:pt x="90243" y="160602"/>
                  <a:pt x="102528" y="159965"/>
                  <a:pt x="114638" y="158734"/>
                </a:cubicBezTo>
                <a:lnTo>
                  <a:pt x="113119" y="158856"/>
                </a:lnTo>
                <a:cubicBezTo>
                  <a:pt x="132826" y="157197"/>
                  <a:pt x="152593" y="153652"/>
                  <a:pt x="152593" y="153652"/>
                </a:cubicBezTo>
                <a:cubicBezTo>
                  <a:pt x="147957" y="155678"/>
                  <a:pt x="144019" y="157817"/>
                  <a:pt x="140291" y="160253"/>
                </a:cubicBezTo>
                <a:lnTo>
                  <a:pt x="140614" y="160061"/>
                </a:lnTo>
                <a:cubicBezTo>
                  <a:pt x="92286" y="172774"/>
                  <a:pt x="-1077" y="166862"/>
                  <a:pt x="25807" y="153862"/>
                </a:cubicBezTo>
                <a:cubicBezTo>
                  <a:pt x="37655" y="147724"/>
                  <a:pt x="51677" y="144126"/>
                  <a:pt x="66538" y="144126"/>
                </a:cubicBezTo>
                <a:cubicBezTo>
                  <a:pt x="66704" y="144126"/>
                  <a:pt x="66870" y="144126"/>
                  <a:pt x="67036" y="144126"/>
                </a:cubicBezTo>
                <a:lnTo>
                  <a:pt x="67009" y="144126"/>
                </a:lnTo>
                <a:close/>
                <a:moveTo>
                  <a:pt x="176534" y="223720"/>
                </a:moveTo>
                <a:cubicBezTo>
                  <a:pt x="176534" y="223720"/>
                  <a:pt x="183947" y="229824"/>
                  <a:pt x="168388" y="234530"/>
                </a:cubicBezTo>
                <a:cubicBezTo>
                  <a:pt x="138798" y="243497"/>
                  <a:pt x="45225" y="246195"/>
                  <a:pt x="19250" y="234888"/>
                </a:cubicBezTo>
                <a:cubicBezTo>
                  <a:pt x="9907" y="230819"/>
                  <a:pt x="27431" y="225179"/>
                  <a:pt x="32931" y="224000"/>
                </a:cubicBezTo>
                <a:cubicBezTo>
                  <a:pt x="35472" y="223354"/>
                  <a:pt x="38397" y="222978"/>
                  <a:pt x="41401" y="222978"/>
                </a:cubicBezTo>
                <a:cubicBezTo>
                  <a:pt x="41602" y="222978"/>
                  <a:pt x="41794" y="222978"/>
                  <a:pt x="41994" y="222987"/>
                </a:cubicBezTo>
                <a:lnTo>
                  <a:pt x="41968" y="222987"/>
                </a:lnTo>
                <a:cubicBezTo>
                  <a:pt x="31569" y="215661"/>
                  <a:pt x="-25201" y="237359"/>
                  <a:pt x="13129" y="243575"/>
                </a:cubicBezTo>
                <a:cubicBezTo>
                  <a:pt x="117659" y="260523"/>
                  <a:pt x="203654" y="235935"/>
                  <a:pt x="176543" y="223720"/>
                </a:cubicBezTo>
                <a:close/>
                <a:moveTo>
                  <a:pt x="108736" y="125206"/>
                </a:moveTo>
                <a:cubicBezTo>
                  <a:pt x="111478" y="128497"/>
                  <a:pt x="113145" y="132784"/>
                  <a:pt x="113145" y="137447"/>
                </a:cubicBezTo>
                <a:cubicBezTo>
                  <a:pt x="113145" y="143725"/>
                  <a:pt x="110124" y="149304"/>
                  <a:pt x="105462" y="152805"/>
                </a:cubicBezTo>
                <a:lnTo>
                  <a:pt x="105410" y="152840"/>
                </a:lnTo>
                <a:cubicBezTo>
                  <a:pt x="105410" y="152840"/>
                  <a:pt x="137479" y="136277"/>
                  <a:pt x="122750" y="115549"/>
                </a:cubicBezTo>
                <a:cubicBezTo>
                  <a:pt x="108989" y="96218"/>
                  <a:pt x="98442" y="86614"/>
                  <a:pt x="155562" y="53487"/>
                </a:cubicBezTo>
                <a:cubicBezTo>
                  <a:pt x="155562" y="53478"/>
                  <a:pt x="65918" y="75865"/>
                  <a:pt x="108736" y="125206"/>
                </a:cubicBezTo>
                <a:close/>
                <a:moveTo>
                  <a:pt x="55921" y="173847"/>
                </a:moveTo>
                <a:cubicBezTo>
                  <a:pt x="55921" y="173847"/>
                  <a:pt x="44701" y="182151"/>
                  <a:pt x="61832" y="183932"/>
                </a:cubicBezTo>
                <a:cubicBezTo>
                  <a:pt x="69332" y="184875"/>
                  <a:pt x="78002" y="185408"/>
                  <a:pt x="86803" y="185408"/>
                </a:cubicBezTo>
                <a:cubicBezTo>
                  <a:pt x="102747" y="185408"/>
                  <a:pt x="118279" y="183644"/>
                  <a:pt x="133210" y="180300"/>
                </a:cubicBezTo>
                <a:lnTo>
                  <a:pt x="131795" y="180562"/>
                </a:lnTo>
                <a:cubicBezTo>
                  <a:pt x="134799" y="183373"/>
                  <a:pt x="138387" y="185608"/>
                  <a:pt x="142351" y="187058"/>
                </a:cubicBezTo>
                <a:lnTo>
                  <a:pt x="142570" y="187128"/>
                </a:lnTo>
                <a:cubicBezTo>
                  <a:pt x="80604" y="205254"/>
                  <a:pt x="11566" y="188542"/>
                  <a:pt x="55912" y="173839"/>
                </a:cubicBezTo>
                <a:close/>
                <a:moveTo>
                  <a:pt x="62199" y="202512"/>
                </a:moveTo>
                <a:cubicBezTo>
                  <a:pt x="62199" y="202512"/>
                  <a:pt x="52193" y="208336"/>
                  <a:pt x="69323" y="210300"/>
                </a:cubicBezTo>
                <a:cubicBezTo>
                  <a:pt x="75601" y="211235"/>
                  <a:pt x="82839" y="211767"/>
                  <a:pt x="90208" y="211767"/>
                </a:cubicBezTo>
                <a:cubicBezTo>
                  <a:pt x="102031" y="211767"/>
                  <a:pt x="113530" y="210396"/>
                  <a:pt x="124557" y="207795"/>
                </a:cubicBezTo>
                <a:lnTo>
                  <a:pt x="123544" y="207995"/>
                </a:lnTo>
                <a:cubicBezTo>
                  <a:pt x="127622" y="210484"/>
                  <a:pt x="132363" y="212859"/>
                  <a:pt x="137314" y="214823"/>
                </a:cubicBezTo>
                <a:lnTo>
                  <a:pt x="137960" y="215050"/>
                </a:lnTo>
                <a:cubicBezTo>
                  <a:pt x="86690" y="237018"/>
                  <a:pt x="21948" y="213767"/>
                  <a:pt x="62207" y="202512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97"/>
          <p:cNvSpPr txBox="true"/>
          <p:nvPr/>
        </p:nvSpPr>
        <p:spPr>
          <a:xfrm>
            <a:off x="6190375" y="6173542"/>
            <a:ext cx="50775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Java 17+</a:t>
            </a:r>
            <a:endParaRPr lang="en-US" sz="1100"/>
          </a:p>
        </p:txBody>
      </p:sp>
      <p:sp>
        <p:nvSpPr>
          <p:cNvPr name="AutoShape 98" id="98"/>
          <p:cNvSpPr/>
          <p:nvPr/>
        </p:nvSpPr>
        <p:spPr>
          <a:xfrm>
            <a:off x="813312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6325" y="6112237"/>
            <a:ext cx="279400" cy="279400"/>
          </a:xfrm>
          <a:prstGeom prst="rect">
            <a:avLst/>
          </a:prstGeom>
        </p:spPr>
      </p:pic>
      <p:sp>
        <p:nvSpPr>
          <p:cNvPr name="GraphCompose Text Line" id="100"/>
          <p:cNvSpPr txBox="true"/>
          <p:nvPr/>
        </p:nvSpPr>
        <p:spPr>
          <a:xfrm>
            <a:off x="8717325" y="6173542"/>
            <a:ext cx="69187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MIT License</a:t>
            </a:r>
            <a:endParaRPr lang="en-US" sz="1100"/>
          </a:p>
        </p:txBody>
      </p:sp>
      <p:sp>
        <p:nvSpPr>
          <p:cNvPr name="GraphCompose Footer" id="101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02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1 of 4</a:t>
            </a:r>
            <a:endParaRPr lang="en-US" sz="1100"/>
          </a:p>
        </p:txBody>
      </p:sp>
      <p:cxnSp>
        <p:nvCxnSpPr>
          <p:cNvPr name="GraphCompose Footer Separator" id="103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88389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HOW IT WORKS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4701515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From one Java file to a designed document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82385"/>
            <a:ext cx="1026904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You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describe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semantically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sections,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rows,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charts,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layers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rest: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66535"/>
            <a:ext cx="9883394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measures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every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node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twice,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paginates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flow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row-by-row,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renders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through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isolated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backend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203200" y="1350685"/>
            <a:ext cx="686932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PDFBox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Apache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POI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deck.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manual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coordinates,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XML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templates.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20320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8" id="8"/>
          <p:cNvCxnSpPr/>
          <p:nvPr/>
        </p:nvCxnSpPr>
        <p:spPr>
          <a:xfrm>
            <a:off x="20320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"/>
          <p:cNvSpPr txBox="true"/>
          <p:nvPr/>
        </p:nvSpPr>
        <p:spPr>
          <a:xfrm>
            <a:off x="1241281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1</a:t>
            </a:r>
            <a:endParaRPr lang="en-US" sz="1100"/>
          </a:p>
        </p:txBody>
      </p:sp>
      <p:pic>
        <p:nvPicPr>
          <p:cNvPr name="GraphCompose Clipped Composite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70" y="2206308"/>
            <a:ext cx="381000" cy="381000"/>
          </a:xfrm>
          <a:prstGeom prst="rect">
            <a:avLst/>
          </a:prstGeom>
        </p:spPr>
      </p:pic>
      <p:sp>
        <p:nvSpPr>
          <p:cNvPr name="GraphCompose Text Line" id="11"/>
          <p:cNvSpPr txBox="true"/>
          <p:nvPr/>
        </p:nvSpPr>
        <p:spPr>
          <a:xfrm>
            <a:off x="1039760" y="2653613"/>
            <a:ext cx="51729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AUTHOR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659671" y="2857682"/>
            <a:ext cx="127746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Fluent DSL describes intent.</a:t>
            </a:r>
            <a:endParaRPr lang="en-US" sz="1100"/>
          </a:p>
        </p:txBody>
      </p:sp>
      <p:sp>
        <p:nvSpPr>
          <p:cNvPr name="GraphCompose Text Line" id="13"/>
          <p:cNvSpPr txBox="true"/>
          <p:nvPr/>
        </p:nvSpPr>
        <p:spPr>
          <a:xfrm>
            <a:off x="257301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290202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5" id="15"/>
          <p:cNvCxnSpPr/>
          <p:nvPr/>
        </p:nvCxnSpPr>
        <p:spPr>
          <a:xfrm>
            <a:off x="290202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394010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2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>
            <a:off x="3829903" y="2230120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53578"/>
                </a:moveTo>
                <a:cubicBezTo>
                  <a:pt x="0" y="23988"/>
                  <a:pt x="23987" y="0"/>
                  <a:pt x="53578" y="0"/>
                </a:cubicBezTo>
                <a:lnTo>
                  <a:pt x="279796" y="0"/>
                </a:lnTo>
                <a:cubicBezTo>
                  <a:pt x="309387" y="0"/>
                  <a:pt x="333375" y="23988"/>
                  <a:pt x="333375" y="53578"/>
                </a:cubicBezTo>
                <a:lnTo>
                  <a:pt x="333375" y="279797"/>
                </a:lnTo>
                <a:cubicBezTo>
                  <a:pt x="333375" y="309387"/>
                  <a:pt x="309387" y="333375"/>
                  <a:pt x="279796" y="333375"/>
                </a:cubicBezTo>
                <a:lnTo>
                  <a:pt x="53578" y="333375"/>
                </a:lnTo>
                <a:cubicBezTo>
                  <a:pt x="23987" y="333375"/>
                  <a:pt x="0" y="309387"/>
                  <a:pt x="0" y="279797"/>
                </a:cubicBezTo>
                <a:lnTo>
                  <a:pt x="0" y="53578"/>
                </a:lnTo>
                <a:close/>
                <a:moveTo>
                  <a:pt x="130968" y="297656"/>
                </a:moveTo>
                <a:lnTo>
                  <a:pt x="279796" y="297656"/>
                </a:lnTo>
                <a:cubicBezTo>
                  <a:pt x="289660" y="297656"/>
                  <a:pt x="297656" y="289660"/>
                  <a:pt x="297656" y="279797"/>
                </a:cubicBezTo>
                <a:lnTo>
                  <a:pt x="297656" y="130969"/>
                </a:lnTo>
                <a:lnTo>
                  <a:pt x="130968" y="130969"/>
                </a:lnTo>
                <a:lnTo>
                  <a:pt x="130968" y="297656"/>
                </a:lnTo>
                <a:close/>
                <a:moveTo>
                  <a:pt x="95250" y="130969"/>
                </a:moveTo>
                <a:lnTo>
                  <a:pt x="95250" y="297656"/>
                </a:lnTo>
                <a:lnTo>
                  <a:pt x="53578" y="297656"/>
                </a:lnTo>
                <a:cubicBezTo>
                  <a:pt x="43714" y="297656"/>
                  <a:pt x="35718" y="289660"/>
                  <a:pt x="35718" y="279797"/>
                </a:cubicBezTo>
                <a:lnTo>
                  <a:pt x="35718" y="130969"/>
                </a:lnTo>
                <a:lnTo>
                  <a:pt x="95250" y="130969"/>
                </a:lnTo>
                <a:close/>
                <a:moveTo>
                  <a:pt x="297656" y="95250"/>
                </a:moveTo>
                <a:lnTo>
                  <a:pt x="297656" y="53578"/>
                </a:lnTo>
                <a:cubicBezTo>
                  <a:pt x="297656" y="43715"/>
                  <a:pt x="289660" y="35719"/>
                  <a:pt x="279796" y="35719"/>
                </a:cubicBezTo>
                <a:lnTo>
                  <a:pt x="53578" y="35719"/>
                </a:lnTo>
                <a:cubicBezTo>
                  <a:pt x="43714" y="35719"/>
                  <a:pt x="35718" y="43715"/>
                  <a:pt x="35718" y="53578"/>
                </a:cubicBezTo>
                <a:lnTo>
                  <a:pt x="35718" y="95250"/>
                </a:lnTo>
                <a:lnTo>
                  <a:pt x="297656" y="95250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GraphCompose Text Line" id="18"/>
          <p:cNvSpPr txBox="true"/>
          <p:nvPr/>
        </p:nvSpPr>
        <p:spPr>
          <a:xfrm>
            <a:off x="3694965" y="2653613"/>
            <a:ext cx="60452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MEASURE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3256891" y="2857682"/>
            <a:ext cx="148066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Two-pass geometry, every node.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527183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560084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22" id="22"/>
          <p:cNvCxnSpPr/>
          <p:nvPr/>
        </p:nvCxnSpPr>
        <p:spPr>
          <a:xfrm>
            <a:off x="560084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23"/>
          <p:cNvSpPr txBox="true"/>
          <p:nvPr/>
        </p:nvSpPr>
        <p:spPr>
          <a:xfrm>
            <a:off x="663892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3</a:t>
            </a:r>
            <a:endParaRPr lang="en-US" sz="1100"/>
          </a:p>
        </p:txBody>
      </p:sp>
      <p:pic>
        <p:nvPicPr>
          <p:cNvPr name="GraphCompose Clipped Composite" id="2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910" y="2206308"/>
            <a:ext cx="381000" cy="381000"/>
          </a:xfrm>
          <a:prstGeom prst="rect">
            <a:avLst/>
          </a:prstGeom>
        </p:spPr>
      </p:pic>
      <p:sp>
        <p:nvSpPr>
          <p:cNvPr name="GraphCompose Text Line" id="25"/>
          <p:cNvSpPr txBox="true"/>
          <p:nvPr/>
        </p:nvSpPr>
        <p:spPr>
          <a:xfrm>
            <a:off x="6383711" y="2653613"/>
            <a:ext cx="62466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PAGINATE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6077072" y="2857682"/>
            <a:ext cx="123794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Split the flow across pages.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797065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829966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829966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933774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4</a:t>
            </a:r>
            <a:endParaRPr lang="en-US" sz="1100"/>
          </a:p>
        </p:txBody>
      </p:sp>
      <p:sp>
        <p:nvSpPr>
          <p:cNvPr name="Freeform 31" id="31"/>
          <p:cNvSpPr/>
          <p:nvPr/>
        </p:nvSpPr>
        <p:spPr>
          <a:xfrm>
            <a:off x="9297398" y="2441330"/>
            <a:ext cx="18563" cy="21310"/>
          </a:xfrm>
          <a:custGeom>
            <a:avLst/>
            <a:gdLst/>
            <a:ahLst/>
            <a:cxnLst/>
            <a:rect r="r" b="b" t="t" l="l"/>
            <a:pathLst>
              <a:path h="21310" w="18563">
                <a:moveTo>
                  <a:pt x="18563" y="10101"/>
                </a:moveTo>
                <a:cubicBezTo>
                  <a:pt x="18563" y="3774"/>
                  <a:pt x="14173" y="0"/>
                  <a:pt x="6426" y="0"/>
                </a:cubicBezTo>
                <a:cubicBezTo>
                  <a:pt x="3263" y="0"/>
                  <a:pt x="1120" y="313"/>
                  <a:pt x="0" y="611"/>
                </a:cubicBezTo>
                <a:lnTo>
                  <a:pt x="0" y="20912"/>
                </a:lnTo>
                <a:cubicBezTo>
                  <a:pt x="1327" y="21211"/>
                  <a:pt x="2958" y="21311"/>
                  <a:pt x="5206" y="21311"/>
                </a:cubicBezTo>
                <a:cubicBezTo>
                  <a:pt x="13463" y="21311"/>
                  <a:pt x="18563" y="17139"/>
                  <a:pt x="18563" y="10101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Freeform 32" id="32"/>
          <p:cNvSpPr/>
          <p:nvPr/>
        </p:nvSpPr>
        <p:spPr>
          <a:xfrm>
            <a:off x="9356879" y="2441543"/>
            <a:ext cx="28658" cy="45883"/>
          </a:xfrm>
          <a:custGeom>
            <a:avLst/>
            <a:gdLst/>
            <a:ahLst/>
            <a:cxnLst/>
            <a:rect r="r" b="b" t="t" l="l"/>
            <a:pathLst>
              <a:path h="45883" w="28658">
                <a:moveTo>
                  <a:pt x="7037" y="0"/>
                </a:moveTo>
                <a:cubicBezTo>
                  <a:pt x="3568" y="0"/>
                  <a:pt x="1326" y="300"/>
                  <a:pt x="0" y="610"/>
                </a:cubicBezTo>
                <a:lnTo>
                  <a:pt x="0" y="45571"/>
                </a:lnTo>
                <a:cubicBezTo>
                  <a:pt x="1327" y="45882"/>
                  <a:pt x="3469" y="45882"/>
                  <a:pt x="5406" y="45882"/>
                </a:cubicBezTo>
                <a:cubicBezTo>
                  <a:pt x="19479" y="45982"/>
                  <a:pt x="28658" y="38235"/>
                  <a:pt x="28658" y="21821"/>
                </a:cubicBezTo>
                <a:cubicBezTo>
                  <a:pt x="28757" y="7547"/>
                  <a:pt x="20393" y="0"/>
                  <a:pt x="7037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Freeform 33" id="33"/>
          <p:cNvSpPr/>
          <p:nvPr/>
        </p:nvSpPr>
        <p:spPr>
          <a:xfrm>
            <a:off x="9239137" y="2206308"/>
            <a:ext cx="310186" cy="380999"/>
          </a:xfrm>
          <a:custGeom>
            <a:avLst/>
            <a:gdLst/>
            <a:ahLst/>
            <a:cxnLst/>
            <a:rect r="r" b="b" t="t" l="l"/>
            <a:pathLst>
              <a:path h="380999" w="310186">
                <a:moveTo>
                  <a:pt x="213876" y="0"/>
                </a:moveTo>
                <a:lnTo>
                  <a:pt x="60851" y="0"/>
                </a:lnTo>
                <a:cubicBezTo>
                  <a:pt x="38496" y="0"/>
                  <a:pt x="20301" y="18207"/>
                  <a:pt x="20301" y="40550"/>
                </a:cubicBezTo>
                <a:lnTo>
                  <a:pt x="20301" y="190499"/>
                </a:lnTo>
                <a:lnTo>
                  <a:pt x="16340" y="190499"/>
                </a:lnTo>
                <a:cubicBezTo>
                  <a:pt x="7317" y="190499"/>
                  <a:pt x="0" y="197809"/>
                  <a:pt x="0" y="206840"/>
                </a:cubicBezTo>
                <a:lnTo>
                  <a:pt x="0" y="305937"/>
                </a:lnTo>
                <a:cubicBezTo>
                  <a:pt x="0" y="314967"/>
                  <a:pt x="7317" y="322277"/>
                  <a:pt x="16340" y="322277"/>
                </a:cubicBezTo>
                <a:lnTo>
                  <a:pt x="20301" y="322277"/>
                </a:lnTo>
                <a:lnTo>
                  <a:pt x="20301" y="340448"/>
                </a:lnTo>
                <a:cubicBezTo>
                  <a:pt x="20301" y="362816"/>
                  <a:pt x="38496" y="380999"/>
                  <a:pt x="60851" y="380999"/>
                </a:cubicBezTo>
                <a:lnTo>
                  <a:pt x="269647" y="380999"/>
                </a:lnTo>
                <a:cubicBezTo>
                  <a:pt x="291989" y="380999"/>
                  <a:pt x="310186" y="362815"/>
                  <a:pt x="310186" y="340448"/>
                </a:cubicBezTo>
                <a:lnTo>
                  <a:pt x="310186" y="95972"/>
                </a:lnTo>
                <a:lnTo>
                  <a:pt x="213876" y="0"/>
                </a:lnTo>
                <a:close/>
                <a:moveTo>
                  <a:pt x="42867" y="224723"/>
                </a:moveTo>
                <a:cubicBezTo>
                  <a:pt x="47656" y="223914"/>
                  <a:pt x="54387" y="223304"/>
                  <a:pt x="63871" y="223304"/>
                </a:cubicBezTo>
                <a:cubicBezTo>
                  <a:pt x="73455" y="223304"/>
                  <a:pt x="80285" y="225134"/>
                  <a:pt x="84875" y="228808"/>
                </a:cubicBezTo>
                <a:cubicBezTo>
                  <a:pt x="89259" y="232271"/>
                  <a:pt x="92218" y="237987"/>
                  <a:pt x="92218" y="244713"/>
                </a:cubicBezTo>
                <a:cubicBezTo>
                  <a:pt x="92218" y="251438"/>
                  <a:pt x="89976" y="257155"/>
                  <a:pt x="85897" y="261028"/>
                </a:cubicBezTo>
                <a:cubicBezTo>
                  <a:pt x="80591" y="266022"/>
                  <a:pt x="72745" y="268264"/>
                  <a:pt x="63566" y="268264"/>
                </a:cubicBezTo>
                <a:cubicBezTo>
                  <a:pt x="61524" y="268264"/>
                  <a:pt x="59693" y="268163"/>
                  <a:pt x="58261" y="267965"/>
                </a:cubicBezTo>
                <a:lnTo>
                  <a:pt x="58261" y="292538"/>
                </a:lnTo>
                <a:lnTo>
                  <a:pt x="42867" y="292538"/>
                </a:lnTo>
                <a:lnTo>
                  <a:pt x="42867" y="224723"/>
                </a:lnTo>
                <a:close/>
                <a:moveTo>
                  <a:pt x="269647" y="356165"/>
                </a:moveTo>
                <a:lnTo>
                  <a:pt x="60851" y="356165"/>
                </a:lnTo>
                <a:cubicBezTo>
                  <a:pt x="52195" y="356165"/>
                  <a:pt x="45146" y="349116"/>
                  <a:pt x="45146" y="340448"/>
                </a:cubicBezTo>
                <a:lnTo>
                  <a:pt x="45146" y="322277"/>
                </a:lnTo>
                <a:lnTo>
                  <a:pt x="239787" y="322277"/>
                </a:lnTo>
                <a:cubicBezTo>
                  <a:pt x="248811" y="322277"/>
                  <a:pt x="256128" y="314967"/>
                  <a:pt x="256128" y="305937"/>
                </a:cubicBezTo>
                <a:lnTo>
                  <a:pt x="256128" y="206840"/>
                </a:lnTo>
                <a:cubicBezTo>
                  <a:pt x="256128" y="197809"/>
                  <a:pt x="248811" y="190499"/>
                  <a:pt x="239787" y="190499"/>
                </a:cubicBezTo>
                <a:lnTo>
                  <a:pt x="45146" y="190499"/>
                </a:lnTo>
                <a:lnTo>
                  <a:pt x="45146" y="40550"/>
                </a:lnTo>
                <a:cubicBezTo>
                  <a:pt x="45146" y="31907"/>
                  <a:pt x="52196" y="24858"/>
                  <a:pt x="60851" y="24858"/>
                </a:cubicBezTo>
                <a:lnTo>
                  <a:pt x="204586" y="24708"/>
                </a:lnTo>
                <a:lnTo>
                  <a:pt x="204586" y="77837"/>
                </a:lnTo>
                <a:cubicBezTo>
                  <a:pt x="204586" y="93355"/>
                  <a:pt x="217177" y="105959"/>
                  <a:pt x="232707" y="105959"/>
                </a:cubicBezTo>
                <a:lnTo>
                  <a:pt x="284753" y="105809"/>
                </a:lnTo>
                <a:lnTo>
                  <a:pt x="285339" y="340447"/>
                </a:lnTo>
                <a:cubicBezTo>
                  <a:pt x="285339" y="349116"/>
                  <a:pt x="278303" y="356165"/>
                  <a:pt x="269647" y="356165"/>
                </a:cubicBezTo>
                <a:close/>
                <a:moveTo>
                  <a:pt x="102144" y="292226"/>
                </a:moveTo>
                <a:lnTo>
                  <a:pt x="102144" y="224723"/>
                </a:lnTo>
                <a:cubicBezTo>
                  <a:pt x="107853" y="223815"/>
                  <a:pt x="115295" y="223304"/>
                  <a:pt x="123148" y="223304"/>
                </a:cubicBezTo>
                <a:cubicBezTo>
                  <a:pt x="136199" y="223304"/>
                  <a:pt x="144663" y="225646"/>
                  <a:pt x="151294" y="230639"/>
                </a:cubicBezTo>
                <a:cubicBezTo>
                  <a:pt x="158431" y="235945"/>
                  <a:pt x="162914" y="244402"/>
                  <a:pt x="162914" y="256544"/>
                </a:cubicBezTo>
                <a:cubicBezTo>
                  <a:pt x="162914" y="269695"/>
                  <a:pt x="158125" y="278775"/>
                  <a:pt x="151493" y="284378"/>
                </a:cubicBezTo>
                <a:cubicBezTo>
                  <a:pt x="144257" y="290394"/>
                  <a:pt x="133242" y="293246"/>
                  <a:pt x="119785" y="293246"/>
                </a:cubicBezTo>
                <a:cubicBezTo>
                  <a:pt x="111726" y="293246"/>
                  <a:pt x="106017" y="292736"/>
                  <a:pt x="102144" y="292226"/>
                </a:cubicBezTo>
                <a:close/>
                <a:moveTo>
                  <a:pt x="213429" y="252260"/>
                </a:moveTo>
                <a:lnTo>
                  <a:pt x="213429" y="264901"/>
                </a:lnTo>
                <a:lnTo>
                  <a:pt x="188750" y="264901"/>
                </a:lnTo>
                <a:lnTo>
                  <a:pt x="188750" y="292538"/>
                </a:lnTo>
                <a:lnTo>
                  <a:pt x="173151" y="292538"/>
                </a:lnTo>
                <a:lnTo>
                  <a:pt x="173151" y="223815"/>
                </a:lnTo>
                <a:lnTo>
                  <a:pt x="215160" y="223815"/>
                </a:lnTo>
                <a:lnTo>
                  <a:pt x="215160" y="236555"/>
                </a:lnTo>
                <a:lnTo>
                  <a:pt x="188750" y="236555"/>
                </a:lnTo>
                <a:lnTo>
                  <a:pt x="188750" y="252260"/>
                </a:lnTo>
                <a:lnTo>
                  <a:pt x="213429" y="252260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GraphCompose Text Line" id="34"/>
          <p:cNvSpPr txBox="true"/>
          <p:nvPr/>
        </p:nvSpPr>
        <p:spPr>
          <a:xfrm>
            <a:off x="9139538" y="2653613"/>
            <a:ext cx="51065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RENDER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8773048" y="2857682"/>
            <a:ext cx="124363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A backend writes the bytes.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>
            <a:off x="203200" y="3351689"/>
            <a:ext cx="3062671" cy="855155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7" id="37"/>
          <p:cNvCxnSpPr/>
          <p:nvPr/>
        </p:nvCxnSpPr>
        <p:spPr>
          <a:xfrm>
            <a:off x="203200" y="3351689"/>
            <a:ext cx="0" cy="855155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38"/>
          <p:cNvSpPr txBox="true"/>
          <p:nvPr/>
        </p:nvSpPr>
        <p:spPr>
          <a:xfrm>
            <a:off x="406400" y="3528727"/>
            <a:ext cx="88627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Deterministic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406400" y="3737479"/>
            <a:ext cx="2650835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The same input renders the same bytes on every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406400" y="3868035"/>
            <a:ext cx="2657541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machine — layout is reproducible, not best-effort.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699467" y="3351689"/>
            <a:ext cx="3055844" cy="985711"/>
          </a:xfrm>
          <a:prstGeom prst="roundRect">
            <a:avLst>
              <a:gd name="adj" fmla="val 1288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2" id="42"/>
          <p:cNvCxnSpPr/>
          <p:nvPr/>
        </p:nvCxnSpPr>
        <p:spPr>
          <a:xfrm>
            <a:off x="3699467" y="3351689"/>
            <a:ext cx="0" cy="985711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43"/>
          <p:cNvSpPr txBox="true"/>
          <p:nvPr/>
        </p:nvSpPr>
        <p:spPr>
          <a:xfrm>
            <a:off x="3902667" y="3528727"/>
            <a:ext cx="122001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Regression-tested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3902667" y="3737479"/>
            <a:ext cx="2163034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layoutSnapshot() diffs the geometry and</a:t>
            </a:r>
            <a:endParaRPr lang="en-US" sz="1100"/>
          </a:p>
        </p:txBody>
      </p:sp>
      <p:sp>
        <p:nvSpPr>
          <p:cNvPr name="GraphCompose Text Line" id="45"/>
          <p:cNvSpPr txBox="true"/>
          <p:nvPr/>
        </p:nvSpPr>
        <p:spPr>
          <a:xfrm>
            <a:off x="3902667" y="3868035"/>
            <a:ext cx="2650714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PdfVisualRegression pixel-tests fonts and colour,</a:t>
            </a:r>
            <a:endParaRPr lang="en-US" sz="1100"/>
          </a:p>
        </p:txBody>
      </p:sp>
      <p:sp>
        <p:nvSpPr>
          <p:cNvPr name="GraphCompose Text Line" id="46"/>
          <p:cNvSpPr txBox="true"/>
          <p:nvPr/>
        </p:nvSpPr>
        <p:spPr>
          <a:xfrm>
            <a:off x="3902667" y="3998591"/>
            <a:ext cx="1397132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right in your pull requests.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>
            <a:off x="7195733" y="3351689"/>
            <a:ext cx="3198246" cy="985711"/>
          </a:xfrm>
          <a:prstGeom prst="roundRect">
            <a:avLst>
              <a:gd name="adj" fmla="val 1288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8" id="48"/>
          <p:cNvCxnSpPr/>
          <p:nvPr/>
        </p:nvCxnSpPr>
        <p:spPr>
          <a:xfrm>
            <a:off x="7195733" y="3351689"/>
            <a:ext cx="0" cy="985711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49"/>
          <p:cNvSpPr txBox="true"/>
          <p:nvPr/>
        </p:nvSpPr>
        <p:spPr>
          <a:xfrm>
            <a:off x="7398933" y="3528727"/>
            <a:ext cx="115784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Production-ready</a:t>
            </a:r>
            <a:endParaRPr lang="en-US" sz="1100"/>
          </a:p>
        </p:txBody>
      </p:sp>
      <p:sp>
        <p:nvSpPr>
          <p:cNvPr name="GraphCompose Text Line" id="50"/>
          <p:cNvSpPr txBox="true"/>
          <p:nvPr/>
        </p:nvSpPr>
        <p:spPr>
          <a:xfrm>
            <a:off x="7398933" y="3737479"/>
            <a:ext cx="2793116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An isolated PDFBox backend streams straight to an</a:t>
            </a:r>
            <a:endParaRPr lang="en-US" sz="1100"/>
          </a:p>
        </p:txBody>
      </p:sp>
      <p:sp>
        <p:nvSpPr>
          <p:cNvPr name="GraphCompose Text Line" id="51"/>
          <p:cNvSpPr txBox="true"/>
          <p:nvPr/>
        </p:nvSpPr>
        <p:spPr>
          <a:xfrm>
            <a:off x="7398933" y="3868035"/>
            <a:ext cx="2372858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HTTP response — no temp files, no manual</a:t>
            </a:r>
            <a:endParaRPr lang="en-US" sz="1100"/>
          </a:p>
        </p:txBody>
      </p:sp>
      <p:sp>
        <p:nvSpPr>
          <p:cNvPr name="GraphCompose Text Line" id="52"/>
          <p:cNvSpPr txBox="true"/>
          <p:nvPr/>
        </p:nvSpPr>
        <p:spPr>
          <a:xfrm>
            <a:off x="7398933" y="3998591"/>
            <a:ext cx="665368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coordinates.</a:t>
            </a:r>
            <a:endParaRPr lang="en-US" sz="1100"/>
          </a:p>
        </p:txBody>
      </p:sp>
      <p:sp>
        <p:nvSpPr>
          <p:cNvPr name="GraphCompose Footer" id="53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54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2 of 4</a:t>
            </a:r>
            <a:endParaRPr lang="en-US" sz="1100"/>
          </a:p>
        </p:txBody>
      </p:sp>
      <p:cxnSp>
        <p:nvCxnSpPr>
          <p:cNvPr name="GraphCompose Footer Separator" id="55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90915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BENCHMARKED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3037307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GraphCompose vs. the field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92850"/>
            <a:ext cx="10012975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The same documents through three engines — render time and peak heap, measured by this repository's own harness. The table and charts below are drawn by GraphCompose straight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24041"/>
            <a:ext cx="1004062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from the result file.</a:t>
            </a:r>
            <a:endParaRPr lang="en-US" sz="1100"/>
          </a:p>
        </p:txBody>
      </p:sp>
      <p:sp>
        <p:nvSpPr>
          <p:cNvPr name="GraphCompose Table Cell Fill" id="6"/>
          <p:cNvSpPr/>
          <p:nvPr/>
        </p:nvSpPr>
        <p:spPr>
          <a:xfrm>
            <a:off x="203200" y="1488249"/>
            <a:ext cx="1524000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7"/>
          <p:cNvSpPr/>
          <p:nvPr/>
        </p:nvSpPr>
        <p:spPr>
          <a:xfrm>
            <a:off x="1727200" y="1488249"/>
            <a:ext cx="1181544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8"/>
          <p:cNvSpPr/>
          <p:nvPr/>
        </p:nvSpPr>
        <p:spPr>
          <a:xfrm>
            <a:off x="2908744" y="1488249"/>
            <a:ext cx="1245095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4153840" y="1488249"/>
            <a:ext cx="1181544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203200" y="1797177"/>
            <a:ext cx="1524000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1727200" y="1797177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2908744" y="1797177"/>
            <a:ext cx="1245095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4153840" y="1797177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203200" y="2080704"/>
            <a:ext cx="1524000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1727200" y="2080704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2908744" y="2080704"/>
            <a:ext cx="1245095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4153840" y="2080704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203200" y="2364232"/>
            <a:ext cx="1524000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1727200" y="2364232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2908744" y="2364232"/>
            <a:ext cx="1245095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4153840" y="2364232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203200" y="2647759"/>
            <a:ext cx="1524000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1727200" y="2647759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2908744" y="2647759"/>
            <a:ext cx="1245095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4153840" y="2647759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GraphCompose Table Cell Border" id="26"/>
          <p:cNvCxnSpPr/>
          <p:nvPr/>
        </p:nvCxnSpPr>
        <p:spPr>
          <a:xfrm>
            <a:off x="203200" y="1488249"/>
            <a:ext cx="152717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7"/>
          <p:cNvCxnSpPr/>
          <p:nvPr/>
        </p:nvCxnSpPr>
        <p:spPr>
          <a:xfrm>
            <a:off x="203200" y="1797177"/>
            <a:ext cx="152717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8"/>
          <p:cNvCxnSpPr/>
          <p:nvPr/>
        </p:nvCxnSpPr>
        <p:spPr>
          <a:xfrm>
            <a:off x="20320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9"/>
          <p:cNvCxnSpPr/>
          <p:nvPr/>
        </p:nvCxnSpPr>
        <p:spPr>
          <a:xfrm>
            <a:off x="172720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0"/>
          <p:cNvSpPr txBox="true"/>
          <p:nvPr/>
        </p:nvSpPr>
        <p:spPr>
          <a:xfrm>
            <a:off x="330200" y="1568444"/>
            <a:ext cx="61734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Report size</a:t>
            </a:r>
            <a:endParaRPr lang="en-US" sz="1100"/>
          </a:p>
        </p:txBody>
      </p:sp>
      <p:cxnSp>
        <p:nvCxnSpPr>
          <p:cNvPr name="GraphCompose Table Cell Border" id="31"/>
          <p:cNvCxnSpPr/>
          <p:nvPr/>
        </p:nvCxnSpPr>
        <p:spPr>
          <a:xfrm>
            <a:off x="1724025" y="1488249"/>
            <a:ext cx="1187894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2"/>
          <p:cNvCxnSpPr/>
          <p:nvPr/>
        </p:nvCxnSpPr>
        <p:spPr>
          <a:xfrm>
            <a:off x="1724025" y="1797177"/>
            <a:ext cx="1187894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3"/>
          <p:cNvCxnSpPr/>
          <p:nvPr/>
        </p:nvCxnSpPr>
        <p:spPr>
          <a:xfrm>
            <a:off x="2908744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4"/>
          <p:cNvSpPr txBox="true"/>
          <p:nvPr/>
        </p:nvSpPr>
        <p:spPr>
          <a:xfrm>
            <a:off x="1854200" y="1568444"/>
            <a:ext cx="8586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GraphCompose</a:t>
            </a:r>
            <a:endParaRPr lang="en-US" sz="1100"/>
          </a:p>
        </p:txBody>
      </p:sp>
      <p:cxnSp>
        <p:nvCxnSpPr>
          <p:cNvPr name="GraphCompose Table Cell Border" id="35"/>
          <p:cNvCxnSpPr/>
          <p:nvPr/>
        </p:nvCxnSpPr>
        <p:spPr>
          <a:xfrm>
            <a:off x="2905570" y="1488249"/>
            <a:ext cx="125144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6"/>
          <p:cNvCxnSpPr/>
          <p:nvPr/>
        </p:nvCxnSpPr>
        <p:spPr>
          <a:xfrm>
            <a:off x="2905570" y="1797177"/>
            <a:ext cx="125144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7"/>
          <p:cNvCxnSpPr/>
          <p:nvPr/>
        </p:nvCxnSpPr>
        <p:spPr>
          <a:xfrm>
            <a:off x="415384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8"/>
          <p:cNvSpPr txBox="true"/>
          <p:nvPr/>
        </p:nvSpPr>
        <p:spPr>
          <a:xfrm>
            <a:off x="3035744" y="1568444"/>
            <a:ext cx="363372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iText 9</a:t>
            </a:r>
            <a:endParaRPr lang="en-US" sz="1100"/>
          </a:p>
        </p:txBody>
      </p:sp>
      <p:cxnSp>
        <p:nvCxnSpPr>
          <p:cNvPr name="GraphCompose Table Cell Border" id="39"/>
          <p:cNvCxnSpPr/>
          <p:nvPr/>
        </p:nvCxnSpPr>
        <p:spPr>
          <a:xfrm>
            <a:off x="4150665" y="1488249"/>
            <a:ext cx="1184719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40"/>
          <p:cNvCxnSpPr/>
          <p:nvPr/>
        </p:nvCxnSpPr>
        <p:spPr>
          <a:xfrm>
            <a:off x="4150665" y="1797177"/>
            <a:ext cx="1184719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41"/>
          <p:cNvCxnSpPr/>
          <p:nvPr/>
        </p:nvCxnSpPr>
        <p:spPr>
          <a:xfrm>
            <a:off x="5335384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42"/>
          <p:cNvSpPr txBox="true"/>
          <p:nvPr/>
        </p:nvSpPr>
        <p:spPr>
          <a:xfrm>
            <a:off x="4280840" y="1568444"/>
            <a:ext cx="8015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JasperReports</a:t>
            </a:r>
            <a:endParaRPr lang="en-US" sz="1100"/>
          </a:p>
        </p:txBody>
      </p:sp>
      <p:cxnSp>
        <p:nvCxnSpPr>
          <p:cNvPr name="GraphCompose Table Cell Border" id="43"/>
          <p:cNvCxnSpPr/>
          <p:nvPr/>
        </p:nvCxnSpPr>
        <p:spPr>
          <a:xfrm>
            <a:off x="203200" y="2080704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4"/>
          <p:cNvCxnSpPr/>
          <p:nvPr/>
        </p:nvCxnSpPr>
        <p:spPr>
          <a:xfrm>
            <a:off x="20320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5"/>
          <p:cNvCxnSpPr/>
          <p:nvPr/>
        </p:nvCxnSpPr>
        <p:spPr>
          <a:xfrm>
            <a:off x="172720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46"/>
          <p:cNvSpPr txBox="true"/>
          <p:nvPr/>
        </p:nvSpPr>
        <p:spPr>
          <a:xfrm>
            <a:off x="330200" y="1864672"/>
            <a:ext cx="77645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 page · 3 lines</a:t>
            </a:r>
            <a:endParaRPr lang="en-US" sz="1100"/>
          </a:p>
        </p:txBody>
      </p:sp>
      <p:cxnSp>
        <p:nvCxnSpPr>
          <p:cNvPr name="GraphCompose Table Cell Border" id="47"/>
          <p:cNvCxnSpPr/>
          <p:nvPr/>
        </p:nvCxnSpPr>
        <p:spPr>
          <a:xfrm>
            <a:off x="1724025" y="2080704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8"/>
          <p:cNvCxnSpPr/>
          <p:nvPr/>
        </p:nvCxnSpPr>
        <p:spPr>
          <a:xfrm>
            <a:off x="2908744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49"/>
          <p:cNvSpPr txBox="true"/>
          <p:nvPr/>
        </p:nvSpPr>
        <p:spPr>
          <a:xfrm>
            <a:off x="1854200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2.0 ms · 0.2 MB</a:t>
            </a:r>
            <a:endParaRPr lang="en-US" sz="1100"/>
          </a:p>
        </p:txBody>
      </p:sp>
      <p:cxnSp>
        <p:nvCxnSpPr>
          <p:cNvPr name="GraphCompose Table Cell Border" id="50"/>
          <p:cNvCxnSpPr/>
          <p:nvPr/>
        </p:nvCxnSpPr>
        <p:spPr>
          <a:xfrm>
            <a:off x="2905570" y="2080704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1"/>
          <p:cNvCxnSpPr/>
          <p:nvPr/>
        </p:nvCxnSpPr>
        <p:spPr>
          <a:xfrm>
            <a:off x="415384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2"/>
          <p:cNvSpPr txBox="true"/>
          <p:nvPr/>
        </p:nvSpPr>
        <p:spPr>
          <a:xfrm>
            <a:off x="3035744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2.1 ms · 0.2 MB</a:t>
            </a:r>
            <a:endParaRPr lang="en-US" sz="1100"/>
          </a:p>
        </p:txBody>
      </p:sp>
      <p:cxnSp>
        <p:nvCxnSpPr>
          <p:cNvPr name="GraphCompose Table Cell Border" id="53"/>
          <p:cNvCxnSpPr/>
          <p:nvPr/>
        </p:nvCxnSpPr>
        <p:spPr>
          <a:xfrm>
            <a:off x="4150665" y="2080704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4"/>
          <p:cNvCxnSpPr/>
          <p:nvPr/>
        </p:nvCxnSpPr>
        <p:spPr>
          <a:xfrm>
            <a:off x="5335384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5"/>
          <p:cNvSpPr txBox="true"/>
          <p:nvPr/>
        </p:nvSpPr>
        <p:spPr>
          <a:xfrm>
            <a:off x="4280840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4.2 ms · 0.2 MB</a:t>
            </a:r>
            <a:endParaRPr lang="en-US" sz="1100"/>
          </a:p>
        </p:txBody>
      </p:sp>
      <p:cxnSp>
        <p:nvCxnSpPr>
          <p:cNvPr name="GraphCompose Table Cell Border" id="56"/>
          <p:cNvCxnSpPr/>
          <p:nvPr/>
        </p:nvCxnSpPr>
        <p:spPr>
          <a:xfrm>
            <a:off x="203200" y="2364232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7"/>
          <p:cNvCxnSpPr/>
          <p:nvPr/>
        </p:nvCxnSpPr>
        <p:spPr>
          <a:xfrm>
            <a:off x="20320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8"/>
          <p:cNvCxnSpPr/>
          <p:nvPr/>
        </p:nvCxnSpPr>
        <p:spPr>
          <a:xfrm>
            <a:off x="172720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9"/>
          <p:cNvSpPr txBox="true"/>
          <p:nvPr/>
        </p:nvSpPr>
        <p:spPr>
          <a:xfrm>
            <a:off x="330200" y="2148199"/>
            <a:ext cx="4014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40 rows</a:t>
            </a:r>
            <a:endParaRPr lang="en-US" sz="1100"/>
          </a:p>
        </p:txBody>
      </p:sp>
      <p:cxnSp>
        <p:nvCxnSpPr>
          <p:cNvPr name="GraphCompose Table Cell Border" id="60"/>
          <p:cNvCxnSpPr/>
          <p:nvPr/>
        </p:nvCxnSpPr>
        <p:spPr>
          <a:xfrm>
            <a:off x="1724025" y="2364232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1"/>
          <p:cNvCxnSpPr/>
          <p:nvPr/>
        </p:nvCxnSpPr>
        <p:spPr>
          <a:xfrm>
            <a:off x="2908744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2"/>
          <p:cNvSpPr txBox="true"/>
          <p:nvPr/>
        </p:nvSpPr>
        <p:spPr>
          <a:xfrm>
            <a:off x="1854200" y="2148199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4.1 ms · 1.0 MB</a:t>
            </a:r>
            <a:endParaRPr lang="en-US" sz="1100"/>
          </a:p>
        </p:txBody>
      </p:sp>
      <p:cxnSp>
        <p:nvCxnSpPr>
          <p:cNvPr name="GraphCompose Table Cell Border" id="63"/>
          <p:cNvCxnSpPr/>
          <p:nvPr/>
        </p:nvCxnSpPr>
        <p:spPr>
          <a:xfrm>
            <a:off x="2905570" y="2364232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4"/>
          <p:cNvCxnSpPr/>
          <p:nvPr/>
        </p:nvCxnSpPr>
        <p:spPr>
          <a:xfrm>
            <a:off x="415384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5"/>
          <p:cNvSpPr txBox="true"/>
          <p:nvPr/>
        </p:nvSpPr>
        <p:spPr>
          <a:xfrm>
            <a:off x="3035744" y="2148199"/>
            <a:ext cx="86526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10.0 ms · 3.0 MB</a:t>
            </a:r>
            <a:endParaRPr lang="en-US" sz="1100"/>
          </a:p>
        </p:txBody>
      </p:sp>
      <p:cxnSp>
        <p:nvCxnSpPr>
          <p:cNvPr name="GraphCompose Table Cell Border" id="66"/>
          <p:cNvCxnSpPr/>
          <p:nvPr/>
        </p:nvCxnSpPr>
        <p:spPr>
          <a:xfrm>
            <a:off x="4150665" y="2364232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7"/>
          <p:cNvCxnSpPr/>
          <p:nvPr/>
        </p:nvCxnSpPr>
        <p:spPr>
          <a:xfrm>
            <a:off x="5335384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8"/>
          <p:cNvSpPr txBox="true"/>
          <p:nvPr/>
        </p:nvSpPr>
        <p:spPr>
          <a:xfrm>
            <a:off x="4280840" y="2148199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8.3 ms · 2.5 MB</a:t>
            </a:r>
            <a:endParaRPr lang="en-US" sz="1100"/>
          </a:p>
        </p:txBody>
      </p:sp>
      <p:cxnSp>
        <p:nvCxnSpPr>
          <p:cNvPr name="GraphCompose Table Cell Border" id="69"/>
          <p:cNvCxnSpPr/>
          <p:nvPr/>
        </p:nvCxnSpPr>
        <p:spPr>
          <a:xfrm>
            <a:off x="203200" y="2647759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0"/>
          <p:cNvCxnSpPr/>
          <p:nvPr/>
        </p:nvCxnSpPr>
        <p:spPr>
          <a:xfrm>
            <a:off x="20320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1"/>
          <p:cNvCxnSpPr/>
          <p:nvPr/>
        </p:nvCxnSpPr>
        <p:spPr>
          <a:xfrm>
            <a:off x="172720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2"/>
          <p:cNvSpPr txBox="true"/>
          <p:nvPr/>
        </p:nvSpPr>
        <p:spPr>
          <a:xfrm>
            <a:off x="330200" y="2431727"/>
            <a:ext cx="46498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200 rows</a:t>
            </a:r>
            <a:endParaRPr lang="en-US" sz="1100"/>
          </a:p>
        </p:txBody>
      </p:sp>
      <p:cxnSp>
        <p:nvCxnSpPr>
          <p:cNvPr name="GraphCompose Table Cell Border" id="73"/>
          <p:cNvCxnSpPr/>
          <p:nvPr/>
        </p:nvCxnSpPr>
        <p:spPr>
          <a:xfrm>
            <a:off x="1724025" y="2647759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4"/>
          <p:cNvCxnSpPr/>
          <p:nvPr/>
        </p:nvCxnSpPr>
        <p:spPr>
          <a:xfrm>
            <a:off x="2908744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5"/>
          <p:cNvSpPr txBox="true"/>
          <p:nvPr/>
        </p:nvSpPr>
        <p:spPr>
          <a:xfrm>
            <a:off x="1854200" y="2431727"/>
            <a:ext cx="86526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10.9 ms · 4.0 MB</a:t>
            </a:r>
            <a:endParaRPr lang="en-US" sz="1100"/>
          </a:p>
        </p:txBody>
      </p:sp>
      <p:cxnSp>
        <p:nvCxnSpPr>
          <p:cNvPr name="GraphCompose Table Cell Border" id="76"/>
          <p:cNvCxnSpPr/>
          <p:nvPr/>
        </p:nvCxnSpPr>
        <p:spPr>
          <a:xfrm>
            <a:off x="2905570" y="2647759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7"/>
          <p:cNvCxnSpPr/>
          <p:nvPr/>
        </p:nvCxnSpPr>
        <p:spPr>
          <a:xfrm>
            <a:off x="415384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8"/>
          <p:cNvSpPr txBox="true"/>
          <p:nvPr/>
        </p:nvSpPr>
        <p:spPr>
          <a:xfrm>
            <a:off x="3035744" y="2431727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36.6 ms · 13.6 MB</a:t>
            </a:r>
            <a:endParaRPr lang="en-US" sz="1100"/>
          </a:p>
        </p:txBody>
      </p:sp>
      <p:cxnSp>
        <p:nvCxnSpPr>
          <p:cNvPr name="GraphCompose Table Cell Border" id="79"/>
          <p:cNvCxnSpPr/>
          <p:nvPr/>
        </p:nvCxnSpPr>
        <p:spPr>
          <a:xfrm>
            <a:off x="4150665" y="2647759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0"/>
          <p:cNvCxnSpPr/>
          <p:nvPr/>
        </p:nvCxnSpPr>
        <p:spPr>
          <a:xfrm>
            <a:off x="5335384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1"/>
          <p:cNvSpPr txBox="true"/>
          <p:nvPr/>
        </p:nvSpPr>
        <p:spPr>
          <a:xfrm>
            <a:off x="4280840" y="2431727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13.5 ms · 10.8 MB</a:t>
            </a:r>
            <a:endParaRPr lang="en-US" sz="1100"/>
          </a:p>
        </p:txBody>
      </p:sp>
      <p:cxnSp>
        <p:nvCxnSpPr>
          <p:cNvPr name="GraphCompose Table Cell Border" id="82"/>
          <p:cNvCxnSpPr/>
          <p:nvPr/>
        </p:nvCxnSpPr>
        <p:spPr>
          <a:xfrm>
            <a:off x="203200" y="2931287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3"/>
          <p:cNvCxnSpPr/>
          <p:nvPr/>
        </p:nvCxnSpPr>
        <p:spPr>
          <a:xfrm>
            <a:off x="20320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4"/>
          <p:cNvCxnSpPr/>
          <p:nvPr/>
        </p:nvCxnSpPr>
        <p:spPr>
          <a:xfrm>
            <a:off x="172720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5"/>
          <p:cNvSpPr txBox="true"/>
          <p:nvPr/>
        </p:nvSpPr>
        <p:spPr>
          <a:xfrm>
            <a:off x="330200" y="2715254"/>
            <a:ext cx="528536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1000 rows</a:t>
            </a:r>
            <a:endParaRPr lang="en-US" sz="1100"/>
          </a:p>
        </p:txBody>
      </p:sp>
      <p:cxnSp>
        <p:nvCxnSpPr>
          <p:cNvPr name="GraphCompose Table Cell Border" id="86"/>
          <p:cNvCxnSpPr/>
          <p:nvPr/>
        </p:nvCxnSpPr>
        <p:spPr>
          <a:xfrm>
            <a:off x="1724025" y="2931287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7"/>
          <p:cNvCxnSpPr/>
          <p:nvPr/>
        </p:nvCxnSpPr>
        <p:spPr>
          <a:xfrm>
            <a:off x="2908744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8"/>
          <p:cNvSpPr txBox="true"/>
          <p:nvPr/>
        </p:nvSpPr>
        <p:spPr>
          <a:xfrm>
            <a:off x="1854200" y="2715254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42.8 ms · 19.3 MB</a:t>
            </a:r>
            <a:endParaRPr lang="en-US" sz="1100"/>
          </a:p>
        </p:txBody>
      </p:sp>
      <p:cxnSp>
        <p:nvCxnSpPr>
          <p:cNvPr name="GraphCompose Table Cell Border" id="89"/>
          <p:cNvCxnSpPr/>
          <p:nvPr/>
        </p:nvCxnSpPr>
        <p:spPr>
          <a:xfrm>
            <a:off x="2905570" y="2931287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90"/>
          <p:cNvCxnSpPr/>
          <p:nvPr/>
        </p:nvCxnSpPr>
        <p:spPr>
          <a:xfrm>
            <a:off x="415384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91"/>
          <p:cNvSpPr txBox="true"/>
          <p:nvPr/>
        </p:nvSpPr>
        <p:spPr>
          <a:xfrm>
            <a:off x="3035744" y="2715254"/>
            <a:ext cx="99236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189.1 ms · 67.3 MB</a:t>
            </a:r>
            <a:endParaRPr lang="en-US" sz="1100"/>
          </a:p>
        </p:txBody>
      </p:sp>
      <p:cxnSp>
        <p:nvCxnSpPr>
          <p:cNvPr name="GraphCompose Table Cell Border" id="92"/>
          <p:cNvCxnSpPr/>
          <p:nvPr/>
        </p:nvCxnSpPr>
        <p:spPr>
          <a:xfrm>
            <a:off x="4150665" y="2931287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93"/>
          <p:cNvCxnSpPr/>
          <p:nvPr/>
        </p:nvCxnSpPr>
        <p:spPr>
          <a:xfrm>
            <a:off x="5335384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94"/>
          <p:cNvSpPr txBox="true"/>
          <p:nvPr/>
        </p:nvSpPr>
        <p:spPr>
          <a:xfrm>
            <a:off x="4280840" y="2715254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43.7 ms · 52.5 MB</a:t>
            </a:r>
            <a:endParaRPr lang="en-US" sz="1100"/>
          </a:p>
        </p:txBody>
      </p:sp>
      <p:sp>
        <p:nvSpPr>
          <p:cNvPr name="AutoShape 95" id="95"/>
          <p:cNvSpPr/>
          <p:nvPr/>
        </p:nvSpPr>
        <p:spPr>
          <a:xfrm>
            <a:off x="203200" y="3134487"/>
            <a:ext cx="5041200" cy="2929223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96" id="96"/>
          <p:cNvCxnSpPr/>
          <p:nvPr/>
        </p:nvCxnSpPr>
        <p:spPr>
          <a:xfrm>
            <a:off x="203200" y="313448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7"/>
          <p:cNvSpPr txBox="true"/>
          <p:nvPr/>
        </p:nvSpPr>
        <p:spPr>
          <a:xfrm>
            <a:off x="381000" y="3286125"/>
            <a:ext cx="3176651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Render time at 1000 rows — ms (lower is faster)</a:t>
            </a:r>
            <a:endParaRPr lang="en-US" sz="1100"/>
          </a:p>
        </p:txBody>
      </p:sp>
      <p:cxnSp>
        <p:nvCxnSpPr>
          <p:cNvPr name="Connector 98" id="98"/>
          <p:cNvCxnSpPr/>
          <p:nvPr/>
        </p:nvCxnSpPr>
        <p:spPr>
          <a:xfrm flipV="false">
            <a:off x="849681" y="5584602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9"/>
          <p:cNvSpPr txBox="true"/>
          <p:nvPr/>
        </p:nvSpPr>
        <p:spPr>
          <a:xfrm>
            <a:off x="493979" y="5528186"/>
            <a:ext cx="3061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 ms</a:t>
            </a:r>
            <a:endParaRPr lang="en-US" sz="1100"/>
          </a:p>
        </p:txBody>
      </p:sp>
      <p:cxnSp>
        <p:nvCxnSpPr>
          <p:cNvPr name="Connector 100" id="100"/>
          <p:cNvCxnSpPr/>
          <p:nvPr/>
        </p:nvCxnSpPr>
        <p:spPr>
          <a:xfrm flipV="false">
            <a:off x="849681" y="5116774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1"/>
          <p:cNvSpPr txBox="true"/>
          <p:nvPr/>
        </p:nvSpPr>
        <p:spPr>
          <a:xfrm>
            <a:off x="437490" y="5060358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50.0 ms</a:t>
            </a:r>
            <a:endParaRPr lang="en-US" sz="1100"/>
          </a:p>
        </p:txBody>
      </p:sp>
      <p:cxnSp>
        <p:nvCxnSpPr>
          <p:cNvPr name="Connector 102" id="102"/>
          <p:cNvCxnSpPr/>
          <p:nvPr/>
        </p:nvCxnSpPr>
        <p:spPr>
          <a:xfrm flipV="false">
            <a:off x="849681" y="4648946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3"/>
          <p:cNvSpPr txBox="true"/>
          <p:nvPr/>
        </p:nvSpPr>
        <p:spPr>
          <a:xfrm>
            <a:off x="381000" y="4592530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100.0 ms</a:t>
            </a:r>
            <a:endParaRPr lang="en-US" sz="1100"/>
          </a:p>
        </p:txBody>
      </p:sp>
      <p:cxnSp>
        <p:nvCxnSpPr>
          <p:cNvPr name="Connector 104" id="104"/>
          <p:cNvCxnSpPr/>
          <p:nvPr/>
        </p:nvCxnSpPr>
        <p:spPr>
          <a:xfrm flipV="false">
            <a:off x="849681" y="4181118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5"/>
          <p:cNvSpPr txBox="true"/>
          <p:nvPr/>
        </p:nvSpPr>
        <p:spPr>
          <a:xfrm>
            <a:off x="381000" y="4124702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150.0 ms</a:t>
            </a:r>
            <a:endParaRPr lang="en-US" sz="1100"/>
          </a:p>
        </p:txBody>
      </p:sp>
      <p:cxnSp>
        <p:nvCxnSpPr>
          <p:cNvPr name="Connector 106" id="106"/>
          <p:cNvCxnSpPr/>
          <p:nvPr/>
        </p:nvCxnSpPr>
        <p:spPr>
          <a:xfrm flipV="false">
            <a:off x="849681" y="3713289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7"/>
          <p:cNvSpPr txBox="true"/>
          <p:nvPr/>
        </p:nvSpPr>
        <p:spPr>
          <a:xfrm>
            <a:off x="381000" y="3656874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200.0 ms</a:t>
            </a:r>
            <a:endParaRPr lang="en-US" sz="1100"/>
          </a:p>
        </p:txBody>
      </p:sp>
      <p:sp>
        <p:nvSpPr>
          <p:cNvPr name="AutoShape 108" id="108"/>
          <p:cNvSpPr/>
          <p:nvPr/>
        </p:nvSpPr>
        <p:spPr>
          <a:xfrm>
            <a:off x="1510894" y="5184515"/>
            <a:ext cx="870372" cy="400087"/>
          </a:xfrm>
          <a:prstGeom prst="roundRect">
            <a:avLst>
              <a:gd name="adj" fmla="val 6349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1485494" y="5052435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0"/>
          <p:cNvSpPr txBox="true"/>
          <p:nvPr/>
        </p:nvSpPr>
        <p:spPr>
          <a:xfrm>
            <a:off x="1765384" y="5046108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42.8 ms</a:t>
            </a:r>
            <a:endParaRPr lang="en-US" sz="1100"/>
          </a:p>
        </p:txBody>
      </p:sp>
      <p:sp>
        <p:nvSpPr>
          <p:cNvPr name="AutoShape 111" id="111"/>
          <p:cNvSpPr/>
          <p:nvPr/>
        </p:nvSpPr>
        <p:spPr>
          <a:xfrm>
            <a:off x="2522954" y="3815089"/>
            <a:ext cx="870372" cy="1769513"/>
          </a:xfrm>
          <a:prstGeom prst="roundRect">
            <a:avLst>
              <a:gd name="adj" fmla="val 2918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2497554" y="3683009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2749200" y="3676682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189.1 ms</a:t>
            </a:r>
            <a:endParaRPr lang="en-US" sz="1100"/>
          </a:p>
        </p:txBody>
      </p:sp>
      <p:sp>
        <p:nvSpPr>
          <p:cNvPr name="AutoShape 114" id="114"/>
          <p:cNvSpPr/>
          <p:nvPr/>
        </p:nvSpPr>
        <p:spPr>
          <a:xfrm>
            <a:off x="3535015" y="5175907"/>
            <a:ext cx="870372" cy="408695"/>
          </a:xfrm>
          <a:prstGeom prst="roundRect">
            <a:avLst>
              <a:gd name="adj" fmla="val 6215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15" id="115"/>
          <p:cNvSpPr/>
          <p:nvPr/>
        </p:nvSpPr>
        <p:spPr>
          <a:xfrm>
            <a:off x="3509615" y="5043827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6"/>
          <p:cNvSpPr txBox="true"/>
          <p:nvPr/>
        </p:nvSpPr>
        <p:spPr>
          <a:xfrm>
            <a:off x="3789505" y="5037500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43.7 ms</a:t>
            </a:r>
            <a:endParaRPr lang="en-US" sz="1100"/>
          </a:p>
        </p:txBody>
      </p:sp>
      <p:sp>
        <p:nvSpPr>
          <p:cNvPr name="GraphCompose Text Line" id="117"/>
          <p:cNvSpPr txBox="true"/>
          <p:nvPr/>
        </p:nvSpPr>
        <p:spPr>
          <a:xfrm>
            <a:off x="2599594" y="5616375"/>
            <a:ext cx="71836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1000-row report</a:t>
            </a:r>
            <a:endParaRPr lang="en-US" sz="1100"/>
          </a:p>
        </p:txBody>
      </p:sp>
      <p:sp>
        <p:nvSpPr>
          <p:cNvPr name="AutoShape 118" id="118"/>
          <p:cNvSpPr/>
          <p:nvPr/>
        </p:nvSpPr>
        <p:spPr>
          <a:xfrm>
            <a:off x="1351889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19"/>
          <p:cNvSpPr txBox="true"/>
          <p:nvPr/>
        </p:nvSpPr>
        <p:spPr>
          <a:xfrm>
            <a:off x="1516989" y="5733377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20" id="120"/>
          <p:cNvSpPr/>
          <p:nvPr/>
        </p:nvSpPr>
        <p:spPr>
          <a:xfrm>
            <a:off x="2501518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2666618" y="5733377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22" id="122"/>
          <p:cNvSpPr/>
          <p:nvPr/>
        </p:nvSpPr>
        <p:spPr>
          <a:xfrm>
            <a:off x="3187433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23"/>
          <p:cNvSpPr txBox="true"/>
          <p:nvPr/>
        </p:nvSpPr>
        <p:spPr>
          <a:xfrm>
            <a:off x="3352533" y="5733377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124" id="124"/>
          <p:cNvSpPr/>
          <p:nvPr/>
        </p:nvSpPr>
        <p:spPr>
          <a:xfrm>
            <a:off x="5447600" y="3134487"/>
            <a:ext cx="5041200" cy="2929223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25" id="125"/>
          <p:cNvCxnSpPr/>
          <p:nvPr/>
        </p:nvCxnSpPr>
        <p:spPr>
          <a:xfrm>
            <a:off x="5447600" y="313448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126"/>
          <p:cNvSpPr txBox="true"/>
          <p:nvPr/>
        </p:nvSpPr>
        <p:spPr>
          <a:xfrm>
            <a:off x="5625400" y="3286125"/>
            <a:ext cx="312230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Peak heap at 1000 rows — MB (lower is lighter)</a:t>
            </a:r>
            <a:endParaRPr lang="en-US" sz="1100"/>
          </a:p>
        </p:txBody>
      </p:sp>
      <p:cxnSp>
        <p:nvCxnSpPr>
          <p:cNvPr name="Connector 127" id="127"/>
          <p:cNvCxnSpPr/>
          <p:nvPr/>
        </p:nvCxnSpPr>
        <p:spPr>
          <a:xfrm flipV="false">
            <a:off x="6054558" y="5584602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8"/>
          <p:cNvSpPr txBox="true"/>
          <p:nvPr/>
        </p:nvSpPr>
        <p:spPr>
          <a:xfrm>
            <a:off x="5681890" y="5528186"/>
            <a:ext cx="3231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 MB</a:t>
            </a:r>
            <a:endParaRPr lang="en-US" sz="1100"/>
          </a:p>
        </p:txBody>
      </p:sp>
      <p:cxnSp>
        <p:nvCxnSpPr>
          <p:cNvPr name="Connector 129" id="129"/>
          <p:cNvCxnSpPr/>
          <p:nvPr/>
        </p:nvCxnSpPr>
        <p:spPr>
          <a:xfrm flipV="false">
            <a:off x="6054558" y="5116774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0"/>
          <p:cNvSpPr txBox="true"/>
          <p:nvPr/>
        </p:nvSpPr>
        <p:spPr>
          <a:xfrm>
            <a:off x="5625400" y="5060358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20.0 MB</a:t>
            </a:r>
            <a:endParaRPr lang="en-US" sz="1100"/>
          </a:p>
        </p:txBody>
      </p:sp>
      <p:cxnSp>
        <p:nvCxnSpPr>
          <p:cNvPr name="Connector 131" id="131"/>
          <p:cNvCxnSpPr/>
          <p:nvPr/>
        </p:nvCxnSpPr>
        <p:spPr>
          <a:xfrm flipV="false">
            <a:off x="6054558" y="4648946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2"/>
          <p:cNvSpPr txBox="true"/>
          <p:nvPr/>
        </p:nvSpPr>
        <p:spPr>
          <a:xfrm>
            <a:off x="5625400" y="4592530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40.0 MB</a:t>
            </a:r>
            <a:endParaRPr lang="en-US" sz="1100"/>
          </a:p>
        </p:txBody>
      </p:sp>
      <p:cxnSp>
        <p:nvCxnSpPr>
          <p:cNvPr name="Connector 133" id="133"/>
          <p:cNvCxnSpPr/>
          <p:nvPr/>
        </p:nvCxnSpPr>
        <p:spPr>
          <a:xfrm flipV="false">
            <a:off x="6054558" y="4181118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4"/>
          <p:cNvSpPr txBox="true"/>
          <p:nvPr/>
        </p:nvSpPr>
        <p:spPr>
          <a:xfrm>
            <a:off x="5625400" y="4124702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60.0 MB</a:t>
            </a:r>
            <a:endParaRPr lang="en-US" sz="1100"/>
          </a:p>
        </p:txBody>
      </p:sp>
      <p:cxnSp>
        <p:nvCxnSpPr>
          <p:cNvPr name="Connector 135" id="135"/>
          <p:cNvCxnSpPr/>
          <p:nvPr/>
        </p:nvCxnSpPr>
        <p:spPr>
          <a:xfrm flipV="false">
            <a:off x="6054558" y="3713289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6"/>
          <p:cNvSpPr txBox="true"/>
          <p:nvPr/>
        </p:nvSpPr>
        <p:spPr>
          <a:xfrm>
            <a:off x="5625400" y="3656874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80.0 MB</a:t>
            </a:r>
            <a:endParaRPr lang="en-US" sz="1100"/>
          </a:p>
        </p:txBody>
      </p:sp>
      <p:sp>
        <p:nvSpPr>
          <p:cNvPr name="AutoShape 137" id="137"/>
          <p:cNvSpPr/>
          <p:nvPr/>
        </p:nvSpPr>
        <p:spPr>
          <a:xfrm>
            <a:off x="6721968" y="5132914"/>
            <a:ext cx="878530" cy="451688"/>
          </a:xfrm>
          <a:prstGeom prst="roundRect">
            <a:avLst>
              <a:gd name="adj" fmla="val 562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38" id="138"/>
          <p:cNvSpPr/>
          <p:nvPr/>
        </p:nvSpPr>
        <p:spPr>
          <a:xfrm>
            <a:off x="6696568" y="5000834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39"/>
          <p:cNvSpPr txBox="true"/>
          <p:nvPr/>
        </p:nvSpPr>
        <p:spPr>
          <a:xfrm>
            <a:off x="6972054" y="4994507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19.3 MB</a:t>
            </a:r>
            <a:endParaRPr lang="en-US" sz="1100"/>
          </a:p>
        </p:txBody>
      </p:sp>
      <p:sp>
        <p:nvSpPr>
          <p:cNvPr name="AutoShape 140" id="140"/>
          <p:cNvSpPr/>
          <p:nvPr/>
        </p:nvSpPr>
        <p:spPr>
          <a:xfrm>
            <a:off x="7743514" y="4010594"/>
            <a:ext cx="878530" cy="1574008"/>
          </a:xfrm>
          <a:prstGeom prst="roundRect">
            <a:avLst>
              <a:gd name="adj" fmla="val 2891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41" id="141"/>
          <p:cNvSpPr/>
          <p:nvPr/>
        </p:nvSpPr>
        <p:spPr>
          <a:xfrm>
            <a:off x="7718114" y="3878514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42"/>
          <p:cNvSpPr txBox="true"/>
          <p:nvPr/>
        </p:nvSpPr>
        <p:spPr>
          <a:xfrm>
            <a:off x="7993600" y="3872187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67.3 MB</a:t>
            </a:r>
            <a:endParaRPr lang="en-US" sz="1100"/>
          </a:p>
        </p:txBody>
      </p:sp>
      <p:sp>
        <p:nvSpPr>
          <p:cNvPr name="AutoShape 143" id="143"/>
          <p:cNvSpPr/>
          <p:nvPr/>
        </p:nvSpPr>
        <p:spPr>
          <a:xfrm>
            <a:off x="8765060" y="4357255"/>
            <a:ext cx="878530" cy="1227347"/>
          </a:xfrm>
          <a:prstGeom prst="roundRect">
            <a:avLst>
              <a:gd name="adj" fmla="val 2891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8739660" y="4225175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45"/>
          <p:cNvSpPr txBox="true"/>
          <p:nvPr/>
        </p:nvSpPr>
        <p:spPr>
          <a:xfrm>
            <a:off x="9015146" y="4218848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52.5 MB</a:t>
            </a:r>
            <a:endParaRPr lang="en-US" sz="1100"/>
          </a:p>
        </p:txBody>
      </p:sp>
      <p:sp>
        <p:nvSpPr>
          <p:cNvPr name="GraphCompose Text Line" id="146"/>
          <p:cNvSpPr txBox="true"/>
          <p:nvPr/>
        </p:nvSpPr>
        <p:spPr>
          <a:xfrm>
            <a:off x="7824233" y="5616375"/>
            <a:ext cx="71836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1000-row report</a:t>
            </a:r>
            <a:endParaRPr lang="en-US" sz="1100"/>
          </a:p>
        </p:txBody>
      </p:sp>
      <p:sp>
        <p:nvSpPr>
          <p:cNvPr name="AutoShape 147" id="147"/>
          <p:cNvSpPr/>
          <p:nvPr/>
        </p:nvSpPr>
        <p:spPr>
          <a:xfrm>
            <a:off x="6596289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48"/>
          <p:cNvSpPr txBox="true"/>
          <p:nvPr/>
        </p:nvSpPr>
        <p:spPr>
          <a:xfrm>
            <a:off x="6761389" y="5733377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49" id="149"/>
          <p:cNvSpPr/>
          <p:nvPr/>
        </p:nvSpPr>
        <p:spPr>
          <a:xfrm>
            <a:off x="7745918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50"/>
          <p:cNvSpPr txBox="true"/>
          <p:nvPr/>
        </p:nvSpPr>
        <p:spPr>
          <a:xfrm>
            <a:off x="7911018" y="5733377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51" id="151"/>
          <p:cNvSpPr/>
          <p:nvPr/>
        </p:nvSpPr>
        <p:spPr>
          <a:xfrm>
            <a:off x="8431833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52"/>
          <p:cNvSpPr txBox="true"/>
          <p:nvPr/>
        </p:nvSpPr>
        <p:spPr>
          <a:xfrm>
            <a:off x="8596933" y="5733377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Text Line" id="153"/>
          <p:cNvSpPr txBox="true"/>
          <p:nvPr/>
        </p:nvSpPr>
        <p:spPr>
          <a:xfrm>
            <a:off x="203200" y="6324083"/>
            <a:ext cx="975334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Measured 2026-08-04 22:16:04 · 50 warmup / 100 measurement iterations, single machine — numbers vary by hardware and document. Reproduce: scripts/run-benchmarks.ps1 · see docs/operations/benchmarks.md.</a:t>
            </a:r>
            <a:endParaRPr lang="en-US" sz="1100"/>
          </a:p>
        </p:txBody>
      </p:sp>
      <p:sp>
        <p:nvSpPr>
          <p:cNvPr name="GraphCompose Footer" id="154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55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3 of 4</a:t>
            </a:r>
            <a:endParaRPr lang="en-US" sz="1100"/>
          </a:p>
        </p:txBody>
      </p:sp>
      <p:cxnSp>
        <p:nvCxnSpPr>
          <p:cNvPr name="GraphCompose Footer Separator" id="156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51562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SCALING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3024734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How GraphCompose scales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92850"/>
            <a:ext cx="10219507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As the report grows from 40 to 1000 rows, the time lead over iText widens; JasperReports closes to roughly the same render time at 1000 rows, yet GraphCompose stays markedly lighter on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24041"/>
            <a:ext cx="5130566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memory than both rivals throughout — every series below reads from the same benchmark file.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203200" y="1488249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7" id="7"/>
          <p:cNvCxnSpPr/>
          <p:nvPr/>
        </p:nvCxnSpPr>
        <p:spPr>
          <a:xfrm>
            <a:off x="203200" y="1488249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381000" y="1639887"/>
            <a:ext cx="220615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Render time vs. report size — ms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flipV="false">
            <a:off x="764946" y="3499090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"/>
          <p:cNvSpPr txBox="true"/>
          <p:nvPr/>
        </p:nvSpPr>
        <p:spPr>
          <a:xfrm>
            <a:off x="493979" y="3442674"/>
            <a:ext cx="22143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 ms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V="false">
            <a:off x="764946" y="3110283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"/>
          <p:cNvSpPr txBox="true"/>
          <p:nvPr/>
        </p:nvSpPr>
        <p:spPr>
          <a:xfrm>
            <a:off x="437490" y="3053867"/>
            <a:ext cx="27792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 ms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false">
            <a:off x="764946" y="2721476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381000" y="2665060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 ms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flipV="false">
            <a:off x="764946" y="2332669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381000" y="2276253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 ms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flipV="false">
            <a:off x="764946" y="1943862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8"/>
          <p:cNvSpPr txBox="true"/>
          <p:nvPr/>
        </p:nvSpPr>
        <p:spPr>
          <a:xfrm>
            <a:off x="381000" y="1887446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 ms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flipV="true">
            <a:off x="1481889" y="3414252"/>
            <a:ext cx="1433885" cy="53111"/>
          </a:xfrm>
          <a:prstGeom prst="line">
            <a:avLst/>
          </a:prstGeom>
          <a:ln w="25400" cap="flat">
            <a:solidFill>
              <a:srgbClr val="7C5CFC"/>
            </a:solidFill>
          </a:ln>
        </p:spPr>
      </p:cxnSp>
      <p:cxnSp>
        <p:nvCxnSpPr>
          <p:cNvPr name="Connector 20" id="20"/>
          <p:cNvCxnSpPr/>
          <p:nvPr/>
        </p:nvCxnSpPr>
        <p:spPr>
          <a:xfrm flipV="true">
            <a:off x="2915773" y="3166582"/>
            <a:ext cx="1433885" cy="247670"/>
          </a:xfrm>
          <a:prstGeom prst="line">
            <a:avLst/>
          </a:prstGeom>
          <a:ln w="25400" cap="flat">
            <a:solidFill>
              <a:srgbClr val="7C5CFC"/>
            </a:solidFill>
          </a:ln>
        </p:spPr>
      </p:cxnSp>
      <p:cxnSp>
        <p:nvCxnSpPr>
          <p:cNvPr name="Connector 21" id="21"/>
          <p:cNvCxnSpPr/>
          <p:nvPr/>
        </p:nvCxnSpPr>
        <p:spPr>
          <a:xfrm flipV="true">
            <a:off x="1481889" y="3214716"/>
            <a:ext cx="1433885" cy="206923"/>
          </a:xfrm>
          <a:prstGeom prst="line">
            <a:avLst/>
          </a:prstGeom>
          <a:ln w="25400" cap="flat">
            <a:solidFill>
              <a:srgbClr val="767E94"/>
            </a:solidFill>
          </a:ln>
        </p:spPr>
      </p:cxnSp>
      <p:cxnSp>
        <p:nvCxnSpPr>
          <p:cNvPr name="Connector 22" id="22"/>
          <p:cNvCxnSpPr/>
          <p:nvPr/>
        </p:nvCxnSpPr>
        <p:spPr>
          <a:xfrm flipV="true">
            <a:off x="2915773" y="2028466"/>
            <a:ext cx="1433885" cy="1186250"/>
          </a:xfrm>
          <a:prstGeom prst="line">
            <a:avLst/>
          </a:prstGeom>
          <a:ln w="25400" cap="flat">
            <a:solidFill>
              <a:srgbClr val="767E94"/>
            </a:solidFill>
          </a:ln>
        </p:spPr>
      </p:cxnSp>
      <p:cxnSp>
        <p:nvCxnSpPr>
          <p:cNvPr name="Connector 23" id="23"/>
          <p:cNvCxnSpPr/>
          <p:nvPr/>
        </p:nvCxnSpPr>
        <p:spPr>
          <a:xfrm flipV="true">
            <a:off x="1481889" y="3394423"/>
            <a:ext cx="1433885" cy="40436"/>
          </a:xfrm>
          <a:prstGeom prst="line">
            <a:avLst/>
          </a:prstGeom>
          <a:ln w="25400" cap="flat">
            <a:solidFill>
              <a:srgbClr val="E09E48"/>
            </a:solidFill>
          </a:ln>
        </p:spPr>
      </p:cxnSp>
      <p:cxnSp>
        <p:nvCxnSpPr>
          <p:cNvPr name="Connector 24" id="24"/>
          <p:cNvCxnSpPr/>
          <p:nvPr/>
        </p:nvCxnSpPr>
        <p:spPr>
          <a:xfrm flipV="true">
            <a:off x="2915773" y="3159428"/>
            <a:ext cx="1433885" cy="234995"/>
          </a:xfrm>
          <a:prstGeom prst="line">
            <a:avLst/>
          </a:prstGeom>
          <a:ln w="25400" cap="flat">
            <a:solidFill>
              <a:srgbClr val="E09E48"/>
            </a:solidFill>
          </a:ln>
        </p:spPr>
      </p:cxnSp>
      <p:sp>
        <p:nvSpPr>
          <p:cNvPr name="AutoShape 25" id="25"/>
          <p:cNvSpPr/>
          <p:nvPr/>
        </p:nvSpPr>
        <p:spPr>
          <a:xfrm>
            <a:off x="1450139" y="3435613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2884023" y="3382502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4317908" y="3134832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1450139" y="3389889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2884023" y="3182966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4317908" y="1996716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1450139" y="3403109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AutoShape 32" id="32"/>
          <p:cNvSpPr/>
          <p:nvPr/>
        </p:nvSpPr>
        <p:spPr>
          <a:xfrm>
            <a:off x="2884023" y="3362673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AutoShape 33" id="33"/>
          <p:cNvSpPr/>
          <p:nvPr/>
        </p:nvSpPr>
        <p:spPr>
          <a:xfrm>
            <a:off x="4317908" y="3127678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GraphCompose Text Line" id="34"/>
          <p:cNvSpPr txBox="true"/>
          <p:nvPr/>
        </p:nvSpPr>
        <p:spPr>
          <a:xfrm>
            <a:off x="1425399" y="3530863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2831039" y="3530863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4236679" y="3530863"/>
            <a:ext cx="2272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1351889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38"/>
          <p:cNvSpPr txBox="true"/>
          <p:nvPr/>
        </p:nvSpPr>
        <p:spPr>
          <a:xfrm>
            <a:off x="1516989" y="3647864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>
            <a:off x="2501518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40"/>
          <p:cNvSpPr txBox="true"/>
          <p:nvPr/>
        </p:nvSpPr>
        <p:spPr>
          <a:xfrm>
            <a:off x="2666618" y="3647864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187433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42"/>
          <p:cNvSpPr txBox="true"/>
          <p:nvPr/>
        </p:nvSpPr>
        <p:spPr>
          <a:xfrm>
            <a:off x="3352533" y="3647864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>
            <a:off x="5447600" y="1488249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4" id="44"/>
          <p:cNvCxnSpPr/>
          <p:nvPr/>
        </p:nvCxnSpPr>
        <p:spPr>
          <a:xfrm>
            <a:off x="5447600" y="1488249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45"/>
          <p:cNvSpPr txBox="true"/>
          <p:nvPr/>
        </p:nvSpPr>
        <p:spPr>
          <a:xfrm>
            <a:off x="5625400" y="1639887"/>
            <a:ext cx="210529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Peak heap vs. report size — MB</a:t>
            </a:r>
            <a:endParaRPr lang="en-US" sz="1100"/>
          </a:p>
        </p:txBody>
      </p:sp>
      <p:cxnSp>
        <p:nvCxnSpPr>
          <p:cNvPr name="Connector 46" id="46"/>
          <p:cNvCxnSpPr/>
          <p:nvPr/>
        </p:nvCxnSpPr>
        <p:spPr>
          <a:xfrm flipV="false">
            <a:off x="5969824" y="3499090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7"/>
          <p:cNvSpPr txBox="true"/>
          <p:nvPr/>
        </p:nvSpPr>
        <p:spPr>
          <a:xfrm>
            <a:off x="5681890" y="3442674"/>
            <a:ext cx="2384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 MB</a:t>
            </a:r>
            <a:endParaRPr lang="en-US" sz="1100"/>
          </a:p>
        </p:txBody>
      </p:sp>
      <p:cxnSp>
        <p:nvCxnSpPr>
          <p:cNvPr name="Connector 48" id="48"/>
          <p:cNvCxnSpPr/>
          <p:nvPr/>
        </p:nvCxnSpPr>
        <p:spPr>
          <a:xfrm flipV="false">
            <a:off x="5969824" y="3110283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9"/>
          <p:cNvSpPr txBox="true"/>
          <p:nvPr/>
        </p:nvSpPr>
        <p:spPr>
          <a:xfrm>
            <a:off x="5625400" y="3053867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 MB</a:t>
            </a:r>
            <a:endParaRPr lang="en-US" sz="1100"/>
          </a:p>
        </p:txBody>
      </p:sp>
      <p:cxnSp>
        <p:nvCxnSpPr>
          <p:cNvPr name="Connector 50" id="50"/>
          <p:cNvCxnSpPr/>
          <p:nvPr/>
        </p:nvCxnSpPr>
        <p:spPr>
          <a:xfrm flipV="false">
            <a:off x="5969824" y="2721476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1"/>
          <p:cNvSpPr txBox="true"/>
          <p:nvPr/>
        </p:nvSpPr>
        <p:spPr>
          <a:xfrm>
            <a:off x="5625400" y="2665060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 MB</a:t>
            </a:r>
            <a:endParaRPr lang="en-US" sz="1100"/>
          </a:p>
        </p:txBody>
      </p:sp>
      <p:cxnSp>
        <p:nvCxnSpPr>
          <p:cNvPr name="Connector 52" id="52"/>
          <p:cNvCxnSpPr/>
          <p:nvPr/>
        </p:nvCxnSpPr>
        <p:spPr>
          <a:xfrm flipV="false">
            <a:off x="5969824" y="2332669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3"/>
          <p:cNvSpPr txBox="true"/>
          <p:nvPr/>
        </p:nvSpPr>
        <p:spPr>
          <a:xfrm>
            <a:off x="5625400" y="2276253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 MB</a:t>
            </a:r>
            <a:endParaRPr lang="en-US" sz="1100"/>
          </a:p>
        </p:txBody>
      </p:sp>
      <p:cxnSp>
        <p:nvCxnSpPr>
          <p:cNvPr name="Connector 54" id="54"/>
          <p:cNvCxnSpPr/>
          <p:nvPr/>
        </p:nvCxnSpPr>
        <p:spPr>
          <a:xfrm flipV="false">
            <a:off x="5969824" y="1943862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5"/>
          <p:cNvSpPr txBox="true"/>
          <p:nvPr/>
        </p:nvSpPr>
        <p:spPr>
          <a:xfrm>
            <a:off x="5625400" y="1887446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 MB</a:t>
            </a:r>
            <a:endParaRPr lang="en-US" sz="1100"/>
          </a:p>
        </p:txBody>
      </p:sp>
      <p:sp>
        <p:nvSpPr>
          <p:cNvPr name="Freeform 56" id="56"/>
          <p:cNvSpPr/>
          <p:nvPr/>
        </p:nvSpPr>
        <p:spPr>
          <a:xfrm>
            <a:off x="6693353" y="3123696"/>
            <a:ext cx="2894117" cy="375393"/>
          </a:xfrm>
          <a:custGeom>
            <a:avLst/>
            <a:gdLst/>
            <a:ahLst/>
            <a:cxnLst/>
            <a:rect r="r" b="b" t="t" l="l"/>
            <a:pathLst>
              <a:path h="375393" w="2894117">
                <a:moveTo>
                  <a:pt x="0" y="355953"/>
                </a:moveTo>
                <a:cubicBezTo>
                  <a:pt x="241177" y="346395"/>
                  <a:pt x="964706" y="357930"/>
                  <a:pt x="1447059" y="298604"/>
                </a:cubicBezTo>
                <a:cubicBezTo>
                  <a:pt x="1929412" y="239279"/>
                  <a:pt x="2652941" y="49768"/>
                  <a:pt x="2894118" y="0"/>
                </a:cubicBezTo>
                <a:lnTo>
                  <a:pt x="2894118" y="375394"/>
                </a:lnTo>
                <a:lnTo>
                  <a:pt x="0" y="375394"/>
                </a:lnTo>
                <a:close/>
              </a:path>
            </a:pathLst>
          </a:custGeom>
          <a:solidFill>
            <a:srgbClr val="7C5CFC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7" id="57"/>
          <p:cNvSpPr/>
          <p:nvPr/>
        </p:nvSpPr>
        <p:spPr>
          <a:xfrm>
            <a:off x="6693353" y="2190949"/>
            <a:ext cx="2894117" cy="1308141"/>
          </a:xfrm>
          <a:custGeom>
            <a:avLst/>
            <a:gdLst/>
            <a:ahLst/>
            <a:cxnLst/>
            <a:rect r="r" b="b" t="t" l="l"/>
            <a:pathLst>
              <a:path h="1308141" w="2894117">
                <a:moveTo>
                  <a:pt x="0" y="1249625"/>
                </a:moveTo>
                <a:cubicBezTo>
                  <a:pt x="241177" y="1215183"/>
                  <a:pt x="964706" y="1251245"/>
                  <a:pt x="1447059" y="1042974"/>
                </a:cubicBezTo>
                <a:cubicBezTo>
                  <a:pt x="1929412" y="834703"/>
                  <a:pt x="2652941" y="173829"/>
                  <a:pt x="2894118" y="0"/>
                </a:cubicBezTo>
                <a:lnTo>
                  <a:pt x="2894118" y="1308141"/>
                </a:lnTo>
                <a:lnTo>
                  <a:pt x="0" y="1308141"/>
                </a:lnTo>
                <a:close/>
              </a:path>
            </a:pathLst>
          </a:custGeom>
          <a:solidFill>
            <a:srgbClr val="767E94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8" id="58"/>
          <p:cNvSpPr/>
          <p:nvPr/>
        </p:nvSpPr>
        <p:spPr>
          <a:xfrm>
            <a:off x="6693353" y="2479055"/>
            <a:ext cx="2894117" cy="1020035"/>
          </a:xfrm>
          <a:custGeom>
            <a:avLst/>
            <a:gdLst/>
            <a:ahLst/>
            <a:cxnLst/>
            <a:rect r="r" b="b" t="t" l="l"/>
            <a:pathLst>
              <a:path h="1020035" w="2894117">
                <a:moveTo>
                  <a:pt x="0" y="970850"/>
                </a:moveTo>
                <a:cubicBezTo>
                  <a:pt x="241177" y="944023"/>
                  <a:pt x="964706" y="971693"/>
                  <a:pt x="1447059" y="809884"/>
                </a:cubicBezTo>
                <a:cubicBezTo>
                  <a:pt x="1929412" y="648076"/>
                  <a:pt x="2652941" y="134980"/>
                  <a:pt x="2894118" y="0"/>
                </a:cubicBezTo>
                <a:lnTo>
                  <a:pt x="2894118" y="1020035"/>
                </a:lnTo>
                <a:lnTo>
                  <a:pt x="0" y="1020035"/>
                </a:lnTo>
                <a:close/>
              </a:path>
            </a:pathLst>
          </a:custGeom>
          <a:solidFill>
            <a:srgbClr val="E09E48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9" id="59"/>
          <p:cNvSpPr/>
          <p:nvPr/>
        </p:nvSpPr>
        <p:spPr>
          <a:xfrm>
            <a:off x="6693353" y="3123696"/>
            <a:ext cx="2894117" cy="355953"/>
          </a:xfrm>
          <a:custGeom>
            <a:avLst/>
            <a:gdLst/>
            <a:ahLst/>
            <a:cxnLst/>
            <a:rect r="r" b="b" t="t" l="l"/>
            <a:pathLst>
              <a:path h="355953" w="2894117">
                <a:moveTo>
                  <a:pt x="0" y="355953"/>
                </a:moveTo>
                <a:cubicBezTo>
                  <a:pt x="241177" y="346395"/>
                  <a:pt x="964706" y="357930"/>
                  <a:pt x="1447059" y="298604"/>
                </a:cubicBezTo>
                <a:cubicBezTo>
                  <a:pt x="1929412" y="239279"/>
                  <a:pt x="2652941" y="49768"/>
                  <a:pt x="2894118" y="0"/>
                </a:cubicBezTo>
              </a:path>
            </a:pathLst>
          </a:custGeom>
          <a:noFill/>
          <a:ln w="20320" cap="flat">
            <a:solidFill>
              <a:srgbClr val="7C5CFC"/>
            </a:solidFill>
            <a:miter/>
          </a:ln>
        </p:spPr>
      </p:sp>
      <p:sp>
        <p:nvSpPr>
          <p:cNvPr name="Freeform 60" id="60"/>
          <p:cNvSpPr/>
          <p:nvPr/>
        </p:nvSpPr>
        <p:spPr>
          <a:xfrm>
            <a:off x="6693353" y="2190949"/>
            <a:ext cx="2894117" cy="1249625"/>
          </a:xfrm>
          <a:custGeom>
            <a:avLst/>
            <a:gdLst/>
            <a:ahLst/>
            <a:cxnLst/>
            <a:rect r="r" b="b" t="t" l="l"/>
            <a:pathLst>
              <a:path h="1249625" w="2894117">
                <a:moveTo>
                  <a:pt x="0" y="1249625"/>
                </a:moveTo>
                <a:cubicBezTo>
                  <a:pt x="241177" y="1215183"/>
                  <a:pt x="964706" y="1251245"/>
                  <a:pt x="1447059" y="1042974"/>
                </a:cubicBezTo>
                <a:cubicBezTo>
                  <a:pt x="1929412" y="834703"/>
                  <a:pt x="2652941" y="173829"/>
                  <a:pt x="2894118" y="0"/>
                </a:cubicBezTo>
              </a:path>
            </a:pathLst>
          </a:custGeom>
          <a:noFill/>
          <a:ln w="20320" cap="flat">
            <a:solidFill>
              <a:srgbClr val="767E94"/>
            </a:solidFill>
            <a:miter/>
          </a:ln>
        </p:spPr>
      </p:sp>
      <p:sp>
        <p:nvSpPr>
          <p:cNvPr name="Freeform 61" id="61"/>
          <p:cNvSpPr/>
          <p:nvPr/>
        </p:nvSpPr>
        <p:spPr>
          <a:xfrm>
            <a:off x="6693353" y="2479055"/>
            <a:ext cx="2894117" cy="970851"/>
          </a:xfrm>
          <a:custGeom>
            <a:avLst/>
            <a:gdLst/>
            <a:ahLst/>
            <a:cxnLst/>
            <a:rect r="r" b="b" t="t" l="l"/>
            <a:pathLst>
              <a:path h="970851" w="2894117">
                <a:moveTo>
                  <a:pt x="0" y="970850"/>
                </a:moveTo>
                <a:cubicBezTo>
                  <a:pt x="241177" y="944023"/>
                  <a:pt x="964706" y="971693"/>
                  <a:pt x="1447059" y="809884"/>
                </a:cubicBezTo>
                <a:cubicBezTo>
                  <a:pt x="1929412" y="648076"/>
                  <a:pt x="2652941" y="134980"/>
                  <a:pt x="2894118" y="0"/>
                </a:cubicBezTo>
              </a:path>
            </a:pathLst>
          </a:custGeom>
          <a:noFill/>
          <a:ln w="20320" cap="flat">
            <a:solidFill>
              <a:srgbClr val="E09E48"/>
            </a:solidFill>
            <a:miter/>
          </a:ln>
        </p:spPr>
      </p:sp>
      <p:sp>
        <p:nvSpPr>
          <p:cNvPr name="GraphCompose Text Line" id="62"/>
          <p:cNvSpPr txBox="true"/>
          <p:nvPr/>
        </p:nvSpPr>
        <p:spPr>
          <a:xfrm>
            <a:off x="6636864" y="3530863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</a:t>
            </a:r>
            <a:endParaRPr lang="en-US" sz="1100"/>
          </a:p>
        </p:txBody>
      </p:sp>
      <p:sp>
        <p:nvSpPr>
          <p:cNvPr name="GraphCompose Text Line" id="63"/>
          <p:cNvSpPr txBox="true"/>
          <p:nvPr/>
        </p:nvSpPr>
        <p:spPr>
          <a:xfrm>
            <a:off x="8055678" y="3530863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sp>
        <p:nvSpPr>
          <p:cNvPr name="GraphCompose Text Line" id="64"/>
          <p:cNvSpPr txBox="true"/>
          <p:nvPr/>
        </p:nvSpPr>
        <p:spPr>
          <a:xfrm>
            <a:off x="9474492" y="3530863"/>
            <a:ext cx="2272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</a:t>
            </a:r>
            <a:endParaRPr lang="en-US" sz="1100"/>
          </a:p>
        </p:txBody>
      </p:sp>
      <p:sp>
        <p:nvSpPr>
          <p:cNvPr name="AutoShape 65" id="65"/>
          <p:cNvSpPr/>
          <p:nvPr/>
        </p:nvSpPr>
        <p:spPr>
          <a:xfrm>
            <a:off x="6596289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66"/>
          <p:cNvSpPr txBox="true"/>
          <p:nvPr/>
        </p:nvSpPr>
        <p:spPr>
          <a:xfrm>
            <a:off x="6761389" y="3647864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>
            <a:off x="7745918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68"/>
          <p:cNvSpPr txBox="true"/>
          <p:nvPr/>
        </p:nvSpPr>
        <p:spPr>
          <a:xfrm>
            <a:off x="7911018" y="3647864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69" id="69"/>
          <p:cNvSpPr/>
          <p:nvPr/>
        </p:nvSpPr>
        <p:spPr>
          <a:xfrm>
            <a:off x="8431833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70"/>
          <p:cNvSpPr txBox="true"/>
          <p:nvPr/>
        </p:nvSpPr>
        <p:spPr>
          <a:xfrm>
            <a:off x="8596933" y="3647864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71" id="71"/>
          <p:cNvSpPr/>
          <p:nvPr/>
        </p:nvSpPr>
        <p:spPr>
          <a:xfrm>
            <a:off x="203200" y="4181397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72" id="72"/>
          <p:cNvCxnSpPr/>
          <p:nvPr/>
        </p:nvCxnSpPr>
        <p:spPr>
          <a:xfrm>
            <a:off x="203200" y="418139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73"/>
          <p:cNvSpPr txBox="true"/>
          <p:nvPr/>
        </p:nvSpPr>
        <p:spPr>
          <a:xfrm>
            <a:off x="381000" y="4333035"/>
            <a:ext cx="250888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Memory at 1000 rows — share of total</a:t>
            </a:r>
            <a:endParaRPr lang="en-US" sz="1100"/>
          </a:p>
        </p:txBody>
      </p:sp>
      <p:sp>
        <p:nvSpPr>
          <p:cNvPr name="Freeform 74" id="74"/>
          <p:cNvSpPr/>
          <p:nvPr/>
        </p:nvSpPr>
        <p:spPr>
          <a:xfrm>
            <a:off x="2731305" y="4722212"/>
            <a:ext cx="551935" cy="459108"/>
          </a:xfrm>
          <a:custGeom>
            <a:avLst/>
            <a:gdLst/>
            <a:ahLst/>
            <a:cxnLst/>
            <a:rect r="r" b="b" t="t" l="l"/>
            <a:pathLst>
              <a:path h="459108" w="551935">
                <a:moveTo>
                  <a:pt x="5435" y="0"/>
                </a:moveTo>
                <a:lnTo>
                  <a:pt x="44203" y="1693"/>
                </a:lnTo>
                <a:lnTo>
                  <a:pt x="82829" y="5411"/>
                </a:lnTo>
                <a:lnTo>
                  <a:pt x="121208" y="11146"/>
                </a:lnTo>
                <a:lnTo>
                  <a:pt x="159235" y="18880"/>
                </a:lnTo>
                <a:lnTo>
                  <a:pt x="196805" y="28594"/>
                </a:lnTo>
                <a:lnTo>
                  <a:pt x="233815" y="40259"/>
                </a:lnTo>
                <a:lnTo>
                  <a:pt x="270164" y="53846"/>
                </a:lnTo>
                <a:lnTo>
                  <a:pt x="305752" y="69315"/>
                </a:lnTo>
                <a:lnTo>
                  <a:pt x="340482" y="86626"/>
                </a:lnTo>
                <a:lnTo>
                  <a:pt x="374259" y="105729"/>
                </a:lnTo>
                <a:lnTo>
                  <a:pt x="406990" y="126574"/>
                </a:lnTo>
                <a:lnTo>
                  <a:pt x="438586" y="149103"/>
                </a:lnTo>
                <a:lnTo>
                  <a:pt x="468960" y="173254"/>
                </a:lnTo>
                <a:lnTo>
                  <a:pt x="498028" y="198961"/>
                </a:lnTo>
                <a:lnTo>
                  <a:pt x="525712" y="226154"/>
                </a:lnTo>
                <a:lnTo>
                  <a:pt x="551935" y="254758"/>
                </a:lnTo>
                <a:lnTo>
                  <a:pt x="316970" y="459109"/>
                </a:lnTo>
                <a:lnTo>
                  <a:pt x="301761" y="442518"/>
                </a:lnTo>
                <a:lnTo>
                  <a:pt x="285704" y="426746"/>
                </a:lnTo>
                <a:lnTo>
                  <a:pt x="268845" y="411836"/>
                </a:lnTo>
                <a:lnTo>
                  <a:pt x="251228" y="397828"/>
                </a:lnTo>
                <a:lnTo>
                  <a:pt x="232902" y="384762"/>
                </a:lnTo>
                <a:lnTo>
                  <a:pt x="213918" y="372672"/>
                </a:lnTo>
                <a:lnTo>
                  <a:pt x="194328" y="361592"/>
                </a:lnTo>
                <a:lnTo>
                  <a:pt x="174184" y="351552"/>
                </a:lnTo>
                <a:lnTo>
                  <a:pt x="153543" y="342579"/>
                </a:lnTo>
                <a:lnTo>
                  <a:pt x="132460" y="334699"/>
                </a:lnTo>
                <a:lnTo>
                  <a:pt x="110995" y="327933"/>
                </a:lnTo>
                <a:lnTo>
                  <a:pt x="89204" y="322299"/>
                </a:lnTo>
                <a:lnTo>
                  <a:pt x="67149" y="317813"/>
                </a:lnTo>
                <a:lnTo>
                  <a:pt x="44889" y="314487"/>
                </a:lnTo>
                <a:lnTo>
                  <a:pt x="22486" y="312330"/>
                </a:lnTo>
                <a:lnTo>
                  <a:pt x="0" y="311349"/>
                </a:lnTo>
                <a:close/>
              </a:path>
            </a:pathLst>
          </a:custGeom>
          <a:solidFill>
            <a:srgbClr val="7C5CFC"/>
          </a:solidFill>
          <a:ln w="12700">
            <a:solidFill>
              <a:srgbClr val="FFFFFF"/>
            </a:solidFill>
          </a:ln>
        </p:spPr>
      </p:sp>
      <p:sp>
        <p:nvSpPr>
          <p:cNvPr name="Freeform 75" id="75"/>
          <p:cNvSpPr/>
          <p:nvPr/>
        </p:nvSpPr>
        <p:spPr>
          <a:xfrm>
            <a:off x="2216501" y="4996791"/>
            <a:ext cx="1248698" cy="1207938"/>
          </a:xfrm>
          <a:custGeom>
            <a:avLst/>
            <a:gdLst/>
            <a:ahLst/>
            <a:cxnLst/>
            <a:rect r="r" b="b" t="t" l="l"/>
            <a:pathLst>
              <a:path h="1207938" w="1248698">
                <a:moveTo>
                  <a:pt x="1083378" y="0"/>
                </a:moveTo>
                <a:lnTo>
                  <a:pt x="1106778" y="30462"/>
                </a:lnTo>
                <a:lnTo>
                  <a:pt x="1128568" y="62096"/>
                </a:lnTo>
                <a:lnTo>
                  <a:pt x="1148691" y="94815"/>
                </a:lnTo>
                <a:lnTo>
                  <a:pt x="1167092" y="128533"/>
                </a:lnTo>
                <a:lnTo>
                  <a:pt x="1183722" y="163159"/>
                </a:lnTo>
                <a:lnTo>
                  <a:pt x="1198536" y="198599"/>
                </a:lnTo>
                <a:lnTo>
                  <a:pt x="1211496" y="234759"/>
                </a:lnTo>
                <a:lnTo>
                  <a:pt x="1222564" y="271542"/>
                </a:lnTo>
                <a:lnTo>
                  <a:pt x="1231713" y="308849"/>
                </a:lnTo>
                <a:lnTo>
                  <a:pt x="1238918" y="346579"/>
                </a:lnTo>
                <a:lnTo>
                  <a:pt x="1244159" y="384632"/>
                </a:lnTo>
                <a:lnTo>
                  <a:pt x="1247422" y="422906"/>
                </a:lnTo>
                <a:lnTo>
                  <a:pt x="1248698" y="461297"/>
                </a:lnTo>
                <a:lnTo>
                  <a:pt x="1247984" y="499702"/>
                </a:lnTo>
                <a:lnTo>
                  <a:pt x="1245282" y="538019"/>
                </a:lnTo>
                <a:lnTo>
                  <a:pt x="1240599" y="576145"/>
                </a:lnTo>
                <a:lnTo>
                  <a:pt x="1233948" y="613977"/>
                </a:lnTo>
                <a:lnTo>
                  <a:pt x="1225347" y="651413"/>
                </a:lnTo>
                <a:lnTo>
                  <a:pt x="1214818" y="688354"/>
                </a:lnTo>
                <a:lnTo>
                  <a:pt x="1202390" y="724700"/>
                </a:lnTo>
                <a:lnTo>
                  <a:pt x="1188096" y="760354"/>
                </a:lnTo>
                <a:lnTo>
                  <a:pt x="1171975" y="795220"/>
                </a:lnTo>
                <a:lnTo>
                  <a:pt x="1154070" y="829203"/>
                </a:lnTo>
                <a:lnTo>
                  <a:pt x="1134429" y="862214"/>
                </a:lnTo>
                <a:lnTo>
                  <a:pt x="1113104" y="894164"/>
                </a:lnTo>
                <a:lnTo>
                  <a:pt x="1090154" y="924965"/>
                </a:lnTo>
                <a:lnTo>
                  <a:pt x="1065639" y="954537"/>
                </a:lnTo>
                <a:lnTo>
                  <a:pt x="1039625" y="982800"/>
                </a:lnTo>
                <a:lnTo>
                  <a:pt x="1012182" y="1009677"/>
                </a:lnTo>
                <a:lnTo>
                  <a:pt x="983384" y="1035097"/>
                </a:lnTo>
                <a:lnTo>
                  <a:pt x="953308" y="1058992"/>
                </a:lnTo>
                <a:lnTo>
                  <a:pt x="922036" y="1081297"/>
                </a:lnTo>
                <a:lnTo>
                  <a:pt x="889649" y="1101952"/>
                </a:lnTo>
                <a:lnTo>
                  <a:pt x="856237" y="1120902"/>
                </a:lnTo>
                <a:lnTo>
                  <a:pt x="821888" y="1138096"/>
                </a:lnTo>
                <a:lnTo>
                  <a:pt x="786694" y="1153488"/>
                </a:lnTo>
                <a:lnTo>
                  <a:pt x="750751" y="1167036"/>
                </a:lnTo>
                <a:lnTo>
                  <a:pt x="714154" y="1178705"/>
                </a:lnTo>
                <a:lnTo>
                  <a:pt x="677002" y="1188463"/>
                </a:lnTo>
                <a:lnTo>
                  <a:pt x="639395" y="1196284"/>
                </a:lnTo>
                <a:lnTo>
                  <a:pt x="601432" y="1202146"/>
                </a:lnTo>
                <a:lnTo>
                  <a:pt x="563218" y="1206034"/>
                </a:lnTo>
                <a:lnTo>
                  <a:pt x="524853" y="1207938"/>
                </a:lnTo>
                <a:lnTo>
                  <a:pt x="486441" y="1207853"/>
                </a:lnTo>
                <a:lnTo>
                  <a:pt x="448084" y="1205778"/>
                </a:lnTo>
                <a:lnTo>
                  <a:pt x="409887" y="1201719"/>
                </a:lnTo>
                <a:lnTo>
                  <a:pt x="371952" y="1195687"/>
                </a:lnTo>
                <a:lnTo>
                  <a:pt x="334379" y="1187699"/>
                </a:lnTo>
                <a:lnTo>
                  <a:pt x="297271" y="1177776"/>
                </a:lnTo>
                <a:lnTo>
                  <a:pt x="260727" y="1165944"/>
                </a:lnTo>
                <a:lnTo>
                  <a:pt x="224844" y="1152235"/>
                </a:lnTo>
                <a:lnTo>
                  <a:pt x="189720" y="1136686"/>
                </a:lnTo>
                <a:lnTo>
                  <a:pt x="155448" y="1119339"/>
                </a:lnTo>
                <a:lnTo>
                  <a:pt x="122120" y="1100240"/>
                </a:lnTo>
                <a:lnTo>
                  <a:pt x="89826" y="1079441"/>
                </a:lnTo>
                <a:lnTo>
                  <a:pt x="58653" y="1056997"/>
                </a:lnTo>
                <a:lnTo>
                  <a:pt x="28684" y="1032969"/>
                </a:lnTo>
                <a:lnTo>
                  <a:pt x="0" y="1007421"/>
                </a:lnTo>
                <a:lnTo>
                  <a:pt x="213066" y="780330"/>
                </a:lnTo>
                <a:lnTo>
                  <a:pt x="229702" y="795147"/>
                </a:lnTo>
                <a:lnTo>
                  <a:pt x="247084" y="809084"/>
                </a:lnTo>
                <a:lnTo>
                  <a:pt x="265165" y="822101"/>
                </a:lnTo>
                <a:lnTo>
                  <a:pt x="283895" y="834165"/>
                </a:lnTo>
                <a:lnTo>
                  <a:pt x="303225" y="845242"/>
                </a:lnTo>
                <a:lnTo>
                  <a:pt x="323103" y="855303"/>
                </a:lnTo>
                <a:lnTo>
                  <a:pt x="343475" y="864322"/>
                </a:lnTo>
                <a:lnTo>
                  <a:pt x="364287" y="872273"/>
                </a:lnTo>
                <a:lnTo>
                  <a:pt x="385483" y="879135"/>
                </a:lnTo>
                <a:lnTo>
                  <a:pt x="407006" y="884891"/>
                </a:lnTo>
                <a:lnTo>
                  <a:pt x="428798" y="889524"/>
                </a:lnTo>
                <a:lnTo>
                  <a:pt x="450800" y="893022"/>
                </a:lnTo>
                <a:lnTo>
                  <a:pt x="472955" y="895376"/>
                </a:lnTo>
                <a:lnTo>
                  <a:pt x="495201" y="896580"/>
                </a:lnTo>
                <a:lnTo>
                  <a:pt x="517480" y="896630"/>
                </a:lnTo>
                <a:lnTo>
                  <a:pt x="539732" y="895525"/>
                </a:lnTo>
                <a:lnTo>
                  <a:pt x="561896" y="893270"/>
                </a:lnTo>
                <a:lnTo>
                  <a:pt x="583914" y="889870"/>
                </a:lnTo>
                <a:lnTo>
                  <a:pt x="605727" y="885334"/>
                </a:lnTo>
                <a:lnTo>
                  <a:pt x="627275" y="879675"/>
                </a:lnTo>
                <a:lnTo>
                  <a:pt x="648501" y="872907"/>
                </a:lnTo>
                <a:lnTo>
                  <a:pt x="669348" y="865048"/>
                </a:lnTo>
                <a:lnTo>
                  <a:pt x="689761" y="856121"/>
                </a:lnTo>
                <a:lnTo>
                  <a:pt x="709683" y="846148"/>
                </a:lnTo>
                <a:lnTo>
                  <a:pt x="729062" y="835157"/>
                </a:lnTo>
                <a:lnTo>
                  <a:pt x="747846" y="823177"/>
                </a:lnTo>
                <a:lnTo>
                  <a:pt x="765984" y="810241"/>
                </a:lnTo>
                <a:lnTo>
                  <a:pt x="783428" y="796382"/>
                </a:lnTo>
                <a:lnTo>
                  <a:pt x="800131" y="781638"/>
                </a:lnTo>
                <a:lnTo>
                  <a:pt x="816048" y="766049"/>
                </a:lnTo>
                <a:lnTo>
                  <a:pt x="831136" y="749657"/>
                </a:lnTo>
                <a:lnTo>
                  <a:pt x="845355" y="732505"/>
                </a:lnTo>
                <a:lnTo>
                  <a:pt x="858666" y="714640"/>
                </a:lnTo>
                <a:lnTo>
                  <a:pt x="871034" y="696110"/>
                </a:lnTo>
                <a:lnTo>
                  <a:pt x="882426" y="676963"/>
                </a:lnTo>
                <a:lnTo>
                  <a:pt x="892811" y="657253"/>
                </a:lnTo>
                <a:lnTo>
                  <a:pt x="902161" y="637031"/>
                </a:lnTo>
                <a:lnTo>
                  <a:pt x="910452" y="616352"/>
                </a:lnTo>
                <a:lnTo>
                  <a:pt x="917660" y="595271"/>
                </a:lnTo>
                <a:lnTo>
                  <a:pt x="923767" y="573845"/>
                </a:lnTo>
                <a:lnTo>
                  <a:pt x="928756" y="552132"/>
                </a:lnTo>
                <a:lnTo>
                  <a:pt x="932613" y="530189"/>
                </a:lnTo>
                <a:lnTo>
                  <a:pt x="935329" y="508077"/>
                </a:lnTo>
                <a:lnTo>
                  <a:pt x="936896" y="485853"/>
                </a:lnTo>
                <a:lnTo>
                  <a:pt x="937310" y="463577"/>
                </a:lnTo>
                <a:lnTo>
                  <a:pt x="936570" y="441311"/>
                </a:lnTo>
                <a:lnTo>
                  <a:pt x="934678" y="419112"/>
                </a:lnTo>
                <a:lnTo>
                  <a:pt x="931638" y="397041"/>
                </a:lnTo>
                <a:lnTo>
                  <a:pt x="927459" y="375158"/>
                </a:lnTo>
                <a:lnTo>
                  <a:pt x="922153" y="353520"/>
                </a:lnTo>
                <a:lnTo>
                  <a:pt x="915733" y="332186"/>
                </a:lnTo>
                <a:lnTo>
                  <a:pt x="908217" y="311213"/>
                </a:lnTo>
                <a:lnTo>
                  <a:pt x="899624" y="290658"/>
                </a:lnTo>
                <a:lnTo>
                  <a:pt x="889979" y="270575"/>
                </a:lnTo>
                <a:lnTo>
                  <a:pt x="879306" y="251018"/>
                </a:lnTo>
                <a:lnTo>
                  <a:pt x="867635" y="232041"/>
                </a:lnTo>
                <a:lnTo>
                  <a:pt x="854997" y="213694"/>
                </a:lnTo>
                <a:lnTo>
                  <a:pt x="841425" y="196025"/>
                </a:lnTo>
                <a:close/>
              </a:path>
            </a:pathLst>
          </a:custGeom>
          <a:solidFill>
            <a:srgbClr val="767E94"/>
          </a:solidFill>
          <a:ln w="12700">
            <a:solidFill>
              <a:srgbClr val="FFFFFF"/>
            </a:solidFill>
          </a:ln>
        </p:spPr>
      </p:sp>
      <p:sp>
        <p:nvSpPr>
          <p:cNvPr name="Freeform 76" id="76"/>
          <p:cNvSpPr/>
          <p:nvPr/>
        </p:nvSpPr>
        <p:spPr>
          <a:xfrm>
            <a:off x="1982387" y="4722212"/>
            <a:ext cx="733909" cy="1263965"/>
          </a:xfrm>
          <a:custGeom>
            <a:avLst/>
            <a:gdLst/>
            <a:ahLst/>
            <a:cxnLst/>
            <a:rect r="r" b="b" t="t" l="l"/>
            <a:pathLst>
              <a:path h="1263965" w="733909">
                <a:moveTo>
                  <a:pt x="215553" y="1263966"/>
                </a:moveTo>
                <a:lnTo>
                  <a:pt x="189145" y="1235980"/>
                </a:lnTo>
                <a:lnTo>
                  <a:pt x="164225" y="1206662"/>
                </a:lnTo>
                <a:lnTo>
                  <a:pt x="140859" y="1176090"/>
                </a:lnTo>
                <a:lnTo>
                  <a:pt x="119111" y="1144347"/>
                </a:lnTo>
                <a:lnTo>
                  <a:pt x="99039" y="1111519"/>
                </a:lnTo>
                <a:lnTo>
                  <a:pt x="80697" y="1077693"/>
                </a:lnTo>
                <a:lnTo>
                  <a:pt x="64135" y="1042962"/>
                </a:lnTo>
                <a:lnTo>
                  <a:pt x="49397" y="1007418"/>
                </a:lnTo>
                <a:lnTo>
                  <a:pt x="36523" y="971157"/>
                </a:lnTo>
                <a:lnTo>
                  <a:pt x="25547" y="934277"/>
                </a:lnTo>
                <a:lnTo>
                  <a:pt x="16500" y="896877"/>
                </a:lnTo>
                <a:lnTo>
                  <a:pt x="9405" y="859059"/>
                </a:lnTo>
                <a:lnTo>
                  <a:pt x="4281" y="820923"/>
                </a:lnTo>
                <a:lnTo>
                  <a:pt x="1144" y="782572"/>
                </a:lnTo>
                <a:lnTo>
                  <a:pt x="0" y="744111"/>
                </a:lnTo>
                <a:lnTo>
                  <a:pt x="853" y="705642"/>
                </a:lnTo>
                <a:lnTo>
                  <a:pt x="3700" y="667269"/>
                </a:lnTo>
                <a:lnTo>
                  <a:pt x="8535" y="629096"/>
                </a:lnTo>
                <a:lnTo>
                  <a:pt x="15343" y="591224"/>
                </a:lnTo>
                <a:lnTo>
                  <a:pt x="24108" y="553757"/>
                </a:lnTo>
                <a:lnTo>
                  <a:pt x="34804" y="516795"/>
                </a:lnTo>
                <a:lnTo>
                  <a:pt x="47403" y="480438"/>
                </a:lnTo>
                <a:lnTo>
                  <a:pt x="61872" y="444784"/>
                </a:lnTo>
                <a:lnTo>
                  <a:pt x="78171" y="409928"/>
                </a:lnTo>
                <a:lnTo>
                  <a:pt x="96256" y="375965"/>
                </a:lnTo>
                <a:lnTo>
                  <a:pt x="116079" y="342985"/>
                </a:lnTo>
                <a:lnTo>
                  <a:pt x="137587" y="311079"/>
                </a:lnTo>
                <a:lnTo>
                  <a:pt x="160721" y="280331"/>
                </a:lnTo>
                <a:lnTo>
                  <a:pt x="185418" y="250825"/>
                </a:lnTo>
                <a:lnTo>
                  <a:pt x="211614" y="222640"/>
                </a:lnTo>
                <a:lnTo>
                  <a:pt x="239236" y="195852"/>
                </a:lnTo>
                <a:lnTo>
                  <a:pt x="268211" y="170533"/>
                </a:lnTo>
                <a:lnTo>
                  <a:pt x="298461" y="146752"/>
                </a:lnTo>
                <a:lnTo>
                  <a:pt x="329903" y="124572"/>
                </a:lnTo>
                <a:lnTo>
                  <a:pt x="362454" y="104053"/>
                </a:lnTo>
                <a:lnTo>
                  <a:pt x="396026" y="85250"/>
                </a:lnTo>
                <a:lnTo>
                  <a:pt x="430528" y="68215"/>
                </a:lnTo>
                <a:lnTo>
                  <a:pt x="465867" y="52992"/>
                </a:lnTo>
                <a:lnTo>
                  <a:pt x="501948" y="39624"/>
                </a:lnTo>
                <a:lnTo>
                  <a:pt x="538675" y="28145"/>
                </a:lnTo>
                <a:lnTo>
                  <a:pt x="575947" y="18587"/>
                </a:lnTo>
                <a:lnTo>
                  <a:pt x="613665" y="10976"/>
                </a:lnTo>
                <a:lnTo>
                  <a:pt x="651727" y="5332"/>
                </a:lnTo>
                <a:lnTo>
                  <a:pt x="690031" y="1670"/>
                </a:lnTo>
                <a:lnTo>
                  <a:pt x="728473" y="0"/>
                </a:lnTo>
                <a:lnTo>
                  <a:pt x="733908" y="311349"/>
                </a:lnTo>
                <a:lnTo>
                  <a:pt x="711612" y="312317"/>
                </a:lnTo>
                <a:lnTo>
                  <a:pt x="689395" y="314441"/>
                </a:lnTo>
                <a:lnTo>
                  <a:pt x="667319" y="317715"/>
                </a:lnTo>
                <a:lnTo>
                  <a:pt x="645443" y="322129"/>
                </a:lnTo>
                <a:lnTo>
                  <a:pt x="623825" y="327673"/>
                </a:lnTo>
                <a:lnTo>
                  <a:pt x="602523" y="334330"/>
                </a:lnTo>
                <a:lnTo>
                  <a:pt x="581596" y="342084"/>
                </a:lnTo>
                <a:lnTo>
                  <a:pt x="561099" y="350913"/>
                </a:lnTo>
                <a:lnTo>
                  <a:pt x="541088" y="360794"/>
                </a:lnTo>
                <a:lnTo>
                  <a:pt x="521617" y="371699"/>
                </a:lnTo>
                <a:lnTo>
                  <a:pt x="502737" y="383600"/>
                </a:lnTo>
                <a:lnTo>
                  <a:pt x="484501" y="396465"/>
                </a:lnTo>
                <a:lnTo>
                  <a:pt x="466956" y="410258"/>
                </a:lnTo>
                <a:lnTo>
                  <a:pt x="450150" y="424943"/>
                </a:lnTo>
                <a:lnTo>
                  <a:pt x="434129" y="440480"/>
                </a:lnTo>
                <a:lnTo>
                  <a:pt x="418936" y="456827"/>
                </a:lnTo>
                <a:lnTo>
                  <a:pt x="404611" y="473941"/>
                </a:lnTo>
                <a:lnTo>
                  <a:pt x="391194" y="491774"/>
                </a:lnTo>
                <a:lnTo>
                  <a:pt x="378720" y="510280"/>
                </a:lnTo>
                <a:lnTo>
                  <a:pt x="367222" y="529408"/>
                </a:lnTo>
                <a:lnTo>
                  <a:pt x="356733" y="549107"/>
                </a:lnTo>
                <a:lnTo>
                  <a:pt x="347279" y="569323"/>
                </a:lnTo>
                <a:lnTo>
                  <a:pt x="338887" y="590003"/>
                </a:lnTo>
                <a:lnTo>
                  <a:pt x="331580" y="611090"/>
                </a:lnTo>
                <a:lnTo>
                  <a:pt x="325376" y="632528"/>
                </a:lnTo>
                <a:lnTo>
                  <a:pt x="320293" y="654259"/>
                </a:lnTo>
                <a:lnTo>
                  <a:pt x="316344" y="676224"/>
                </a:lnTo>
                <a:lnTo>
                  <a:pt x="313540" y="698365"/>
                </a:lnTo>
                <a:lnTo>
                  <a:pt x="311888" y="720621"/>
                </a:lnTo>
                <a:lnTo>
                  <a:pt x="311393" y="742933"/>
                </a:lnTo>
                <a:lnTo>
                  <a:pt x="312057" y="765241"/>
                </a:lnTo>
                <a:lnTo>
                  <a:pt x="313877" y="787484"/>
                </a:lnTo>
                <a:lnTo>
                  <a:pt x="316848" y="809603"/>
                </a:lnTo>
                <a:lnTo>
                  <a:pt x="320963" y="831537"/>
                </a:lnTo>
                <a:lnTo>
                  <a:pt x="326211" y="853229"/>
                </a:lnTo>
                <a:lnTo>
                  <a:pt x="332577" y="874620"/>
                </a:lnTo>
                <a:lnTo>
                  <a:pt x="340044" y="895651"/>
                </a:lnTo>
                <a:lnTo>
                  <a:pt x="348592" y="916266"/>
                </a:lnTo>
                <a:lnTo>
                  <a:pt x="358198" y="936411"/>
                </a:lnTo>
                <a:lnTo>
                  <a:pt x="368836" y="956029"/>
                </a:lnTo>
                <a:lnTo>
                  <a:pt x="380478" y="975070"/>
                </a:lnTo>
                <a:lnTo>
                  <a:pt x="393092" y="993481"/>
                </a:lnTo>
                <a:lnTo>
                  <a:pt x="406644" y="1011212"/>
                </a:lnTo>
                <a:lnTo>
                  <a:pt x="421098" y="1028217"/>
                </a:lnTo>
                <a:lnTo>
                  <a:pt x="436414" y="1044449"/>
                </a:lnTo>
                <a:close/>
              </a:path>
            </a:pathLst>
          </a:custGeom>
          <a:solidFill>
            <a:srgbClr val="E09E48"/>
          </a:solidFill>
          <a:ln w="12700">
            <a:solidFill>
              <a:srgbClr val="FFFFFF"/>
            </a:solidFill>
          </a:ln>
        </p:spPr>
      </p:sp>
      <p:sp>
        <p:nvSpPr>
          <p:cNvPr name="AutoShape 77" id="77"/>
          <p:cNvSpPr/>
          <p:nvPr/>
        </p:nvSpPr>
        <p:spPr>
          <a:xfrm>
            <a:off x="2885525" y="4666226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78"/>
          <p:cNvSpPr txBox="true"/>
          <p:nvPr/>
        </p:nvSpPr>
        <p:spPr>
          <a:xfrm>
            <a:off x="2923625" y="4659899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13.9%</a:t>
            </a:r>
            <a:endParaRPr lang="en-US" sz="1100"/>
          </a:p>
        </p:txBody>
      </p:sp>
      <p:sp>
        <p:nvSpPr>
          <p:cNvPr name="AutoShape 79" id="79"/>
          <p:cNvSpPr/>
          <p:nvPr/>
        </p:nvSpPr>
        <p:spPr>
          <a:xfrm>
            <a:off x="3095860" y="5999791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80"/>
          <p:cNvSpPr txBox="true"/>
          <p:nvPr/>
        </p:nvSpPr>
        <p:spPr>
          <a:xfrm>
            <a:off x="3133960" y="5993464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48.4%</a:t>
            </a:r>
            <a:endParaRPr lang="en-US" sz="1100"/>
          </a:p>
        </p:txBody>
      </p:sp>
      <p:sp>
        <p:nvSpPr>
          <p:cNvPr name="AutoShape 81" id="81"/>
          <p:cNvSpPr/>
          <p:nvPr/>
        </p:nvSpPr>
        <p:spPr>
          <a:xfrm>
            <a:off x="1787598" y="5097819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82"/>
          <p:cNvSpPr txBox="true"/>
          <p:nvPr/>
        </p:nvSpPr>
        <p:spPr>
          <a:xfrm>
            <a:off x="1825698" y="5091492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37.7%</a:t>
            </a:r>
            <a:endParaRPr lang="en-US" sz="1100"/>
          </a:p>
        </p:txBody>
      </p:sp>
      <p:sp>
        <p:nvSpPr>
          <p:cNvPr name="GraphCompose Text Line" id="83"/>
          <p:cNvSpPr txBox="true"/>
          <p:nvPr/>
        </p:nvSpPr>
        <p:spPr>
          <a:xfrm>
            <a:off x="2324588" y="5356241"/>
            <a:ext cx="79969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2D2D2D"/>
                </a:solidFill>
                <a:latin typeface="Arial"/>
              </a:rPr>
              <a:t>1000 rows</a:t>
            </a:r>
            <a:endParaRPr lang="en-US" sz="1100"/>
          </a:p>
        </p:txBody>
      </p:sp>
      <p:sp>
        <p:nvSpPr>
          <p:cNvPr name="AutoShape 84" id="84"/>
          <p:cNvSpPr/>
          <p:nvPr/>
        </p:nvSpPr>
        <p:spPr>
          <a:xfrm>
            <a:off x="1351889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85"/>
          <p:cNvSpPr txBox="true"/>
          <p:nvPr/>
        </p:nvSpPr>
        <p:spPr>
          <a:xfrm>
            <a:off x="1516989" y="6341012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86" id="86"/>
          <p:cNvSpPr/>
          <p:nvPr/>
        </p:nvSpPr>
        <p:spPr>
          <a:xfrm>
            <a:off x="2501518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87"/>
          <p:cNvSpPr txBox="true"/>
          <p:nvPr/>
        </p:nvSpPr>
        <p:spPr>
          <a:xfrm>
            <a:off x="2666618" y="6341012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88" id="88"/>
          <p:cNvSpPr/>
          <p:nvPr/>
        </p:nvSpPr>
        <p:spPr>
          <a:xfrm>
            <a:off x="3187433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89"/>
          <p:cNvSpPr txBox="true"/>
          <p:nvPr/>
        </p:nvSpPr>
        <p:spPr>
          <a:xfrm>
            <a:off x="3352533" y="6341012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90" id="90"/>
          <p:cNvSpPr/>
          <p:nvPr/>
        </p:nvSpPr>
        <p:spPr>
          <a:xfrm>
            <a:off x="5447600" y="4181397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91" id="91"/>
          <p:cNvCxnSpPr/>
          <p:nvPr/>
        </p:nvCxnSpPr>
        <p:spPr>
          <a:xfrm>
            <a:off x="5447600" y="418139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2"/>
          <p:cNvSpPr txBox="true"/>
          <p:nvPr/>
        </p:nvSpPr>
        <p:spPr>
          <a:xfrm>
            <a:off x="5625400" y="4333035"/>
            <a:ext cx="361880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Throughput at 1000 rows — docs/sec (higher is better)</a:t>
            </a:r>
            <a:endParaRPr lang="en-US" sz="1100"/>
          </a:p>
        </p:txBody>
      </p:sp>
      <p:cxnSp>
        <p:nvCxnSpPr>
          <p:cNvPr name="Connector 93" id="93"/>
          <p:cNvCxnSpPr/>
          <p:nvPr/>
        </p:nvCxnSpPr>
        <p:spPr>
          <a:xfrm flipV="false">
            <a:off x="5873914" y="6192237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4"/>
          <p:cNvSpPr txBox="true"/>
          <p:nvPr/>
        </p:nvSpPr>
        <p:spPr>
          <a:xfrm>
            <a:off x="5681890" y="6135821"/>
            <a:ext cx="1424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</a:t>
            </a:r>
            <a:endParaRPr lang="en-US" sz="1100"/>
          </a:p>
        </p:txBody>
      </p:sp>
      <p:cxnSp>
        <p:nvCxnSpPr>
          <p:cNvPr name="Connector 95" id="95"/>
          <p:cNvCxnSpPr/>
          <p:nvPr/>
        </p:nvCxnSpPr>
        <p:spPr>
          <a:xfrm flipV="false">
            <a:off x="5873914" y="5714891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6"/>
          <p:cNvSpPr txBox="true"/>
          <p:nvPr/>
        </p:nvSpPr>
        <p:spPr>
          <a:xfrm>
            <a:off x="5625400" y="5658475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10.0</a:t>
            </a:r>
            <a:endParaRPr lang="en-US" sz="1100"/>
          </a:p>
        </p:txBody>
      </p:sp>
      <p:cxnSp>
        <p:nvCxnSpPr>
          <p:cNvPr name="Connector 97" id="97"/>
          <p:cNvCxnSpPr/>
          <p:nvPr/>
        </p:nvCxnSpPr>
        <p:spPr>
          <a:xfrm flipV="false">
            <a:off x="5873914" y="5237545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8"/>
          <p:cNvSpPr txBox="true"/>
          <p:nvPr/>
        </p:nvSpPr>
        <p:spPr>
          <a:xfrm>
            <a:off x="5625400" y="5181130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20.0</a:t>
            </a:r>
            <a:endParaRPr lang="en-US" sz="1100"/>
          </a:p>
        </p:txBody>
      </p:sp>
      <p:cxnSp>
        <p:nvCxnSpPr>
          <p:cNvPr name="Connector 99" id="99"/>
          <p:cNvCxnSpPr/>
          <p:nvPr/>
        </p:nvCxnSpPr>
        <p:spPr>
          <a:xfrm flipV="false">
            <a:off x="5873914" y="4760200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0"/>
          <p:cNvSpPr txBox="true"/>
          <p:nvPr/>
        </p:nvSpPr>
        <p:spPr>
          <a:xfrm>
            <a:off x="5625400" y="4703784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30.0</a:t>
            </a:r>
            <a:endParaRPr lang="en-US" sz="1100"/>
          </a:p>
        </p:txBody>
      </p:sp>
      <p:sp>
        <p:nvSpPr>
          <p:cNvPr name="AutoShape 101" id="101"/>
          <p:cNvSpPr/>
          <p:nvPr/>
        </p:nvSpPr>
        <p:spPr>
          <a:xfrm>
            <a:off x="6569649" y="5075900"/>
            <a:ext cx="915815" cy="1116337"/>
          </a:xfrm>
          <a:prstGeom prst="roundRect">
            <a:avLst>
              <a:gd name="adj" fmla="val 277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6544249" y="4943820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3"/>
          <p:cNvSpPr txBox="true"/>
          <p:nvPr/>
        </p:nvSpPr>
        <p:spPr>
          <a:xfrm>
            <a:off x="6928699" y="4937493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23.4</a:t>
            </a:r>
            <a:endParaRPr lang="en-US" sz="1100"/>
          </a:p>
        </p:txBody>
      </p:sp>
      <p:sp>
        <p:nvSpPr>
          <p:cNvPr name="AutoShape 104" id="104"/>
          <p:cNvSpPr/>
          <p:nvPr/>
        </p:nvSpPr>
        <p:spPr>
          <a:xfrm>
            <a:off x="7634550" y="5939833"/>
            <a:ext cx="915815" cy="252404"/>
          </a:xfrm>
          <a:prstGeom prst="roundRect">
            <a:avLst>
              <a:gd name="adj" fmla="val 10063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7609150" y="5807753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6"/>
          <p:cNvSpPr txBox="true"/>
          <p:nvPr/>
        </p:nvSpPr>
        <p:spPr>
          <a:xfrm>
            <a:off x="8021845" y="5801426"/>
            <a:ext cx="1424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5.3</a:t>
            </a:r>
            <a:endParaRPr lang="en-US" sz="1100"/>
          </a:p>
        </p:txBody>
      </p:sp>
      <p:sp>
        <p:nvSpPr>
          <p:cNvPr name="AutoShape 107" id="107"/>
          <p:cNvSpPr/>
          <p:nvPr/>
        </p:nvSpPr>
        <p:spPr>
          <a:xfrm>
            <a:off x="8699450" y="5099412"/>
            <a:ext cx="915815" cy="1092825"/>
          </a:xfrm>
          <a:prstGeom prst="roundRect">
            <a:avLst>
              <a:gd name="adj" fmla="val 2773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8674050" y="4967332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9"/>
          <p:cNvSpPr txBox="true"/>
          <p:nvPr/>
        </p:nvSpPr>
        <p:spPr>
          <a:xfrm>
            <a:off x="9058501" y="4961005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22.9</a:t>
            </a:r>
            <a:endParaRPr lang="en-US" sz="1100"/>
          </a:p>
        </p:txBody>
      </p:sp>
      <p:sp>
        <p:nvSpPr>
          <p:cNvPr name="GraphCompose Text Line" id="110"/>
          <p:cNvSpPr txBox="true"/>
          <p:nvPr/>
        </p:nvSpPr>
        <p:spPr>
          <a:xfrm>
            <a:off x="7863755" y="6224010"/>
            <a:ext cx="45867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docs / sec</a:t>
            </a:r>
            <a:endParaRPr lang="en-US" sz="1100"/>
          </a:p>
        </p:txBody>
      </p:sp>
      <p:sp>
        <p:nvSpPr>
          <p:cNvPr name="AutoShape 111" id="111"/>
          <p:cNvSpPr/>
          <p:nvPr/>
        </p:nvSpPr>
        <p:spPr>
          <a:xfrm>
            <a:off x="6596289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12"/>
          <p:cNvSpPr txBox="true"/>
          <p:nvPr/>
        </p:nvSpPr>
        <p:spPr>
          <a:xfrm>
            <a:off x="6761389" y="6341012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13" id="113"/>
          <p:cNvSpPr/>
          <p:nvPr/>
        </p:nvSpPr>
        <p:spPr>
          <a:xfrm>
            <a:off x="7745918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14"/>
          <p:cNvSpPr txBox="true"/>
          <p:nvPr/>
        </p:nvSpPr>
        <p:spPr>
          <a:xfrm>
            <a:off x="7911018" y="6341012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15" id="115"/>
          <p:cNvSpPr/>
          <p:nvPr/>
        </p:nvSpPr>
        <p:spPr>
          <a:xfrm>
            <a:off x="8431833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16"/>
          <p:cNvSpPr txBox="true"/>
          <p:nvPr/>
        </p:nvSpPr>
        <p:spPr>
          <a:xfrm>
            <a:off x="8596933" y="6341012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Footer" id="117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18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4 of 4</a:t>
            </a:r>
            <a:endParaRPr lang="en-US" sz="1100"/>
          </a:p>
        </p:txBody>
      </p:sp>
      <p:cxnSp>
        <p:nvCxnSpPr>
          <p:cNvPr name="GraphCompose Footer Separator" id="119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GraphCompose</dc:creator>
  <cp:keywords>graphcompose, pdf, java, dsl, charts, svg, showcase, 2.1.1</cp:keywords>
  <dcterms:modified xsi:type="dcterms:W3CDTF">2011-08-01T06:04:30Z</dcterms:modified>
  <cp:revision>1</cp:revision>
  <dc:subject>What the GraphCompose document engine is — rendered by the engine itself</dc:subject>
  <dc:title>GraphCompose 2.1.1 — twinned</dc:title>
</cp:coreProperties>
</file>