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7560001" cy="106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8F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431800" y="609600"/>
            <a:ext cx="6528079" cy="2177574"/>
          </a:xfrm>
          <a:prstGeom prst="roundRect">
            <a:avLst>
              <a:gd name="adj" fmla="val 8165"/>
            </a:avLst>
          </a:prstGeom>
          <a:solidFill>
            <a:srgbClr val="F4EEE4"/>
          </a:solidFill>
          <a:ln>
            <a:noFill/>
          </a:ln>
        </p:spPr>
      </p:sp>
      <p:cxnSp>
        <p:nvCxnSpPr>
          <p:cNvPr name="Connector 4" id="4"/>
          <p:cNvCxnSpPr/>
          <p:nvPr/>
        </p:nvCxnSpPr>
        <p:spPr>
          <a:xfrm>
            <a:off x="431800" y="609600"/>
            <a:ext cx="0" cy="2177574"/>
          </a:xfrm>
          <a:prstGeom prst="line">
            <a:avLst/>
          </a:prstGeom>
          <a:ln w="63500">
            <a:solidFill>
              <a:srgbClr val="C4994C"/>
            </a:solidFill>
          </a:ln>
        </p:spPr>
      </p:cxnSp>
      <p:sp>
        <p:nvSpPr>
          <p:cNvPr name="GraphCompose Text Line" id="5"/>
          <p:cNvSpPr txBox="true"/>
          <p:nvPr/>
        </p:nvSpPr>
        <p:spPr>
          <a:xfrm>
            <a:off x="711200" y="868784"/>
            <a:ext cx="1104951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707480"/>
                </a:solidFill>
                <a:latin typeface="Arial"/>
              </a:rPr>
              <a:t>Q2 SAMPLE REPORT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711200" y="1023859"/>
            <a:ext cx="5494223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143C4B"/>
                </a:solidFill>
                <a:latin typeface="Arial"/>
              </a:rPr>
              <a:t>Composing real documents with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711200" y="1352789"/>
            <a:ext cx="2668626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143C4B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711200" y="1816617"/>
            <a:ext cx="575238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single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Java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DSL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describes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intent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modules,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sections,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rows,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tables,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711200" y="1981082"/>
            <a:ext cx="597054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layers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pagination,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PDFBox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711200" y="2145547"/>
            <a:ext cx="501114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rendering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deterministically.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generated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one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711200" y="2370526"/>
            <a:ext cx="188341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4505F"/>
                </a:solidFill>
                <a:latin typeface="Courier New"/>
              </a:rPr>
              <a:t>MasterShowcaseExample.java</a:t>
            </a:r>
            <a:endParaRPr lang="en-US" sz="1100"/>
          </a:p>
        </p:txBody>
      </p:sp>
      <p:sp>
        <p:nvSpPr>
          <p:cNvPr name="GraphCompose Inline Text Span" id="12"/>
          <p:cNvSpPr txBox="true"/>
          <p:nvPr/>
        </p:nvSpPr>
        <p:spPr>
          <a:xfrm>
            <a:off x="2593340" y="2310012"/>
            <a:ext cx="506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2642768" y="2310012"/>
            <a:ext cx="27792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file.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431800" y="2964974"/>
            <a:ext cx="3113938" cy="2003743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5" id="15"/>
          <p:cNvCxnSpPr/>
          <p:nvPr/>
        </p:nvCxnSpPr>
        <p:spPr>
          <a:xfrm>
            <a:off x="431800" y="2964974"/>
            <a:ext cx="0" cy="2003743"/>
          </a:xfrm>
          <a:prstGeom prst="line">
            <a:avLst/>
          </a:prstGeom>
          <a:ln w="38100">
            <a:solidFill>
              <a:srgbClr val="C4994C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635000" y="3142012"/>
            <a:ext cx="60659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Highlight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635000" y="3340299"/>
            <a:ext cx="248175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Status: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On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track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every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gate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635000" y="3504764"/>
            <a:ext cx="1987296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green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release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window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635000" y="3669229"/>
            <a:ext cx="260017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confirmed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current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quarter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635000" y="3909894"/>
            <a:ext cx="270880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Performance: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E3846"/>
                </a:solidFill>
                <a:latin typeface="Arial"/>
              </a:rPr>
              <a:t>invoice-template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6.6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635000" y="4074359"/>
            <a:ext cx="177020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avg,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152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docs/sec;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635000" y="4238824"/>
            <a:ext cx="2214880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E3846"/>
                </a:solidFill>
                <a:latin typeface="Arial"/>
              </a:rPr>
              <a:t>feature-rich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54.2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avg,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18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635000" y="4403289"/>
            <a:ext cx="190853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docs/sec.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machine,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635000" y="4567754"/>
            <a:ext cx="95996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2026-07-26.</a:t>
            </a:r>
            <a:endParaRPr lang="en-US" sz="1100"/>
          </a:p>
        </p:txBody>
      </p:sp>
      <p:grpSp>
        <p:nvGrpSpPr>
          <p:cNvPr name="Group 25" id="25"/>
          <p:cNvGrpSpPr/>
          <p:nvPr/>
        </p:nvGrpSpPr>
        <p:grpSpPr>
          <a:xfrm flipH="false" flipV="false" rot="-720000">
            <a:off x="3907000" y="3091974"/>
            <a:ext cx="1498600" cy="1498600"/>
            <a:chOff x="3907000" y="3091974"/>
            <a:chExt cx="1498600" cy="1498600"/>
          </a:xfrm>
        </p:grpSpPr>
        <p:sp>
          <p:nvSpPr>
            <p:cNvPr name="AutoShape 26" id="26"/>
            <p:cNvSpPr/>
            <p:nvPr/>
          </p:nvSpPr>
          <p:spPr>
            <a:xfrm>
              <a:off x="3907000" y="3091974"/>
              <a:ext cx="1498600" cy="1498600"/>
            </a:xfrm>
            <a:prstGeom prst="ellipse">
              <a:avLst/>
            </a:prstGeom>
            <a:solidFill>
              <a:srgbClr val="14505F"/>
            </a:solidFill>
            <a:ln w="19050">
              <a:solidFill>
                <a:srgbClr val="C4994C"/>
              </a:solidFill>
            </a:ln>
          </p:spPr>
        </p:sp>
        <p:pic>
          <p:nvPicPr>
            <p:cNvPr name="GraphCompose Clipped Composite" id="27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7000" y="3091974"/>
              <a:ext cx="1498600" cy="1498600"/>
            </a:xfrm>
            <a:prstGeom prst="rect">
              <a:avLst/>
            </a:prstGeom>
          </p:spPr>
        </p:pic>
      </p:grpSp>
      <p:sp>
        <p:nvSpPr>
          <p:cNvPr name="AutoShape 28" id="28"/>
          <p:cNvSpPr/>
          <p:nvPr/>
        </p:nvSpPr>
        <p:spPr>
          <a:xfrm>
            <a:off x="5568400" y="2964974"/>
            <a:ext cx="1559800" cy="1996751"/>
          </a:xfrm>
          <a:prstGeom prst="roundRect">
            <a:avLst>
              <a:gd name="adj" fmla="val 6514"/>
            </a:avLst>
          </a:prstGeom>
          <a:solidFill>
            <a:srgbClr val="E8F4F5"/>
          </a:solidFill>
          <a:ln>
            <a:noFill/>
          </a:ln>
        </p:spPr>
      </p:sp>
      <p:sp>
        <p:nvSpPr>
          <p:cNvPr name="GraphCompose Text Line" id="29"/>
          <p:cNvSpPr txBox="true"/>
          <p:nvPr/>
        </p:nvSpPr>
        <p:spPr>
          <a:xfrm>
            <a:off x="5695400" y="3071758"/>
            <a:ext cx="415042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707480"/>
                </a:solidFill>
                <a:latin typeface="Arial"/>
              </a:rPr>
              <a:t>Audit ID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>
            <a:off x="5695400" y="3255328"/>
            <a:ext cx="1346200" cy="1346200"/>
          </a:xfrm>
          <a:custGeom>
            <a:avLst/>
            <a:gdLst/>
            <a:ahLst/>
            <a:cxnLst/>
            <a:rect r="r" b="b" t="t" l="l"/>
            <a:pathLst>
              <a:path h="1346200" w="1346200">
                <a:moveTo>
                  <a:pt x="0" y="0"/>
                </a:moveTo>
                <a:lnTo>
                  <a:pt x="1346200" y="0"/>
                </a:lnTo>
                <a:lnTo>
                  <a:pt x="1346200" y="1346200"/>
                </a:lnTo>
                <a:lnTo>
                  <a:pt x="0" y="1346200"/>
                </a:lnTo>
                <a:close/>
              </a:path>
            </a:pathLst>
          </a:custGeom>
          <a:solidFill>
            <a:srgbClr val="E8F4F5"/>
          </a:solidFill>
          <a:ln>
            <a:noFill/>
          </a:ln>
        </p:spPr>
      </p:sp>
      <p:sp>
        <p:nvSpPr>
          <p:cNvPr name="Freeform 31" id="31"/>
          <p:cNvSpPr/>
          <p:nvPr/>
        </p:nvSpPr>
        <p:spPr>
          <a:xfrm>
            <a:off x="5816050" y="3375978"/>
            <a:ext cx="1104900" cy="1104900"/>
          </a:xfrm>
          <a:custGeom>
            <a:avLst/>
            <a:gdLst/>
            <a:ahLst/>
            <a:cxnLst/>
            <a:rect r="r" b="b" t="t" l="l"/>
            <a:pathLst>
              <a:path h="1104900" w="1104900">
                <a:moveTo>
                  <a:pt x="0" y="0"/>
                </a:moveTo>
                <a:lnTo>
                  <a:pt x="266700" y="0"/>
                </a:lnTo>
                <a:lnTo>
                  <a:pt x="266700" y="38100"/>
                </a:lnTo>
                <a:lnTo>
                  <a:pt x="0" y="38100"/>
                </a:lnTo>
                <a:close/>
                <a:moveTo>
                  <a:pt x="38100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381000" y="76200"/>
                </a:lnTo>
                <a:close/>
                <a:moveTo>
                  <a:pt x="457200" y="0"/>
                </a:moveTo>
                <a:lnTo>
                  <a:pt x="495300" y="0"/>
                </a:lnTo>
                <a:lnTo>
                  <a:pt x="495300" y="38100"/>
                </a:lnTo>
                <a:lnTo>
                  <a:pt x="457200" y="38100"/>
                </a:lnTo>
                <a:close/>
                <a:moveTo>
                  <a:pt x="533400" y="0"/>
                </a:moveTo>
                <a:lnTo>
                  <a:pt x="571500" y="0"/>
                </a:lnTo>
                <a:lnTo>
                  <a:pt x="571500" y="38100"/>
                </a:lnTo>
                <a:lnTo>
                  <a:pt x="533400" y="38100"/>
                </a:lnTo>
                <a:close/>
                <a:moveTo>
                  <a:pt x="609600" y="0"/>
                </a:moveTo>
                <a:lnTo>
                  <a:pt x="647700" y="0"/>
                </a:lnTo>
                <a:lnTo>
                  <a:pt x="647700" y="38100"/>
                </a:lnTo>
                <a:lnTo>
                  <a:pt x="609600" y="38100"/>
                </a:lnTo>
                <a:close/>
                <a:moveTo>
                  <a:pt x="762000" y="0"/>
                </a:moveTo>
                <a:lnTo>
                  <a:pt x="800100" y="0"/>
                </a:lnTo>
                <a:lnTo>
                  <a:pt x="800100" y="38100"/>
                </a:lnTo>
                <a:lnTo>
                  <a:pt x="762000" y="38100"/>
                </a:lnTo>
                <a:close/>
                <a:moveTo>
                  <a:pt x="838200" y="0"/>
                </a:moveTo>
                <a:lnTo>
                  <a:pt x="1104900" y="0"/>
                </a:lnTo>
                <a:lnTo>
                  <a:pt x="1104900" y="38100"/>
                </a:lnTo>
                <a:lnTo>
                  <a:pt x="838200" y="38100"/>
                </a:lnTo>
                <a:close/>
                <a:moveTo>
                  <a:pt x="0" y="38100"/>
                </a:moveTo>
                <a:lnTo>
                  <a:pt x="38100" y="38100"/>
                </a:lnTo>
                <a:lnTo>
                  <a:pt x="38100" y="228600"/>
                </a:lnTo>
                <a:lnTo>
                  <a:pt x="0" y="228600"/>
                </a:lnTo>
                <a:close/>
                <a:moveTo>
                  <a:pt x="228600" y="38100"/>
                </a:moveTo>
                <a:lnTo>
                  <a:pt x="266700" y="38100"/>
                </a:lnTo>
                <a:lnTo>
                  <a:pt x="266700" y="228600"/>
                </a:lnTo>
                <a:lnTo>
                  <a:pt x="228600" y="228600"/>
                </a:lnTo>
                <a:close/>
                <a:moveTo>
                  <a:pt x="304800" y="38100"/>
                </a:moveTo>
                <a:lnTo>
                  <a:pt x="342900" y="38100"/>
                </a:lnTo>
                <a:lnTo>
                  <a:pt x="342900" y="76200"/>
                </a:lnTo>
                <a:lnTo>
                  <a:pt x="304800" y="76200"/>
                </a:lnTo>
                <a:close/>
                <a:moveTo>
                  <a:pt x="495300" y="38100"/>
                </a:moveTo>
                <a:lnTo>
                  <a:pt x="571500" y="38100"/>
                </a:lnTo>
                <a:lnTo>
                  <a:pt x="571500" y="76200"/>
                </a:lnTo>
                <a:lnTo>
                  <a:pt x="495300" y="76200"/>
                </a:lnTo>
                <a:close/>
                <a:moveTo>
                  <a:pt x="647700" y="38100"/>
                </a:moveTo>
                <a:lnTo>
                  <a:pt x="685800" y="38100"/>
                </a:lnTo>
                <a:lnTo>
                  <a:pt x="685800" y="76200"/>
                </a:lnTo>
                <a:lnTo>
                  <a:pt x="647700" y="76200"/>
                </a:lnTo>
                <a:close/>
                <a:moveTo>
                  <a:pt x="838200" y="38100"/>
                </a:moveTo>
                <a:lnTo>
                  <a:pt x="876300" y="38100"/>
                </a:lnTo>
                <a:lnTo>
                  <a:pt x="876300" y="228600"/>
                </a:lnTo>
                <a:lnTo>
                  <a:pt x="838200" y="228600"/>
                </a:lnTo>
                <a:close/>
                <a:moveTo>
                  <a:pt x="1066800" y="38100"/>
                </a:moveTo>
                <a:lnTo>
                  <a:pt x="1104900" y="38100"/>
                </a:lnTo>
                <a:lnTo>
                  <a:pt x="1104900" y="228600"/>
                </a:lnTo>
                <a:lnTo>
                  <a:pt x="1066800" y="228600"/>
                </a:lnTo>
                <a:close/>
                <a:moveTo>
                  <a:pt x="76200" y="76200"/>
                </a:moveTo>
                <a:lnTo>
                  <a:pt x="190500" y="76200"/>
                </a:lnTo>
                <a:lnTo>
                  <a:pt x="190500" y="190500"/>
                </a:lnTo>
                <a:lnTo>
                  <a:pt x="76200" y="190500"/>
                </a:lnTo>
                <a:close/>
                <a:moveTo>
                  <a:pt x="457200" y="76200"/>
                </a:moveTo>
                <a:lnTo>
                  <a:pt x="533400" y="76200"/>
                </a:lnTo>
                <a:lnTo>
                  <a:pt x="533400" y="114300"/>
                </a:lnTo>
                <a:lnTo>
                  <a:pt x="457200" y="114300"/>
                </a:lnTo>
                <a:close/>
                <a:moveTo>
                  <a:pt x="609600" y="76200"/>
                </a:moveTo>
                <a:lnTo>
                  <a:pt x="800100" y="76200"/>
                </a:lnTo>
                <a:lnTo>
                  <a:pt x="800100" y="114300"/>
                </a:lnTo>
                <a:lnTo>
                  <a:pt x="609600" y="114300"/>
                </a:lnTo>
                <a:close/>
                <a:moveTo>
                  <a:pt x="914400" y="76200"/>
                </a:moveTo>
                <a:lnTo>
                  <a:pt x="1028700" y="76200"/>
                </a:lnTo>
                <a:lnTo>
                  <a:pt x="1028700" y="190500"/>
                </a:lnTo>
                <a:lnTo>
                  <a:pt x="914400" y="190500"/>
                </a:lnTo>
                <a:close/>
                <a:moveTo>
                  <a:pt x="304800" y="114300"/>
                </a:moveTo>
                <a:lnTo>
                  <a:pt x="419100" y="114300"/>
                </a:lnTo>
                <a:lnTo>
                  <a:pt x="419100" y="152400"/>
                </a:lnTo>
                <a:lnTo>
                  <a:pt x="304800" y="152400"/>
                </a:lnTo>
                <a:close/>
                <a:moveTo>
                  <a:pt x="457200" y="114300"/>
                </a:moveTo>
                <a:lnTo>
                  <a:pt x="495300" y="114300"/>
                </a:lnTo>
                <a:lnTo>
                  <a:pt x="495300" y="152400"/>
                </a:lnTo>
                <a:lnTo>
                  <a:pt x="457200" y="152400"/>
                </a:lnTo>
                <a:close/>
                <a:moveTo>
                  <a:pt x="533400" y="114300"/>
                </a:moveTo>
                <a:lnTo>
                  <a:pt x="647700" y="114300"/>
                </a:lnTo>
                <a:lnTo>
                  <a:pt x="647700" y="152400"/>
                </a:lnTo>
                <a:lnTo>
                  <a:pt x="533400" y="152400"/>
                </a:lnTo>
                <a:close/>
                <a:moveTo>
                  <a:pt x="342900" y="152400"/>
                </a:moveTo>
                <a:lnTo>
                  <a:pt x="381000" y="152400"/>
                </a:lnTo>
                <a:lnTo>
                  <a:pt x="381000" y="190500"/>
                </a:lnTo>
                <a:lnTo>
                  <a:pt x="342900" y="190500"/>
                </a:lnTo>
                <a:close/>
                <a:moveTo>
                  <a:pt x="533400" y="152400"/>
                </a:moveTo>
                <a:lnTo>
                  <a:pt x="571500" y="152400"/>
                </a:lnTo>
                <a:lnTo>
                  <a:pt x="571500" y="190500"/>
                </a:lnTo>
                <a:lnTo>
                  <a:pt x="533400" y="190500"/>
                </a:lnTo>
                <a:close/>
                <a:moveTo>
                  <a:pt x="762000" y="152400"/>
                </a:moveTo>
                <a:lnTo>
                  <a:pt x="800100" y="152400"/>
                </a:lnTo>
                <a:lnTo>
                  <a:pt x="800100" y="190500"/>
                </a:lnTo>
                <a:lnTo>
                  <a:pt x="762000" y="190500"/>
                </a:lnTo>
                <a:close/>
                <a:moveTo>
                  <a:pt x="304800" y="190500"/>
                </a:moveTo>
                <a:lnTo>
                  <a:pt x="381000" y="190500"/>
                </a:lnTo>
                <a:lnTo>
                  <a:pt x="381000" y="228600"/>
                </a:lnTo>
                <a:lnTo>
                  <a:pt x="304800" y="228600"/>
                </a:lnTo>
                <a:close/>
                <a:moveTo>
                  <a:pt x="419100" y="190500"/>
                </a:moveTo>
                <a:lnTo>
                  <a:pt x="609600" y="190500"/>
                </a:lnTo>
                <a:lnTo>
                  <a:pt x="609600" y="228600"/>
                </a:lnTo>
                <a:lnTo>
                  <a:pt x="419100" y="228600"/>
                </a:lnTo>
                <a:close/>
                <a:moveTo>
                  <a:pt x="647700" y="190500"/>
                </a:moveTo>
                <a:lnTo>
                  <a:pt x="685800" y="190500"/>
                </a:lnTo>
                <a:lnTo>
                  <a:pt x="685800" y="228600"/>
                </a:lnTo>
                <a:lnTo>
                  <a:pt x="647700" y="228600"/>
                </a:lnTo>
                <a:close/>
                <a:moveTo>
                  <a:pt x="0" y="228600"/>
                </a:moveTo>
                <a:lnTo>
                  <a:pt x="266700" y="228600"/>
                </a:lnTo>
                <a:lnTo>
                  <a:pt x="266700" y="266700"/>
                </a:lnTo>
                <a:lnTo>
                  <a:pt x="0" y="266700"/>
                </a:lnTo>
                <a:close/>
                <a:moveTo>
                  <a:pt x="304800" y="228600"/>
                </a:moveTo>
                <a:lnTo>
                  <a:pt x="342900" y="228600"/>
                </a:lnTo>
                <a:lnTo>
                  <a:pt x="342900" y="266700"/>
                </a:lnTo>
                <a:lnTo>
                  <a:pt x="304800" y="266700"/>
                </a:lnTo>
                <a:close/>
                <a:moveTo>
                  <a:pt x="381000" y="228600"/>
                </a:moveTo>
                <a:lnTo>
                  <a:pt x="419100" y="228600"/>
                </a:lnTo>
                <a:lnTo>
                  <a:pt x="419100" y="266700"/>
                </a:lnTo>
                <a:lnTo>
                  <a:pt x="381000" y="266700"/>
                </a:lnTo>
                <a:close/>
                <a:moveTo>
                  <a:pt x="457200" y="228600"/>
                </a:moveTo>
                <a:lnTo>
                  <a:pt x="495300" y="228600"/>
                </a:lnTo>
                <a:lnTo>
                  <a:pt x="495300" y="266700"/>
                </a:lnTo>
                <a:lnTo>
                  <a:pt x="457200" y="266700"/>
                </a:lnTo>
                <a:close/>
                <a:moveTo>
                  <a:pt x="533400" y="228600"/>
                </a:moveTo>
                <a:lnTo>
                  <a:pt x="571500" y="228600"/>
                </a:lnTo>
                <a:lnTo>
                  <a:pt x="571500" y="266700"/>
                </a:lnTo>
                <a:lnTo>
                  <a:pt x="533400" y="266700"/>
                </a:lnTo>
                <a:close/>
                <a:moveTo>
                  <a:pt x="609600" y="228600"/>
                </a:moveTo>
                <a:lnTo>
                  <a:pt x="647700" y="228600"/>
                </a:lnTo>
                <a:lnTo>
                  <a:pt x="647700" y="266700"/>
                </a:lnTo>
                <a:lnTo>
                  <a:pt x="609600" y="266700"/>
                </a:lnTo>
                <a:close/>
                <a:moveTo>
                  <a:pt x="685800" y="228600"/>
                </a:moveTo>
                <a:lnTo>
                  <a:pt x="723900" y="228600"/>
                </a:lnTo>
                <a:lnTo>
                  <a:pt x="723900" y="304800"/>
                </a:lnTo>
                <a:lnTo>
                  <a:pt x="685800" y="304800"/>
                </a:lnTo>
                <a:close/>
                <a:moveTo>
                  <a:pt x="762000" y="228600"/>
                </a:moveTo>
                <a:lnTo>
                  <a:pt x="800100" y="228600"/>
                </a:lnTo>
                <a:lnTo>
                  <a:pt x="800100" y="304800"/>
                </a:lnTo>
                <a:lnTo>
                  <a:pt x="762000" y="304800"/>
                </a:lnTo>
                <a:close/>
                <a:moveTo>
                  <a:pt x="838200" y="228600"/>
                </a:moveTo>
                <a:lnTo>
                  <a:pt x="1104900" y="228600"/>
                </a:lnTo>
                <a:lnTo>
                  <a:pt x="1104900" y="266700"/>
                </a:lnTo>
                <a:lnTo>
                  <a:pt x="838200" y="266700"/>
                </a:lnTo>
                <a:close/>
                <a:moveTo>
                  <a:pt x="342900" y="266700"/>
                </a:moveTo>
                <a:lnTo>
                  <a:pt x="457200" y="266700"/>
                </a:lnTo>
                <a:lnTo>
                  <a:pt x="457200" y="304800"/>
                </a:lnTo>
                <a:lnTo>
                  <a:pt x="342900" y="304800"/>
                </a:lnTo>
                <a:close/>
                <a:moveTo>
                  <a:pt x="533400" y="266700"/>
                </a:moveTo>
                <a:lnTo>
                  <a:pt x="647700" y="266700"/>
                </a:lnTo>
                <a:lnTo>
                  <a:pt x="647700" y="304800"/>
                </a:lnTo>
                <a:lnTo>
                  <a:pt x="533400" y="304800"/>
                </a:lnTo>
                <a:close/>
                <a:moveTo>
                  <a:pt x="0" y="304800"/>
                </a:moveTo>
                <a:lnTo>
                  <a:pt x="190500" y="304800"/>
                </a:lnTo>
                <a:lnTo>
                  <a:pt x="190500" y="342900"/>
                </a:lnTo>
                <a:lnTo>
                  <a:pt x="0" y="342900"/>
                </a:lnTo>
                <a:close/>
                <a:moveTo>
                  <a:pt x="228600" y="304800"/>
                </a:moveTo>
                <a:lnTo>
                  <a:pt x="381000" y="304800"/>
                </a:lnTo>
                <a:lnTo>
                  <a:pt x="381000" y="342900"/>
                </a:lnTo>
                <a:lnTo>
                  <a:pt x="228600" y="342900"/>
                </a:lnTo>
                <a:close/>
                <a:moveTo>
                  <a:pt x="419100" y="304800"/>
                </a:moveTo>
                <a:lnTo>
                  <a:pt x="457200" y="304800"/>
                </a:lnTo>
                <a:lnTo>
                  <a:pt x="457200" y="342900"/>
                </a:lnTo>
                <a:lnTo>
                  <a:pt x="419100" y="342900"/>
                </a:lnTo>
                <a:close/>
                <a:moveTo>
                  <a:pt x="571500" y="304800"/>
                </a:moveTo>
                <a:lnTo>
                  <a:pt x="609600" y="304800"/>
                </a:lnTo>
                <a:lnTo>
                  <a:pt x="609600" y="381000"/>
                </a:lnTo>
                <a:lnTo>
                  <a:pt x="571500" y="381000"/>
                </a:lnTo>
                <a:close/>
                <a:moveTo>
                  <a:pt x="647700" y="304800"/>
                </a:moveTo>
                <a:lnTo>
                  <a:pt x="723900" y="304800"/>
                </a:lnTo>
                <a:lnTo>
                  <a:pt x="723900" y="342900"/>
                </a:lnTo>
                <a:lnTo>
                  <a:pt x="647700" y="342900"/>
                </a:lnTo>
                <a:close/>
                <a:moveTo>
                  <a:pt x="762000" y="304800"/>
                </a:moveTo>
                <a:lnTo>
                  <a:pt x="838200" y="304800"/>
                </a:lnTo>
                <a:lnTo>
                  <a:pt x="838200" y="342900"/>
                </a:lnTo>
                <a:lnTo>
                  <a:pt x="762000" y="342900"/>
                </a:lnTo>
                <a:close/>
                <a:moveTo>
                  <a:pt x="876300" y="304800"/>
                </a:moveTo>
                <a:lnTo>
                  <a:pt x="914400" y="304800"/>
                </a:lnTo>
                <a:lnTo>
                  <a:pt x="914400" y="342900"/>
                </a:lnTo>
                <a:lnTo>
                  <a:pt x="876300" y="342900"/>
                </a:lnTo>
                <a:close/>
                <a:moveTo>
                  <a:pt x="952500" y="304800"/>
                </a:moveTo>
                <a:lnTo>
                  <a:pt x="990600" y="304800"/>
                </a:lnTo>
                <a:lnTo>
                  <a:pt x="990600" y="342900"/>
                </a:lnTo>
                <a:lnTo>
                  <a:pt x="952500" y="342900"/>
                </a:lnTo>
                <a:close/>
                <a:moveTo>
                  <a:pt x="1028700" y="304800"/>
                </a:moveTo>
                <a:lnTo>
                  <a:pt x="1066800" y="304800"/>
                </a:lnTo>
                <a:lnTo>
                  <a:pt x="1066800" y="381000"/>
                </a:lnTo>
                <a:lnTo>
                  <a:pt x="1028700" y="381000"/>
                </a:lnTo>
                <a:close/>
                <a:moveTo>
                  <a:pt x="0" y="342900"/>
                </a:moveTo>
                <a:lnTo>
                  <a:pt x="38100" y="342900"/>
                </a:lnTo>
                <a:lnTo>
                  <a:pt x="38100" y="381000"/>
                </a:lnTo>
                <a:lnTo>
                  <a:pt x="0" y="381000"/>
                </a:lnTo>
                <a:close/>
                <a:moveTo>
                  <a:pt x="152400" y="342900"/>
                </a:moveTo>
                <a:lnTo>
                  <a:pt x="228600" y="342900"/>
                </a:lnTo>
                <a:lnTo>
                  <a:pt x="228600" y="381000"/>
                </a:lnTo>
                <a:lnTo>
                  <a:pt x="152400" y="381000"/>
                </a:lnTo>
                <a:close/>
                <a:moveTo>
                  <a:pt x="381000" y="342900"/>
                </a:moveTo>
                <a:lnTo>
                  <a:pt x="419100" y="342900"/>
                </a:lnTo>
                <a:lnTo>
                  <a:pt x="419100" y="419100"/>
                </a:lnTo>
                <a:lnTo>
                  <a:pt x="381000" y="419100"/>
                </a:lnTo>
                <a:close/>
                <a:moveTo>
                  <a:pt x="457200" y="342900"/>
                </a:moveTo>
                <a:lnTo>
                  <a:pt x="495300" y="342900"/>
                </a:lnTo>
                <a:lnTo>
                  <a:pt x="495300" y="381000"/>
                </a:lnTo>
                <a:lnTo>
                  <a:pt x="457200" y="381000"/>
                </a:lnTo>
                <a:close/>
                <a:moveTo>
                  <a:pt x="723900" y="342900"/>
                </a:moveTo>
                <a:lnTo>
                  <a:pt x="838200" y="342900"/>
                </a:lnTo>
                <a:lnTo>
                  <a:pt x="838200" y="381000"/>
                </a:lnTo>
                <a:lnTo>
                  <a:pt x="723900" y="381000"/>
                </a:lnTo>
                <a:close/>
                <a:moveTo>
                  <a:pt x="876300" y="342900"/>
                </a:moveTo>
                <a:lnTo>
                  <a:pt x="990600" y="342900"/>
                </a:lnTo>
                <a:lnTo>
                  <a:pt x="990600" y="381000"/>
                </a:lnTo>
                <a:lnTo>
                  <a:pt x="876300" y="381000"/>
                </a:lnTo>
                <a:close/>
                <a:moveTo>
                  <a:pt x="38100" y="381000"/>
                </a:moveTo>
                <a:lnTo>
                  <a:pt x="76200" y="381000"/>
                </a:lnTo>
                <a:lnTo>
                  <a:pt x="76200" y="419100"/>
                </a:lnTo>
                <a:lnTo>
                  <a:pt x="38100" y="419100"/>
                </a:lnTo>
                <a:close/>
                <a:moveTo>
                  <a:pt x="152400" y="381000"/>
                </a:moveTo>
                <a:lnTo>
                  <a:pt x="190500" y="381000"/>
                </a:lnTo>
                <a:lnTo>
                  <a:pt x="190500" y="419100"/>
                </a:lnTo>
                <a:lnTo>
                  <a:pt x="152400" y="419100"/>
                </a:lnTo>
                <a:close/>
                <a:moveTo>
                  <a:pt x="228600" y="381000"/>
                </a:moveTo>
                <a:lnTo>
                  <a:pt x="266700" y="381000"/>
                </a:lnTo>
                <a:lnTo>
                  <a:pt x="266700" y="419100"/>
                </a:lnTo>
                <a:lnTo>
                  <a:pt x="228600" y="419100"/>
                </a:lnTo>
                <a:close/>
                <a:moveTo>
                  <a:pt x="495300" y="381000"/>
                </a:moveTo>
                <a:lnTo>
                  <a:pt x="571500" y="381000"/>
                </a:lnTo>
                <a:lnTo>
                  <a:pt x="571500" y="419100"/>
                </a:lnTo>
                <a:lnTo>
                  <a:pt x="495300" y="419100"/>
                </a:lnTo>
                <a:close/>
                <a:moveTo>
                  <a:pt x="647700" y="381000"/>
                </a:moveTo>
                <a:lnTo>
                  <a:pt x="685800" y="381000"/>
                </a:lnTo>
                <a:lnTo>
                  <a:pt x="685800" y="419100"/>
                </a:lnTo>
                <a:lnTo>
                  <a:pt x="647700" y="419100"/>
                </a:lnTo>
                <a:close/>
                <a:moveTo>
                  <a:pt x="723900" y="381000"/>
                </a:moveTo>
                <a:lnTo>
                  <a:pt x="762000" y="381000"/>
                </a:lnTo>
                <a:lnTo>
                  <a:pt x="762000" y="419100"/>
                </a:lnTo>
                <a:lnTo>
                  <a:pt x="723900" y="419100"/>
                </a:lnTo>
                <a:close/>
                <a:moveTo>
                  <a:pt x="876300" y="381000"/>
                </a:moveTo>
                <a:lnTo>
                  <a:pt x="914400" y="381000"/>
                </a:lnTo>
                <a:lnTo>
                  <a:pt x="914400" y="419100"/>
                </a:lnTo>
                <a:lnTo>
                  <a:pt x="876300" y="419100"/>
                </a:lnTo>
                <a:close/>
                <a:moveTo>
                  <a:pt x="952500" y="381000"/>
                </a:moveTo>
                <a:lnTo>
                  <a:pt x="1028700" y="381000"/>
                </a:lnTo>
                <a:lnTo>
                  <a:pt x="1028700" y="419100"/>
                </a:lnTo>
                <a:lnTo>
                  <a:pt x="952500" y="419100"/>
                </a:lnTo>
                <a:close/>
                <a:moveTo>
                  <a:pt x="38100" y="419100"/>
                </a:moveTo>
                <a:lnTo>
                  <a:pt x="152400" y="419100"/>
                </a:lnTo>
                <a:lnTo>
                  <a:pt x="152400" y="457200"/>
                </a:lnTo>
                <a:lnTo>
                  <a:pt x="38100" y="457200"/>
                </a:lnTo>
                <a:close/>
                <a:moveTo>
                  <a:pt x="304800" y="419100"/>
                </a:moveTo>
                <a:lnTo>
                  <a:pt x="342900" y="419100"/>
                </a:lnTo>
                <a:lnTo>
                  <a:pt x="342900" y="457200"/>
                </a:lnTo>
                <a:lnTo>
                  <a:pt x="304800" y="457200"/>
                </a:lnTo>
                <a:close/>
                <a:moveTo>
                  <a:pt x="457200" y="419100"/>
                </a:moveTo>
                <a:lnTo>
                  <a:pt x="533400" y="419100"/>
                </a:lnTo>
                <a:lnTo>
                  <a:pt x="533400" y="457200"/>
                </a:lnTo>
                <a:lnTo>
                  <a:pt x="457200" y="457200"/>
                </a:lnTo>
                <a:close/>
                <a:moveTo>
                  <a:pt x="609600" y="419100"/>
                </a:moveTo>
                <a:lnTo>
                  <a:pt x="762000" y="419100"/>
                </a:lnTo>
                <a:lnTo>
                  <a:pt x="762000" y="457200"/>
                </a:lnTo>
                <a:lnTo>
                  <a:pt x="609600" y="457200"/>
                </a:lnTo>
                <a:close/>
                <a:moveTo>
                  <a:pt x="800100" y="419100"/>
                </a:moveTo>
                <a:lnTo>
                  <a:pt x="990600" y="419100"/>
                </a:lnTo>
                <a:lnTo>
                  <a:pt x="990600" y="457200"/>
                </a:lnTo>
                <a:lnTo>
                  <a:pt x="800100" y="457200"/>
                </a:lnTo>
                <a:close/>
                <a:moveTo>
                  <a:pt x="1066800" y="419100"/>
                </a:moveTo>
                <a:lnTo>
                  <a:pt x="1104900" y="419100"/>
                </a:lnTo>
                <a:lnTo>
                  <a:pt x="1104900" y="457200"/>
                </a:lnTo>
                <a:lnTo>
                  <a:pt x="1066800" y="457200"/>
                </a:lnTo>
                <a:close/>
                <a:moveTo>
                  <a:pt x="76200" y="457200"/>
                </a:moveTo>
                <a:lnTo>
                  <a:pt x="114300" y="457200"/>
                </a:lnTo>
                <a:lnTo>
                  <a:pt x="114300" y="495300"/>
                </a:lnTo>
                <a:lnTo>
                  <a:pt x="76200" y="495300"/>
                </a:lnTo>
                <a:close/>
                <a:moveTo>
                  <a:pt x="152400" y="457200"/>
                </a:moveTo>
                <a:lnTo>
                  <a:pt x="304800" y="457200"/>
                </a:lnTo>
                <a:lnTo>
                  <a:pt x="304800" y="495300"/>
                </a:lnTo>
                <a:lnTo>
                  <a:pt x="152400" y="495300"/>
                </a:lnTo>
                <a:close/>
                <a:moveTo>
                  <a:pt x="342900" y="457200"/>
                </a:moveTo>
                <a:lnTo>
                  <a:pt x="419100" y="457200"/>
                </a:lnTo>
                <a:lnTo>
                  <a:pt x="419100" y="495300"/>
                </a:lnTo>
                <a:lnTo>
                  <a:pt x="342900" y="495300"/>
                </a:lnTo>
                <a:close/>
                <a:moveTo>
                  <a:pt x="457200" y="457200"/>
                </a:moveTo>
                <a:lnTo>
                  <a:pt x="609600" y="457200"/>
                </a:lnTo>
                <a:lnTo>
                  <a:pt x="609600" y="495300"/>
                </a:lnTo>
                <a:lnTo>
                  <a:pt x="457200" y="495300"/>
                </a:lnTo>
                <a:close/>
                <a:moveTo>
                  <a:pt x="685800" y="457200"/>
                </a:moveTo>
                <a:lnTo>
                  <a:pt x="723900" y="457200"/>
                </a:lnTo>
                <a:lnTo>
                  <a:pt x="723900" y="533400"/>
                </a:lnTo>
                <a:lnTo>
                  <a:pt x="685800" y="533400"/>
                </a:lnTo>
                <a:close/>
                <a:moveTo>
                  <a:pt x="762000" y="457200"/>
                </a:moveTo>
                <a:lnTo>
                  <a:pt x="952500" y="457200"/>
                </a:lnTo>
                <a:lnTo>
                  <a:pt x="952500" y="495300"/>
                </a:lnTo>
                <a:lnTo>
                  <a:pt x="762000" y="495300"/>
                </a:lnTo>
                <a:close/>
                <a:moveTo>
                  <a:pt x="0" y="495300"/>
                </a:moveTo>
                <a:lnTo>
                  <a:pt x="76200" y="495300"/>
                </a:lnTo>
                <a:lnTo>
                  <a:pt x="76200" y="533400"/>
                </a:lnTo>
                <a:lnTo>
                  <a:pt x="0" y="533400"/>
                </a:lnTo>
                <a:close/>
                <a:moveTo>
                  <a:pt x="533400" y="495300"/>
                </a:moveTo>
                <a:lnTo>
                  <a:pt x="609600" y="495300"/>
                </a:lnTo>
                <a:lnTo>
                  <a:pt x="609600" y="533400"/>
                </a:lnTo>
                <a:lnTo>
                  <a:pt x="533400" y="533400"/>
                </a:lnTo>
                <a:close/>
                <a:moveTo>
                  <a:pt x="762000" y="495300"/>
                </a:moveTo>
                <a:lnTo>
                  <a:pt x="838200" y="495300"/>
                </a:lnTo>
                <a:lnTo>
                  <a:pt x="838200" y="533400"/>
                </a:lnTo>
                <a:lnTo>
                  <a:pt x="762000" y="533400"/>
                </a:lnTo>
                <a:close/>
                <a:moveTo>
                  <a:pt x="952500" y="495300"/>
                </a:moveTo>
                <a:lnTo>
                  <a:pt x="990600" y="495300"/>
                </a:lnTo>
                <a:lnTo>
                  <a:pt x="990600" y="533400"/>
                </a:lnTo>
                <a:lnTo>
                  <a:pt x="952500" y="533400"/>
                </a:lnTo>
                <a:close/>
                <a:moveTo>
                  <a:pt x="1028700" y="495300"/>
                </a:moveTo>
                <a:lnTo>
                  <a:pt x="1066800" y="495300"/>
                </a:lnTo>
                <a:lnTo>
                  <a:pt x="1066800" y="533400"/>
                </a:lnTo>
                <a:lnTo>
                  <a:pt x="1028700" y="533400"/>
                </a:lnTo>
                <a:close/>
                <a:moveTo>
                  <a:pt x="76200" y="533400"/>
                </a:moveTo>
                <a:lnTo>
                  <a:pt x="190500" y="533400"/>
                </a:lnTo>
                <a:lnTo>
                  <a:pt x="190500" y="571500"/>
                </a:lnTo>
                <a:lnTo>
                  <a:pt x="76200" y="571500"/>
                </a:lnTo>
                <a:close/>
                <a:moveTo>
                  <a:pt x="228600" y="533400"/>
                </a:moveTo>
                <a:lnTo>
                  <a:pt x="381000" y="533400"/>
                </a:lnTo>
                <a:lnTo>
                  <a:pt x="381000" y="571500"/>
                </a:lnTo>
                <a:lnTo>
                  <a:pt x="228600" y="571500"/>
                </a:lnTo>
                <a:close/>
                <a:moveTo>
                  <a:pt x="419100" y="533400"/>
                </a:moveTo>
                <a:lnTo>
                  <a:pt x="685800" y="533400"/>
                </a:lnTo>
                <a:lnTo>
                  <a:pt x="685800" y="571500"/>
                </a:lnTo>
                <a:lnTo>
                  <a:pt x="419100" y="571500"/>
                </a:lnTo>
                <a:close/>
                <a:moveTo>
                  <a:pt x="723900" y="533400"/>
                </a:moveTo>
                <a:lnTo>
                  <a:pt x="762000" y="533400"/>
                </a:lnTo>
                <a:lnTo>
                  <a:pt x="762000" y="571500"/>
                </a:lnTo>
                <a:lnTo>
                  <a:pt x="723900" y="571500"/>
                </a:lnTo>
                <a:close/>
                <a:moveTo>
                  <a:pt x="952500" y="533400"/>
                </a:moveTo>
                <a:lnTo>
                  <a:pt x="1104900" y="533400"/>
                </a:lnTo>
                <a:lnTo>
                  <a:pt x="1104900" y="571500"/>
                </a:lnTo>
                <a:lnTo>
                  <a:pt x="952500" y="571500"/>
                </a:lnTo>
                <a:close/>
                <a:moveTo>
                  <a:pt x="38100" y="571500"/>
                </a:moveTo>
                <a:lnTo>
                  <a:pt x="152400" y="571500"/>
                </a:lnTo>
                <a:lnTo>
                  <a:pt x="152400" y="609600"/>
                </a:lnTo>
                <a:lnTo>
                  <a:pt x="38100" y="609600"/>
                </a:lnTo>
                <a:close/>
                <a:moveTo>
                  <a:pt x="190500" y="571500"/>
                </a:moveTo>
                <a:lnTo>
                  <a:pt x="228600" y="571500"/>
                </a:lnTo>
                <a:lnTo>
                  <a:pt x="228600" y="609600"/>
                </a:lnTo>
                <a:lnTo>
                  <a:pt x="190500" y="609600"/>
                </a:lnTo>
                <a:close/>
                <a:moveTo>
                  <a:pt x="304800" y="571500"/>
                </a:moveTo>
                <a:lnTo>
                  <a:pt x="457200" y="571500"/>
                </a:lnTo>
                <a:lnTo>
                  <a:pt x="457200" y="609600"/>
                </a:lnTo>
                <a:lnTo>
                  <a:pt x="304800" y="609600"/>
                </a:lnTo>
                <a:close/>
                <a:moveTo>
                  <a:pt x="533400" y="571500"/>
                </a:moveTo>
                <a:lnTo>
                  <a:pt x="571500" y="571500"/>
                </a:lnTo>
                <a:lnTo>
                  <a:pt x="571500" y="609600"/>
                </a:lnTo>
                <a:lnTo>
                  <a:pt x="533400" y="609600"/>
                </a:lnTo>
                <a:close/>
                <a:moveTo>
                  <a:pt x="609600" y="571500"/>
                </a:moveTo>
                <a:lnTo>
                  <a:pt x="647700" y="571500"/>
                </a:lnTo>
                <a:lnTo>
                  <a:pt x="647700" y="609600"/>
                </a:lnTo>
                <a:lnTo>
                  <a:pt x="609600" y="609600"/>
                </a:lnTo>
                <a:close/>
                <a:moveTo>
                  <a:pt x="685800" y="571500"/>
                </a:moveTo>
                <a:lnTo>
                  <a:pt x="800100" y="571500"/>
                </a:lnTo>
                <a:lnTo>
                  <a:pt x="800100" y="609600"/>
                </a:lnTo>
                <a:lnTo>
                  <a:pt x="685800" y="609600"/>
                </a:lnTo>
                <a:close/>
                <a:moveTo>
                  <a:pt x="838200" y="571500"/>
                </a:moveTo>
                <a:lnTo>
                  <a:pt x="952500" y="571500"/>
                </a:lnTo>
                <a:lnTo>
                  <a:pt x="952500" y="609600"/>
                </a:lnTo>
                <a:lnTo>
                  <a:pt x="838200" y="609600"/>
                </a:lnTo>
                <a:close/>
                <a:moveTo>
                  <a:pt x="1028700" y="571500"/>
                </a:moveTo>
                <a:lnTo>
                  <a:pt x="1104900" y="571500"/>
                </a:lnTo>
                <a:lnTo>
                  <a:pt x="1104900" y="609600"/>
                </a:lnTo>
                <a:lnTo>
                  <a:pt x="1028700" y="609600"/>
                </a:lnTo>
                <a:close/>
                <a:moveTo>
                  <a:pt x="114300" y="609600"/>
                </a:moveTo>
                <a:lnTo>
                  <a:pt x="152400" y="609600"/>
                </a:lnTo>
                <a:lnTo>
                  <a:pt x="152400" y="647700"/>
                </a:lnTo>
                <a:lnTo>
                  <a:pt x="114300" y="647700"/>
                </a:lnTo>
                <a:close/>
                <a:moveTo>
                  <a:pt x="190500" y="609600"/>
                </a:moveTo>
                <a:lnTo>
                  <a:pt x="304800" y="609600"/>
                </a:lnTo>
                <a:lnTo>
                  <a:pt x="304800" y="647700"/>
                </a:lnTo>
                <a:lnTo>
                  <a:pt x="190500" y="647700"/>
                </a:lnTo>
                <a:close/>
                <a:moveTo>
                  <a:pt x="419100" y="609600"/>
                </a:moveTo>
                <a:lnTo>
                  <a:pt x="457200" y="609600"/>
                </a:lnTo>
                <a:lnTo>
                  <a:pt x="457200" y="647700"/>
                </a:lnTo>
                <a:lnTo>
                  <a:pt x="419100" y="647700"/>
                </a:lnTo>
                <a:close/>
                <a:moveTo>
                  <a:pt x="495300" y="609600"/>
                </a:moveTo>
                <a:lnTo>
                  <a:pt x="533400" y="609600"/>
                </a:lnTo>
                <a:lnTo>
                  <a:pt x="533400" y="647700"/>
                </a:lnTo>
                <a:lnTo>
                  <a:pt x="495300" y="647700"/>
                </a:lnTo>
                <a:close/>
                <a:moveTo>
                  <a:pt x="571500" y="609600"/>
                </a:moveTo>
                <a:lnTo>
                  <a:pt x="647700" y="609600"/>
                </a:lnTo>
                <a:lnTo>
                  <a:pt x="647700" y="647700"/>
                </a:lnTo>
                <a:lnTo>
                  <a:pt x="571500" y="647700"/>
                </a:lnTo>
                <a:close/>
                <a:moveTo>
                  <a:pt x="685800" y="609600"/>
                </a:moveTo>
                <a:lnTo>
                  <a:pt x="723900" y="609600"/>
                </a:lnTo>
                <a:lnTo>
                  <a:pt x="723900" y="647700"/>
                </a:lnTo>
                <a:lnTo>
                  <a:pt x="685800" y="647700"/>
                </a:lnTo>
                <a:close/>
                <a:moveTo>
                  <a:pt x="762000" y="609600"/>
                </a:moveTo>
                <a:lnTo>
                  <a:pt x="800100" y="609600"/>
                </a:lnTo>
                <a:lnTo>
                  <a:pt x="800100" y="647700"/>
                </a:lnTo>
                <a:lnTo>
                  <a:pt x="762000" y="647700"/>
                </a:lnTo>
                <a:close/>
                <a:moveTo>
                  <a:pt x="876300" y="609600"/>
                </a:moveTo>
                <a:lnTo>
                  <a:pt x="914400" y="609600"/>
                </a:lnTo>
                <a:lnTo>
                  <a:pt x="914400" y="647700"/>
                </a:lnTo>
                <a:lnTo>
                  <a:pt x="876300" y="647700"/>
                </a:lnTo>
                <a:close/>
                <a:moveTo>
                  <a:pt x="0" y="647700"/>
                </a:moveTo>
                <a:lnTo>
                  <a:pt x="38100" y="647700"/>
                </a:lnTo>
                <a:lnTo>
                  <a:pt x="38100" y="800100"/>
                </a:lnTo>
                <a:lnTo>
                  <a:pt x="0" y="800100"/>
                </a:lnTo>
                <a:close/>
                <a:moveTo>
                  <a:pt x="114300" y="647700"/>
                </a:moveTo>
                <a:lnTo>
                  <a:pt x="190500" y="647700"/>
                </a:lnTo>
                <a:lnTo>
                  <a:pt x="190500" y="685800"/>
                </a:lnTo>
                <a:lnTo>
                  <a:pt x="114300" y="685800"/>
                </a:lnTo>
                <a:close/>
                <a:moveTo>
                  <a:pt x="381000" y="647700"/>
                </a:moveTo>
                <a:lnTo>
                  <a:pt x="419100" y="647700"/>
                </a:lnTo>
                <a:lnTo>
                  <a:pt x="419100" y="685800"/>
                </a:lnTo>
                <a:lnTo>
                  <a:pt x="381000" y="685800"/>
                </a:lnTo>
                <a:close/>
                <a:moveTo>
                  <a:pt x="457200" y="647700"/>
                </a:moveTo>
                <a:lnTo>
                  <a:pt x="495300" y="647700"/>
                </a:lnTo>
                <a:lnTo>
                  <a:pt x="495300" y="685800"/>
                </a:lnTo>
                <a:lnTo>
                  <a:pt x="457200" y="685800"/>
                </a:lnTo>
                <a:close/>
                <a:moveTo>
                  <a:pt x="533400" y="647700"/>
                </a:moveTo>
                <a:lnTo>
                  <a:pt x="609600" y="647700"/>
                </a:lnTo>
                <a:lnTo>
                  <a:pt x="609600" y="685800"/>
                </a:lnTo>
                <a:lnTo>
                  <a:pt x="533400" y="685800"/>
                </a:lnTo>
                <a:close/>
                <a:moveTo>
                  <a:pt x="723900" y="647700"/>
                </a:moveTo>
                <a:lnTo>
                  <a:pt x="800100" y="647700"/>
                </a:lnTo>
                <a:lnTo>
                  <a:pt x="800100" y="685800"/>
                </a:lnTo>
                <a:lnTo>
                  <a:pt x="723900" y="685800"/>
                </a:lnTo>
                <a:close/>
                <a:moveTo>
                  <a:pt x="876300" y="647700"/>
                </a:moveTo>
                <a:lnTo>
                  <a:pt x="990600" y="647700"/>
                </a:lnTo>
                <a:lnTo>
                  <a:pt x="990600" y="685800"/>
                </a:lnTo>
                <a:lnTo>
                  <a:pt x="876300" y="685800"/>
                </a:lnTo>
                <a:close/>
                <a:moveTo>
                  <a:pt x="1028700" y="647700"/>
                </a:moveTo>
                <a:lnTo>
                  <a:pt x="1066800" y="647700"/>
                </a:lnTo>
                <a:lnTo>
                  <a:pt x="1066800" y="685800"/>
                </a:lnTo>
                <a:lnTo>
                  <a:pt x="1028700" y="685800"/>
                </a:lnTo>
                <a:close/>
                <a:moveTo>
                  <a:pt x="76200" y="685800"/>
                </a:moveTo>
                <a:lnTo>
                  <a:pt x="114300" y="685800"/>
                </a:lnTo>
                <a:lnTo>
                  <a:pt x="114300" y="723900"/>
                </a:lnTo>
                <a:lnTo>
                  <a:pt x="76200" y="723900"/>
                </a:lnTo>
                <a:close/>
                <a:moveTo>
                  <a:pt x="152400" y="685800"/>
                </a:moveTo>
                <a:lnTo>
                  <a:pt x="190500" y="685800"/>
                </a:lnTo>
                <a:lnTo>
                  <a:pt x="190500" y="723900"/>
                </a:lnTo>
                <a:lnTo>
                  <a:pt x="152400" y="723900"/>
                </a:lnTo>
                <a:close/>
                <a:moveTo>
                  <a:pt x="228600" y="685800"/>
                </a:moveTo>
                <a:lnTo>
                  <a:pt x="266700" y="685800"/>
                </a:lnTo>
                <a:lnTo>
                  <a:pt x="266700" y="723900"/>
                </a:lnTo>
                <a:lnTo>
                  <a:pt x="228600" y="723900"/>
                </a:lnTo>
                <a:close/>
                <a:moveTo>
                  <a:pt x="304800" y="685800"/>
                </a:moveTo>
                <a:lnTo>
                  <a:pt x="342900" y="685800"/>
                </a:lnTo>
                <a:lnTo>
                  <a:pt x="342900" y="723900"/>
                </a:lnTo>
                <a:lnTo>
                  <a:pt x="304800" y="723900"/>
                </a:lnTo>
                <a:close/>
                <a:moveTo>
                  <a:pt x="495300" y="685800"/>
                </a:moveTo>
                <a:lnTo>
                  <a:pt x="609600" y="685800"/>
                </a:lnTo>
                <a:lnTo>
                  <a:pt x="609600" y="723900"/>
                </a:lnTo>
                <a:lnTo>
                  <a:pt x="495300" y="723900"/>
                </a:lnTo>
                <a:close/>
                <a:moveTo>
                  <a:pt x="723900" y="685800"/>
                </a:moveTo>
                <a:lnTo>
                  <a:pt x="762000" y="685800"/>
                </a:lnTo>
                <a:lnTo>
                  <a:pt x="762000" y="723900"/>
                </a:lnTo>
                <a:lnTo>
                  <a:pt x="723900" y="723900"/>
                </a:lnTo>
                <a:close/>
                <a:moveTo>
                  <a:pt x="952500" y="685800"/>
                </a:moveTo>
                <a:lnTo>
                  <a:pt x="1104900" y="685800"/>
                </a:lnTo>
                <a:lnTo>
                  <a:pt x="1104900" y="723900"/>
                </a:lnTo>
                <a:lnTo>
                  <a:pt x="952500" y="723900"/>
                </a:lnTo>
                <a:close/>
                <a:moveTo>
                  <a:pt x="76200" y="723900"/>
                </a:moveTo>
                <a:lnTo>
                  <a:pt x="228600" y="723900"/>
                </a:lnTo>
                <a:lnTo>
                  <a:pt x="228600" y="762000"/>
                </a:lnTo>
                <a:lnTo>
                  <a:pt x="76200" y="762000"/>
                </a:lnTo>
                <a:close/>
                <a:moveTo>
                  <a:pt x="266700" y="723900"/>
                </a:moveTo>
                <a:lnTo>
                  <a:pt x="342900" y="723900"/>
                </a:lnTo>
                <a:lnTo>
                  <a:pt x="342900" y="762000"/>
                </a:lnTo>
                <a:lnTo>
                  <a:pt x="266700" y="762000"/>
                </a:lnTo>
                <a:close/>
                <a:moveTo>
                  <a:pt x="457200" y="723900"/>
                </a:moveTo>
                <a:lnTo>
                  <a:pt x="495300" y="723900"/>
                </a:lnTo>
                <a:lnTo>
                  <a:pt x="495300" y="800100"/>
                </a:lnTo>
                <a:lnTo>
                  <a:pt x="457200" y="800100"/>
                </a:lnTo>
                <a:close/>
                <a:moveTo>
                  <a:pt x="609600" y="723900"/>
                </a:moveTo>
                <a:lnTo>
                  <a:pt x="647700" y="723900"/>
                </a:lnTo>
                <a:lnTo>
                  <a:pt x="647700" y="762000"/>
                </a:lnTo>
                <a:lnTo>
                  <a:pt x="609600" y="762000"/>
                </a:lnTo>
                <a:close/>
                <a:moveTo>
                  <a:pt x="685800" y="723900"/>
                </a:moveTo>
                <a:lnTo>
                  <a:pt x="952500" y="723900"/>
                </a:lnTo>
                <a:lnTo>
                  <a:pt x="952500" y="762000"/>
                </a:lnTo>
                <a:lnTo>
                  <a:pt x="685800" y="762000"/>
                </a:lnTo>
                <a:close/>
                <a:moveTo>
                  <a:pt x="1028700" y="723900"/>
                </a:moveTo>
                <a:lnTo>
                  <a:pt x="1104900" y="723900"/>
                </a:lnTo>
                <a:lnTo>
                  <a:pt x="1104900" y="762000"/>
                </a:lnTo>
                <a:lnTo>
                  <a:pt x="1028700" y="762000"/>
                </a:lnTo>
                <a:close/>
                <a:moveTo>
                  <a:pt x="76200" y="762000"/>
                </a:moveTo>
                <a:lnTo>
                  <a:pt x="152400" y="762000"/>
                </a:lnTo>
                <a:lnTo>
                  <a:pt x="152400" y="800100"/>
                </a:lnTo>
                <a:lnTo>
                  <a:pt x="76200" y="800100"/>
                </a:lnTo>
                <a:close/>
                <a:moveTo>
                  <a:pt x="190500" y="762000"/>
                </a:moveTo>
                <a:lnTo>
                  <a:pt x="342900" y="762000"/>
                </a:lnTo>
                <a:lnTo>
                  <a:pt x="342900" y="800100"/>
                </a:lnTo>
                <a:lnTo>
                  <a:pt x="190500" y="800100"/>
                </a:lnTo>
                <a:close/>
                <a:moveTo>
                  <a:pt x="533400" y="762000"/>
                </a:moveTo>
                <a:lnTo>
                  <a:pt x="609600" y="762000"/>
                </a:lnTo>
                <a:lnTo>
                  <a:pt x="609600" y="800100"/>
                </a:lnTo>
                <a:lnTo>
                  <a:pt x="533400" y="800100"/>
                </a:lnTo>
                <a:close/>
                <a:moveTo>
                  <a:pt x="685800" y="762000"/>
                </a:moveTo>
                <a:lnTo>
                  <a:pt x="723900" y="762000"/>
                </a:lnTo>
                <a:lnTo>
                  <a:pt x="723900" y="800100"/>
                </a:lnTo>
                <a:lnTo>
                  <a:pt x="685800" y="800100"/>
                </a:lnTo>
                <a:close/>
                <a:moveTo>
                  <a:pt x="762000" y="762000"/>
                </a:moveTo>
                <a:lnTo>
                  <a:pt x="1066800" y="762000"/>
                </a:lnTo>
                <a:lnTo>
                  <a:pt x="1066800" y="800100"/>
                </a:lnTo>
                <a:lnTo>
                  <a:pt x="762000" y="800100"/>
                </a:lnTo>
                <a:close/>
                <a:moveTo>
                  <a:pt x="304800" y="800100"/>
                </a:moveTo>
                <a:lnTo>
                  <a:pt x="419100" y="800100"/>
                </a:lnTo>
                <a:lnTo>
                  <a:pt x="419100" y="838200"/>
                </a:lnTo>
                <a:lnTo>
                  <a:pt x="304800" y="838200"/>
                </a:lnTo>
                <a:close/>
                <a:moveTo>
                  <a:pt x="533400" y="800100"/>
                </a:moveTo>
                <a:lnTo>
                  <a:pt x="571500" y="800100"/>
                </a:lnTo>
                <a:lnTo>
                  <a:pt x="571500" y="838200"/>
                </a:lnTo>
                <a:lnTo>
                  <a:pt x="533400" y="838200"/>
                </a:lnTo>
                <a:close/>
                <a:moveTo>
                  <a:pt x="723900" y="800100"/>
                </a:moveTo>
                <a:lnTo>
                  <a:pt x="800100" y="800100"/>
                </a:lnTo>
                <a:lnTo>
                  <a:pt x="800100" y="876300"/>
                </a:lnTo>
                <a:lnTo>
                  <a:pt x="723900" y="876300"/>
                </a:lnTo>
                <a:close/>
                <a:moveTo>
                  <a:pt x="914400" y="800100"/>
                </a:moveTo>
                <a:lnTo>
                  <a:pt x="952500" y="800100"/>
                </a:lnTo>
                <a:lnTo>
                  <a:pt x="952500" y="838200"/>
                </a:lnTo>
                <a:lnTo>
                  <a:pt x="914400" y="838200"/>
                </a:lnTo>
                <a:close/>
                <a:moveTo>
                  <a:pt x="1028700" y="800100"/>
                </a:moveTo>
                <a:lnTo>
                  <a:pt x="1066800" y="800100"/>
                </a:lnTo>
                <a:lnTo>
                  <a:pt x="1066800" y="838200"/>
                </a:lnTo>
                <a:lnTo>
                  <a:pt x="1028700" y="838200"/>
                </a:lnTo>
                <a:close/>
                <a:moveTo>
                  <a:pt x="0" y="838200"/>
                </a:moveTo>
                <a:lnTo>
                  <a:pt x="266700" y="838200"/>
                </a:lnTo>
                <a:lnTo>
                  <a:pt x="266700" y="876300"/>
                </a:lnTo>
                <a:lnTo>
                  <a:pt x="0" y="876300"/>
                </a:lnTo>
                <a:close/>
                <a:moveTo>
                  <a:pt x="304800" y="838200"/>
                </a:moveTo>
                <a:lnTo>
                  <a:pt x="342900" y="838200"/>
                </a:lnTo>
                <a:lnTo>
                  <a:pt x="342900" y="876300"/>
                </a:lnTo>
                <a:lnTo>
                  <a:pt x="304800" y="876300"/>
                </a:lnTo>
                <a:close/>
                <a:moveTo>
                  <a:pt x="419100" y="838200"/>
                </a:moveTo>
                <a:lnTo>
                  <a:pt x="495300" y="838200"/>
                </a:lnTo>
                <a:lnTo>
                  <a:pt x="495300" y="876300"/>
                </a:lnTo>
                <a:lnTo>
                  <a:pt x="419100" y="876300"/>
                </a:lnTo>
                <a:close/>
                <a:moveTo>
                  <a:pt x="571500" y="838200"/>
                </a:moveTo>
                <a:lnTo>
                  <a:pt x="647700" y="838200"/>
                </a:lnTo>
                <a:lnTo>
                  <a:pt x="647700" y="876300"/>
                </a:lnTo>
                <a:lnTo>
                  <a:pt x="571500" y="876300"/>
                </a:lnTo>
                <a:close/>
                <a:moveTo>
                  <a:pt x="838200" y="838200"/>
                </a:moveTo>
                <a:lnTo>
                  <a:pt x="876300" y="838200"/>
                </a:lnTo>
                <a:lnTo>
                  <a:pt x="876300" y="876300"/>
                </a:lnTo>
                <a:lnTo>
                  <a:pt x="838200" y="876300"/>
                </a:lnTo>
                <a:close/>
                <a:moveTo>
                  <a:pt x="914400" y="838200"/>
                </a:moveTo>
                <a:lnTo>
                  <a:pt x="1028700" y="838200"/>
                </a:lnTo>
                <a:lnTo>
                  <a:pt x="1028700" y="876300"/>
                </a:lnTo>
                <a:lnTo>
                  <a:pt x="914400" y="876300"/>
                </a:lnTo>
                <a:close/>
                <a:moveTo>
                  <a:pt x="0" y="876300"/>
                </a:moveTo>
                <a:lnTo>
                  <a:pt x="38100" y="876300"/>
                </a:lnTo>
                <a:lnTo>
                  <a:pt x="38100" y="1066800"/>
                </a:lnTo>
                <a:lnTo>
                  <a:pt x="0" y="1066800"/>
                </a:lnTo>
                <a:close/>
                <a:moveTo>
                  <a:pt x="228600" y="876300"/>
                </a:moveTo>
                <a:lnTo>
                  <a:pt x="266700" y="876300"/>
                </a:lnTo>
                <a:lnTo>
                  <a:pt x="266700" y="1066800"/>
                </a:lnTo>
                <a:lnTo>
                  <a:pt x="228600" y="1066800"/>
                </a:lnTo>
                <a:close/>
                <a:moveTo>
                  <a:pt x="342900" y="876300"/>
                </a:moveTo>
                <a:lnTo>
                  <a:pt x="457200" y="876300"/>
                </a:lnTo>
                <a:lnTo>
                  <a:pt x="457200" y="914400"/>
                </a:lnTo>
                <a:lnTo>
                  <a:pt x="342900" y="914400"/>
                </a:lnTo>
                <a:close/>
                <a:moveTo>
                  <a:pt x="609600" y="876300"/>
                </a:moveTo>
                <a:lnTo>
                  <a:pt x="647700" y="876300"/>
                </a:lnTo>
                <a:lnTo>
                  <a:pt x="647700" y="914400"/>
                </a:lnTo>
                <a:lnTo>
                  <a:pt x="609600" y="914400"/>
                </a:lnTo>
                <a:close/>
                <a:moveTo>
                  <a:pt x="762000" y="876300"/>
                </a:moveTo>
                <a:lnTo>
                  <a:pt x="800100" y="876300"/>
                </a:lnTo>
                <a:lnTo>
                  <a:pt x="800100" y="914400"/>
                </a:lnTo>
                <a:lnTo>
                  <a:pt x="762000" y="914400"/>
                </a:lnTo>
                <a:close/>
                <a:moveTo>
                  <a:pt x="914400" y="876300"/>
                </a:moveTo>
                <a:lnTo>
                  <a:pt x="952500" y="876300"/>
                </a:lnTo>
                <a:lnTo>
                  <a:pt x="952500" y="914400"/>
                </a:lnTo>
                <a:lnTo>
                  <a:pt x="914400" y="914400"/>
                </a:lnTo>
                <a:close/>
                <a:moveTo>
                  <a:pt x="990600" y="876300"/>
                </a:moveTo>
                <a:lnTo>
                  <a:pt x="1104900" y="876300"/>
                </a:lnTo>
                <a:lnTo>
                  <a:pt x="1104900" y="952500"/>
                </a:lnTo>
                <a:lnTo>
                  <a:pt x="990600" y="952500"/>
                </a:lnTo>
                <a:close/>
                <a:moveTo>
                  <a:pt x="76200" y="914400"/>
                </a:moveTo>
                <a:lnTo>
                  <a:pt x="190500" y="914400"/>
                </a:lnTo>
                <a:lnTo>
                  <a:pt x="190500" y="1028700"/>
                </a:lnTo>
                <a:lnTo>
                  <a:pt x="76200" y="1028700"/>
                </a:lnTo>
                <a:close/>
                <a:moveTo>
                  <a:pt x="304800" y="914400"/>
                </a:moveTo>
                <a:lnTo>
                  <a:pt x="457200" y="914400"/>
                </a:lnTo>
                <a:lnTo>
                  <a:pt x="457200" y="952500"/>
                </a:lnTo>
                <a:lnTo>
                  <a:pt x="304800" y="952500"/>
                </a:lnTo>
                <a:close/>
                <a:moveTo>
                  <a:pt x="571500" y="914400"/>
                </a:moveTo>
                <a:lnTo>
                  <a:pt x="685800" y="914400"/>
                </a:lnTo>
                <a:lnTo>
                  <a:pt x="685800" y="952500"/>
                </a:lnTo>
                <a:lnTo>
                  <a:pt x="571500" y="952500"/>
                </a:lnTo>
                <a:close/>
                <a:moveTo>
                  <a:pt x="762000" y="914400"/>
                </a:moveTo>
                <a:lnTo>
                  <a:pt x="952500" y="914400"/>
                </a:lnTo>
                <a:lnTo>
                  <a:pt x="952500" y="952500"/>
                </a:lnTo>
                <a:lnTo>
                  <a:pt x="762000" y="952500"/>
                </a:lnTo>
                <a:close/>
                <a:moveTo>
                  <a:pt x="304800" y="952500"/>
                </a:moveTo>
                <a:lnTo>
                  <a:pt x="381000" y="952500"/>
                </a:lnTo>
                <a:lnTo>
                  <a:pt x="381000" y="990600"/>
                </a:lnTo>
                <a:lnTo>
                  <a:pt x="304800" y="990600"/>
                </a:lnTo>
                <a:close/>
                <a:moveTo>
                  <a:pt x="457200" y="952500"/>
                </a:moveTo>
                <a:lnTo>
                  <a:pt x="533400" y="952500"/>
                </a:lnTo>
                <a:lnTo>
                  <a:pt x="533400" y="990600"/>
                </a:lnTo>
                <a:lnTo>
                  <a:pt x="457200" y="990600"/>
                </a:lnTo>
                <a:close/>
                <a:moveTo>
                  <a:pt x="609600" y="952500"/>
                </a:moveTo>
                <a:lnTo>
                  <a:pt x="647700" y="952500"/>
                </a:lnTo>
                <a:lnTo>
                  <a:pt x="647700" y="990600"/>
                </a:lnTo>
                <a:lnTo>
                  <a:pt x="609600" y="990600"/>
                </a:lnTo>
                <a:close/>
                <a:moveTo>
                  <a:pt x="685800" y="952500"/>
                </a:moveTo>
                <a:lnTo>
                  <a:pt x="723900" y="952500"/>
                </a:lnTo>
                <a:lnTo>
                  <a:pt x="723900" y="990600"/>
                </a:lnTo>
                <a:lnTo>
                  <a:pt x="685800" y="990600"/>
                </a:lnTo>
                <a:close/>
                <a:moveTo>
                  <a:pt x="762000" y="952500"/>
                </a:moveTo>
                <a:lnTo>
                  <a:pt x="838200" y="952500"/>
                </a:lnTo>
                <a:lnTo>
                  <a:pt x="838200" y="990600"/>
                </a:lnTo>
                <a:lnTo>
                  <a:pt x="762000" y="990600"/>
                </a:lnTo>
                <a:close/>
                <a:moveTo>
                  <a:pt x="876300" y="952500"/>
                </a:moveTo>
                <a:lnTo>
                  <a:pt x="914400" y="952500"/>
                </a:lnTo>
                <a:lnTo>
                  <a:pt x="914400" y="990600"/>
                </a:lnTo>
                <a:lnTo>
                  <a:pt x="876300" y="990600"/>
                </a:lnTo>
                <a:close/>
                <a:moveTo>
                  <a:pt x="304800" y="990600"/>
                </a:moveTo>
                <a:lnTo>
                  <a:pt x="342900" y="990600"/>
                </a:lnTo>
                <a:lnTo>
                  <a:pt x="342900" y="1066800"/>
                </a:lnTo>
                <a:lnTo>
                  <a:pt x="304800" y="1066800"/>
                </a:lnTo>
                <a:close/>
                <a:moveTo>
                  <a:pt x="381000" y="990600"/>
                </a:moveTo>
                <a:lnTo>
                  <a:pt x="419100" y="990600"/>
                </a:lnTo>
                <a:lnTo>
                  <a:pt x="419100" y="1028700"/>
                </a:lnTo>
                <a:lnTo>
                  <a:pt x="381000" y="1028700"/>
                </a:lnTo>
                <a:close/>
                <a:moveTo>
                  <a:pt x="495300" y="990600"/>
                </a:moveTo>
                <a:lnTo>
                  <a:pt x="609600" y="990600"/>
                </a:lnTo>
                <a:lnTo>
                  <a:pt x="609600" y="1028700"/>
                </a:lnTo>
                <a:lnTo>
                  <a:pt x="495300" y="1028700"/>
                </a:lnTo>
                <a:close/>
                <a:moveTo>
                  <a:pt x="647700" y="990600"/>
                </a:moveTo>
                <a:lnTo>
                  <a:pt x="762000" y="990600"/>
                </a:lnTo>
                <a:lnTo>
                  <a:pt x="762000" y="1028700"/>
                </a:lnTo>
                <a:lnTo>
                  <a:pt x="647700" y="1028700"/>
                </a:lnTo>
                <a:close/>
                <a:moveTo>
                  <a:pt x="800100" y="990600"/>
                </a:moveTo>
                <a:lnTo>
                  <a:pt x="914400" y="990600"/>
                </a:lnTo>
                <a:lnTo>
                  <a:pt x="914400" y="1028700"/>
                </a:lnTo>
                <a:lnTo>
                  <a:pt x="800100" y="1028700"/>
                </a:lnTo>
                <a:close/>
                <a:moveTo>
                  <a:pt x="990600" y="990600"/>
                </a:moveTo>
                <a:lnTo>
                  <a:pt x="1066800" y="990600"/>
                </a:lnTo>
                <a:lnTo>
                  <a:pt x="1066800" y="1028700"/>
                </a:lnTo>
                <a:lnTo>
                  <a:pt x="990600" y="1028700"/>
                </a:lnTo>
                <a:close/>
                <a:moveTo>
                  <a:pt x="457200" y="1028700"/>
                </a:moveTo>
                <a:lnTo>
                  <a:pt x="533400" y="1028700"/>
                </a:lnTo>
                <a:lnTo>
                  <a:pt x="533400" y="1066800"/>
                </a:lnTo>
                <a:lnTo>
                  <a:pt x="457200" y="1066800"/>
                </a:lnTo>
                <a:close/>
                <a:moveTo>
                  <a:pt x="571500" y="1028700"/>
                </a:moveTo>
                <a:lnTo>
                  <a:pt x="723900" y="1028700"/>
                </a:lnTo>
                <a:lnTo>
                  <a:pt x="723900" y="1066800"/>
                </a:lnTo>
                <a:lnTo>
                  <a:pt x="571500" y="1066800"/>
                </a:lnTo>
                <a:close/>
                <a:moveTo>
                  <a:pt x="762000" y="1028700"/>
                </a:moveTo>
                <a:lnTo>
                  <a:pt x="838200" y="1028700"/>
                </a:lnTo>
                <a:lnTo>
                  <a:pt x="838200" y="1066800"/>
                </a:lnTo>
                <a:lnTo>
                  <a:pt x="762000" y="1066800"/>
                </a:lnTo>
                <a:close/>
                <a:moveTo>
                  <a:pt x="952500" y="1028700"/>
                </a:moveTo>
                <a:lnTo>
                  <a:pt x="1028700" y="1028700"/>
                </a:lnTo>
                <a:lnTo>
                  <a:pt x="1028700" y="1066800"/>
                </a:lnTo>
                <a:lnTo>
                  <a:pt x="952500" y="1066800"/>
                </a:lnTo>
                <a:close/>
                <a:moveTo>
                  <a:pt x="1066800" y="1028700"/>
                </a:moveTo>
                <a:lnTo>
                  <a:pt x="1104900" y="1028700"/>
                </a:lnTo>
                <a:lnTo>
                  <a:pt x="1104900" y="1066800"/>
                </a:lnTo>
                <a:lnTo>
                  <a:pt x="1066800" y="1066800"/>
                </a:lnTo>
                <a:close/>
                <a:moveTo>
                  <a:pt x="0" y="1066800"/>
                </a:moveTo>
                <a:lnTo>
                  <a:pt x="266700" y="1066800"/>
                </a:lnTo>
                <a:lnTo>
                  <a:pt x="266700" y="1104900"/>
                </a:lnTo>
                <a:lnTo>
                  <a:pt x="0" y="1104900"/>
                </a:lnTo>
                <a:close/>
                <a:moveTo>
                  <a:pt x="304800" y="1066800"/>
                </a:moveTo>
                <a:lnTo>
                  <a:pt x="381000" y="1066800"/>
                </a:lnTo>
                <a:lnTo>
                  <a:pt x="381000" y="1104900"/>
                </a:lnTo>
                <a:lnTo>
                  <a:pt x="304800" y="1104900"/>
                </a:lnTo>
                <a:close/>
                <a:moveTo>
                  <a:pt x="457200" y="1066800"/>
                </a:moveTo>
                <a:lnTo>
                  <a:pt x="495300" y="1066800"/>
                </a:lnTo>
                <a:lnTo>
                  <a:pt x="495300" y="1104900"/>
                </a:lnTo>
                <a:lnTo>
                  <a:pt x="457200" y="1104900"/>
                </a:lnTo>
                <a:close/>
                <a:moveTo>
                  <a:pt x="533400" y="1066800"/>
                </a:moveTo>
                <a:lnTo>
                  <a:pt x="685800" y="1066800"/>
                </a:lnTo>
                <a:lnTo>
                  <a:pt x="685800" y="1104900"/>
                </a:lnTo>
                <a:lnTo>
                  <a:pt x="533400" y="1104900"/>
                </a:lnTo>
                <a:close/>
                <a:moveTo>
                  <a:pt x="723900" y="1066800"/>
                </a:moveTo>
                <a:lnTo>
                  <a:pt x="876300" y="1066800"/>
                </a:lnTo>
                <a:lnTo>
                  <a:pt x="876300" y="1104900"/>
                </a:lnTo>
                <a:lnTo>
                  <a:pt x="723900" y="1104900"/>
                </a:lnTo>
                <a:close/>
                <a:moveTo>
                  <a:pt x="914400" y="1066800"/>
                </a:moveTo>
                <a:lnTo>
                  <a:pt x="1028700" y="1066800"/>
                </a:lnTo>
                <a:lnTo>
                  <a:pt x="1028700" y="1104900"/>
                </a:lnTo>
                <a:lnTo>
                  <a:pt x="914400" y="1104900"/>
                </a:lnTo>
                <a:close/>
              </a:path>
            </a:pathLst>
          </a:custGeom>
          <a:solidFill>
            <a:srgbClr val="14505F"/>
          </a:solidFill>
          <a:ln>
            <a:noFill/>
          </a:ln>
        </p:spPr>
      </p:sp>
      <p:sp>
        <p:nvSpPr>
          <p:cNvPr name="GraphCompose Text Line" id="32"/>
          <p:cNvSpPr txBox="true"/>
          <p:nvPr/>
        </p:nvSpPr>
        <p:spPr>
          <a:xfrm>
            <a:off x="5695400" y="4643058"/>
            <a:ext cx="58420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DemchaAV/</a:t>
            </a:r>
            <a:endParaRPr lang="en-US" sz="1100"/>
          </a:p>
        </p:txBody>
      </p:sp>
      <p:sp>
        <p:nvSpPr>
          <p:cNvPr name="GraphCompose Text Line" id="33"/>
          <p:cNvSpPr txBox="true"/>
          <p:nvPr/>
        </p:nvSpPr>
        <p:spPr>
          <a:xfrm>
            <a:off x="5695400" y="4727906"/>
            <a:ext cx="7785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431800" y="5146516"/>
            <a:ext cx="6641668" cy="1530033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5" id="35"/>
          <p:cNvCxnSpPr/>
          <p:nvPr/>
        </p:nvCxnSpPr>
        <p:spPr>
          <a:xfrm>
            <a:off x="431800" y="5146516"/>
            <a:ext cx="0" cy="1530033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36"/>
          <p:cNvSpPr txBox="true"/>
          <p:nvPr/>
        </p:nvSpPr>
        <p:spPr>
          <a:xfrm>
            <a:off x="635000" y="5309284"/>
            <a:ext cx="2029219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Executive summary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635000" y="5617727"/>
            <a:ext cx="599721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features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below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are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what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turn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GraphCompose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from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"tidy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layouter"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635000" y="5782192"/>
            <a:ext cx="623653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into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designed-document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shape-as-container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with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clip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path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rotate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/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635000" y="5946657"/>
            <a:ext cx="561903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scale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+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per-layer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z-index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advanced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(row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span,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zebra,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totals,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635000" y="6111122"/>
            <a:ext cx="523819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repeating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header)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two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cinematic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templates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ModernInvoice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/</a:t>
            </a:r>
            <a:endParaRPr lang="en-US" sz="1100"/>
          </a:p>
        </p:txBody>
      </p:sp>
      <p:sp>
        <p:nvSpPr>
          <p:cNvPr name="GraphCompose Text Line" id="41"/>
          <p:cNvSpPr txBox="true"/>
          <p:nvPr/>
        </p:nvSpPr>
        <p:spPr>
          <a:xfrm>
            <a:off x="635000" y="6275587"/>
            <a:ext cx="3360445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ModernProposal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driven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BrandTheme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431800" y="6813917"/>
            <a:ext cx="1932927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Quarterly numbers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431800" y="7109802"/>
            <a:ext cx="6102190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Repeated header + zebra rows + bold totals; the table paginates row-by-row across the next page so column titles stay visible.</a:t>
            </a:r>
            <a:endParaRPr lang="en-US" sz="1100"/>
          </a:p>
        </p:txBody>
      </p:sp>
      <p:sp>
        <p:nvSpPr>
          <p:cNvPr name="GraphCompose Table Cell Fill" id="44"/>
          <p:cNvSpPr/>
          <p:nvPr/>
        </p:nvSpPr>
        <p:spPr>
          <a:xfrm>
            <a:off x="431800" y="7485285"/>
            <a:ext cx="762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5"/>
          <p:cNvSpPr/>
          <p:nvPr/>
        </p:nvSpPr>
        <p:spPr>
          <a:xfrm>
            <a:off x="1193800" y="7485285"/>
            <a:ext cx="2219928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6"/>
          <p:cNvSpPr/>
          <p:nvPr/>
        </p:nvSpPr>
        <p:spPr>
          <a:xfrm>
            <a:off x="3413728" y="7485285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7"/>
          <p:cNvSpPr/>
          <p:nvPr/>
        </p:nvSpPr>
        <p:spPr>
          <a:xfrm>
            <a:off x="4429728" y="7485285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8"/>
          <p:cNvSpPr/>
          <p:nvPr/>
        </p:nvSpPr>
        <p:spPr>
          <a:xfrm>
            <a:off x="5445728" y="7485285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9"/>
          <p:cNvSpPr/>
          <p:nvPr/>
        </p:nvSpPr>
        <p:spPr>
          <a:xfrm>
            <a:off x="431800" y="7800086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0"/>
          <p:cNvSpPr/>
          <p:nvPr/>
        </p:nvSpPr>
        <p:spPr>
          <a:xfrm>
            <a:off x="1193800" y="7800086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1"/>
          <p:cNvSpPr/>
          <p:nvPr/>
        </p:nvSpPr>
        <p:spPr>
          <a:xfrm>
            <a:off x="3413728" y="7800086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2"/>
          <p:cNvSpPr/>
          <p:nvPr/>
        </p:nvSpPr>
        <p:spPr>
          <a:xfrm>
            <a:off x="4429728" y="7800086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3"/>
          <p:cNvSpPr/>
          <p:nvPr/>
        </p:nvSpPr>
        <p:spPr>
          <a:xfrm>
            <a:off x="5445728" y="7800086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4"/>
          <p:cNvSpPr/>
          <p:nvPr/>
        </p:nvSpPr>
        <p:spPr>
          <a:xfrm>
            <a:off x="431800" y="8089487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5"/>
          <p:cNvSpPr/>
          <p:nvPr/>
        </p:nvSpPr>
        <p:spPr>
          <a:xfrm>
            <a:off x="1193800" y="8089487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6"/>
          <p:cNvSpPr/>
          <p:nvPr/>
        </p:nvSpPr>
        <p:spPr>
          <a:xfrm>
            <a:off x="3413728" y="8089487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7"/>
          <p:cNvSpPr/>
          <p:nvPr/>
        </p:nvSpPr>
        <p:spPr>
          <a:xfrm>
            <a:off x="4429728" y="8089487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8"/>
          <p:cNvSpPr/>
          <p:nvPr/>
        </p:nvSpPr>
        <p:spPr>
          <a:xfrm>
            <a:off x="5445728" y="8089487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9"/>
          <p:cNvSpPr/>
          <p:nvPr/>
        </p:nvSpPr>
        <p:spPr>
          <a:xfrm>
            <a:off x="431800" y="8378889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0"/>
          <p:cNvSpPr/>
          <p:nvPr/>
        </p:nvSpPr>
        <p:spPr>
          <a:xfrm>
            <a:off x="1193800" y="8378889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1"/>
          <p:cNvSpPr/>
          <p:nvPr/>
        </p:nvSpPr>
        <p:spPr>
          <a:xfrm>
            <a:off x="3413728" y="8378889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2"/>
          <p:cNvSpPr/>
          <p:nvPr/>
        </p:nvSpPr>
        <p:spPr>
          <a:xfrm>
            <a:off x="4429728" y="8378889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3"/>
          <p:cNvSpPr/>
          <p:nvPr/>
        </p:nvSpPr>
        <p:spPr>
          <a:xfrm>
            <a:off x="5445728" y="8378889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4"/>
          <p:cNvSpPr/>
          <p:nvPr/>
        </p:nvSpPr>
        <p:spPr>
          <a:xfrm>
            <a:off x="431800" y="8668290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5"/>
          <p:cNvSpPr/>
          <p:nvPr/>
        </p:nvSpPr>
        <p:spPr>
          <a:xfrm>
            <a:off x="1193800" y="8668290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6"/>
          <p:cNvSpPr/>
          <p:nvPr/>
        </p:nvSpPr>
        <p:spPr>
          <a:xfrm>
            <a:off x="3413728" y="8668290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7"/>
          <p:cNvSpPr/>
          <p:nvPr/>
        </p:nvSpPr>
        <p:spPr>
          <a:xfrm>
            <a:off x="4429728" y="8668290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8"/>
          <p:cNvSpPr/>
          <p:nvPr/>
        </p:nvSpPr>
        <p:spPr>
          <a:xfrm>
            <a:off x="5445728" y="8668290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9"/>
          <p:cNvSpPr/>
          <p:nvPr/>
        </p:nvSpPr>
        <p:spPr>
          <a:xfrm>
            <a:off x="431800" y="8957691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0"/>
          <p:cNvSpPr/>
          <p:nvPr/>
        </p:nvSpPr>
        <p:spPr>
          <a:xfrm>
            <a:off x="1193800" y="8957691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1"/>
          <p:cNvSpPr/>
          <p:nvPr/>
        </p:nvSpPr>
        <p:spPr>
          <a:xfrm>
            <a:off x="3413728" y="8957691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2"/>
          <p:cNvSpPr/>
          <p:nvPr/>
        </p:nvSpPr>
        <p:spPr>
          <a:xfrm>
            <a:off x="4429728" y="8957691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3"/>
          <p:cNvSpPr/>
          <p:nvPr/>
        </p:nvSpPr>
        <p:spPr>
          <a:xfrm>
            <a:off x="5445728" y="8957691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4"/>
          <p:cNvSpPr/>
          <p:nvPr/>
        </p:nvSpPr>
        <p:spPr>
          <a:xfrm>
            <a:off x="431800" y="9247092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5"/>
          <p:cNvSpPr/>
          <p:nvPr/>
        </p:nvSpPr>
        <p:spPr>
          <a:xfrm>
            <a:off x="1193800" y="9247092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6"/>
          <p:cNvSpPr/>
          <p:nvPr/>
        </p:nvSpPr>
        <p:spPr>
          <a:xfrm>
            <a:off x="3413728" y="9247092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7"/>
          <p:cNvSpPr/>
          <p:nvPr/>
        </p:nvSpPr>
        <p:spPr>
          <a:xfrm>
            <a:off x="4429728" y="9247092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8"/>
          <p:cNvSpPr/>
          <p:nvPr/>
        </p:nvSpPr>
        <p:spPr>
          <a:xfrm>
            <a:off x="5445728" y="9247092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9"/>
          <p:cNvSpPr/>
          <p:nvPr/>
        </p:nvSpPr>
        <p:spPr>
          <a:xfrm>
            <a:off x="431800" y="9536494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0"/>
          <p:cNvSpPr/>
          <p:nvPr/>
        </p:nvSpPr>
        <p:spPr>
          <a:xfrm>
            <a:off x="1193800" y="9536494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1"/>
          <p:cNvSpPr/>
          <p:nvPr/>
        </p:nvSpPr>
        <p:spPr>
          <a:xfrm>
            <a:off x="3413728" y="9536494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2"/>
          <p:cNvSpPr/>
          <p:nvPr/>
        </p:nvSpPr>
        <p:spPr>
          <a:xfrm>
            <a:off x="4429728" y="9536494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3"/>
          <p:cNvSpPr/>
          <p:nvPr/>
        </p:nvSpPr>
        <p:spPr>
          <a:xfrm>
            <a:off x="5445728" y="9536494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cxnSp>
        <p:nvCxnSpPr>
          <p:cNvPr name="GraphCompose Table Cell Border" id="84"/>
          <p:cNvCxnSpPr/>
          <p:nvPr/>
        </p:nvCxnSpPr>
        <p:spPr>
          <a:xfrm>
            <a:off x="431800" y="7485285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5"/>
          <p:cNvCxnSpPr/>
          <p:nvPr/>
        </p:nvCxnSpPr>
        <p:spPr>
          <a:xfrm>
            <a:off x="431800" y="7800086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6"/>
          <p:cNvCxnSpPr/>
          <p:nvPr/>
        </p:nvCxnSpPr>
        <p:spPr>
          <a:xfrm>
            <a:off x="431800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7"/>
          <p:cNvCxnSpPr/>
          <p:nvPr/>
        </p:nvCxnSpPr>
        <p:spPr>
          <a:xfrm>
            <a:off x="1193800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88"/>
          <p:cNvSpPr txBox="true"/>
          <p:nvPr/>
        </p:nvSpPr>
        <p:spPr>
          <a:xfrm>
            <a:off x="546100" y="7564290"/>
            <a:ext cx="30289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Code</a:t>
            </a:r>
            <a:endParaRPr lang="en-US" sz="1100"/>
          </a:p>
        </p:txBody>
      </p:sp>
      <p:cxnSp>
        <p:nvCxnSpPr>
          <p:cNvPr name="GraphCompose Table Cell Border" id="89"/>
          <p:cNvCxnSpPr/>
          <p:nvPr/>
        </p:nvCxnSpPr>
        <p:spPr>
          <a:xfrm>
            <a:off x="1191260" y="7485285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0"/>
          <p:cNvCxnSpPr/>
          <p:nvPr/>
        </p:nvCxnSpPr>
        <p:spPr>
          <a:xfrm>
            <a:off x="1191260" y="7800086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1"/>
          <p:cNvCxnSpPr/>
          <p:nvPr/>
        </p:nvCxnSpPr>
        <p:spPr>
          <a:xfrm>
            <a:off x="3413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2"/>
          <p:cNvSpPr txBox="true"/>
          <p:nvPr/>
        </p:nvSpPr>
        <p:spPr>
          <a:xfrm>
            <a:off x="1308100" y="7564290"/>
            <a:ext cx="49074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Initiative</a:t>
            </a:r>
            <a:endParaRPr lang="en-US" sz="1100"/>
          </a:p>
        </p:txBody>
      </p:sp>
      <p:cxnSp>
        <p:nvCxnSpPr>
          <p:cNvPr name="GraphCompose Table Cell Border" id="93"/>
          <p:cNvCxnSpPr/>
          <p:nvPr/>
        </p:nvCxnSpPr>
        <p:spPr>
          <a:xfrm>
            <a:off x="3411188" y="7485285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4"/>
          <p:cNvCxnSpPr/>
          <p:nvPr/>
        </p:nvCxnSpPr>
        <p:spPr>
          <a:xfrm>
            <a:off x="3411188" y="7800086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5"/>
          <p:cNvCxnSpPr/>
          <p:nvPr/>
        </p:nvCxnSpPr>
        <p:spPr>
          <a:xfrm>
            <a:off x="4429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6"/>
          <p:cNvSpPr txBox="true"/>
          <p:nvPr/>
        </p:nvSpPr>
        <p:spPr>
          <a:xfrm>
            <a:off x="3528028" y="7564290"/>
            <a:ext cx="34982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Hours</a:t>
            </a:r>
            <a:endParaRPr lang="en-US" sz="1100"/>
          </a:p>
        </p:txBody>
      </p:sp>
      <p:cxnSp>
        <p:nvCxnSpPr>
          <p:cNvPr name="GraphCompose Table Cell Border" id="97"/>
          <p:cNvCxnSpPr/>
          <p:nvPr/>
        </p:nvCxnSpPr>
        <p:spPr>
          <a:xfrm>
            <a:off x="4427188" y="7485285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8"/>
          <p:cNvCxnSpPr/>
          <p:nvPr/>
        </p:nvCxnSpPr>
        <p:spPr>
          <a:xfrm>
            <a:off x="4427188" y="7800086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9"/>
          <p:cNvCxnSpPr/>
          <p:nvPr/>
        </p:nvCxnSpPr>
        <p:spPr>
          <a:xfrm>
            <a:off x="5445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0"/>
          <p:cNvSpPr txBox="true"/>
          <p:nvPr/>
        </p:nvSpPr>
        <p:spPr>
          <a:xfrm>
            <a:off x="4544028" y="7564290"/>
            <a:ext cx="37673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Owner</a:t>
            </a:r>
            <a:endParaRPr lang="en-US" sz="1100"/>
          </a:p>
        </p:txBody>
      </p:sp>
      <p:cxnSp>
        <p:nvCxnSpPr>
          <p:cNvPr name="GraphCompose Table Cell Border" id="101"/>
          <p:cNvCxnSpPr/>
          <p:nvPr/>
        </p:nvCxnSpPr>
        <p:spPr>
          <a:xfrm>
            <a:off x="5443188" y="7485285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2"/>
          <p:cNvCxnSpPr/>
          <p:nvPr/>
        </p:nvCxnSpPr>
        <p:spPr>
          <a:xfrm>
            <a:off x="5443188" y="7800086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3"/>
          <p:cNvCxnSpPr/>
          <p:nvPr/>
        </p:nvCxnSpPr>
        <p:spPr>
          <a:xfrm>
            <a:off x="6461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4"/>
          <p:cNvSpPr txBox="true"/>
          <p:nvPr/>
        </p:nvSpPr>
        <p:spPr>
          <a:xfrm>
            <a:off x="5560028" y="7564290"/>
            <a:ext cx="45696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Amount</a:t>
            </a:r>
            <a:endParaRPr lang="en-US" sz="1100"/>
          </a:p>
        </p:txBody>
      </p:sp>
      <p:cxnSp>
        <p:nvCxnSpPr>
          <p:cNvPr name="GraphCompose Table Cell Border" id="105"/>
          <p:cNvCxnSpPr/>
          <p:nvPr/>
        </p:nvCxnSpPr>
        <p:spPr>
          <a:xfrm>
            <a:off x="431800" y="808948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6"/>
          <p:cNvCxnSpPr/>
          <p:nvPr/>
        </p:nvCxnSpPr>
        <p:spPr>
          <a:xfrm>
            <a:off x="431800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7"/>
          <p:cNvCxnSpPr/>
          <p:nvPr/>
        </p:nvCxnSpPr>
        <p:spPr>
          <a:xfrm>
            <a:off x="1193800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08"/>
          <p:cNvSpPr txBox="true"/>
          <p:nvPr/>
        </p:nvSpPr>
        <p:spPr>
          <a:xfrm>
            <a:off x="546100" y="786639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INV-100</a:t>
            </a:r>
            <a:endParaRPr lang="en-US" sz="1100"/>
          </a:p>
        </p:txBody>
      </p:sp>
      <p:cxnSp>
        <p:nvCxnSpPr>
          <p:cNvPr name="GraphCompose Table Cell Border" id="109"/>
          <p:cNvCxnSpPr/>
          <p:nvPr/>
        </p:nvCxnSpPr>
        <p:spPr>
          <a:xfrm>
            <a:off x="1191260" y="808948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0"/>
          <p:cNvCxnSpPr/>
          <p:nvPr/>
        </p:nvCxnSpPr>
        <p:spPr>
          <a:xfrm>
            <a:off x="3413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1"/>
          <p:cNvSpPr txBox="true"/>
          <p:nvPr/>
        </p:nvSpPr>
        <p:spPr>
          <a:xfrm>
            <a:off x="1308100" y="7866392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 — quarterly delivery slice</a:t>
            </a:r>
            <a:endParaRPr lang="en-US" sz="1100"/>
          </a:p>
        </p:txBody>
      </p:sp>
      <p:cxnSp>
        <p:nvCxnSpPr>
          <p:cNvPr name="GraphCompose Table Cell Border" id="112"/>
          <p:cNvCxnSpPr/>
          <p:nvPr/>
        </p:nvCxnSpPr>
        <p:spPr>
          <a:xfrm>
            <a:off x="3411188" y="808948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3"/>
          <p:cNvCxnSpPr/>
          <p:nvPr/>
        </p:nvCxnSpPr>
        <p:spPr>
          <a:xfrm>
            <a:off x="4429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4"/>
          <p:cNvSpPr txBox="true"/>
          <p:nvPr/>
        </p:nvSpPr>
        <p:spPr>
          <a:xfrm>
            <a:off x="3528028" y="786639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40 h</a:t>
            </a:r>
            <a:endParaRPr lang="en-US" sz="1100"/>
          </a:p>
        </p:txBody>
      </p:sp>
      <p:cxnSp>
        <p:nvCxnSpPr>
          <p:cNvPr name="GraphCompose Table Cell Border" id="115"/>
          <p:cNvCxnSpPr/>
          <p:nvPr/>
        </p:nvCxnSpPr>
        <p:spPr>
          <a:xfrm>
            <a:off x="4427188" y="808948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6"/>
          <p:cNvCxnSpPr/>
          <p:nvPr/>
        </p:nvCxnSpPr>
        <p:spPr>
          <a:xfrm>
            <a:off x="5445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7"/>
          <p:cNvSpPr txBox="true"/>
          <p:nvPr/>
        </p:nvSpPr>
        <p:spPr>
          <a:xfrm>
            <a:off x="4544028" y="7866392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18"/>
          <p:cNvCxnSpPr/>
          <p:nvPr/>
        </p:nvCxnSpPr>
        <p:spPr>
          <a:xfrm>
            <a:off x="5443188" y="808948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9"/>
          <p:cNvCxnSpPr/>
          <p:nvPr/>
        </p:nvCxnSpPr>
        <p:spPr>
          <a:xfrm>
            <a:off x="6461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0"/>
          <p:cNvSpPr txBox="true"/>
          <p:nvPr/>
        </p:nvSpPr>
        <p:spPr>
          <a:xfrm>
            <a:off x="5560028" y="786639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£ 1,800</a:t>
            </a:r>
            <a:endParaRPr lang="en-US" sz="1100"/>
          </a:p>
        </p:txBody>
      </p:sp>
      <p:cxnSp>
        <p:nvCxnSpPr>
          <p:cNvPr name="GraphCompose Table Cell Border" id="121"/>
          <p:cNvCxnSpPr/>
          <p:nvPr/>
        </p:nvCxnSpPr>
        <p:spPr>
          <a:xfrm>
            <a:off x="431800" y="837888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2"/>
          <p:cNvCxnSpPr/>
          <p:nvPr/>
        </p:nvCxnSpPr>
        <p:spPr>
          <a:xfrm>
            <a:off x="431800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3"/>
          <p:cNvCxnSpPr/>
          <p:nvPr/>
        </p:nvCxnSpPr>
        <p:spPr>
          <a:xfrm>
            <a:off x="1193800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4"/>
          <p:cNvSpPr txBox="true"/>
          <p:nvPr/>
        </p:nvSpPr>
        <p:spPr>
          <a:xfrm>
            <a:off x="546100" y="815579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INV-101</a:t>
            </a:r>
            <a:endParaRPr lang="en-US" sz="1100"/>
          </a:p>
        </p:txBody>
      </p:sp>
      <p:cxnSp>
        <p:nvCxnSpPr>
          <p:cNvPr name="GraphCompose Table Cell Border" id="125"/>
          <p:cNvCxnSpPr/>
          <p:nvPr/>
        </p:nvCxnSpPr>
        <p:spPr>
          <a:xfrm>
            <a:off x="1191260" y="837888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6"/>
          <p:cNvCxnSpPr/>
          <p:nvPr/>
        </p:nvCxnSpPr>
        <p:spPr>
          <a:xfrm>
            <a:off x="3413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7"/>
          <p:cNvSpPr txBox="true"/>
          <p:nvPr/>
        </p:nvSpPr>
        <p:spPr>
          <a:xfrm>
            <a:off x="1308100" y="8155793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 — quarterly delivery slice</a:t>
            </a:r>
            <a:endParaRPr lang="en-US" sz="1100"/>
          </a:p>
        </p:txBody>
      </p:sp>
      <p:cxnSp>
        <p:nvCxnSpPr>
          <p:cNvPr name="GraphCompose Table Cell Border" id="128"/>
          <p:cNvCxnSpPr/>
          <p:nvPr/>
        </p:nvCxnSpPr>
        <p:spPr>
          <a:xfrm>
            <a:off x="3411188" y="837888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9"/>
          <p:cNvCxnSpPr/>
          <p:nvPr/>
        </p:nvCxnSpPr>
        <p:spPr>
          <a:xfrm>
            <a:off x="4429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0"/>
          <p:cNvSpPr txBox="true"/>
          <p:nvPr/>
        </p:nvSpPr>
        <p:spPr>
          <a:xfrm>
            <a:off x="3528028" y="8155793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43 h</a:t>
            </a:r>
            <a:endParaRPr lang="en-US" sz="1100"/>
          </a:p>
        </p:txBody>
      </p:sp>
      <p:cxnSp>
        <p:nvCxnSpPr>
          <p:cNvPr name="GraphCompose Table Cell Border" id="131"/>
          <p:cNvCxnSpPr/>
          <p:nvPr/>
        </p:nvCxnSpPr>
        <p:spPr>
          <a:xfrm>
            <a:off x="4427188" y="837888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2"/>
          <p:cNvCxnSpPr/>
          <p:nvPr/>
        </p:nvCxnSpPr>
        <p:spPr>
          <a:xfrm>
            <a:off x="5445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3"/>
          <p:cNvSpPr txBox="true"/>
          <p:nvPr/>
        </p:nvSpPr>
        <p:spPr>
          <a:xfrm>
            <a:off x="4544028" y="8155793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34"/>
          <p:cNvCxnSpPr/>
          <p:nvPr/>
        </p:nvCxnSpPr>
        <p:spPr>
          <a:xfrm>
            <a:off x="5443188" y="837888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5"/>
          <p:cNvCxnSpPr/>
          <p:nvPr/>
        </p:nvCxnSpPr>
        <p:spPr>
          <a:xfrm>
            <a:off x="6461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6"/>
          <p:cNvSpPr txBox="true"/>
          <p:nvPr/>
        </p:nvSpPr>
        <p:spPr>
          <a:xfrm>
            <a:off x="5560028" y="815579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£ 2,015</a:t>
            </a:r>
            <a:endParaRPr lang="en-US" sz="1100"/>
          </a:p>
        </p:txBody>
      </p:sp>
      <p:cxnSp>
        <p:nvCxnSpPr>
          <p:cNvPr name="GraphCompose Table Cell Border" id="137"/>
          <p:cNvCxnSpPr/>
          <p:nvPr/>
        </p:nvCxnSpPr>
        <p:spPr>
          <a:xfrm>
            <a:off x="431800" y="866829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8"/>
          <p:cNvCxnSpPr/>
          <p:nvPr/>
        </p:nvCxnSpPr>
        <p:spPr>
          <a:xfrm>
            <a:off x="431800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9"/>
          <p:cNvCxnSpPr/>
          <p:nvPr/>
        </p:nvCxnSpPr>
        <p:spPr>
          <a:xfrm>
            <a:off x="1193800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0"/>
          <p:cNvSpPr txBox="true"/>
          <p:nvPr/>
        </p:nvSpPr>
        <p:spPr>
          <a:xfrm>
            <a:off x="546100" y="844519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INV-102</a:t>
            </a:r>
            <a:endParaRPr lang="en-US" sz="1100"/>
          </a:p>
        </p:txBody>
      </p:sp>
      <p:cxnSp>
        <p:nvCxnSpPr>
          <p:cNvPr name="GraphCompose Table Cell Border" id="141"/>
          <p:cNvCxnSpPr/>
          <p:nvPr/>
        </p:nvCxnSpPr>
        <p:spPr>
          <a:xfrm>
            <a:off x="1191260" y="866829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2"/>
          <p:cNvCxnSpPr/>
          <p:nvPr/>
        </p:nvCxnSpPr>
        <p:spPr>
          <a:xfrm>
            <a:off x="3413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3"/>
          <p:cNvSpPr txBox="true"/>
          <p:nvPr/>
        </p:nvSpPr>
        <p:spPr>
          <a:xfrm>
            <a:off x="1308100" y="8445194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3 — quarterly delivery slice</a:t>
            </a:r>
            <a:endParaRPr lang="en-US" sz="1100"/>
          </a:p>
        </p:txBody>
      </p:sp>
      <p:cxnSp>
        <p:nvCxnSpPr>
          <p:cNvPr name="GraphCompose Table Cell Border" id="144"/>
          <p:cNvCxnSpPr/>
          <p:nvPr/>
        </p:nvCxnSpPr>
        <p:spPr>
          <a:xfrm>
            <a:off x="3411188" y="866829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5"/>
          <p:cNvCxnSpPr/>
          <p:nvPr/>
        </p:nvCxnSpPr>
        <p:spPr>
          <a:xfrm>
            <a:off x="4429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6"/>
          <p:cNvSpPr txBox="true"/>
          <p:nvPr/>
        </p:nvSpPr>
        <p:spPr>
          <a:xfrm>
            <a:off x="3528028" y="8445194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46 h</a:t>
            </a:r>
            <a:endParaRPr lang="en-US" sz="1100"/>
          </a:p>
        </p:txBody>
      </p:sp>
      <p:cxnSp>
        <p:nvCxnSpPr>
          <p:cNvPr name="GraphCompose Table Cell Border" id="147"/>
          <p:cNvCxnSpPr/>
          <p:nvPr/>
        </p:nvCxnSpPr>
        <p:spPr>
          <a:xfrm>
            <a:off x="4427188" y="866829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8"/>
          <p:cNvCxnSpPr/>
          <p:nvPr/>
        </p:nvCxnSpPr>
        <p:spPr>
          <a:xfrm>
            <a:off x="5445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9"/>
          <p:cNvSpPr txBox="true"/>
          <p:nvPr/>
        </p:nvSpPr>
        <p:spPr>
          <a:xfrm>
            <a:off x="4544028" y="8445194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50"/>
          <p:cNvCxnSpPr/>
          <p:nvPr/>
        </p:nvCxnSpPr>
        <p:spPr>
          <a:xfrm>
            <a:off x="5443188" y="866829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1"/>
          <p:cNvCxnSpPr/>
          <p:nvPr/>
        </p:nvCxnSpPr>
        <p:spPr>
          <a:xfrm>
            <a:off x="6461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2"/>
          <p:cNvSpPr txBox="true"/>
          <p:nvPr/>
        </p:nvSpPr>
        <p:spPr>
          <a:xfrm>
            <a:off x="5560028" y="844519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£ 2,230</a:t>
            </a:r>
            <a:endParaRPr lang="en-US" sz="1100"/>
          </a:p>
        </p:txBody>
      </p:sp>
      <p:cxnSp>
        <p:nvCxnSpPr>
          <p:cNvPr name="GraphCompose Table Cell Border" id="153"/>
          <p:cNvCxnSpPr/>
          <p:nvPr/>
        </p:nvCxnSpPr>
        <p:spPr>
          <a:xfrm>
            <a:off x="431800" y="895769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4"/>
          <p:cNvCxnSpPr/>
          <p:nvPr/>
        </p:nvCxnSpPr>
        <p:spPr>
          <a:xfrm>
            <a:off x="431800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5"/>
          <p:cNvCxnSpPr/>
          <p:nvPr/>
        </p:nvCxnSpPr>
        <p:spPr>
          <a:xfrm>
            <a:off x="1193800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6"/>
          <p:cNvSpPr txBox="true"/>
          <p:nvPr/>
        </p:nvSpPr>
        <p:spPr>
          <a:xfrm>
            <a:off x="546100" y="873459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INV-103</a:t>
            </a:r>
            <a:endParaRPr lang="en-US" sz="1100"/>
          </a:p>
        </p:txBody>
      </p:sp>
      <p:cxnSp>
        <p:nvCxnSpPr>
          <p:cNvPr name="GraphCompose Table Cell Border" id="157"/>
          <p:cNvCxnSpPr/>
          <p:nvPr/>
        </p:nvCxnSpPr>
        <p:spPr>
          <a:xfrm>
            <a:off x="1191260" y="895769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8"/>
          <p:cNvCxnSpPr/>
          <p:nvPr/>
        </p:nvCxnSpPr>
        <p:spPr>
          <a:xfrm>
            <a:off x="3413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9"/>
          <p:cNvSpPr txBox="true"/>
          <p:nvPr/>
        </p:nvSpPr>
        <p:spPr>
          <a:xfrm>
            <a:off x="1308100" y="8734595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4 — quarterly delivery slice</a:t>
            </a:r>
            <a:endParaRPr lang="en-US" sz="1100"/>
          </a:p>
        </p:txBody>
      </p:sp>
      <p:cxnSp>
        <p:nvCxnSpPr>
          <p:cNvPr name="GraphCompose Table Cell Border" id="160"/>
          <p:cNvCxnSpPr/>
          <p:nvPr/>
        </p:nvCxnSpPr>
        <p:spPr>
          <a:xfrm>
            <a:off x="3411188" y="895769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1"/>
          <p:cNvCxnSpPr/>
          <p:nvPr/>
        </p:nvCxnSpPr>
        <p:spPr>
          <a:xfrm>
            <a:off x="4429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2"/>
          <p:cNvSpPr txBox="true"/>
          <p:nvPr/>
        </p:nvSpPr>
        <p:spPr>
          <a:xfrm>
            <a:off x="3528028" y="8734595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49 h</a:t>
            </a:r>
            <a:endParaRPr lang="en-US" sz="1100"/>
          </a:p>
        </p:txBody>
      </p:sp>
      <p:cxnSp>
        <p:nvCxnSpPr>
          <p:cNvPr name="GraphCompose Table Cell Border" id="163"/>
          <p:cNvCxnSpPr/>
          <p:nvPr/>
        </p:nvCxnSpPr>
        <p:spPr>
          <a:xfrm>
            <a:off x="4427188" y="895769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4"/>
          <p:cNvCxnSpPr/>
          <p:nvPr/>
        </p:nvCxnSpPr>
        <p:spPr>
          <a:xfrm>
            <a:off x="5445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5"/>
          <p:cNvSpPr txBox="true"/>
          <p:nvPr/>
        </p:nvSpPr>
        <p:spPr>
          <a:xfrm>
            <a:off x="4544028" y="8734595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66"/>
          <p:cNvCxnSpPr/>
          <p:nvPr/>
        </p:nvCxnSpPr>
        <p:spPr>
          <a:xfrm>
            <a:off x="5443188" y="895769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7"/>
          <p:cNvCxnSpPr/>
          <p:nvPr/>
        </p:nvCxnSpPr>
        <p:spPr>
          <a:xfrm>
            <a:off x="6461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8"/>
          <p:cNvSpPr txBox="true"/>
          <p:nvPr/>
        </p:nvSpPr>
        <p:spPr>
          <a:xfrm>
            <a:off x="5560028" y="873459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£ 2,445</a:t>
            </a:r>
            <a:endParaRPr lang="en-US" sz="1100"/>
          </a:p>
        </p:txBody>
      </p:sp>
      <p:cxnSp>
        <p:nvCxnSpPr>
          <p:cNvPr name="GraphCompose Table Cell Border" id="169"/>
          <p:cNvCxnSpPr/>
          <p:nvPr/>
        </p:nvCxnSpPr>
        <p:spPr>
          <a:xfrm>
            <a:off x="431800" y="924709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0"/>
          <p:cNvCxnSpPr/>
          <p:nvPr/>
        </p:nvCxnSpPr>
        <p:spPr>
          <a:xfrm>
            <a:off x="431800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1"/>
          <p:cNvCxnSpPr/>
          <p:nvPr/>
        </p:nvCxnSpPr>
        <p:spPr>
          <a:xfrm>
            <a:off x="1193800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2"/>
          <p:cNvSpPr txBox="true"/>
          <p:nvPr/>
        </p:nvSpPr>
        <p:spPr>
          <a:xfrm>
            <a:off x="546100" y="902399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INV-104</a:t>
            </a:r>
            <a:endParaRPr lang="en-US" sz="1100"/>
          </a:p>
        </p:txBody>
      </p:sp>
      <p:cxnSp>
        <p:nvCxnSpPr>
          <p:cNvPr name="GraphCompose Table Cell Border" id="173"/>
          <p:cNvCxnSpPr/>
          <p:nvPr/>
        </p:nvCxnSpPr>
        <p:spPr>
          <a:xfrm>
            <a:off x="1191260" y="924709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4"/>
          <p:cNvCxnSpPr/>
          <p:nvPr/>
        </p:nvCxnSpPr>
        <p:spPr>
          <a:xfrm>
            <a:off x="3413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5"/>
          <p:cNvSpPr txBox="true"/>
          <p:nvPr/>
        </p:nvSpPr>
        <p:spPr>
          <a:xfrm>
            <a:off x="1308100" y="9023997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5 — quarterly delivery slice</a:t>
            </a:r>
            <a:endParaRPr lang="en-US" sz="1100"/>
          </a:p>
        </p:txBody>
      </p:sp>
      <p:cxnSp>
        <p:nvCxnSpPr>
          <p:cNvPr name="GraphCompose Table Cell Border" id="176"/>
          <p:cNvCxnSpPr/>
          <p:nvPr/>
        </p:nvCxnSpPr>
        <p:spPr>
          <a:xfrm>
            <a:off x="3411188" y="924709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7"/>
          <p:cNvCxnSpPr/>
          <p:nvPr/>
        </p:nvCxnSpPr>
        <p:spPr>
          <a:xfrm>
            <a:off x="4429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8"/>
          <p:cNvSpPr txBox="true"/>
          <p:nvPr/>
        </p:nvSpPr>
        <p:spPr>
          <a:xfrm>
            <a:off x="3528028" y="902399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52 h</a:t>
            </a:r>
            <a:endParaRPr lang="en-US" sz="1100"/>
          </a:p>
        </p:txBody>
      </p:sp>
      <p:cxnSp>
        <p:nvCxnSpPr>
          <p:cNvPr name="GraphCompose Table Cell Border" id="179"/>
          <p:cNvCxnSpPr/>
          <p:nvPr/>
        </p:nvCxnSpPr>
        <p:spPr>
          <a:xfrm>
            <a:off x="4427188" y="924709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0"/>
          <p:cNvCxnSpPr/>
          <p:nvPr/>
        </p:nvCxnSpPr>
        <p:spPr>
          <a:xfrm>
            <a:off x="5445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1"/>
          <p:cNvSpPr txBox="true"/>
          <p:nvPr/>
        </p:nvSpPr>
        <p:spPr>
          <a:xfrm>
            <a:off x="4544028" y="9023997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82"/>
          <p:cNvCxnSpPr/>
          <p:nvPr/>
        </p:nvCxnSpPr>
        <p:spPr>
          <a:xfrm>
            <a:off x="5443188" y="924709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3"/>
          <p:cNvCxnSpPr/>
          <p:nvPr/>
        </p:nvCxnSpPr>
        <p:spPr>
          <a:xfrm>
            <a:off x="6461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4"/>
          <p:cNvSpPr txBox="true"/>
          <p:nvPr/>
        </p:nvSpPr>
        <p:spPr>
          <a:xfrm>
            <a:off x="5560028" y="902399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£ 2,660</a:t>
            </a:r>
            <a:endParaRPr lang="en-US" sz="1100"/>
          </a:p>
        </p:txBody>
      </p:sp>
      <p:cxnSp>
        <p:nvCxnSpPr>
          <p:cNvPr name="GraphCompose Table Cell Border" id="185"/>
          <p:cNvCxnSpPr/>
          <p:nvPr/>
        </p:nvCxnSpPr>
        <p:spPr>
          <a:xfrm>
            <a:off x="431800" y="953649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6"/>
          <p:cNvCxnSpPr/>
          <p:nvPr/>
        </p:nvCxnSpPr>
        <p:spPr>
          <a:xfrm>
            <a:off x="431800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7"/>
          <p:cNvCxnSpPr/>
          <p:nvPr/>
        </p:nvCxnSpPr>
        <p:spPr>
          <a:xfrm>
            <a:off x="1193800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8"/>
          <p:cNvSpPr txBox="true"/>
          <p:nvPr/>
        </p:nvSpPr>
        <p:spPr>
          <a:xfrm>
            <a:off x="546100" y="931339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INV-105</a:t>
            </a:r>
            <a:endParaRPr lang="en-US" sz="1100"/>
          </a:p>
        </p:txBody>
      </p:sp>
      <p:cxnSp>
        <p:nvCxnSpPr>
          <p:cNvPr name="GraphCompose Table Cell Border" id="189"/>
          <p:cNvCxnSpPr/>
          <p:nvPr/>
        </p:nvCxnSpPr>
        <p:spPr>
          <a:xfrm>
            <a:off x="1191260" y="953649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0"/>
          <p:cNvCxnSpPr/>
          <p:nvPr/>
        </p:nvCxnSpPr>
        <p:spPr>
          <a:xfrm>
            <a:off x="3413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1"/>
          <p:cNvSpPr txBox="true"/>
          <p:nvPr/>
        </p:nvSpPr>
        <p:spPr>
          <a:xfrm>
            <a:off x="1308100" y="9313398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6 — quarterly delivery slice</a:t>
            </a:r>
            <a:endParaRPr lang="en-US" sz="1100"/>
          </a:p>
        </p:txBody>
      </p:sp>
      <p:cxnSp>
        <p:nvCxnSpPr>
          <p:cNvPr name="GraphCompose Table Cell Border" id="192"/>
          <p:cNvCxnSpPr/>
          <p:nvPr/>
        </p:nvCxnSpPr>
        <p:spPr>
          <a:xfrm>
            <a:off x="3411188" y="953649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3"/>
          <p:cNvCxnSpPr/>
          <p:nvPr/>
        </p:nvCxnSpPr>
        <p:spPr>
          <a:xfrm>
            <a:off x="4429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4"/>
          <p:cNvSpPr txBox="true"/>
          <p:nvPr/>
        </p:nvSpPr>
        <p:spPr>
          <a:xfrm>
            <a:off x="3528028" y="931339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55 h</a:t>
            </a:r>
            <a:endParaRPr lang="en-US" sz="1100"/>
          </a:p>
        </p:txBody>
      </p:sp>
      <p:cxnSp>
        <p:nvCxnSpPr>
          <p:cNvPr name="GraphCompose Table Cell Border" id="195"/>
          <p:cNvCxnSpPr/>
          <p:nvPr/>
        </p:nvCxnSpPr>
        <p:spPr>
          <a:xfrm>
            <a:off x="4427188" y="953649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6"/>
          <p:cNvCxnSpPr/>
          <p:nvPr/>
        </p:nvCxnSpPr>
        <p:spPr>
          <a:xfrm>
            <a:off x="5445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7"/>
          <p:cNvSpPr txBox="true"/>
          <p:nvPr/>
        </p:nvSpPr>
        <p:spPr>
          <a:xfrm>
            <a:off x="4544028" y="9313398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98"/>
          <p:cNvCxnSpPr/>
          <p:nvPr/>
        </p:nvCxnSpPr>
        <p:spPr>
          <a:xfrm>
            <a:off x="5443188" y="953649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9"/>
          <p:cNvCxnSpPr/>
          <p:nvPr/>
        </p:nvCxnSpPr>
        <p:spPr>
          <a:xfrm>
            <a:off x="6461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0"/>
          <p:cNvSpPr txBox="true"/>
          <p:nvPr/>
        </p:nvSpPr>
        <p:spPr>
          <a:xfrm>
            <a:off x="5560028" y="931339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£ 2,875</a:t>
            </a:r>
            <a:endParaRPr lang="en-US" sz="1100"/>
          </a:p>
        </p:txBody>
      </p:sp>
      <p:cxnSp>
        <p:nvCxnSpPr>
          <p:cNvPr name="GraphCompose Table Cell Border" id="201"/>
          <p:cNvCxnSpPr/>
          <p:nvPr/>
        </p:nvCxnSpPr>
        <p:spPr>
          <a:xfrm>
            <a:off x="431800" y="982589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2"/>
          <p:cNvCxnSpPr/>
          <p:nvPr/>
        </p:nvCxnSpPr>
        <p:spPr>
          <a:xfrm>
            <a:off x="431800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3"/>
          <p:cNvCxnSpPr/>
          <p:nvPr/>
        </p:nvCxnSpPr>
        <p:spPr>
          <a:xfrm>
            <a:off x="1193800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4"/>
          <p:cNvSpPr txBox="true"/>
          <p:nvPr/>
        </p:nvSpPr>
        <p:spPr>
          <a:xfrm>
            <a:off x="546100" y="960279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INV-106</a:t>
            </a:r>
            <a:endParaRPr lang="en-US" sz="1100"/>
          </a:p>
        </p:txBody>
      </p:sp>
      <p:cxnSp>
        <p:nvCxnSpPr>
          <p:cNvPr name="GraphCompose Table Cell Border" id="205"/>
          <p:cNvCxnSpPr/>
          <p:nvPr/>
        </p:nvCxnSpPr>
        <p:spPr>
          <a:xfrm>
            <a:off x="1191260" y="982589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6"/>
          <p:cNvCxnSpPr/>
          <p:nvPr/>
        </p:nvCxnSpPr>
        <p:spPr>
          <a:xfrm>
            <a:off x="3413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7"/>
          <p:cNvSpPr txBox="true"/>
          <p:nvPr/>
        </p:nvSpPr>
        <p:spPr>
          <a:xfrm>
            <a:off x="1308100" y="9602799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7 — quarterly delivery slice</a:t>
            </a:r>
            <a:endParaRPr lang="en-US" sz="1100"/>
          </a:p>
        </p:txBody>
      </p:sp>
      <p:cxnSp>
        <p:nvCxnSpPr>
          <p:cNvPr name="GraphCompose Table Cell Border" id="208"/>
          <p:cNvCxnSpPr/>
          <p:nvPr/>
        </p:nvCxnSpPr>
        <p:spPr>
          <a:xfrm>
            <a:off x="3411188" y="982589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9"/>
          <p:cNvCxnSpPr/>
          <p:nvPr/>
        </p:nvCxnSpPr>
        <p:spPr>
          <a:xfrm>
            <a:off x="4429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0"/>
          <p:cNvSpPr txBox="true"/>
          <p:nvPr/>
        </p:nvSpPr>
        <p:spPr>
          <a:xfrm>
            <a:off x="3528028" y="960279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58 h</a:t>
            </a:r>
            <a:endParaRPr lang="en-US" sz="1100"/>
          </a:p>
        </p:txBody>
      </p:sp>
      <p:cxnSp>
        <p:nvCxnSpPr>
          <p:cNvPr name="GraphCompose Table Cell Border" id="211"/>
          <p:cNvCxnSpPr/>
          <p:nvPr/>
        </p:nvCxnSpPr>
        <p:spPr>
          <a:xfrm>
            <a:off x="4427188" y="982589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2"/>
          <p:cNvCxnSpPr/>
          <p:nvPr/>
        </p:nvCxnSpPr>
        <p:spPr>
          <a:xfrm>
            <a:off x="5445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3"/>
          <p:cNvSpPr txBox="true"/>
          <p:nvPr/>
        </p:nvSpPr>
        <p:spPr>
          <a:xfrm>
            <a:off x="4544028" y="9602799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14"/>
          <p:cNvCxnSpPr/>
          <p:nvPr/>
        </p:nvCxnSpPr>
        <p:spPr>
          <a:xfrm>
            <a:off x="5443188" y="982589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5"/>
          <p:cNvCxnSpPr/>
          <p:nvPr/>
        </p:nvCxnSpPr>
        <p:spPr>
          <a:xfrm>
            <a:off x="6461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6"/>
          <p:cNvSpPr txBox="true"/>
          <p:nvPr/>
        </p:nvSpPr>
        <p:spPr>
          <a:xfrm>
            <a:off x="5560028" y="960279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£ 3,090</a:t>
            </a:r>
            <a:endParaRPr lang="en-US" sz="1100"/>
          </a:p>
        </p:txBody>
      </p:sp>
      <p:sp>
        <p:nvSpPr>
          <p:cNvPr name="GraphCompose Header" id="217"/>
          <p:cNvSpPr txBox="true"/>
          <p:nvPr/>
        </p:nvSpPr>
        <p:spPr>
          <a:xfrm>
            <a:off x="431800" y="220377"/>
            <a:ext cx="179258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· Master showcase</a:t>
            </a:r>
            <a:endParaRPr lang="en-US" sz="1100"/>
          </a:p>
        </p:txBody>
      </p:sp>
      <p:sp>
        <p:nvSpPr>
          <p:cNvPr name="GraphCompose Header" id="218"/>
          <p:cNvSpPr txBox="true"/>
          <p:nvPr/>
        </p:nvSpPr>
        <p:spPr>
          <a:xfrm>
            <a:off x="6689746" y="220377"/>
            <a:ext cx="439725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Q2 2026</a:t>
            </a:r>
            <a:endParaRPr lang="en-US" sz="1100"/>
          </a:p>
        </p:txBody>
      </p:sp>
      <p:cxnSp>
        <p:nvCxnSpPr>
          <p:cNvPr name="GraphCompose Header Separator" id="219"/>
          <p:cNvCxnSpPr/>
          <p:nvPr/>
        </p:nvCxnSpPr>
        <p:spPr>
          <a:xfrm>
            <a:off x="431800" y="38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  <p:sp>
        <p:nvSpPr>
          <p:cNvPr name="GraphCompose Footer" id="220"/>
          <p:cNvSpPr txBox="true"/>
          <p:nvPr/>
        </p:nvSpPr>
        <p:spPr>
          <a:xfrm>
            <a:off x="431800" y="10321827"/>
            <a:ext cx="1684566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— sample report</a:t>
            </a:r>
            <a:endParaRPr lang="en-US" sz="1100"/>
          </a:p>
        </p:txBody>
      </p:sp>
      <p:sp>
        <p:nvSpPr>
          <p:cNvPr name="GraphCompose Footer" id="221"/>
          <p:cNvSpPr txBox="true"/>
          <p:nvPr/>
        </p:nvSpPr>
        <p:spPr>
          <a:xfrm>
            <a:off x="6543556" y="10321827"/>
            <a:ext cx="585914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Page 1 of 2</a:t>
            </a:r>
            <a:endParaRPr lang="en-US" sz="1100"/>
          </a:p>
        </p:txBody>
      </p:sp>
      <p:cxnSp>
        <p:nvCxnSpPr>
          <p:cNvPr name="GraphCompose Footer Separator" id="222"/>
          <p:cNvCxnSpPr/>
          <p:nvPr/>
        </p:nvCxnSpPr>
        <p:spPr>
          <a:xfrm>
            <a:off x="431800" y="1031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8F0"/>
          </a:solidFill>
          <a:ln>
            <a:noFill/>
          </a:ln>
        </p:spPr>
      </p:sp>
      <p:sp>
        <p:nvSpPr>
          <p:cNvPr name="GraphCompose Table Cell Fill" id="3"/>
          <p:cNvSpPr/>
          <p:nvPr/>
        </p:nvSpPr>
        <p:spPr>
          <a:xfrm>
            <a:off x="431800" y="609600"/>
            <a:ext cx="762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"/>
          <p:cNvSpPr/>
          <p:nvPr/>
        </p:nvSpPr>
        <p:spPr>
          <a:xfrm>
            <a:off x="1193800" y="609600"/>
            <a:ext cx="2219928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5"/>
          <p:cNvSpPr/>
          <p:nvPr/>
        </p:nvSpPr>
        <p:spPr>
          <a:xfrm>
            <a:off x="3413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6"/>
          <p:cNvSpPr/>
          <p:nvPr/>
        </p:nvSpPr>
        <p:spPr>
          <a:xfrm>
            <a:off x="4429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7"/>
          <p:cNvSpPr/>
          <p:nvPr/>
        </p:nvSpPr>
        <p:spPr>
          <a:xfrm>
            <a:off x="5445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8"/>
          <p:cNvSpPr/>
          <p:nvPr/>
        </p:nvSpPr>
        <p:spPr>
          <a:xfrm>
            <a:off x="431800" y="92440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1193800" y="92440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3413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4429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5445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431800" y="121380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1193800" y="121380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3413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4429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5445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431800" y="1503204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1193800" y="1503204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3413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4429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5445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431800" y="179260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1193800" y="179260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3413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6"/>
          <p:cNvSpPr/>
          <p:nvPr/>
        </p:nvSpPr>
        <p:spPr>
          <a:xfrm>
            <a:off x="4429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7"/>
          <p:cNvSpPr/>
          <p:nvPr/>
        </p:nvSpPr>
        <p:spPr>
          <a:xfrm>
            <a:off x="5445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8"/>
          <p:cNvSpPr/>
          <p:nvPr/>
        </p:nvSpPr>
        <p:spPr>
          <a:xfrm>
            <a:off x="431800" y="208200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9"/>
          <p:cNvSpPr/>
          <p:nvPr/>
        </p:nvSpPr>
        <p:spPr>
          <a:xfrm>
            <a:off x="1193800" y="208200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0"/>
          <p:cNvSpPr/>
          <p:nvPr/>
        </p:nvSpPr>
        <p:spPr>
          <a:xfrm>
            <a:off x="3413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1"/>
          <p:cNvSpPr/>
          <p:nvPr/>
        </p:nvSpPr>
        <p:spPr>
          <a:xfrm>
            <a:off x="4429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2"/>
          <p:cNvSpPr/>
          <p:nvPr/>
        </p:nvSpPr>
        <p:spPr>
          <a:xfrm>
            <a:off x="5445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3"/>
          <p:cNvSpPr/>
          <p:nvPr/>
        </p:nvSpPr>
        <p:spPr>
          <a:xfrm>
            <a:off x="431800" y="237140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4"/>
          <p:cNvSpPr/>
          <p:nvPr/>
        </p:nvSpPr>
        <p:spPr>
          <a:xfrm>
            <a:off x="1193800" y="237140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5"/>
          <p:cNvSpPr/>
          <p:nvPr/>
        </p:nvSpPr>
        <p:spPr>
          <a:xfrm>
            <a:off x="3413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6"/>
          <p:cNvSpPr/>
          <p:nvPr/>
        </p:nvSpPr>
        <p:spPr>
          <a:xfrm>
            <a:off x="4429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7"/>
          <p:cNvSpPr/>
          <p:nvPr/>
        </p:nvSpPr>
        <p:spPr>
          <a:xfrm>
            <a:off x="5445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8"/>
          <p:cNvSpPr/>
          <p:nvPr/>
        </p:nvSpPr>
        <p:spPr>
          <a:xfrm>
            <a:off x="431800" y="2660809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9"/>
          <p:cNvSpPr/>
          <p:nvPr/>
        </p:nvSpPr>
        <p:spPr>
          <a:xfrm>
            <a:off x="1193800" y="2660809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0"/>
          <p:cNvSpPr/>
          <p:nvPr/>
        </p:nvSpPr>
        <p:spPr>
          <a:xfrm>
            <a:off x="3413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1"/>
          <p:cNvSpPr/>
          <p:nvPr/>
        </p:nvSpPr>
        <p:spPr>
          <a:xfrm>
            <a:off x="4429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2"/>
          <p:cNvSpPr/>
          <p:nvPr/>
        </p:nvSpPr>
        <p:spPr>
          <a:xfrm>
            <a:off x="5445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3"/>
          <p:cNvSpPr/>
          <p:nvPr/>
        </p:nvSpPr>
        <p:spPr>
          <a:xfrm>
            <a:off x="431800" y="295021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4"/>
          <p:cNvSpPr/>
          <p:nvPr/>
        </p:nvSpPr>
        <p:spPr>
          <a:xfrm>
            <a:off x="1193800" y="295021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5"/>
          <p:cNvSpPr/>
          <p:nvPr/>
        </p:nvSpPr>
        <p:spPr>
          <a:xfrm>
            <a:off x="3413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6"/>
          <p:cNvSpPr/>
          <p:nvPr/>
        </p:nvSpPr>
        <p:spPr>
          <a:xfrm>
            <a:off x="4429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7"/>
          <p:cNvSpPr/>
          <p:nvPr/>
        </p:nvSpPr>
        <p:spPr>
          <a:xfrm>
            <a:off x="5445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8"/>
          <p:cNvSpPr/>
          <p:nvPr/>
        </p:nvSpPr>
        <p:spPr>
          <a:xfrm>
            <a:off x="431800" y="323961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9"/>
          <p:cNvSpPr/>
          <p:nvPr/>
        </p:nvSpPr>
        <p:spPr>
          <a:xfrm>
            <a:off x="1193800" y="323961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0"/>
          <p:cNvSpPr/>
          <p:nvPr/>
        </p:nvSpPr>
        <p:spPr>
          <a:xfrm>
            <a:off x="3413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1"/>
          <p:cNvSpPr/>
          <p:nvPr/>
        </p:nvSpPr>
        <p:spPr>
          <a:xfrm>
            <a:off x="4429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2"/>
          <p:cNvSpPr/>
          <p:nvPr/>
        </p:nvSpPr>
        <p:spPr>
          <a:xfrm>
            <a:off x="5445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3"/>
          <p:cNvSpPr/>
          <p:nvPr/>
        </p:nvSpPr>
        <p:spPr>
          <a:xfrm>
            <a:off x="431800" y="352901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4"/>
          <p:cNvSpPr/>
          <p:nvPr/>
        </p:nvSpPr>
        <p:spPr>
          <a:xfrm>
            <a:off x="1193800" y="352901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5"/>
          <p:cNvSpPr/>
          <p:nvPr/>
        </p:nvSpPr>
        <p:spPr>
          <a:xfrm>
            <a:off x="3413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6"/>
          <p:cNvSpPr/>
          <p:nvPr/>
        </p:nvSpPr>
        <p:spPr>
          <a:xfrm>
            <a:off x="4429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7"/>
          <p:cNvSpPr/>
          <p:nvPr/>
        </p:nvSpPr>
        <p:spPr>
          <a:xfrm>
            <a:off x="5445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8"/>
          <p:cNvSpPr/>
          <p:nvPr/>
        </p:nvSpPr>
        <p:spPr>
          <a:xfrm>
            <a:off x="431800" y="3818414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9"/>
          <p:cNvSpPr/>
          <p:nvPr/>
        </p:nvSpPr>
        <p:spPr>
          <a:xfrm>
            <a:off x="1193800" y="3818414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0"/>
          <p:cNvSpPr/>
          <p:nvPr/>
        </p:nvSpPr>
        <p:spPr>
          <a:xfrm>
            <a:off x="3413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1"/>
          <p:cNvSpPr/>
          <p:nvPr/>
        </p:nvSpPr>
        <p:spPr>
          <a:xfrm>
            <a:off x="4429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2"/>
          <p:cNvSpPr/>
          <p:nvPr/>
        </p:nvSpPr>
        <p:spPr>
          <a:xfrm>
            <a:off x="5445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3"/>
          <p:cNvSpPr/>
          <p:nvPr/>
        </p:nvSpPr>
        <p:spPr>
          <a:xfrm>
            <a:off x="431800" y="410781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4"/>
          <p:cNvSpPr/>
          <p:nvPr/>
        </p:nvSpPr>
        <p:spPr>
          <a:xfrm>
            <a:off x="1193800" y="410781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5"/>
          <p:cNvSpPr/>
          <p:nvPr/>
        </p:nvSpPr>
        <p:spPr>
          <a:xfrm>
            <a:off x="3413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6"/>
          <p:cNvSpPr/>
          <p:nvPr/>
        </p:nvSpPr>
        <p:spPr>
          <a:xfrm>
            <a:off x="4429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7"/>
          <p:cNvSpPr/>
          <p:nvPr/>
        </p:nvSpPr>
        <p:spPr>
          <a:xfrm>
            <a:off x="5445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8"/>
          <p:cNvSpPr/>
          <p:nvPr/>
        </p:nvSpPr>
        <p:spPr>
          <a:xfrm>
            <a:off x="431800" y="439721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9"/>
          <p:cNvSpPr/>
          <p:nvPr/>
        </p:nvSpPr>
        <p:spPr>
          <a:xfrm>
            <a:off x="1193800" y="439721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0"/>
          <p:cNvSpPr/>
          <p:nvPr/>
        </p:nvSpPr>
        <p:spPr>
          <a:xfrm>
            <a:off x="3413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1"/>
          <p:cNvSpPr/>
          <p:nvPr/>
        </p:nvSpPr>
        <p:spPr>
          <a:xfrm>
            <a:off x="4429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2"/>
          <p:cNvSpPr/>
          <p:nvPr/>
        </p:nvSpPr>
        <p:spPr>
          <a:xfrm>
            <a:off x="5445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3"/>
          <p:cNvSpPr/>
          <p:nvPr/>
        </p:nvSpPr>
        <p:spPr>
          <a:xfrm>
            <a:off x="431800" y="468661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4"/>
          <p:cNvSpPr/>
          <p:nvPr/>
        </p:nvSpPr>
        <p:spPr>
          <a:xfrm>
            <a:off x="1193800" y="468661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5"/>
          <p:cNvSpPr/>
          <p:nvPr/>
        </p:nvSpPr>
        <p:spPr>
          <a:xfrm>
            <a:off x="3413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6"/>
          <p:cNvSpPr/>
          <p:nvPr/>
        </p:nvSpPr>
        <p:spPr>
          <a:xfrm>
            <a:off x="4429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7"/>
          <p:cNvSpPr/>
          <p:nvPr/>
        </p:nvSpPr>
        <p:spPr>
          <a:xfrm>
            <a:off x="5445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8"/>
          <p:cNvSpPr/>
          <p:nvPr/>
        </p:nvSpPr>
        <p:spPr>
          <a:xfrm>
            <a:off x="431800" y="4976019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9"/>
          <p:cNvSpPr/>
          <p:nvPr/>
        </p:nvSpPr>
        <p:spPr>
          <a:xfrm>
            <a:off x="1193800" y="4976019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0"/>
          <p:cNvSpPr/>
          <p:nvPr/>
        </p:nvSpPr>
        <p:spPr>
          <a:xfrm>
            <a:off x="3413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1"/>
          <p:cNvSpPr/>
          <p:nvPr/>
        </p:nvSpPr>
        <p:spPr>
          <a:xfrm>
            <a:off x="4429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2"/>
          <p:cNvSpPr/>
          <p:nvPr/>
        </p:nvSpPr>
        <p:spPr>
          <a:xfrm>
            <a:off x="5445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3"/>
          <p:cNvSpPr/>
          <p:nvPr/>
        </p:nvSpPr>
        <p:spPr>
          <a:xfrm>
            <a:off x="431800" y="526542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4"/>
          <p:cNvSpPr/>
          <p:nvPr/>
        </p:nvSpPr>
        <p:spPr>
          <a:xfrm>
            <a:off x="1193800" y="526542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5"/>
          <p:cNvSpPr/>
          <p:nvPr/>
        </p:nvSpPr>
        <p:spPr>
          <a:xfrm>
            <a:off x="3413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6"/>
          <p:cNvSpPr/>
          <p:nvPr/>
        </p:nvSpPr>
        <p:spPr>
          <a:xfrm>
            <a:off x="4429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7"/>
          <p:cNvSpPr/>
          <p:nvPr/>
        </p:nvSpPr>
        <p:spPr>
          <a:xfrm>
            <a:off x="5445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8"/>
          <p:cNvSpPr/>
          <p:nvPr/>
        </p:nvSpPr>
        <p:spPr>
          <a:xfrm>
            <a:off x="431800" y="555482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9"/>
          <p:cNvSpPr/>
          <p:nvPr/>
        </p:nvSpPr>
        <p:spPr>
          <a:xfrm>
            <a:off x="1193800" y="555482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0"/>
          <p:cNvSpPr/>
          <p:nvPr/>
        </p:nvSpPr>
        <p:spPr>
          <a:xfrm>
            <a:off x="3413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1"/>
          <p:cNvSpPr/>
          <p:nvPr/>
        </p:nvSpPr>
        <p:spPr>
          <a:xfrm>
            <a:off x="4429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2"/>
          <p:cNvSpPr/>
          <p:nvPr/>
        </p:nvSpPr>
        <p:spPr>
          <a:xfrm>
            <a:off x="5445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3"/>
          <p:cNvSpPr/>
          <p:nvPr/>
        </p:nvSpPr>
        <p:spPr>
          <a:xfrm>
            <a:off x="431800" y="5844222"/>
            <a:ext cx="762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4"/>
          <p:cNvSpPr/>
          <p:nvPr/>
        </p:nvSpPr>
        <p:spPr>
          <a:xfrm>
            <a:off x="1193800" y="5844222"/>
            <a:ext cx="2219928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5"/>
          <p:cNvSpPr/>
          <p:nvPr/>
        </p:nvSpPr>
        <p:spPr>
          <a:xfrm>
            <a:off x="3413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6"/>
          <p:cNvSpPr/>
          <p:nvPr/>
        </p:nvSpPr>
        <p:spPr>
          <a:xfrm>
            <a:off x="4429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7"/>
          <p:cNvSpPr/>
          <p:nvPr/>
        </p:nvSpPr>
        <p:spPr>
          <a:xfrm>
            <a:off x="5445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cxnSp>
        <p:nvCxnSpPr>
          <p:cNvPr name="GraphCompose Table Cell Border" id="98"/>
          <p:cNvCxnSpPr/>
          <p:nvPr/>
        </p:nvCxnSpPr>
        <p:spPr>
          <a:xfrm>
            <a:off x="431800" y="609600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9"/>
          <p:cNvCxnSpPr/>
          <p:nvPr/>
        </p:nvCxnSpPr>
        <p:spPr>
          <a:xfrm>
            <a:off x="431800" y="924401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0"/>
          <p:cNvCxnSpPr/>
          <p:nvPr/>
        </p:nvCxnSpPr>
        <p:spPr>
          <a:xfrm>
            <a:off x="431800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1"/>
          <p:cNvCxnSpPr/>
          <p:nvPr/>
        </p:nvCxnSpPr>
        <p:spPr>
          <a:xfrm>
            <a:off x="1193800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2"/>
          <p:cNvSpPr txBox="true"/>
          <p:nvPr/>
        </p:nvSpPr>
        <p:spPr>
          <a:xfrm>
            <a:off x="546100" y="688605"/>
            <a:ext cx="30289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Code</a:t>
            </a:r>
            <a:endParaRPr lang="en-US" sz="1100"/>
          </a:p>
        </p:txBody>
      </p:sp>
      <p:cxnSp>
        <p:nvCxnSpPr>
          <p:cNvPr name="GraphCompose Table Cell Border" id="103"/>
          <p:cNvCxnSpPr/>
          <p:nvPr/>
        </p:nvCxnSpPr>
        <p:spPr>
          <a:xfrm>
            <a:off x="1191260" y="609600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4"/>
          <p:cNvCxnSpPr/>
          <p:nvPr/>
        </p:nvCxnSpPr>
        <p:spPr>
          <a:xfrm>
            <a:off x="1191260" y="924401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5"/>
          <p:cNvCxnSpPr/>
          <p:nvPr/>
        </p:nvCxnSpPr>
        <p:spPr>
          <a:xfrm>
            <a:off x="3413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6"/>
          <p:cNvSpPr txBox="true"/>
          <p:nvPr/>
        </p:nvSpPr>
        <p:spPr>
          <a:xfrm>
            <a:off x="1308100" y="688605"/>
            <a:ext cx="49074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Initiative</a:t>
            </a:r>
            <a:endParaRPr lang="en-US" sz="1100"/>
          </a:p>
        </p:txBody>
      </p:sp>
      <p:cxnSp>
        <p:nvCxnSpPr>
          <p:cNvPr name="GraphCompose Table Cell Border" id="107"/>
          <p:cNvCxnSpPr/>
          <p:nvPr/>
        </p:nvCxnSpPr>
        <p:spPr>
          <a:xfrm>
            <a:off x="3411188" y="609600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8"/>
          <p:cNvCxnSpPr/>
          <p:nvPr/>
        </p:nvCxnSpPr>
        <p:spPr>
          <a:xfrm>
            <a:off x="3411188" y="924401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9"/>
          <p:cNvCxnSpPr/>
          <p:nvPr/>
        </p:nvCxnSpPr>
        <p:spPr>
          <a:xfrm>
            <a:off x="4429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0"/>
          <p:cNvSpPr txBox="true"/>
          <p:nvPr/>
        </p:nvSpPr>
        <p:spPr>
          <a:xfrm>
            <a:off x="3528028" y="688605"/>
            <a:ext cx="34982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Hours</a:t>
            </a:r>
            <a:endParaRPr lang="en-US" sz="1100"/>
          </a:p>
        </p:txBody>
      </p:sp>
      <p:cxnSp>
        <p:nvCxnSpPr>
          <p:cNvPr name="GraphCompose Table Cell Border" id="111"/>
          <p:cNvCxnSpPr/>
          <p:nvPr/>
        </p:nvCxnSpPr>
        <p:spPr>
          <a:xfrm>
            <a:off x="4427188" y="609600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2"/>
          <p:cNvCxnSpPr/>
          <p:nvPr/>
        </p:nvCxnSpPr>
        <p:spPr>
          <a:xfrm>
            <a:off x="4427188" y="924401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3"/>
          <p:cNvCxnSpPr/>
          <p:nvPr/>
        </p:nvCxnSpPr>
        <p:spPr>
          <a:xfrm>
            <a:off x="5445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4"/>
          <p:cNvSpPr txBox="true"/>
          <p:nvPr/>
        </p:nvSpPr>
        <p:spPr>
          <a:xfrm>
            <a:off x="4544028" y="688605"/>
            <a:ext cx="37673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Owner</a:t>
            </a:r>
            <a:endParaRPr lang="en-US" sz="1100"/>
          </a:p>
        </p:txBody>
      </p:sp>
      <p:cxnSp>
        <p:nvCxnSpPr>
          <p:cNvPr name="GraphCompose Table Cell Border" id="115"/>
          <p:cNvCxnSpPr/>
          <p:nvPr/>
        </p:nvCxnSpPr>
        <p:spPr>
          <a:xfrm>
            <a:off x="5443188" y="609600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6"/>
          <p:cNvCxnSpPr/>
          <p:nvPr/>
        </p:nvCxnSpPr>
        <p:spPr>
          <a:xfrm>
            <a:off x="5443188" y="924401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7"/>
          <p:cNvCxnSpPr/>
          <p:nvPr/>
        </p:nvCxnSpPr>
        <p:spPr>
          <a:xfrm>
            <a:off x="6461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8"/>
          <p:cNvSpPr txBox="true"/>
          <p:nvPr/>
        </p:nvSpPr>
        <p:spPr>
          <a:xfrm>
            <a:off x="5560028" y="688605"/>
            <a:ext cx="45696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Amount</a:t>
            </a:r>
            <a:endParaRPr lang="en-US" sz="1100"/>
          </a:p>
        </p:txBody>
      </p:sp>
      <p:cxnSp>
        <p:nvCxnSpPr>
          <p:cNvPr name="GraphCompose Table Cell Border" id="119"/>
          <p:cNvCxnSpPr/>
          <p:nvPr/>
        </p:nvCxnSpPr>
        <p:spPr>
          <a:xfrm>
            <a:off x="431800" y="121380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0"/>
          <p:cNvCxnSpPr/>
          <p:nvPr/>
        </p:nvCxnSpPr>
        <p:spPr>
          <a:xfrm>
            <a:off x="431800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1"/>
          <p:cNvCxnSpPr/>
          <p:nvPr/>
        </p:nvCxnSpPr>
        <p:spPr>
          <a:xfrm>
            <a:off x="1193800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2"/>
          <p:cNvSpPr txBox="true"/>
          <p:nvPr/>
        </p:nvSpPr>
        <p:spPr>
          <a:xfrm>
            <a:off x="546100" y="99070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INV-107</a:t>
            </a:r>
            <a:endParaRPr lang="en-US" sz="1100"/>
          </a:p>
        </p:txBody>
      </p:sp>
      <p:cxnSp>
        <p:nvCxnSpPr>
          <p:cNvPr name="GraphCompose Table Cell Border" id="123"/>
          <p:cNvCxnSpPr/>
          <p:nvPr/>
        </p:nvCxnSpPr>
        <p:spPr>
          <a:xfrm>
            <a:off x="1191260" y="121380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4"/>
          <p:cNvCxnSpPr/>
          <p:nvPr/>
        </p:nvCxnSpPr>
        <p:spPr>
          <a:xfrm>
            <a:off x="3413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5"/>
          <p:cNvSpPr txBox="true"/>
          <p:nvPr/>
        </p:nvSpPr>
        <p:spPr>
          <a:xfrm>
            <a:off x="1308100" y="990707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8 — quarterly delivery slice</a:t>
            </a:r>
            <a:endParaRPr lang="en-US" sz="1100"/>
          </a:p>
        </p:txBody>
      </p:sp>
      <p:cxnSp>
        <p:nvCxnSpPr>
          <p:cNvPr name="GraphCompose Table Cell Border" id="126"/>
          <p:cNvCxnSpPr/>
          <p:nvPr/>
        </p:nvCxnSpPr>
        <p:spPr>
          <a:xfrm>
            <a:off x="3411188" y="12138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7"/>
          <p:cNvCxnSpPr/>
          <p:nvPr/>
        </p:nvCxnSpPr>
        <p:spPr>
          <a:xfrm>
            <a:off x="4429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8"/>
          <p:cNvSpPr txBox="true"/>
          <p:nvPr/>
        </p:nvSpPr>
        <p:spPr>
          <a:xfrm>
            <a:off x="3528028" y="99070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61 h</a:t>
            </a:r>
            <a:endParaRPr lang="en-US" sz="1100"/>
          </a:p>
        </p:txBody>
      </p:sp>
      <p:cxnSp>
        <p:nvCxnSpPr>
          <p:cNvPr name="GraphCompose Table Cell Border" id="129"/>
          <p:cNvCxnSpPr/>
          <p:nvPr/>
        </p:nvCxnSpPr>
        <p:spPr>
          <a:xfrm>
            <a:off x="4427188" y="12138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0"/>
          <p:cNvCxnSpPr/>
          <p:nvPr/>
        </p:nvCxnSpPr>
        <p:spPr>
          <a:xfrm>
            <a:off x="5445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1"/>
          <p:cNvSpPr txBox="true"/>
          <p:nvPr/>
        </p:nvSpPr>
        <p:spPr>
          <a:xfrm>
            <a:off x="4544028" y="990707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32"/>
          <p:cNvCxnSpPr/>
          <p:nvPr/>
        </p:nvCxnSpPr>
        <p:spPr>
          <a:xfrm>
            <a:off x="5443188" y="121380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3"/>
          <p:cNvCxnSpPr/>
          <p:nvPr/>
        </p:nvCxnSpPr>
        <p:spPr>
          <a:xfrm>
            <a:off x="6461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4"/>
          <p:cNvSpPr txBox="true"/>
          <p:nvPr/>
        </p:nvSpPr>
        <p:spPr>
          <a:xfrm>
            <a:off x="5560028" y="99070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£ 3,305</a:t>
            </a:r>
            <a:endParaRPr lang="en-US" sz="1100"/>
          </a:p>
        </p:txBody>
      </p:sp>
      <p:cxnSp>
        <p:nvCxnSpPr>
          <p:cNvPr name="GraphCompose Table Cell Border" id="135"/>
          <p:cNvCxnSpPr/>
          <p:nvPr/>
        </p:nvCxnSpPr>
        <p:spPr>
          <a:xfrm>
            <a:off x="431800" y="150320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6"/>
          <p:cNvCxnSpPr/>
          <p:nvPr/>
        </p:nvCxnSpPr>
        <p:spPr>
          <a:xfrm>
            <a:off x="431800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7"/>
          <p:cNvCxnSpPr/>
          <p:nvPr/>
        </p:nvCxnSpPr>
        <p:spPr>
          <a:xfrm>
            <a:off x="1193800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8"/>
          <p:cNvSpPr txBox="true"/>
          <p:nvPr/>
        </p:nvSpPr>
        <p:spPr>
          <a:xfrm>
            <a:off x="546100" y="128010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INV-108</a:t>
            </a:r>
            <a:endParaRPr lang="en-US" sz="1100"/>
          </a:p>
        </p:txBody>
      </p:sp>
      <p:cxnSp>
        <p:nvCxnSpPr>
          <p:cNvPr name="GraphCompose Table Cell Border" id="139"/>
          <p:cNvCxnSpPr/>
          <p:nvPr/>
        </p:nvCxnSpPr>
        <p:spPr>
          <a:xfrm>
            <a:off x="1191260" y="150320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0"/>
          <p:cNvCxnSpPr/>
          <p:nvPr/>
        </p:nvCxnSpPr>
        <p:spPr>
          <a:xfrm>
            <a:off x="3413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1"/>
          <p:cNvSpPr txBox="true"/>
          <p:nvPr/>
        </p:nvSpPr>
        <p:spPr>
          <a:xfrm>
            <a:off x="1308100" y="1280108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9 — quarterly delivery slice</a:t>
            </a:r>
            <a:endParaRPr lang="en-US" sz="1100"/>
          </a:p>
        </p:txBody>
      </p:sp>
      <p:cxnSp>
        <p:nvCxnSpPr>
          <p:cNvPr name="GraphCompose Table Cell Border" id="142"/>
          <p:cNvCxnSpPr/>
          <p:nvPr/>
        </p:nvCxnSpPr>
        <p:spPr>
          <a:xfrm>
            <a:off x="3411188" y="150320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3"/>
          <p:cNvCxnSpPr/>
          <p:nvPr/>
        </p:nvCxnSpPr>
        <p:spPr>
          <a:xfrm>
            <a:off x="4429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4"/>
          <p:cNvSpPr txBox="true"/>
          <p:nvPr/>
        </p:nvSpPr>
        <p:spPr>
          <a:xfrm>
            <a:off x="3528028" y="128010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64 h</a:t>
            </a:r>
            <a:endParaRPr lang="en-US" sz="1100"/>
          </a:p>
        </p:txBody>
      </p:sp>
      <p:cxnSp>
        <p:nvCxnSpPr>
          <p:cNvPr name="GraphCompose Table Cell Border" id="145"/>
          <p:cNvCxnSpPr/>
          <p:nvPr/>
        </p:nvCxnSpPr>
        <p:spPr>
          <a:xfrm>
            <a:off x="4427188" y="150320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6"/>
          <p:cNvCxnSpPr/>
          <p:nvPr/>
        </p:nvCxnSpPr>
        <p:spPr>
          <a:xfrm>
            <a:off x="5445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7"/>
          <p:cNvSpPr txBox="true"/>
          <p:nvPr/>
        </p:nvSpPr>
        <p:spPr>
          <a:xfrm>
            <a:off x="4544028" y="1280108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48"/>
          <p:cNvCxnSpPr/>
          <p:nvPr/>
        </p:nvCxnSpPr>
        <p:spPr>
          <a:xfrm>
            <a:off x="5443188" y="150320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9"/>
          <p:cNvCxnSpPr/>
          <p:nvPr/>
        </p:nvCxnSpPr>
        <p:spPr>
          <a:xfrm>
            <a:off x="6461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0"/>
          <p:cNvSpPr txBox="true"/>
          <p:nvPr/>
        </p:nvSpPr>
        <p:spPr>
          <a:xfrm>
            <a:off x="5560028" y="128010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£ 3,520</a:t>
            </a:r>
            <a:endParaRPr lang="en-US" sz="1100"/>
          </a:p>
        </p:txBody>
      </p:sp>
      <p:cxnSp>
        <p:nvCxnSpPr>
          <p:cNvPr name="GraphCompose Table Cell Border" id="151"/>
          <p:cNvCxnSpPr/>
          <p:nvPr/>
        </p:nvCxnSpPr>
        <p:spPr>
          <a:xfrm>
            <a:off x="431800" y="179260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2"/>
          <p:cNvCxnSpPr/>
          <p:nvPr/>
        </p:nvCxnSpPr>
        <p:spPr>
          <a:xfrm>
            <a:off x="431800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3"/>
          <p:cNvCxnSpPr/>
          <p:nvPr/>
        </p:nvCxnSpPr>
        <p:spPr>
          <a:xfrm>
            <a:off x="1193800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4"/>
          <p:cNvSpPr txBox="true"/>
          <p:nvPr/>
        </p:nvSpPr>
        <p:spPr>
          <a:xfrm>
            <a:off x="546100" y="156950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INV-109</a:t>
            </a:r>
            <a:endParaRPr lang="en-US" sz="1100"/>
          </a:p>
        </p:txBody>
      </p:sp>
      <p:cxnSp>
        <p:nvCxnSpPr>
          <p:cNvPr name="GraphCompose Table Cell Border" id="155"/>
          <p:cNvCxnSpPr/>
          <p:nvPr/>
        </p:nvCxnSpPr>
        <p:spPr>
          <a:xfrm>
            <a:off x="1191260" y="179260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6"/>
          <p:cNvCxnSpPr/>
          <p:nvPr/>
        </p:nvCxnSpPr>
        <p:spPr>
          <a:xfrm>
            <a:off x="3413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7"/>
          <p:cNvSpPr txBox="true"/>
          <p:nvPr/>
        </p:nvSpPr>
        <p:spPr>
          <a:xfrm>
            <a:off x="1308100" y="1569509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10 — quarterly delivery slice</a:t>
            </a:r>
            <a:endParaRPr lang="en-US" sz="1100"/>
          </a:p>
        </p:txBody>
      </p:sp>
      <p:cxnSp>
        <p:nvCxnSpPr>
          <p:cNvPr name="GraphCompose Table Cell Border" id="158"/>
          <p:cNvCxnSpPr/>
          <p:nvPr/>
        </p:nvCxnSpPr>
        <p:spPr>
          <a:xfrm>
            <a:off x="3411188" y="179260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9"/>
          <p:cNvCxnSpPr/>
          <p:nvPr/>
        </p:nvCxnSpPr>
        <p:spPr>
          <a:xfrm>
            <a:off x="4429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0"/>
          <p:cNvSpPr txBox="true"/>
          <p:nvPr/>
        </p:nvSpPr>
        <p:spPr>
          <a:xfrm>
            <a:off x="3528028" y="156950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67 h</a:t>
            </a:r>
            <a:endParaRPr lang="en-US" sz="1100"/>
          </a:p>
        </p:txBody>
      </p:sp>
      <p:cxnSp>
        <p:nvCxnSpPr>
          <p:cNvPr name="GraphCompose Table Cell Border" id="161"/>
          <p:cNvCxnSpPr/>
          <p:nvPr/>
        </p:nvCxnSpPr>
        <p:spPr>
          <a:xfrm>
            <a:off x="4427188" y="179260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2"/>
          <p:cNvCxnSpPr/>
          <p:nvPr/>
        </p:nvCxnSpPr>
        <p:spPr>
          <a:xfrm>
            <a:off x="5445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3"/>
          <p:cNvSpPr txBox="true"/>
          <p:nvPr/>
        </p:nvSpPr>
        <p:spPr>
          <a:xfrm>
            <a:off x="4544028" y="1569509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64"/>
          <p:cNvCxnSpPr/>
          <p:nvPr/>
        </p:nvCxnSpPr>
        <p:spPr>
          <a:xfrm>
            <a:off x="5443188" y="179260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5"/>
          <p:cNvCxnSpPr/>
          <p:nvPr/>
        </p:nvCxnSpPr>
        <p:spPr>
          <a:xfrm>
            <a:off x="6461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6"/>
          <p:cNvSpPr txBox="true"/>
          <p:nvPr/>
        </p:nvSpPr>
        <p:spPr>
          <a:xfrm>
            <a:off x="5560028" y="156950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£ 3,735</a:t>
            </a:r>
            <a:endParaRPr lang="en-US" sz="1100"/>
          </a:p>
        </p:txBody>
      </p:sp>
      <p:cxnSp>
        <p:nvCxnSpPr>
          <p:cNvPr name="GraphCompose Table Cell Border" id="167"/>
          <p:cNvCxnSpPr/>
          <p:nvPr/>
        </p:nvCxnSpPr>
        <p:spPr>
          <a:xfrm>
            <a:off x="431800" y="208200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8"/>
          <p:cNvCxnSpPr/>
          <p:nvPr/>
        </p:nvCxnSpPr>
        <p:spPr>
          <a:xfrm>
            <a:off x="431800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9"/>
          <p:cNvCxnSpPr/>
          <p:nvPr/>
        </p:nvCxnSpPr>
        <p:spPr>
          <a:xfrm>
            <a:off x="1193800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0"/>
          <p:cNvSpPr txBox="true"/>
          <p:nvPr/>
        </p:nvSpPr>
        <p:spPr>
          <a:xfrm>
            <a:off x="546100" y="185891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INV-110</a:t>
            </a:r>
            <a:endParaRPr lang="en-US" sz="1100"/>
          </a:p>
        </p:txBody>
      </p:sp>
      <p:cxnSp>
        <p:nvCxnSpPr>
          <p:cNvPr name="GraphCompose Table Cell Border" id="171"/>
          <p:cNvCxnSpPr/>
          <p:nvPr/>
        </p:nvCxnSpPr>
        <p:spPr>
          <a:xfrm>
            <a:off x="1191260" y="208200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2"/>
          <p:cNvCxnSpPr/>
          <p:nvPr/>
        </p:nvCxnSpPr>
        <p:spPr>
          <a:xfrm>
            <a:off x="3413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3"/>
          <p:cNvSpPr txBox="true"/>
          <p:nvPr/>
        </p:nvSpPr>
        <p:spPr>
          <a:xfrm>
            <a:off x="1308100" y="1858910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11 — quarterly delivery slice</a:t>
            </a:r>
            <a:endParaRPr lang="en-US" sz="1100"/>
          </a:p>
        </p:txBody>
      </p:sp>
      <p:cxnSp>
        <p:nvCxnSpPr>
          <p:cNvPr name="GraphCompose Table Cell Border" id="174"/>
          <p:cNvCxnSpPr/>
          <p:nvPr/>
        </p:nvCxnSpPr>
        <p:spPr>
          <a:xfrm>
            <a:off x="3411188" y="208200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5"/>
          <p:cNvCxnSpPr/>
          <p:nvPr/>
        </p:nvCxnSpPr>
        <p:spPr>
          <a:xfrm>
            <a:off x="4429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6"/>
          <p:cNvSpPr txBox="true"/>
          <p:nvPr/>
        </p:nvSpPr>
        <p:spPr>
          <a:xfrm>
            <a:off x="3528028" y="185891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70 h</a:t>
            </a:r>
            <a:endParaRPr lang="en-US" sz="1100"/>
          </a:p>
        </p:txBody>
      </p:sp>
      <p:cxnSp>
        <p:nvCxnSpPr>
          <p:cNvPr name="GraphCompose Table Cell Border" id="177"/>
          <p:cNvCxnSpPr/>
          <p:nvPr/>
        </p:nvCxnSpPr>
        <p:spPr>
          <a:xfrm>
            <a:off x="4427188" y="208200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8"/>
          <p:cNvCxnSpPr/>
          <p:nvPr/>
        </p:nvCxnSpPr>
        <p:spPr>
          <a:xfrm>
            <a:off x="5445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9"/>
          <p:cNvSpPr txBox="true"/>
          <p:nvPr/>
        </p:nvSpPr>
        <p:spPr>
          <a:xfrm>
            <a:off x="4544028" y="1858910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80"/>
          <p:cNvCxnSpPr/>
          <p:nvPr/>
        </p:nvCxnSpPr>
        <p:spPr>
          <a:xfrm>
            <a:off x="5443188" y="208200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1"/>
          <p:cNvCxnSpPr/>
          <p:nvPr/>
        </p:nvCxnSpPr>
        <p:spPr>
          <a:xfrm>
            <a:off x="6461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2"/>
          <p:cNvSpPr txBox="true"/>
          <p:nvPr/>
        </p:nvSpPr>
        <p:spPr>
          <a:xfrm>
            <a:off x="5560028" y="185891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£ 3,950</a:t>
            </a:r>
            <a:endParaRPr lang="en-US" sz="1100"/>
          </a:p>
        </p:txBody>
      </p:sp>
      <p:cxnSp>
        <p:nvCxnSpPr>
          <p:cNvPr name="GraphCompose Table Cell Border" id="183"/>
          <p:cNvCxnSpPr/>
          <p:nvPr/>
        </p:nvCxnSpPr>
        <p:spPr>
          <a:xfrm>
            <a:off x="431800" y="237140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4"/>
          <p:cNvCxnSpPr/>
          <p:nvPr/>
        </p:nvCxnSpPr>
        <p:spPr>
          <a:xfrm>
            <a:off x="431800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5"/>
          <p:cNvCxnSpPr/>
          <p:nvPr/>
        </p:nvCxnSpPr>
        <p:spPr>
          <a:xfrm>
            <a:off x="1193800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6"/>
          <p:cNvSpPr txBox="true"/>
          <p:nvPr/>
        </p:nvSpPr>
        <p:spPr>
          <a:xfrm>
            <a:off x="546100" y="214831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INV-111</a:t>
            </a:r>
            <a:endParaRPr lang="en-US" sz="1100"/>
          </a:p>
        </p:txBody>
      </p:sp>
      <p:cxnSp>
        <p:nvCxnSpPr>
          <p:cNvPr name="GraphCompose Table Cell Border" id="187"/>
          <p:cNvCxnSpPr/>
          <p:nvPr/>
        </p:nvCxnSpPr>
        <p:spPr>
          <a:xfrm>
            <a:off x="1191260" y="237140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8"/>
          <p:cNvCxnSpPr/>
          <p:nvPr/>
        </p:nvCxnSpPr>
        <p:spPr>
          <a:xfrm>
            <a:off x="3413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9"/>
          <p:cNvSpPr txBox="true"/>
          <p:nvPr/>
        </p:nvSpPr>
        <p:spPr>
          <a:xfrm>
            <a:off x="1308100" y="2148312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12 — quarterly delivery slice</a:t>
            </a:r>
            <a:endParaRPr lang="en-US" sz="1100"/>
          </a:p>
        </p:txBody>
      </p:sp>
      <p:cxnSp>
        <p:nvCxnSpPr>
          <p:cNvPr name="GraphCompose Table Cell Border" id="190"/>
          <p:cNvCxnSpPr/>
          <p:nvPr/>
        </p:nvCxnSpPr>
        <p:spPr>
          <a:xfrm>
            <a:off x="3411188" y="237140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1"/>
          <p:cNvCxnSpPr/>
          <p:nvPr/>
        </p:nvCxnSpPr>
        <p:spPr>
          <a:xfrm>
            <a:off x="4429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2"/>
          <p:cNvSpPr txBox="true"/>
          <p:nvPr/>
        </p:nvSpPr>
        <p:spPr>
          <a:xfrm>
            <a:off x="3528028" y="214831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73 h</a:t>
            </a:r>
            <a:endParaRPr lang="en-US" sz="1100"/>
          </a:p>
        </p:txBody>
      </p:sp>
      <p:cxnSp>
        <p:nvCxnSpPr>
          <p:cNvPr name="GraphCompose Table Cell Border" id="193"/>
          <p:cNvCxnSpPr/>
          <p:nvPr/>
        </p:nvCxnSpPr>
        <p:spPr>
          <a:xfrm>
            <a:off x="4427188" y="237140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4"/>
          <p:cNvCxnSpPr/>
          <p:nvPr/>
        </p:nvCxnSpPr>
        <p:spPr>
          <a:xfrm>
            <a:off x="5445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5"/>
          <p:cNvSpPr txBox="true"/>
          <p:nvPr/>
        </p:nvSpPr>
        <p:spPr>
          <a:xfrm>
            <a:off x="4544028" y="2148312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96"/>
          <p:cNvCxnSpPr/>
          <p:nvPr/>
        </p:nvCxnSpPr>
        <p:spPr>
          <a:xfrm>
            <a:off x="5443188" y="237140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7"/>
          <p:cNvCxnSpPr/>
          <p:nvPr/>
        </p:nvCxnSpPr>
        <p:spPr>
          <a:xfrm>
            <a:off x="6461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8"/>
          <p:cNvSpPr txBox="true"/>
          <p:nvPr/>
        </p:nvSpPr>
        <p:spPr>
          <a:xfrm>
            <a:off x="5560028" y="214831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£ 4,165</a:t>
            </a:r>
            <a:endParaRPr lang="en-US" sz="1100"/>
          </a:p>
        </p:txBody>
      </p:sp>
      <p:cxnSp>
        <p:nvCxnSpPr>
          <p:cNvPr name="GraphCompose Table Cell Border" id="199"/>
          <p:cNvCxnSpPr/>
          <p:nvPr/>
        </p:nvCxnSpPr>
        <p:spPr>
          <a:xfrm>
            <a:off x="431800" y="266080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0"/>
          <p:cNvCxnSpPr/>
          <p:nvPr/>
        </p:nvCxnSpPr>
        <p:spPr>
          <a:xfrm>
            <a:off x="431800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1"/>
          <p:cNvCxnSpPr/>
          <p:nvPr/>
        </p:nvCxnSpPr>
        <p:spPr>
          <a:xfrm>
            <a:off x="1193800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2"/>
          <p:cNvSpPr txBox="true"/>
          <p:nvPr/>
        </p:nvSpPr>
        <p:spPr>
          <a:xfrm>
            <a:off x="546100" y="243771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INV-112</a:t>
            </a:r>
            <a:endParaRPr lang="en-US" sz="1100"/>
          </a:p>
        </p:txBody>
      </p:sp>
      <p:cxnSp>
        <p:nvCxnSpPr>
          <p:cNvPr name="GraphCompose Table Cell Border" id="203"/>
          <p:cNvCxnSpPr/>
          <p:nvPr/>
        </p:nvCxnSpPr>
        <p:spPr>
          <a:xfrm>
            <a:off x="1191260" y="266080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4"/>
          <p:cNvCxnSpPr/>
          <p:nvPr/>
        </p:nvCxnSpPr>
        <p:spPr>
          <a:xfrm>
            <a:off x="3413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5"/>
          <p:cNvSpPr txBox="true"/>
          <p:nvPr/>
        </p:nvSpPr>
        <p:spPr>
          <a:xfrm>
            <a:off x="1308100" y="2437713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13 — quarterly delivery slice</a:t>
            </a:r>
            <a:endParaRPr lang="en-US" sz="1100"/>
          </a:p>
        </p:txBody>
      </p:sp>
      <p:cxnSp>
        <p:nvCxnSpPr>
          <p:cNvPr name="GraphCompose Table Cell Border" id="206"/>
          <p:cNvCxnSpPr/>
          <p:nvPr/>
        </p:nvCxnSpPr>
        <p:spPr>
          <a:xfrm>
            <a:off x="3411188" y="266080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7"/>
          <p:cNvCxnSpPr/>
          <p:nvPr/>
        </p:nvCxnSpPr>
        <p:spPr>
          <a:xfrm>
            <a:off x="4429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8"/>
          <p:cNvSpPr txBox="true"/>
          <p:nvPr/>
        </p:nvSpPr>
        <p:spPr>
          <a:xfrm>
            <a:off x="3528028" y="2437713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76 h</a:t>
            </a:r>
            <a:endParaRPr lang="en-US" sz="1100"/>
          </a:p>
        </p:txBody>
      </p:sp>
      <p:cxnSp>
        <p:nvCxnSpPr>
          <p:cNvPr name="GraphCompose Table Cell Border" id="209"/>
          <p:cNvCxnSpPr/>
          <p:nvPr/>
        </p:nvCxnSpPr>
        <p:spPr>
          <a:xfrm>
            <a:off x="4427188" y="266080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0"/>
          <p:cNvCxnSpPr/>
          <p:nvPr/>
        </p:nvCxnSpPr>
        <p:spPr>
          <a:xfrm>
            <a:off x="5445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1"/>
          <p:cNvSpPr txBox="true"/>
          <p:nvPr/>
        </p:nvSpPr>
        <p:spPr>
          <a:xfrm>
            <a:off x="4544028" y="2437713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12"/>
          <p:cNvCxnSpPr/>
          <p:nvPr/>
        </p:nvCxnSpPr>
        <p:spPr>
          <a:xfrm>
            <a:off x="5443188" y="266080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3"/>
          <p:cNvCxnSpPr/>
          <p:nvPr/>
        </p:nvCxnSpPr>
        <p:spPr>
          <a:xfrm>
            <a:off x="6461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4"/>
          <p:cNvSpPr txBox="true"/>
          <p:nvPr/>
        </p:nvSpPr>
        <p:spPr>
          <a:xfrm>
            <a:off x="5560028" y="243771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£ 4,380</a:t>
            </a:r>
            <a:endParaRPr lang="en-US" sz="1100"/>
          </a:p>
        </p:txBody>
      </p:sp>
      <p:cxnSp>
        <p:nvCxnSpPr>
          <p:cNvPr name="GraphCompose Table Cell Border" id="215"/>
          <p:cNvCxnSpPr/>
          <p:nvPr/>
        </p:nvCxnSpPr>
        <p:spPr>
          <a:xfrm>
            <a:off x="431800" y="295021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6"/>
          <p:cNvCxnSpPr/>
          <p:nvPr/>
        </p:nvCxnSpPr>
        <p:spPr>
          <a:xfrm>
            <a:off x="431800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7"/>
          <p:cNvCxnSpPr/>
          <p:nvPr/>
        </p:nvCxnSpPr>
        <p:spPr>
          <a:xfrm>
            <a:off x="1193800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8"/>
          <p:cNvSpPr txBox="true"/>
          <p:nvPr/>
        </p:nvSpPr>
        <p:spPr>
          <a:xfrm>
            <a:off x="546100" y="272711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INV-113</a:t>
            </a:r>
            <a:endParaRPr lang="en-US" sz="1100"/>
          </a:p>
        </p:txBody>
      </p:sp>
      <p:cxnSp>
        <p:nvCxnSpPr>
          <p:cNvPr name="GraphCompose Table Cell Border" id="219"/>
          <p:cNvCxnSpPr/>
          <p:nvPr/>
        </p:nvCxnSpPr>
        <p:spPr>
          <a:xfrm>
            <a:off x="1191260" y="295021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0"/>
          <p:cNvCxnSpPr/>
          <p:nvPr/>
        </p:nvCxnSpPr>
        <p:spPr>
          <a:xfrm>
            <a:off x="3413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1"/>
          <p:cNvSpPr txBox="true"/>
          <p:nvPr/>
        </p:nvSpPr>
        <p:spPr>
          <a:xfrm>
            <a:off x="1308100" y="2727114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14 — quarterly delivery slice</a:t>
            </a:r>
            <a:endParaRPr lang="en-US" sz="1100"/>
          </a:p>
        </p:txBody>
      </p:sp>
      <p:cxnSp>
        <p:nvCxnSpPr>
          <p:cNvPr name="GraphCompose Table Cell Border" id="222"/>
          <p:cNvCxnSpPr/>
          <p:nvPr/>
        </p:nvCxnSpPr>
        <p:spPr>
          <a:xfrm>
            <a:off x="3411188" y="295021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3"/>
          <p:cNvCxnSpPr/>
          <p:nvPr/>
        </p:nvCxnSpPr>
        <p:spPr>
          <a:xfrm>
            <a:off x="4429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4"/>
          <p:cNvSpPr txBox="true"/>
          <p:nvPr/>
        </p:nvSpPr>
        <p:spPr>
          <a:xfrm>
            <a:off x="3528028" y="2727114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79 h</a:t>
            </a:r>
            <a:endParaRPr lang="en-US" sz="1100"/>
          </a:p>
        </p:txBody>
      </p:sp>
      <p:cxnSp>
        <p:nvCxnSpPr>
          <p:cNvPr name="GraphCompose Table Cell Border" id="225"/>
          <p:cNvCxnSpPr/>
          <p:nvPr/>
        </p:nvCxnSpPr>
        <p:spPr>
          <a:xfrm>
            <a:off x="4427188" y="295021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6"/>
          <p:cNvCxnSpPr/>
          <p:nvPr/>
        </p:nvCxnSpPr>
        <p:spPr>
          <a:xfrm>
            <a:off x="5445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7"/>
          <p:cNvSpPr txBox="true"/>
          <p:nvPr/>
        </p:nvSpPr>
        <p:spPr>
          <a:xfrm>
            <a:off x="4544028" y="2727114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228"/>
          <p:cNvCxnSpPr/>
          <p:nvPr/>
        </p:nvCxnSpPr>
        <p:spPr>
          <a:xfrm>
            <a:off x="5443188" y="295021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9"/>
          <p:cNvCxnSpPr/>
          <p:nvPr/>
        </p:nvCxnSpPr>
        <p:spPr>
          <a:xfrm>
            <a:off x="6461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0"/>
          <p:cNvSpPr txBox="true"/>
          <p:nvPr/>
        </p:nvSpPr>
        <p:spPr>
          <a:xfrm>
            <a:off x="5560028" y="272711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£ 4,595</a:t>
            </a:r>
            <a:endParaRPr lang="en-US" sz="1100"/>
          </a:p>
        </p:txBody>
      </p:sp>
      <p:cxnSp>
        <p:nvCxnSpPr>
          <p:cNvPr name="GraphCompose Table Cell Border" id="231"/>
          <p:cNvCxnSpPr/>
          <p:nvPr/>
        </p:nvCxnSpPr>
        <p:spPr>
          <a:xfrm>
            <a:off x="431800" y="323961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2"/>
          <p:cNvCxnSpPr/>
          <p:nvPr/>
        </p:nvCxnSpPr>
        <p:spPr>
          <a:xfrm>
            <a:off x="431800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3"/>
          <p:cNvCxnSpPr/>
          <p:nvPr/>
        </p:nvCxnSpPr>
        <p:spPr>
          <a:xfrm>
            <a:off x="1193800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4"/>
          <p:cNvSpPr txBox="true"/>
          <p:nvPr/>
        </p:nvSpPr>
        <p:spPr>
          <a:xfrm>
            <a:off x="546100" y="301651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INV-114</a:t>
            </a:r>
            <a:endParaRPr lang="en-US" sz="1100"/>
          </a:p>
        </p:txBody>
      </p:sp>
      <p:cxnSp>
        <p:nvCxnSpPr>
          <p:cNvPr name="GraphCompose Table Cell Border" id="235"/>
          <p:cNvCxnSpPr/>
          <p:nvPr/>
        </p:nvCxnSpPr>
        <p:spPr>
          <a:xfrm>
            <a:off x="1191260" y="323961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6"/>
          <p:cNvCxnSpPr/>
          <p:nvPr/>
        </p:nvCxnSpPr>
        <p:spPr>
          <a:xfrm>
            <a:off x="3413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7"/>
          <p:cNvSpPr txBox="true"/>
          <p:nvPr/>
        </p:nvSpPr>
        <p:spPr>
          <a:xfrm>
            <a:off x="1308100" y="3016515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15 — quarterly delivery slice</a:t>
            </a:r>
            <a:endParaRPr lang="en-US" sz="1100"/>
          </a:p>
        </p:txBody>
      </p:sp>
      <p:cxnSp>
        <p:nvCxnSpPr>
          <p:cNvPr name="GraphCompose Table Cell Border" id="238"/>
          <p:cNvCxnSpPr/>
          <p:nvPr/>
        </p:nvCxnSpPr>
        <p:spPr>
          <a:xfrm>
            <a:off x="3411188" y="323961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9"/>
          <p:cNvCxnSpPr/>
          <p:nvPr/>
        </p:nvCxnSpPr>
        <p:spPr>
          <a:xfrm>
            <a:off x="4429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0"/>
          <p:cNvSpPr txBox="true"/>
          <p:nvPr/>
        </p:nvSpPr>
        <p:spPr>
          <a:xfrm>
            <a:off x="3528028" y="3016515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82 h</a:t>
            </a:r>
            <a:endParaRPr lang="en-US" sz="1100"/>
          </a:p>
        </p:txBody>
      </p:sp>
      <p:cxnSp>
        <p:nvCxnSpPr>
          <p:cNvPr name="GraphCompose Table Cell Border" id="241"/>
          <p:cNvCxnSpPr/>
          <p:nvPr/>
        </p:nvCxnSpPr>
        <p:spPr>
          <a:xfrm>
            <a:off x="4427188" y="323961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2"/>
          <p:cNvCxnSpPr/>
          <p:nvPr/>
        </p:nvCxnSpPr>
        <p:spPr>
          <a:xfrm>
            <a:off x="5445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3"/>
          <p:cNvSpPr txBox="true"/>
          <p:nvPr/>
        </p:nvSpPr>
        <p:spPr>
          <a:xfrm>
            <a:off x="4544028" y="3016515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244"/>
          <p:cNvCxnSpPr/>
          <p:nvPr/>
        </p:nvCxnSpPr>
        <p:spPr>
          <a:xfrm>
            <a:off x="5443188" y="323961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5"/>
          <p:cNvCxnSpPr/>
          <p:nvPr/>
        </p:nvCxnSpPr>
        <p:spPr>
          <a:xfrm>
            <a:off x="6461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6"/>
          <p:cNvSpPr txBox="true"/>
          <p:nvPr/>
        </p:nvSpPr>
        <p:spPr>
          <a:xfrm>
            <a:off x="5560028" y="301651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£ 4,810</a:t>
            </a:r>
            <a:endParaRPr lang="en-US" sz="1100"/>
          </a:p>
        </p:txBody>
      </p:sp>
      <p:cxnSp>
        <p:nvCxnSpPr>
          <p:cNvPr name="GraphCompose Table Cell Border" id="247"/>
          <p:cNvCxnSpPr/>
          <p:nvPr/>
        </p:nvCxnSpPr>
        <p:spPr>
          <a:xfrm>
            <a:off x="431800" y="352901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8"/>
          <p:cNvCxnSpPr/>
          <p:nvPr/>
        </p:nvCxnSpPr>
        <p:spPr>
          <a:xfrm>
            <a:off x="431800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9"/>
          <p:cNvCxnSpPr/>
          <p:nvPr/>
        </p:nvCxnSpPr>
        <p:spPr>
          <a:xfrm>
            <a:off x="1193800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0"/>
          <p:cNvSpPr txBox="true"/>
          <p:nvPr/>
        </p:nvSpPr>
        <p:spPr>
          <a:xfrm>
            <a:off x="546100" y="330591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INV-115</a:t>
            </a:r>
            <a:endParaRPr lang="en-US" sz="1100"/>
          </a:p>
        </p:txBody>
      </p:sp>
      <p:cxnSp>
        <p:nvCxnSpPr>
          <p:cNvPr name="GraphCompose Table Cell Border" id="251"/>
          <p:cNvCxnSpPr/>
          <p:nvPr/>
        </p:nvCxnSpPr>
        <p:spPr>
          <a:xfrm>
            <a:off x="1191260" y="352901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2"/>
          <p:cNvCxnSpPr/>
          <p:nvPr/>
        </p:nvCxnSpPr>
        <p:spPr>
          <a:xfrm>
            <a:off x="3413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3"/>
          <p:cNvSpPr txBox="true"/>
          <p:nvPr/>
        </p:nvSpPr>
        <p:spPr>
          <a:xfrm>
            <a:off x="1308100" y="3305917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16 — quarterly delivery slice</a:t>
            </a:r>
            <a:endParaRPr lang="en-US" sz="1100"/>
          </a:p>
        </p:txBody>
      </p:sp>
      <p:cxnSp>
        <p:nvCxnSpPr>
          <p:cNvPr name="GraphCompose Table Cell Border" id="254"/>
          <p:cNvCxnSpPr/>
          <p:nvPr/>
        </p:nvCxnSpPr>
        <p:spPr>
          <a:xfrm>
            <a:off x="3411188" y="352901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5"/>
          <p:cNvCxnSpPr/>
          <p:nvPr/>
        </p:nvCxnSpPr>
        <p:spPr>
          <a:xfrm>
            <a:off x="4429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6"/>
          <p:cNvSpPr txBox="true"/>
          <p:nvPr/>
        </p:nvSpPr>
        <p:spPr>
          <a:xfrm>
            <a:off x="3528028" y="330591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85 h</a:t>
            </a:r>
            <a:endParaRPr lang="en-US" sz="1100"/>
          </a:p>
        </p:txBody>
      </p:sp>
      <p:cxnSp>
        <p:nvCxnSpPr>
          <p:cNvPr name="GraphCompose Table Cell Border" id="257"/>
          <p:cNvCxnSpPr/>
          <p:nvPr/>
        </p:nvCxnSpPr>
        <p:spPr>
          <a:xfrm>
            <a:off x="4427188" y="352901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8"/>
          <p:cNvCxnSpPr/>
          <p:nvPr/>
        </p:nvCxnSpPr>
        <p:spPr>
          <a:xfrm>
            <a:off x="5445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9"/>
          <p:cNvSpPr txBox="true"/>
          <p:nvPr/>
        </p:nvSpPr>
        <p:spPr>
          <a:xfrm>
            <a:off x="4544028" y="3305917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60"/>
          <p:cNvCxnSpPr/>
          <p:nvPr/>
        </p:nvCxnSpPr>
        <p:spPr>
          <a:xfrm>
            <a:off x="5443188" y="352901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1"/>
          <p:cNvCxnSpPr/>
          <p:nvPr/>
        </p:nvCxnSpPr>
        <p:spPr>
          <a:xfrm>
            <a:off x="6461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2"/>
          <p:cNvSpPr txBox="true"/>
          <p:nvPr/>
        </p:nvSpPr>
        <p:spPr>
          <a:xfrm>
            <a:off x="5560028" y="330591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£ 5,025</a:t>
            </a:r>
            <a:endParaRPr lang="en-US" sz="1100"/>
          </a:p>
        </p:txBody>
      </p:sp>
      <p:cxnSp>
        <p:nvCxnSpPr>
          <p:cNvPr name="GraphCompose Table Cell Border" id="263"/>
          <p:cNvCxnSpPr/>
          <p:nvPr/>
        </p:nvCxnSpPr>
        <p:spPr>
          <a:xfrm>
            <a:off x="431800" y="381841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4"/>
          <p:cNvCxnSpPr/>
          <p:nvPr/>
        </p:nvCxnSpPr>
        <p:spPr>
          <a:xfrm>
            <a:off x="431800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5"/>
          <p:cNvCxnSpPr/>
          <p:nvPr/>
        </p:nvCxnSpPr>
        <p:spPr>
          <a:xfrm>
            <a:off x="1193800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6"/>
          <p:cNvSpPr txBox="true"/>
          <p:nvPr/>
        </p:nvSpPr>
        <p:spPr>
          <a:xfrm>
            <a:off x="546100" y="359531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INV-116</a:t>
            </a:r>
            <a:endParaRPr lang="en-US" sz="1100"/>
          </a:p>
        </p:txBody>
      </p:sp>
      <p:cxnSp>
        <p:nvCxnSpPr>
          <p:cNvPr name="GraphCompose Table Cell Border" id="267"/>
          <p:cNvCxnSpPr/>
          <p:nvPr/>
        </p:nvCxnSpPr>
        <p:spPr>
          <a:xfrm>
            <a:off x="1191260" y="381841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8"/>
          <p:cNvCxnSpPr/>
          <p:nvPr/>
        </p:nvCxnSpPr>
        <p:spPr>
          <a:xfrm>
            <a:off x="3413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9"/>
          <p:cNvSpPr txBox="true"/>
          <p:nvPr/>
        </p:nvSpPr>
        <p:spPr>
          <a:xfrm>
            <a:off x="1308100" y="3595318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17 — quarterly delivery slice</a:t>
            </a:r>
            <a:endParaRPr lang="en-US" sz="1100"/>
          </a:p>
        </p:txBody>
      </p:sp>
      <p:cxnSp>
        <p:nvCxnSpPr>
          <p:cNvPr name="GraphCompose Table Cell Border" id="270"/>
          <p:cNvCxnSpPr/>
          <p:nvPr/>
        </p:nvCxnSpPr>
        <p:spPr>
          <a:xfrm>
            <a:off x="3411188" y="381841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1"/>
          <p:cNvCxnSpPr/>
          <p:nvPr/>
        </p:nvCxnSpPr>
        <p:spPr>
          <a:xfrm>
            <a:off x="4429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2"/>
          <p:cNvSpPr txBox="true"/>
          <p:nvPr/>
        </p:nvSpPr>
        <p:spPr>
          <a:xfrm>
            <a:off x="3528028" y="359531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88 h</a:t>
            </a:r>
            <a:endParaRPr lang="en-US" sz="1100"/>
          </a:p>
        </p:txBody>
      </p:sp>
      <p:cxnSp>
        <p:nvCxnSpPr>
          <p:cNvPr name="GraphCompose Table Cell Border" id="273"/>
          <p:cNvCxnSpPr/>
          <p:nvPr/>
        </p:nvCxnSpPr>
        <p:spPr>
          <a:xfrm>
            <a:off x="4427188" y="381841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4"/>
          <p:cNvCxnSpPr/>
          <p:nvPr/>
        </p:nvCxnSpPr>
        <p:spPr>
          <a:xfrm>
            <a:off x="5445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5"/>
          <p:cNvSpPr txBox="true"/>
          <p:nvPr/>
        </p:nvSpPr>
        <p:spPr>
          <a:xfrm>
            <a:off x="4544028" y="3595318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276"/>
          <p:cNvCxnSpPr/>
          <p:nvPr/>
        </p:nvCxnSpPr>
        <p:spPr>
          <a:xfrm>
            <a:off x="5443188" y="381841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7"/>
          <p:cNvCxnSpPr/>
          <p:nvPr/>
        </p:nvCxnSpPr>
        <p:spPr>
          <a:xfrm>
            <a:off x="6461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8"/>
          <p:cNvSpPr txBox="true"/>
          <p:nvPr/>
        </p:nvSpPr>
        <p:spPr>
          <a:xfrm>
            <a:off x="5560028" y="359531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£ 5,240</a:t>
            </a:r>
            <a:endParaRPr lang="en-US" sz="1100"/>
          </a:p>
        </p:txBody>
      </p:sp>
      <p:cxnSp>
        <p:nvCxnSpPr>
          <p:cNvPr name="GraphCompose Table Cell Border" id="279"/>
          <p:cNvCxnSpPr/>
          <p:nvPr/>
        </p:nvCxnSpPr>
        <p:spPr>
          <a:xfrm>
            <a:off x="431800" y="410781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0"/>
          <p:cNvCxnSpPr/>
          <p:nvPr/>
        </p:nvCxnSpPr>
        <p:spPr>
          <a:xfrm>
            <a:off x="431800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1"/>
          <p:cNvCxnSpPr/>
          <p:nvPr/>
        </p:nvCxnSpPr>
        <p:spPr>
          <a:xfrm>
            <a:off x="1193800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2"/>
          <p:cNvSpPr txBox="true"/>
          <p:nvPr/>
        </p:nvSpPr>
        <p:spPr>
          <a:xfrm>
            <a:off x="546100" y="388471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INV-117</a:t>
            </a:r>
            <a:endParaRPr lang="en-US" sz="1100"/>
          </a:p>
        </p:txBody>
      </p:sp>
      <p:cxnSp>
        <p:nvCxnSpPr>
          <p:cNvPr name="GraphCompose Table Cell Border" id="283"/>
          <p:cNvCxnSpPr/>
          <p:nvPr/>
        </p:nvCxnSpPr>
        <p:spPr>
          <a:xfrm>
            <a:off x="1191260" y="410781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4"/>
          <p:cNvCxnSpPr/>
          <p:nvPr/>
        </p:nvCxnSpPr>
        <p:spPr>
          <a:xfrm>
            <a:off x="3413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5"/>
          <p:cNvSpPr txBox="true"/>
          <p:nvPr/>
        </p:nvSpPr>
        <p:spPr>
          <a:xfrm>
            <a:off x="1308100" y="3884719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18 — quarterly delivery slice</a:t>
            </a:r>
            <a:endParaRPr lang="en-US" sz="1100"/>
          </a:p>
        </p:txBody>
      </p:sp>
      <p:cxnSp>
        <p:nvCxnSpPr>
          <p:cNvPr name="GraphCompose Table Cell Border" id="286"/>
          <p:cNvCxnSpPr/>
          <p:nvPr/>
        </p:nvCxnSpPr>
        <p:spPr>
          <a:xfrm>
            <a:off x="3411188" y="410781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7"/>
          <p:cNvCxnSpPr/>
          <p:nvPr/>
        </p:nvCxnSpPr>
        <p:spPr>
          <a:xfrm>
            <a:off x="4429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8"/>
          <p:cNvSpPr txBox="true"/>
          <p:nvPr/>
        </p:nvSpPr>
        <p:spPr>
          <a:xfrm>
            <a:off x="3528028" y="388471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91 h</a:t>
            </a:r>
            <a:endParaRPr lang="en-US" sz="1100"/>
          </a:p>
        </p:txBody>
      </p:sp>
      <p:cxnSp>
        <p:nvCxnSpPr>
          <p:cNvPr name="GraphCompose Table Cell Border" id="289"/>
          <p:cNvCxnSpPr/>
          <p:nvPr/>
        </p:nvCxnSpPr>
        <p:spPr>
          <a:xfrm>
            <a:off x="4427188" y="410781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0"/>
          <p:cNvCxnSpPr/>
          <p:nvPr/>
        </p:nvCxnSpPr>
        <p:spPr>
          <a:xfrm>
            <a:off x="5445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1"/>
          <p:cNvSpPr txBox="true"/>
          <p:nvPr/>
        </p:nvSpPr>
        <p:spPr>
          <a:xfrm>
            <a:off x="4544028" y="3884719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292"/>
          <p:cNvCxnSpPr/>
          <p:nvPr/>
        </p:nvCxnSpPr>
        <p:spPr>
          <a:xfrm>
            <a:off x="5443188" y="410781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3"/>
          <p:cNvCxnSpPr/>
          <p:nvPr/>
        </p:nvCxnSpPr>
        <p:spPr>
          <a:xfrm>
            <a:off x="6461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4"/>
          <p:cNvSpPr txBox="true"/>
          <p:nvPr/>
        </p:nvSpPr>
        <p:spPr>
          <a:xfrm>
            <a:off x="5560028" y="388471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£ 5,455</a:t>
            </a:r>
            <a:endParaRPr lang="en-US" sz="1100"/>
          </a:p>
        </p:txBody>
      </p:sp>
      <p:cxnSp>
        <p:nvCxnSpPr>
          <p:cNvPr name="GraphCompose Table Cell Border" id="295"/>
          <p:cNvCxnSpPr/>
          <p:nvPr/>
        </p:nvCxnSpPr>
        <p:spPr>
          <a:xfrm>
            <a:off x="431800" y="439721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6"/>
          <p:cNvCxnSpPr/>
          <p:nvPr/>
        </p:nvCxnSpPr>
        <p:spPr>
          <a:xfrm>
            <a:off x="431800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7"/>
          <p:cNvCxnSpPr/>
          <p:nvPr/>
        </p:nvCxnSpPr>
        <p:spPr>
          <a:xfrm>
            <a:off x="1193800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8"/>
          <p:cNvSpPr txBox="true"/>
          <p:nvPr/>
        </p:nvSpPr>
        <p:spPr>
          <a:xfrm>
            <a:off x="546100" y="417412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INV-118</a:t>
            </a:r>
            <a:endParaRPr lang="en-US" sz="1100"/>
          </a:p>
        </p:txBody>
      </p:sp>
      <p:cxnSp>
        <p:nvCxnSpPr>
          <p:cNvPr name="GraphCompose Table Cell Border" id="299"/>
          <p:cNvCxnSpPr/>
          <p:nvPr/>
        </p:nvCxnSpPr>
        <p:spPr>
          <a:xfrm>
            <a:off x="1191260" y="439721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0"/>
          <p:cNvCxnSpPr/>
          <p:nvPr/>
        </p:nvCxnSpPr>
        <p:spPr>
          <a:xfrm>
            <a:off x="3413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1"/>
          <p:cNvSpPr txBox="true"/>
          <p:nvPr/>
        </p:nvSpPr>
        <p:spPr>
          <a:xfrm>
            <a:off x="1308100" y="4174120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19 — quarterly delivery slice</a:t>
            </a:r>
            <a:endParaRPr lang="en-US" sz="1100"/>
          </a:p>
        </p:txBody>
      </p:sp>
      <p:cxnSp>
        <p:nvCxnSpPr>
          <p:cNvPr name="GraphCompose Table Cell Border" id="302"/>
          <p:cNvCxnSpPr/>
          <p:nvPr/>
        </p:nvCxnSpPr>
        <p:spPr>
          <a:xfrm>
            <a:off x="3411188" y="439721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3"/>
          <p:cNvCxnSpPr/>
          <p:nvPr/>
        </p:nvCxnSpPr>
        <p:spPr>
          <a:xfrm>
            <a:off x="4429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4"/>
          <p:cNvSpPr txBox="true"/>
          <p:nvPr/>
        </p:nvSpPr>
        <p:spPr>
          <a:xfrm>
            <a:off x="3528028" y="417412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94 h</a:t>
            </a:r>
            <a:endParaRPr lang="en-US" sz="1100"/>
          </a:p>
        </p:txBody>
      </p:sp>
      <p:cxnSp>
        <p:nvCxnSpPr>
          <p:cNvPr name="GraphCompose Table Cell Border" id="305"/>
          <p:cNvCxnSpPr/>
          <p:nvPr/>
        </p:nvCxnSpPr>
        <p:spPr>
          <a:xfrm>
            <a:off x="4427188" y="439721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6"/>
          <p:cNvCxnSpPr/>
          <p:nvPr/>
        </p:nvCxnSpPr>
        <p:spPr>
          <a:xfrm>
            <a:off x="5445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7"/>
          <p:cNvSpPr txBox="true"/>
          <p:nvPr/>
        </p:nvSpPr>
        <p:spPr>
          <a:xfrm>
            <a:off x="4544028" y="4174120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308"/>
          <p:cNvCxnSpPr/>
          <p:nvPr/>
        </p:nvCxnSpPr>
        <p:spPr>
          <a:xfrm>
            <a:off x="5443188" y="439721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9"/>
          <p:cNvCxnSpPr/>
          <p:nvPr/>
        </p:nvCxnSpPr>
        <p:spPr>
          <a:xfrm>
            <a:off x="6461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0"/>
          <p:cNvSpPr txBox="true"/>
          <p:nvPr/>
        </p:nvSpPr>
        <p:spPr>
          <a:xfrm>
            <a:off x="5560028" y="417412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£ 5,670</a:t>
            </a:r>
            <a:endParaRPr lang="en-US" sz="1100"/>
          </a:p>
        </p:txBody>
      </p:sp>
      <p:cxnSp>
        <p:nvCxnSpPr>
          <p:cNvPr name="GraphCompose Table Cell Border" id="311"/>
          <p:cNvCxnSpPr/>
          <p:nvPr/>
        </p:nvCxnSpPr>
        <p:spPr>
          <a:xfrm>
            <a:off x="431800" y="468661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2"/>
          <p:cNvCxnSpPr/>
          <p:nvPr/>
        </p:nvCxnSpPr>
        <p:spPr>
          <a:xfrm>
            <a:off x="431800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3"/>
          <p:cNvCxnSpPr/>
          <p:nvPr/>
        </p:nvCxnSpPr>
        <p:spPr>
          <a:xfrm>
            <a:off x="1193800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4"/>
          <p:cNvSpPr txBox="true"/>
          <p:nvPr/>
        </p:nvSpPr>
        <p:spPr>
          <a:xfrm>
            <a:off x="546100" y="446352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INV-119</a:t>
            </a:r>
            <a:endParaRPr lang="en-US" sz="1100"/>
          </a:p>
        </p:txBody>
      </p:sp>
      <p:cxnSp>
        <p:nvCxnSpPr>
          <p:cNvPr name="GraphCompose Table Cell Border" id="315"/>
          <p:cNvCxnSpPr/>
          <p:nvPr/>
        </p:nvCxnSpPr>
        <p:spPr>
          <a:xfrm>
            <a:off x="1191260" y="468661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6"/>
          <p:cNvCxnSpPr/>
          <p:nvPr/>
        </p:nvCxnSpPr>
        <p:spPr>
          <a:xfrm>
            <a:off x="3413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7"/>
          <p:cNvSpPr txBox="true"/>
          <p:nvPr/>
        </p:nvSpPr>
        <p:spPr>
          <a:xfrm>
            <a:off x="1308100" y="4463522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20 — quarterly delivery slice</a:t>
            </a:r>
            <a:endParaRPr lang="en-US" sz="1100"/>
          </a:p>
        </p:txBody>
      </p:sp>
      <p:cxnSp>
        <p:nvCxnSpPr>
          <p:cNvPr name="GraphCompose Table Cell Border" id="318"/>
          <p:cNvCxnSpPr/>
          <p:nvPr/>
        </p:nvCxnSpPr>
        <p:spPr>
          <a:xfrm>
            <a:off x="3411188" y="468661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9"/>
          <p:cNvCxnSpPr/>
          <p:nvPr/>
        </p:nvCxnSpPr>
        <p:spPr>
          <a:xfrm>
            <a:off x="4429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0"/>
          <p:cNvSpPr txBox="true"/>
          <p:nvPr/>
        </p:nvSpPr>
        <p:spPr>
          <a:xfrm>
            <a:off x="3528028" y="446352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97 h</a:t>
            </a:r>
            <a:endParaRPr lang="en-US" sz="1100"/>
          </a:p>
        </p:txBody>
      </p:sp>
      <p:cxnSp>
        <p:nvCxnSpPr>
          <p:cNvPr name="GraphCompose Table Cell Border" id="321"/>
          <p:cNvCxnSpPr/>
          <p:nvPr/>
        </p:nvCxnSpPr>
        <p:spPr>
          <a:xfrm>
            <a:off x="4427188" y="468661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2"/>
          <p:cNvCxnSpPr/>
          <p:nvPr/>
        </p:nvCxnSpPr>
        <p:spPr>
          <a:xfrm>
            <a:off x="5445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3"/>
          <p:cNvSpPr txBox="true"/>
          <p:nvPr/>
        </p:nvSpPr>
        <p:spPr>
          <a:xfrm>
            <a:off x="4544028" y="4463522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324"/>
          <p:cNvCxnSpPr/>
          <p:nvPr/>
        </p:nvCxnSpPr>
        <p:spPr>
          <a:xfrm>
            <a:off x="5443188" y="468661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5"/>
          <p:cNvCxnSpPr/>
          <p:nvPr/>
        </p:nvCxnSpPr>
        <p:spPr>
          <a:xfrm>
            <a:off x="6461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6"/>
          <p:cNvSpPr txBox="true"/>
          <p:nvPr/>
        </p:nvSpPr>
        <p:spPr>
          <a:xfrm>
            <a:off x="5560028" y="446352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£ 5,885</a:t>
            </a:r>
            <a:endParaRPr lang="en-US" sz="1100"/>
          </a:p>
        </p:txBody>
      </p:sp>
      <p:cxnSp>
        <p:nvCxnSpPr>
          <p:cNvPr name="GraphCompose Table Cell Border" id="327"/>
          <p:cNvCxnSpPr/>
          <p:nvPr/>
        </p:nvCxnSpPr>
        <p:spPr>
          <a:xfrm>
            <a:off x="431800" y="497601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8"/>
          <p:cNvCxnSpPr/>
          <p:nvPr/>
        </p:nvCxnSpPr>
        <p:spPr>
          <a:xfrm>
            <a:off x="431800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9"/>
          <p:cNvCxnSpPr/>
          <p:nvPr/>
        </p:nvCxnSpPr>
        <p:spPr>
          <a:xfrm>
            <a:off x="1193800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0"/>
          <p:cNvSpPr txBox="true"/>
          <p:nvPr/>
        </p:nvSpPr>
        <p:spPr>
          <a:xfrm>
            <a:off x="546100" y="475292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INV-120</a:t>
            </a:r>
            <a:endParaRPr lang="en-US" sz="1100"/>
          </a:p>
        </p:txBody>
      </p:sp>
      <p:cxnSp>
        <p:nvCxnSpPr>
          <p:cNvPr name="GraphCompose Table Cell Border" id="331"/>
          <p:cNvCxnSpPr/>
          <p:nvPr/>
        </p:nvCxnSpPr>
        <p:spPr>
          <a:xfrm>
            <a:off x="1191260" y="497601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2"/>
          <p:cNvCxnSpPr/>
          <p:nvPr/>
        </p:nvCxnSpPr>
        <p:spPr>
          <a:xfrm>
            <a:off x="3413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3"/>
          <p:cNvSpPr txBox="true"/>
          <p:nvPr/>
        </p:nvSpPr>
        <p:spPr>
          <a:xfrm>
            <a:off x="1308100" y="4752923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21 — quarterly delivery slice</a:t>
            </a:r>
            <a:endParaRPr lang="en-US" sz="1100"/>
          </a:p>
        </p:txBody>
      </p:sp>
      <p:cxnSp>
        <p:nvCxnSpPr>
          <p:cNvPr name="GraphCompose Table Cell Border" id="334"/>
          <p:cNvCxnSpPr/>
          <p:nvPr/>
        </p:nvCxnSpPr>
        <p:spPr>
          <a:xfrm>
            <a:off x="3411188" y="497601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5"/>
          <p:cNvCxnSpPr/>
          <p:nvPr/>
        </p:nvCxnSpPr>
        <p:spPr>
          <a:xfrm>
            <a:off x="4429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6"/>
          <p:cNvSpPr txBox="true"/>
          <p:nvPr/>
        </p:nvSpPr>
        <p:spPr>
          <a:xfrm>
            <a:off x="3528028" y="4752923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100 h</a:t>
            </a:r>
            <a:endParaRPr lang="en-US" sz="1100"/>
          </a:p>
        </p:txBody>
      </p:sp>
      <p:cxnSp>
        <p:nvCxnSpPr>
          <p:cNvPr name="GraphCompose Table Cell Border" id="337"/>
          <p:cNvCxnSpPr/>
          <p:nvPr/>
        </p:nvCxnSpPr>
        <p:spPr>
          <a:xfrm>
            <a:off x="4427188" y="497601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8"/>
          <p:cNvCxnSpPr/>
          <p:nvPr/>
        </p:nvCxnSpPr>
        <p:spPr>
          <a:xfrm>
            <a:off x="5445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9"/>
          <p:cNvSpPr txBox="true"/>
          <p:nvPr/>
        </p:nvSpPr>
        <p:spPr>
          <a:xfrm>
            <a:off x="4544028" y="4752923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340"/>
          <p:cNvCxnSpPr/>
          <p:nvPr/>
        </p:nvCxnSpPr>
        <p:spPr>
          <a:xfrm>
            <a:off x="5443188" y="497601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1"/>
          <p:cNvCxnSpPr/>
          <p:nvPr/>
        </p:nvCxnSpPr>
        <p:spPr>
          <a:xfrm>
            <a:off x="6461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2"/>
          <p:cNvSpPr txBox="true"/>
          <p:nvPr/>
        </p:nvSpPr>
        <p:spPr>
          <a:xfrm>
            <a:off x="5560028" y="475292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£ 6,100</a:t>
            </a:r>
            <a:endParaRPr lang="en-US" sz="1100"/>
          </a:p>
        </p:txBody>
      </p:sp>
      <p:cxnSp>
        <p:nvCxnSpPr>
          <p:cNvPr name="GraphCompose Table Cell Border" id="343"/>
          <p:cNvCxnSpPr/>
          <p:nvPr/>
        </p:nvCxnSpPr>
        <p:spPr>
          <a:xfrm>
            <a:off x="431800" y="526542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4"/>
          <p:cNvCxnSpPr/>
          <p:nvPr/>
        </p:nvCxnSpPr>
        <p:spPr>
          <a:xfrm>
            <a:off x="431800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5"/>
          <p:cNvCxnSpPr/>
          <p:nvPr/>
        </p:nvCxnSpPr>
        <p:spPr>
          <a:xfrm>
            <a:off x="1193800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6"/>
          <p:cNvSpPr txBox="true"/>
          <p:nvPr/>
        </p:nvSpPr>
        <p:spPr>
          <a:xfrm>
            <a:off x="546100" y="504232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INV-121</a:t>
            </a:r>
            <a:endParaRPr lang="en-US" sz="1100"/>
          </a:p>
        </p:txBody>
      </p:sp>
      <p:cxnSp>
        <p:nvCxnSpPr>
          <p:cNvPr name="GraphCompose Table Cell Border" id="347"/>
          <p:cNvCxnSpPr/>
          <p:nvPr/>
        </p:nvCxnSpPr>
        <p:spPr>
          <a:xfrm>
            <a:off x="1191260" y="526542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8"/>
          <p:cNvCxnSpPr/>
          <p:nvPr/>
        </p:nvCxnSpPr>
        <p:spPr>
          <a:xfrm>
            <a:off x="3413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9"/>
          <p:cNvSpPr txBox="true"/>
          <p:nvPr/>
        </p:nvSpPr>
        <p:spPr>
          <a:xfrm>
            <a:off x="1308100" y="5042324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22 — quarterly delivery slice</a:t>
            </a:r>
            <a:endParaRPr lang="en-US" sz="1100"/>
          </a:p>
        </p:txBody>
      </p:sp>
      <p:cxnSp>
        <p:nvCxnSpPr>
          <p:cNvPr name="GraphCompose Table Cell Border" id="350"/>
          <p:cNvCxnSpPr/>
          <p:nvPr/>
        </p:nvCxnSpPr>
        <p:spPr>
          <a:xfrm>
            <a:off x="3411188" y="526542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1"/>
          <p:cNvCxnSpPr/>
          <p:nvPr/>
        </p:nvCxnSpPr>
        <p:spPr>
          <a:xfrm>
            <a:off x="4429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2"/>
          <p:cNvSpPr txBox="true"/>
          <p:nvPr/>
        </p:nvSpPr>
        <p:spPr>
          <a:xfrm>
            <a:off x="3528028" y="5042324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103 h</a:t>
            </a:r>
            <a:endParaRPr lang="en-US" sz="1100"/>
          </a:p>
        </p:txBody>
      </p:sp>
      <p:cxnSp>
        <p:nvCxnSpPr>
          <p:cNvPr name="GraphCompose Table Cell Border" id="353"/>
          <p:cNvCxnSpPr/>
          <p:nvPr/>
        </p:nvCxnSpPr>
        <p:spPr>
          <a:xfrm>
            <a:off x="4427188" y="526542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4"/>
          <p:cNvCxnSpPr/>
          <p:nvPr/>
        </p:nvCxnSpPr>
        <p:spPr>
          <a:xfrm>
            <a:off x="5445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5"/>
          <p:cNvSpPr txBox="true"/>
          <p:nvPr/>
        </p:nvSpPr>
        <p:spPr>
          <a:xfrm>
            <a:off x="4544028" y="5042324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356"/>
          <p:cNvCxnSpPr/>
          <p:nvPr/>
        </p:nvCxnSpPr>
        <p:spPr>
          <a:xfrm>
            <a:off x="5443188" y="526542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7"/>
          <p:cNvCxnSpPr/>
          <p:nvPr/>
        </p:nvCxnSpPr>
        <p:spPr>
          <a:xfrm>
            <a:off x="6461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8"/>
          <p:cNvSpPr txBox="true"/>
          <p:nvPr/>
        </p:nvSpPr>
        <p:spPr>
          <a:xfrm>
            <a:off x="5560028" y="504232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£ 6,315</a:t>
            </a:r>
            <a:endParaRPr lang="en-US" sz="1100"/>
          </a:p>
        </p:txBody>
      </p:sp>
      <p:cxnSp>
        <p:nvCxnSpPr>
          <p:cNvPr name="GraphCompose Table Cell Border" id="359"/>
          <p:cNvCxnSpPr/>
          <p:nvPr/>
        </p:nvCxnSpPr>
        <p:spPr>
          <a:xfrm>
            <a:off x="431800" y="555482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0"/>
          <p:cNvCxnSpPr/>
          <p:nvPr/>
        </p:nvCxnSpPr>
        <p:spPr>
          <a:xfrm>
            <a:off x="431800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1"/>
          <p:cNvCxnSpPr/>
          <p:nvPr/>
        </p:nvCxnSpPr>
        <p:spPr>
          <a:xfrm>
            <a:off x="1193800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2"/>
          <p:cNvSpPr txBox="true"/>
          <p:nvPr/>
        </p:nvSpPr>
        <p:spPr>
          <a:xfrm>
            <a:off x="546100" y="533172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INV-122</a:t>
            </a:r>
            <a:endParaRPr lang="en-US" sz="1100"/>
          </a:p>
        </p:txBody>
      </p:sp>
      <p:cxnSp>
        <p:nvCxnSpPr>
          <p:cNvPr name="GraphCompose Table Cell Border" id="363"/>
          <p:cNvCxnSpPr/>
          <p:nvPr/>
        </p:nvCxnSpPr>
        <p:spPr>
          <a:xfrm>
            <a:off x="1191260" y="555482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4"/>
          <p:cNvCxnSpPr/>
          <p:nvPr/>
        </p:nvCxnSpPr>
        <p:spPr>
          <a:xfrm>
            <a:off x="3413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5"/>
          <p:cNvSpPr txBox="true"/>
          <p:nvPr/>
        </p:nvSpPr>
        <p:spPr>
          <a:xfrm>
            <a:off x="1308100" y="5331725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23 — quarterly delivery slice</a:t>
            </a:r>
            <a:endParaRPr lang="en-US" sz="1100"/>
          </a:p>
        </p:txBody>
      </p:sp>
      <p:cxnSp>
        <p:nvCxnSpPr>
          <p:cNvPr name="GraphCompose Table Cell Border" id="366"/>
          <p:cNvCxnSpPr/>
          <p:nvPr/>
        </p:nvCxnSpPr>
        <p:spPr>
          <a:xfrm>
            <a:off x="3411188" y="555482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7"/>
          <p:cNvCxnSpPr/>
          <p:nvPr/>
        </p:nvCxnSpPr>
        <p:spPr>
          <a:xfrm>
            <a:off x="4429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8"/>
          <p:cNvSpPr txBox="true"/>
          <p:nvPr/>
        </p:nvSpPr>
        <p:spPr>
          <a:xfrm>
            <a:off x="3528028" y="5331725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106 h</a:t>
            </a:r>
            <a:endParaRPr lang="en-US" sz="1100"/>
          </a:p>
        </p:txBody>
      </p:sp>
      <p:cxnSp>
        <p:nvCxnSpPr>
          <p:cNvPr name="GraphCompose Table Cell Border" id="369"/>
          <p:cNvCxnSpPr/>
          <p:nvPr/>
        </p:nvCxnSpPr>
        <p:spPr>
          <a:xfrm>
            <a:off x="4427188" y="555482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0"/>
          <p:cNvCxnSpPr/>
          <p:nvPr/>
        </p:nvCxnSpPr>
        <p:spPr>
          <a:xfrm>
            <a:off x="5445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1"/>
          <p:cNvSpPr txBox="true"/>
          <p:nvPr/>
        </p:nvSpPr>
        <p:spPr>
          <a:xfrm>
            <a:off x="4544028" y="5331725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372"/>
          <p:cNvCxnSpPr/>
          <p:nvPr/>
        </p:nvCxnSpPr>
        <p:spPr>
          <a:xfrm>
            <a:off x="5443188" y="555482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3"/>
          <p:cNvCxnSpPr/>
          <p:nvPr/>
        </p:nvCxnSpPr>
        <p:spPr>
          <a:xfrm>
            <a:off x="6461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4"/>
          <p:cNvSpPr txBox="true"/>
          <p:nvPr/>
        </p:nvSpPr>
        <p:spPr>
          <a:xfrm>
            <a:off x="5560028" y="533172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£ 6,530</a:t>
            </a:r>
            <a:endParaRPr lang="en-US" sz="1100"/>
          </a:p>
        </p:txBody>
      </p:sp>
      <p:cxnSp>
        <p:nvCxnSpPr>
          <p:cNvPr name="GraphCompose Table Cell Border" id="375"/>
          <p:cNvCxnSpPr/>
          <p:nvPr/>
        </p:nvCxnSpPr>
        <p:spPr>
          <a:xfrm>
            <a:off x="431800" y="584422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6"/>
          <p:cNvCxnSpPr/>
          <p:nvPr/>
        </p:nvCxnSpPr>
        <p:spPr>
          <a:xfrm>
            <a:off x="431800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7"/>
          <p:cNvCxnSpPr/>
          <p:nvPr/>
        </p:nvCxnSpPr>
        <p:spPr>
          <a:xfrm>
            <a:off x="1193800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8"/>
          <p:cNvSpPr txBox="true"/>
          <p:nvPr/>
        </p:nvSpPr>
        <p:spPr>
          <a:xfrm>
            <a:off x="546100" y="562112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INV-123</a:t>
            </a:r>
            <a:endParaRPr lang="en-US" sz="1100"/>
          </a:p>
        </p:txBody>
      </p:sp>
      <p:cxnSp>
        <p:nvCxnSpPr>
          <p:cNvPr name="GraphCompose Table Cell Border" id="379"/>
          <p:cNvCxnSpPr/>
          <p:nvPr/>
        </p:nvCxnSpPr>
        <p:spPr>
          <a:xfrm>
            <a:off x="1191260" y="584422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0"/>
          <p:cNvCxnSpPr/>
          <p:nvPr/>
        </p:nvCxnSpPr>
        <p:spPr>
          <a:xfrm>
            <a:off x="3413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1"/>
          <p:cNvSpPr txBox="true"/>
          <p:nvPr/>
        </p:nvSpPr>
        <p:spPr>
          <a:xfrm>
            <a:off x="1308100" y="5621127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24 — quarterly delivery slice</a:t>
            </a:r>
            <a:endParaRPr lang="en-US" sz="1100"/>
          </a:p>
        </p:txBody>
      </p:sp>
      <p:cxnSp>
        <p:nvCxnSpPr>
          <p:cNvPr name="GraphCompose Table Cell Border" id="382"/>
          <p:cNvCxnSpPr/>
          <p:nvPr/>
        </p:nvCxnSpPr>
        <p:spPr>
          <a:xfrm>
            <a:off x="3411188" y="584422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3"/>
          <p:cNvCxnSpPr/>
          <p:nvPr/>
        </p:nvCxnSpPr>
        <p:spPr>
          <a:xfrm>
            <a:off x="4429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4"/>
          <p:cNvSpPr txBox="true"/>
          <p:nvPr/>
        </p:nvSpPr>
        <p:spPr>
          <a:xfrm>
            <a:off x="3528028" y="5621127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109 h</a:t>
            </a:r>
            <a:endParaRPr lang="en-US" sz="1100"/>
          </a:p>
        </p:txBody>
      </p:sp>
      <p:cxnSp>
        <p:nvCxnSpPr>
          <p:cNvPr name="GraphCompose Table Cell Border" id="385"/>
          <p:cNvCxnSpPr/>
          <p:nvPr/>
        </p:nvCxnSpPr>
        <p:spPr>
          <a:xfrm>
            <a:off x="4427188" y="584422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6"/>
          <p:cNvCxnSpPr/>
          <p:nvPr/>
        </p:nvCxnSpPr>
        <p:spPr>
          <a:xfrm>
            <a:off x="5445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7"/>
          <p:cNvSpPr txBox="true"/>
          <p:nvPr/>
        </p:nvSpPr>
        <p:spPr>
          <a:xfrm>
            <a:off x="4544028" y="5621127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388"/>
          <p:cNvCxnSpPr/>
          <p:nvPr/>
        </p:nvCxnSpPr>
        <p:spPr>
          <a:xfrm>
            <a:off x="5443188" y="584422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9"/>
          <p:cNvCxnSpPr/>
          <p:nvPr/>
        </p:nvCxnSpPr>
        <p:spPr>
          <a:xfrm>
            <a:off x="6461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90"/>
          <p:cNvSpPr txBox="true"/>
          <p:nvPr/>
        </p:nvSpPr>
        <p:spPr>
          <a:xfrm>
            <a:off x="5560028" y="562112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£ 6,745</a:t>
            </a:r>
            <a:endParaRPr lang="en-US" sz="1100"/>
          </a:p>
        </p:txBody>
      </p:sp>
      <p:cxnSp>
        <p:nvCxnSpPr>
          <p:cNvPr name="GraphCompose Table Cell Border" id="391"/>
          <p:cNvCxnSpPr/>
          <p:nvPr/>
        </p:nvCxnSpPr>
        <p:spPr>
          <a:xfrm>
            <a:off x="431800" y="6164897"/>
            <a:ext cx="76454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2"/>
          <p:cNvCxnSpPr/>
          <p:nvPr/>
        </p:nvCxnSpPr>
        <p:spPr>
          <a:xfrm>
            <a:off x="431800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3"/>
          <p:cNvCxnSpPr/>
          <p:nvPr/>
        </p:nvCxnSpPr>
        <p:spPr>
          <a:xfrm>
            <a:off x="1193800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394"/>
          <p:cNvSpPr txBox="true"/>
          <p:nvPr/>
        </p:nvSpPr>
        <p:spPr>
          <a:xfrm>
            <a:off x="546100" y="5922039"/>
            <a:ext cx="255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TOT</a:t>
            </a:r>
            <a:endParaRPr lang="en-US" sz="1100"/>
          </a:p>
        </p:txBody>
      </p:sp>
      <p:cxnSp>
        <p:nvCxnSpPr>
          <p:cNvPr name="GraphCompose Table Cell Border" id="395"/>
          <p:cNvCxnSpPr/>
          <p:nvPr/>
        </p:nvCxnSpPr>
        <p:spPr>
          <a:xfrm>
            <a:off x="1191260" y="6164897"/>
            <a:ext cx="2225008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6"/>
          <p:cNvCxnSpPr/>
          <p:nvPr/>
        </p:nvCxnSpPr>
        <p:spPr>
          <a:xfrm>
            <a:off x="3413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397"/>
          <p:cNvSpPr txBox="true"/>
          <p:nvPr/>
        </p:nvSpPr>
        <p:spPr>
          <a:xfrm>
            <a:off x="1308100" y="5922039"/>
            <a:ext cx="1292733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Total quarterly spend</a:t>
            </a:r>
            <a:endParaRPr lang="en-US" sz="1100"/>
          </a:p>
        </p:txBody>
      </p:sp>
      <p:cxnSp>
        <p:nvCxnSpPr>
          <p:cNvPr name="GraphCompose Table Cell Border" id="398"/>
          <p:cNvCxnSpPr/>
          <p:nvPr/>
        </p:nvCxnSpPr>
        <p:spPr>
          <a:xfrm>
            <a:off x="3411188" y="6164897"/>
            <a:ext cx="102108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9"/>
          <p:cNvCxnSpPr/>
          <p:nvPr/>
        </p:nvCxnSpPr>
        <p:spPr>
          <a:xfrm>
            <a:off x="4429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0"/>
          <p:cNvSpPr txBox="true"/>
          <p:nvPr/>
        </p:nvSpPr>
        <p:spPr>
          <a:xfrm>
            <a:off x="3528028" y="5922039"/>
            <a:ext cx="128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—</a:t>
            </a:r>
            <a:endParaRPr lang="en-US" sz="1100"/>
          </a:p>
        </p:txBody>
      </p:sp>
      <p:cxnSp>
        <p:nvCxnSpPr>
          <p:cNvPr name="GraphCompose Table Cell Border" id="401"/>
          <p:cNvCxnSpPr/>
          <p:nvPr/>
        </p:nvCxnSpPr>
        <p:spPr>
          <a:xfrm>
            <a:off x="4427188" y="6164897"/>
            <a:ext cx="102108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402"/>
          <p:cNvCxnSpPr/>
          <p:nvPr/>
        </p:nvCxnSpPr>
        <p:spPr>
          <a:xfrm>
            <a:off x="5445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3"/>
          <p:cNvSpPr txBox="true"/>
          <p:nvPr/>
        </p:nvSpPr>
        <p:spPr>
          <a:xfrm>
            <a:off x="4544028" y="5922039"/>
            <a:ext cx="128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—</a:t>
            </a:r>
            <a:endParaRPr lang="en-US" sz="1100"/>
          </a:p>
        </p:txBody>
      </p:sp>
      <p:cxnSp>
        <p:nvCxnSpPr>
          <p:cNvPr name="GraphCompose Table Cell Border" id="404"/>
          <p:cNvCxnSpPr/>
          <p:nvPr/>
        </p:nvCxnSpPr>
        <p:spPr>
          <a:xfrm>
            <a:off x="5443188" y="6164897"/>
            <a:ext cx="101854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405"/>
          <p:cNvCxnSpPr/>
          <p:nvPr/>
        </p:nvCxnSpPr>
        <p:spPr>
          <a:xfrm>
            <a:off x="6461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6"/>
          <p:cNvSpPr txBox="true"/>
          <p:nvPr/>
        </p:nvSpPr>
        <p:spPr>
          <a:xfrm>
            <a:off x="5560028" y="5922039"/>
            <a:ext cx="566166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£ 102,720</a:t>
            </a:r>
            <a:endParaRPr lang="en-US" sz="1100"/>
          </a:p>
        </p:txBody>
      </p:sp>
      <p:sp>
        <p:nvSpPr>
          <p:cNvPr name="AutoShape 407" id="407"/>
          <p:cNvSpPr/>
          <p:nvPr/>
        </p:nvSpPr>
        <p:spPr>
          <a:xfrm>
            <a:off x="431800" y="6342697"/>
            <a:ext cx="1903575" cy="1179525"/>
          </a:xfrm>
          <a:prstGeom prst="roundRect">
            <a:avLst>
              <a:gd name="adj" fmla="val 86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08" id="408"/>
          <p:cNvCxnSpPr/>
          <p:nvPr/>
        </p:nvCxnSpPr>
        <p:spPr>
          <a:xfrm>
            <a:off x="431800" y="6342697"/>
            <a:ext cx="1903575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09"/>
          <p:cNvSpPr txBox="true"/>
          <p:nvPr/>
        </p:nvSpPr>
        <p:spPr>
          <a:xfrm>
            <a:off x="609600" y="6494335"/>
            <a:ext cx="135985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Cinematic templates</a:t>
            </a:r>
            <a:endParaRPr lang="en-US" sz="1100"/>
          </a:p>
        </p:txBody>
      </p:sp>
      <p:sp>
        <p:nvSpPr>
          <p:cNvPr name="GraphCompose Text Line" id="410"/>
          <p:cNvSpPr txBox="true"/>
          <p:nvPr/>
        </p:nvSpPr>
        <p:spPr>
          <a:xfrm>
            <a:off x="609600" y="6703950"/>
            <a:ext cx="8432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ModernInvoice</a:t>
            </a:r>
            <a:endParaRPr lang="en-US" sz="1100"/>
          </a:p>
        </p:txBody>
      </p:sp>
      <p:sp>
        <p:nvSpPr>
          <p:cNvPr name="GraphCompose Text Line" id="411"/>
          <p:cNvSpPr txBox="true"/>
          <p:nvPr/>
        </p:nvSpPr>
        <p:spPr>
          <a:xfrm>
            <a:off x="609600" y="6866515"/>
            <a:ext cx="142189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Same data renders through a</a:t>
            </a:r>
            <a:endParaRPr lang="en-US" sz="1100"/>
          </a:p>
        </p:txBody>
      </p:sp>
      <p:sp>
        <p:nvSpPr>
          <p:cNvPr name="GraphCompose Text Line" id="412"/>
          <p:cNvSpPr txBox="true"/>
          <p:nvPr/>
        </p:nvSpPr>
        <p:spPr>
          <a:xfrm>
            <a:off x="609600" y="6985323"/>
            <a:ext cx="154924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BrandTheme — pass a different</a:t>
            </a:r>
            <a:endParaRPr lang="en-US" sz="1100"/>
          </a:p>
        </p:txBody>
      </p:sp>
      <p:sp>
        <p:nvSpPr>
          <p:cNvPr name="GraphCompose Text Line" id="413"/>
          <p:cNvSpPr txBox="true"/>
          <p:nvPr/>
        </p:nvSpPr>
        <p:spPr>
          <a:xfrm>
            <a:off x="609600" y="7104132"/>
            <a:ext cx="1506758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theme to create(...), ship a new</a:t>
            </a:r>
            <a:endParaRPr lang="en-US" sz="1100"/>
          </a:p>
        </p:txBody>
      </p:sp>
      <p:sp>
        <p:nvSpPr>
          <p:cNvPr name="GraphCompose Text Line" id="414"/>
          <p:cNvSpPr txBox="true"/>
          <p:nvPr/>
        </p:nvSpPr>
        <p:spPr>
          <a:xfrm>
            <a:off x="609600" y="7222940"/>
            <a:ext cx="23194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look.</a:t>
            </a:r>
            <a:endParaRPr lang="en-US" sz="1100"/>
          </a:p>
        </p:txBody>
      </p:sp>
      <p:sp>
        <p:nvSpPr>
          <p:cNvPr name="AutoShape 415" id="415"/>
          <p:cNvSpPr/>
          <p:nvPr/>
        </p:nvSpPr>
        <p:spPr>
          <a:xfrm>
            <a:off x="2723200" y="6342697"/>
            <a:ext cx="1855081" cy="1179525"/>
          </a:xfrm>
          <a:prstGeom prst="roundRect">
            <a:avLst>
              <a:gd name="adj" fmla="val 86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16" id="416"/>
          <p:cNvCxnSpPr/>
          <p:nvPr/>
        </p:nvCxnSpPr>
        <p:spPr>
          <a:xfrm>
            <a:off x="2723200" y="6342697"/>
            <a:ext cx="1855081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17"/>
          <p:cNvSpPr txBox="true"/>
          <p:nvPr/>
        </p:nvSpPr>
        <p:spPr>
          <a:xfrm>
            <a:off x="2901000" y="6494335"/>
            <a:ext cx="129768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Shape-as-container</a:t>
            </a:r>
            <a:endParaRPr lang="en-US" sz="1100"/>
          </a:p>
        </p:txBody>
      </p:sp>
      <p:sp>
        <p:nvSpPr>
          <p:cNvPr name="GraphCompose Text Line" id="418"/>
          <p:cNvSpPr txBox="true"/>
          <p:nvPr/>
        </p:nvSpPr>
        <p:spPr>
          <a:xfrm>
            <a:off x="2901000" y="6703950"/>
            <a:ext cx="13614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addCircle + clip path</a:t>
            </a:r>
            <a:endParaRPr lang="en-US" sz="1100"/>
          </a:p>
        </p:txBody>
      </p:sp>
      <p:sp>
        <p:nvSpPr>
          <p:cNvPr name="GraphCompose Text Line" id="419"/>
          <p:cNvSpPr txBox="true"/>
          <p:nvPr/>
        </p:nvSpPr>
        <p:spPr>
          <a:xfrm>
            <a:off x="2901000" y="6866515"/>
            <a:ext cx="135461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ClipPolicy.CLIP_PATH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clips</a:t>
            </a:r>
            <a:endParaRPr lang="en-US" sz="1100"/>
          </a:p>
        </p:txBody>
      </p:sp>
      <p:sp>
        <p:nvSpPr>
          <p:cNvPr name="GraphCompose Text Line" id="420"/>
          <p:cNvSpPr txBox="true"/>
          <p:nvPr/>
        </p:nvSpPr>
        <p:spPr>
          <a:xfrm>
            <a:off x="2901000" y="6985323"/>
            <a:ext cx="150075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children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to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actual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outline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—</a:t>
            </a:r>
            <a:endParaRPr lang="en-US" sz="1100"/>
          </a:p>
        </p:txBody>
      </p:sp>
      <p:sp>
        <p:nvSpPr>
          <p:cNvPr name="GraphCompose Text Line" id="421"/>
          <p:cNvSpPr txBox="true"/>
          <p:nvPr/>
        </p:nvSpPr>
        <p:spPr>
          <a:xfrm>
            <a:off x="2901000" y="7104132"/>
            <a:ext cx="1403327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DOCX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falls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back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inline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with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</a:t>
            </a:r>
            <a:endParaRPr lang="en-US" sz="1100"/>
          </a:p>
        </p:txBody>
      </p:sp>
      <p:sp>
        <p:nvSpPr>
          <p:cNvPr name="GraphCompose Text Line" id="422"/>
          <p:cNvSpPr txBox="true"/>
          <p:nvPr/>
        </p:nvSpPr>
        <p:spPr>
          <a:xfrm>
            <a:off x="2901000" y="7222940"/>
            <a:ext cx="135483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one-time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capability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warning.</a:t>
            </a:r>
            <a:endParaRPr lang="en-US" sz="1100"/>
          </a:p>
        </p:txBody>
      </p:sp>
      <p:sp>
        <p:nvSpPr>
          <p:cNvPr name="AutoShape 423" id="423"/>
          <p:cNvSpPr/>
          <p:nvPr/>
        </p:nvSpPr>
        <p:spPr>
          <a:xfrm>
            <a:off x="5014600" y="6342697"/>
            <a:ext cx="1970199" cy="1145565"/>
          </a:xfrm>
          <a:prstGeom prst="roundRect">
            <a:avLst>
              <a:gd name="adj" fmla="val 8869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24" id="424"/>
          <p:cNvCxnSpPr/>
          <p:nvPr/>
        </p:nvCxnSpPr>
        <p:spPr>
          <a:xfrm>
            <a:off x="5014600" y="6342697"/>
            <a:ext cx="1970199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25"/>
          <p:cNvSpPr txBox="true"/>
          <p:nvPr/>
        </p:nvSpPr>
        <p:spPr>
          <a:xfrm>
            <a:off x="5192400" y="6494335"/>
            <a:ext cx="1375359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Transformable mixin</a:t>
            </a:r>
            <a:endParaRPr lang="en-US" sz="1100"/>
          </a:p>
        </p:txBody>
      </p:sp>
      <p:sp>
        <p:nvSpPr>
          <p:cNvPr name="GraphCompose Text Line" id="426"/>
          <p:cNvSpPr txBox="true"/>
          <p:nvPr/>
        </p:nvSpPr>
        <p:spPr>
          <a:xfrm>
            <a:off x="5192400" y="6703950"/>
            <a:ext cx="14909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rotate / scale on every</a:t>
            </a:r>
            <a:endParaRPr lang="en-US" sz="1100"/>
          </a:p>
        </p:txBody>
      </p:sp>
      <p:sp>
        <p:nvSpPr>
          <p:cNvPr name="GraphCompose Text Line" id="427"/>
          <p:cNvSpPr txBox="true"/>
          <p:nvPr/>
        </p:nvSpPr>
        <p:spPr>
          <a:xfrm>
            <a:off x="5192400" y="6788799"/>
            <a:ext cx="32512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shape</a:t>
            </a:r>
            <a:endParaRPr lang="en-US" sz="1100"/>
          </a:p>
        </p:txBody>
      </p:sp>
      <p:sp>
        <p:nvSpPr>
          <p:cNvPr name="GraphCompose Text Line" id="428"/>
          <p:cNvSpPr txBox="true"/>
          <p:nvPr/>
        </p:nvSpPr>
        <p:spPr>
          <a:xfrm>
            <a:off x="5192400" y="6951363"/>
            <a:ext cx="1615869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Transformable&lt;T&gt; reaches every</a:t>
            </a:r>
            <a:endParaRPr lang="en-US" sz="1100"/>
          </a:p>
        </p:txBody>
      </p:sp>
      <p:sp>
        <p:nvSpPr>
          <p:cNvPr name="GraphCompose Text Line" id="429"/>
          <p:cNvSpPr txBox="true"/>
          <p:nvPr/>
        </p:nvSpPr>
        <p:spPr>
          <a:xfrm>
            <a:off x="5192400" y="7070172"/>
            <a:ext cx="161008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leaf builder, so any shape rotates</a:t>
            </a:r>
            <a:endParaRPr lang="en-US" sz="1100"/>
          </a:p>
        </p:txBody>
      </p:sp>
      <p:sp>
        <p:nvSpPr>
          <p:cNvPr name="GraphCompose Text Line" id="430"/>
          <p:cNvSpPr txBox="true"/>
          <p:nvPr/>
        </p:nvSpPr>
        <p:spPr>
          <a:xfrm>
            <a:off x="5192400" y="7188980"/>
            <a:ext cx="1379299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around its placement centre.</a:t>
            </a:r>
            <a:endParaRPr lang="en-US" sz="1100"/>
          </a:p>
        </p:txBody>
      </p:sp>
      <p:sp>
        <p:nvSpPr>
          <p:cNvPr name="AutoShape 431" id="431"/>
          <p:cNvSpPr/>
          <p:nvPr/>
        </p:nvSpPr>
        <p:spPr>
          <a:xfrm>
            <a:off x="431800" y="7700023"/>
            <a:ext cx="6505169" cy="1682433"/>
          </a:xfrm>
          <a:prstGeom prst="roundRect">
            <a:avLst>
              <a:gd name="adj" fmla="val 6039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32" id="432"/>
          <p:cNvCxnSpPr/>
          <p:nvPr/>
        </p:nvCxnSpPr>
        <p:spPr>
          <a:xfrm>
            <a:off x="431800" y="9382455"/>
            <a:ext cx="6505169" cy="0"/>
          </a:xfrm>
          <a:prstGeom prst="line">
            <a:avLst/>
          </a:prstGeom>
          <a:ln w="25400">
            <a:solidFill>
              <a:srgbClr val="C4994C"/>
            </a:solidFill>
          </a:ln>
        </p:spPr>
      </p:cxnSp>
      <p:sp>
        <p:nvSpPr>
          <p:cNvPr name="GraphCompose Text Line" id="433"/>
          <p:cNvSpPr txBox="true"/>
          <p:nvPr/>
        </p:nvSpPr>
        <p:spPr>
          <a:xfrm>
            <a:off x="609600" y="7837390"/>
            <a:ext cx="1296886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Action items</a:t>
            </a:r>
            <a:endParaRPr lang="en-US" sz="1100"/>
          </a:p>
        </p:txBody>
      </p:sp>
      <p:sp>
        <p:nvSpPr>
          <p:cNvPr name="GraphCompose Text Line" id="434"/>
          <p:cNvSpPr txBox="true"/>
          <p:nvPr/>
        </p:nvSpPr>
        <p:spPr>
          <a:xfrm>
            <a:off x="609600" y="8145833"/>
            <a:ext cx="615083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Publish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release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once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branch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merges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through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review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endParaRPr lang="en-US" sz="1100"/>
          </a:p>
        </p:txBody>
      </p:sp>
      <p:sp>
        <p:nvSpPr>
          <p:cNvPr name="GraphCompose Text Line" id="435"/>
          <p:cNvSpPr txBox="true"/>
          <p:nvPr/>
        </p:nvSpPr>
        <p:spPr>
          <a:xfrm>
            <a:off x="609600" y="8310298"/>
            <a:ext cx="94983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maintainer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36"/>
          <p:cNvSpPr txBox="true"/>
          <p:nvPr/>
        </p:nvSpPr>
        <p:spPr>
          <a:xfrm>
            <a:off x="609600" y="8576363"/>
            <a:ext cx="599206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Open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ADR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0003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nested-list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ergonomics.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contributor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37"/>
          <p:cNvSpPr txBox="true"/>
          <p:nvPr/>
        </p:nvSpPr>
        <p:spPr>
          <a:xfrm>
            <a:off x="609600" y="8842428"/>
            <a:ext cx="581515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Ship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composed-cell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content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ahead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of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canvas.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endParaRPr lang="en-US" sz="1100"/>
          </a:p>
        </p:txBody>
      </p:sp>
      <p:sp>
        <p:nvSpPr>
          <p:cNvPr name="GraphCompose Text Line" id="438"/>
          <p:cNvSpPr txBox="true"/>
          <p:nvPr/>
        </p:nvSpPr>
        <p:spPr>
          <a:xfrm>
            <a:off x="609600" y="9006893"/>
            <a:ext cx="998906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contributor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cxnSp>
        <p:nvCxnSpPr>
          <p:cNvPr name="Connector 439" id="439"/>
          <p:cNvCxnSpPr/>
          <p:nvPr/>
        </p:nvCxnSpPr>
        <p:spPr>
          <a:xfrm>
            <a:off x="431800" y="9560255"/>
            <a:ext cx="4340075" cy="0"/>
          </a:xfrm>
          <a:prstGeom prst="line">
            <a:avLst/>
          </a:prstGeom>
          <a:ln w="7620">
            <a:solidFill>
              <a:srgbClr val="D4C8B2"/>
            </a:solidFill>
          </a:ln>
        </p:spPr>
      </p:cxnSp>
      <p:sp>
        <p:nvSpPr>
          <p:cNvPr name="GraphCompose Text Line" id="440"/>
          <p:cNvSpPr txBox="true"/>
          <p:nvPr/>
        </p:nvSpPr>
        <p:spPr>
          <a:xfrm>
            <a:off x="431800" y="9641401"/>
            <a:ext cx="432321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Source: examples/.../MasterShowcaseExample.java — every visible token routes through</a:t>
            </a:r>
            <a:endParaRPr lang="en-US" sz="1100"/>
          </a:p>
        </p:txBody>
      </p:sp>
      <p:sp>
        <p:nvSpPr>
          <p:cNvPr name="GraphCompose Text Line" id="441"/>
          <p:cNvSpPr txBox="true"/>
          <p:nvPr/>
        </p:nvSpPr>
        <p:spPr>
          <a:xfrm>
            <a:off x="431800" y="9760210"/>
            <a:ext cx="434134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BusinessTheme.modern() so the same source renders any of classic / modern / executive</a:t>
            </a:r>
            <a:endParaRPr lang="en-US" sz="1100"/>
          </a:p>
        </p:txBody>
      </p:sp>
      <p:sp>
        <p:nvSpPr>
          <p:cNvPr name="GraphCompose Text Line" id="442"/>
          <p:cNvSpPr txBox="true"/>
          <p:nvPr/>
        </p:nvSpPr>
        <p:spPr>
          <a:xfrm>
            <a:off x="431800" y="9879018"/>
            <a:ext cx="389766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themes.</a:t>
            </a:r>
            <a:endParaRPr lang="en-US" sz="1100"/>
          </a:p>
        </p:txBody>
      </p:sp>
      <p:sp>
        <p:nvSpPr>
          <p:cNvPr name="Freeform 443" id="443"/>
          <p:cNvSpPr/>
          <p:nvPr/>
        </p:nvSpPr>
        <p:spPr>
          <a:xfrm>
            <a:off x="4955334" y="9560255"/>
            <a:ext cx="2286000" cy="457200"/>
          </a:xfrm>
          <a:custGeom>
            <a:avLst/>
            <a:gdLst/>
            <a:ahLst/>
            <a:cxnLst/>
            <a:rect r="r" b="b" t="t" l="l"/>
            <a:pathLst>
              <a:path h="457200" w="2286000">
                <a:moveTo>
                  <a:pt x="0" y="0"/>
                </a:moveTo>
                <a:lnTo>
                  <a:pt x="2286000" y="0"/>
                </a:lnTo>
                <a:lnTo>
                  <a:pt x="22860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name="Freeform 444" id="444"/>
          <p:cNvSpPr/>
          <p:nvPr/>
        </p:nvSpPr>
        <p:spPr>
          <a:xfrm>
            <a:off x="5425234" y="9560255"/>
            <a:ext cx="1339850" cy="457200"/>
          </a:xfrm>
          <a:custGeom>
            <a:avLst/>
            <a:gdLst/>
            <a:ahLst/>
            <a:cxnLst/>
            <a:rect r="r" b="b" t="t" l="l"/>
            <a:pathLst>
              <a:path h="457200" w="1339850">
                <a:moveTo>
                  <a:pt x="0" y="0"/>
                </a:moveTo>
                <a:lnTo>
                  <a:pt x="12700" y="0"/>
                </a:lnTo>
                <a:lnTo>
                  <a:pt x="12700" y="457200"/>
                </a:lnTo>
                <a:lnTo>
                  <a:pt x="0" y="457200"/>
                </a:lnTo>
                <a:close/>
                <a:moveTo>
                  <a:pt x="19050" y="0"/>
                </a:moveTo>
                <a:lnTo>
                  <a:pt x="25400" y="0"/>
                </a:lnTo>
                <a:lnTo>
                  <a:pt x="25400" y="457200"/>
                </a:lnTo>
                <a:lnTo>
                  <a:pt x="19050" y="457200"/>
                </a:lnTo>
                <a:close/>
                <a:moveTo>
                  <a:pt x="38100" y="0"/>
                </a:moveTo>
                <a:lnTo>
                  <a:pt x="44450" y="0"/>
                </a:lnTo>
                <a:lnTo>
                  <a:pt x="44450" y="457200"/>
                </a:lnTo>
                <a:lnTo>
                  <a:pt x="38100" y="457200"/>
                </a:lnTo>
                <a:close/>
                <a:moveTo>
                  <a:pt x="69850" y="0"/>
                </a:moveTo>
                <a:lnTo>
                  <a:pt x="82550" y="0"/>
                </a:lnTo>
                <a:lnTo>
                  <a:pt x="82550" y="457200"/>
                </a:lnTo>
                <a:lnTo>
                  <a:pt x="69850" y="457200"/>
                </a:lnTo>
                <a:close/>
                <a:moveTo>
                  <a:pt x="88900" y="0"/>
                </a:moveTo>
                <a:lnTo>
                  <a:pt x="95250" y="0"/>
                </a:lnTo>
                <a:lnTo>
                  <a:pt x="95250" y="457200"/>
                </a:lnTo>
                <a:lnTo>
                  <a:pt x="88900" y="457200"/>
                </a:lnTo>
                <a:close/>
                <a:moveTo>
                  <a:pt x="114300" y="0"/>
                </a:moveTo>
                <a:lnTo>
                  <a:pt x="120650" y="0"/>
                </a:lnTo>
                <a:lnTo>
                  <a:pt x="120650" y="457200"/>
                </a:lnTo>
                <a:lnTo>
                  <a:pt x="114300" y="457200"/>
                </a:lnTo>
                <a:close/>
                <a:moveTo>
                  <a:pt x="139700" y="0"/>
                </a:moveTo>
                <a:lnTo>
                  <a:pt x="146050" y="0"/>
                </a:lnTo>
                <a:lnTo>
                  <a:pt x="146050" y="457200"/>
                </a:lnTo>
                <a:lnTo>
                  <a:pt x="139700" y="457200"/>
                </a:lnTo>
                <a:close/>
                <a:moveTo>
                  <a:pt x="165100" y="0"/>
                </a:moveTo>
                <a:lnTo>
                  <a:pt x="171450" y="0"/>
                </a:lnTo>
                <a:lnTo>
                  <a:pt x="171450" y="457200"/>
                </a:lnTo>
                <a:lnTo>
                  <a:pt x="165100" y="457200"/>
                </a:lnTo>
                <a:close/>
                <a:moveTo>
                  <a:pt x="190500" y="0"/>
                </a:moveTo>
                <a:lnTo>
                  <a:pt x="203200" y="0"/>
                </a:lnTo>
                <a:lnTo>
                  <a:pt x="203200" y="457200"/>
                </a:lnTo>
                <a:lnTo>
                  <a:pt x="190500" y="457200"/>
                </a:lnTo>
                <a:close/>
                <a:moveTo>
                  <a:pt x="209550" y="0"/>
                </a:moveTo>
                <a:lnTo>
                  <a:pt x="215900" y="0"/>
                </a:lnTo>
                <a:lnTo>
                  <a:pt x="215900" y="457200"/>
                </a:lnTo>
                <a:lnTo>
                  <a:pt x="209550" y="457200"/>
                </a:lnTo>
                <a:close/>
                <a:moveTo>
                  <a:pt x="228600" y="0"/>
                </a:moveTo>
                <a:lnTo>
                  <a:pt x="241300" y="0"/>
                </a:lnTo>
                <a:lnTo>
                  <a:pt x="241300" y="457200"/>
                </a:lnTo>
                <a:lnTo>
                  <a:pt x="228600" y="457200"/>
                </a:lnTo>
                <a:close/>
                <a:moveTo>
                  <a:pt x="247650" y="0"/>
                </a:moveTo>
                <a:lnTo>
                  <a:pt x="266700" y="0"/>
                </a:lnTo>
                <a:lnTo>
                  <a:pt x="266700" y="457200"/>
                </a:lnTo>
                <a:lnTo>
                  <a:pt x="247650" y="457200"/>
                </a:lnTo>
                <a:close/>
                <a:moveTo>
                  <a:pt x="279400" y="0"/>
                </a:moveTo>
                <a:lnTo>
                  <a:pt x="285750" y="0"/>
                </a:lnTo>
                <a:lnTo>
                  <a:pt x="285750" y="457200"/>
                </a:lnTo>
                <a:lnTo>
                  <a:pt x="279400" y="457200"/>
                </a:lnTo>
                <a:close/>
                <a:moveTo>
                  <a:pt x="292100" y="0"/>
                </a:moveTo>
                <a:lnTo>
                  <a:pt x="311150" y="0"/>
                </a:lnTo>
                <a:lnTo>
                  <a:pt x="311150" y="457200"/>
                </a:lnTo>
                <a:lnTo>
                  <a:pt x="292100" y="457200"/>
                </a:lnTo>
                <a:close/>
                <a:moveTo>
                  <a:pt x="317500" y="0"/>
                </a:moveTo>
                <a:lnTo>
                  <a:pt x="330200" y="0"/>
                </a:lnTo>
                <a:lnTo>
                  <a:pt x="330200" y="457200"/>
                </a:lnTo>
                <a:lnTo>
                  <a:pt x="317500" y="457200"/>
                </a:lnTo>
                <a:close/>
                <a:moveTo>
                  <a:pt x="349250" y="0"/>
                </a:moveTo>
                <a:lnTo>
                  <a:pt x="355600" y="0"/>
                </a:lnTo>
                <a:lnTo>
                  <a:pt x="355600" y="457200"/>
                </a:lnTo>
                <a:lnTo>
                  <a:pt x="349250" y="457200"/>
                </a:lnTo>
                <a:close/>
                <a:moveTo>
                  <a:pt x="361950" y="0"/>
                </a:moveTo>
                <a:lnTo>
                  <a:pt x="368300" y="0"/>
                </a:lnTo>
                <a:lnTo>
                  <a:pt x="368300" y="457200"/>
                </a:lnTo>
                <a:lnTo>
                  <a:pt x="361950" y="457200"/>
                </a:lnTo>
                <a:close/>
                <a:moveTo>
                  <a:pt x="387350" y="0"/>
                </a:moveTo>
                <a:lnTo>
                  <a:pt x="400050" y="0"/>
                </a:lnTo>
                <a:lnTo>
                  <a:pt x="400050" y="457200"/>
                </a:lnTo>
                <a:lnTo>
                  <a:pt x="387350" y="457200"/>
                </a:lnTo>
                <a:close/>
                <a:moveTo>
                  <a:pt x="419100" y="0"/>
                </a:moveTo>
                <a:lnTo>
                  <a:pt x="431800" y="0"/>
                </a:lnTo>
                <a:lnTo>
                  <a:pt x="431800" y="457200"/>
                </a:lnTo>
                <a:lnTo>
                  <a:pt x="419100" y="457200"/>
                </a:lnTo>
                <a:close/>
                <a:moveTo>
                  <a:pt x="43815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438150" y="457200"/>
                </a:lnTo>
                <a:close/>
                <a:moveTo>
                  <a:pt x="463550" y="0"/>
                </a:moveTo>
                <a:lnTo>
                  <a:pt x="469900" y="0"/>
                </a:lnTo>
                <a:lnTo>
                  <a:pt x="469900" y="457200"/>
                </a:lnTo>
                <a:lnTo>
                  <a:pt x="463550" y="457200"/>
                </a:lnTo>
                <a:close/>
                <a:moveTo>
                  <a:pt x="488950" y="0"/>
                </a:moveTo>
                <a:lnTo>
                  <a:pt x="501650" y="0"/>
                </a:lnTo>
                <a:lnTo>
                  <a:pt x="501650" y="457200"/>
                </a:lnTo>
                <a:lnTo>
                  <a:pt x="488950" y="457200"/>
                </a:lnTo>
                <a:close/>
                <a:moveTo>
                  <a:pt x="508000" y="0"/>
                </a:moveTo>
                <a:lnTo>
                  <a:pt x="527050" y="0"/>
                </a:lnTo>
                <a:lnTo>
                  <a:pt x="527050" y="457200"/>
                </a:lnTo>
                <a:lnTo>
                  <a:pt x="508000" y="457200"/>
                </a:lnTo>
                <a:close/>
                <a:moveTo>
                  <a:pt x="546100" y="0"/>
                </a:moveTo>
                <a:lnTo>
                  <a:pt x="552450" y="0"/>
                </a:lnTo>
                <a:lnTo>
                  <a:pt x="552450" y="457200"/>
                </a:lnTo>
                <a:lnTo>
                  <a:pt x="546100" y="457200"/>
                </a:lnTo>
                <a:close/>
                <a:moveTo>
                  <a:pt x="558800" y="0"/>
                </a:moveTo>
                <a:lnTo>
                  <a:pt x="565150" y="0"/>
                </a:lnTo>
                <a:lnTo>
                  <a:pt x="565150" y="457200"/>
                </a:lnTo>
                <a:lnTo>
                  <a:pt x="558800" y="457200"/>
                </a:lnTo>
                <a:close/>
                <a:moveTo>
                  <a:pt x="584200" y="0"/>
                </a:moveTo>
                <a:lnTo>
                  <a:pt x="596900" y="0"/>
                </a:lnTo>
                <a:lnTo>
                  <a:pt x="596900" y="457200"/>
                </a:lnTo>
                <a:lnTo>
                  <a:pt x="584200" y="457200"/>
                </a:lnTo>
                <a:close/>
                <a:moveTo>
                  <a:pt x="603250" y="0"/>
                </a:moveTo>
                <a:lnTo>
                  <a:pt x="609600" y="0"/>
                </a:lnTo>
                <a:lnTo>
                  <a:pt x="609600" y="457200"/>
                </a:lnTo>
                <a:lnTo>
                  <a:pt x="603250" y="457200"/>
                </a:lnTo>
                <a:close/>
                <a:moveTo>
                  <a:pt x="628650" y="0"/>
                </a:moveTo>
                <a:lnTo>
                  <a:pt x="641350" y="0"/>
                </a:lnTo>
                <a:lnTo>
                  <a:pt x="641350" y="457200"/>
                </a:lnTo>
                <a:lnTo>
                  <a:pt x="628650" y="457200"/>
                </a:lnTo>
                <a:close/>
                <a:moveTo>
                  <a:pt x="660400" y="0"/>
                </a:moveTo>
                <a:lnTo>
                  <a:pt x="666750" y="0"/>
                </a:lnTo>
                <a:lnTo>
                  <a:pt x="666750" y="457200"/>
                </a:lnTo>
                <a:lnTo>
                  <a:pt x="660400" y="457200"/>
                </a:lnTo>
                <a:close/>
                <a:moveTo>
                  <a:pt x="673100" y="0"/>
                </a:moveTo>
                <a:lnTo>
                  <a:pt x="692150" y="0"/>
                </a:lnTo>
                <a:lnTo>
                  <a:pt x="692150" y="457200"/>
                </a:lnTo>
                <a:lnTo>
                  <a:pt x="673100" y="457200"/>
                </a:lnTo>
                <a:close/>
                <a:moveTo>
                  <a:pt x="698500" y="0"/>
                </a:moveTo>
                <a:lnTo>
                  <a:pt x="704850" y="0"/>
                </a:lnTo>
                <a:lnTo>
                  <a:pt x="704850" y="457200"/>
                </a:lnTo>
                <a:lnTo>
                  <a:pt x="698500" y="457200"/>
                </a:lnTo>
                <a:close/>
                <a:moveTo>
                  <a:pt x="717550" y="0"/>
                </a:moveTo>
                <a:lnTo>
                  <a:pt x="730250" y="0"/>
                </a:lnTo>
                <a:lnTo>
                  <a:pt x="730250" y="457200"/>
                </a:lnTo>
                <a:lnTo>
                  <a:pt x="717550" y="457200"/>
                </a:lnTo>
                <a:close/>
                <a:moveTo>
                  <a:pt x="736600" y="0"/>
                </a:moveTo>
                <a:lnTo>
                  <a:pt x="755650" y="0"/>
                </a:lnTo>
                <a:lnTo>
                  <a:pt x="755650" y="457200"/>
                </a:lnTo>
                <a:lnTo>
                  <a:pt x="736600" y="457200"/>
                </a:lnTo>
                <a:close/>
                <a:moveTo>
                  <a:pt x="768350" y="0"/>
                </a:moveTo>
                <a:lnTo>
                  <a:pt x="781050" y="0"/>
                </a:lnTo>
                <a:lnTo>
                  <a:pt x="781050" y="457200"/>
                </a:lnTo>
                <a:lnTo>
                  <a:pt x="768350" y="457200"/>
                </a:lnTo>
                <a:close/>
                <a:moveTo>
                  <a:pt x="787400" y="0"/>
                </a:moveTo>
                <a:lnTo>
                  <a:pt x="806450" y="0"/>
                </a:lnTo>
                <a:lnTo>
                  <a:pt x="806450" y="457200"/>
                </a:lnTo>
                <a:lnTo>
                  <a:pt x="787400" y="457200"/>
                </a:lnTo>
                <a:close/>
                <a:moveTo>
                  <a:pt x="812800" y="0"/>
                </a:moveTo>
                <a:lnTo>
                  <a:pt x="819150" y="0"/>
                </a:lnTo>
                <a:lnTo>
                  <a:pt x="819150" y="457200"/>
                </a:lnTo>
                <a:lnTo>
                  <a:pt x="812800" y="457200"/>
                </a:lnTo>
                <a:close/>
                <a:moveTo>
                  <a:pt x="838200" y="0"/>
                </a:moveTo>
                <a:lnTo>
                  <a:pt x="844550" y="0"/>
                </a:lnTo>
                <a:lnTo>
                  <a:pt x="844550" y="457200"/>
                </a:lnTo>
                <a:lnTo>
                  <a:pt x="838200" y="457200"/>
                </a:lnTo>
                <a:close/>
                <a:moveTo>
                  <a:pt x="850900" y="0"/>
                </a:moveTo>
                <a:lnTo>
                  <a:pt x="857250" y="0"/>
                </a:lnTo>
                <a:lnTo>
                  <a:pt x="857250" y="457200"/>
                </a:lnTo>
                <a:lnTo>
                  <a:pt x="850900" y="457200"/>
                </a:lnTo>
                <a:close/>
                <a:moveTo>
                  <a:pt x="876300" y="0"/>
                </a:moveTo>
                <a:lnTo>
                  <a:pt x="889000" y="0"/>
                </a:lnTo>
                <a:lnTo>
                  <a:pt x="889000" y="457200"/>
                </a:lnTo>
                <a:lnTo>
                  <a:pt x="876300" y="457200"/>
                </a:lnTo>
                <a:close/>
                <a:moveTo>
                  <a:pt x="90805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908050" y="457200"/>
                </a:lnTo>
                <a:close/>
                <a:moveTo>
                  <a:pt x="920750" y="0"/>
                </a:moveTo>
                <a:lnTo>
                  <a:pt x="939800" y="0"/>
                </a:lnTo>
                <a:lnTo>
                  <a:pt x="939800" y="457200"/>
                </a:lnTo>
                <a:lnTo>
                  <a:pt x="920750" y="457200"/>
                </a:lnTo>
                <a:close/>
                <a:moveTo>
                  <a:pt x="946150" y="0"/>
                </a:moveTo>
                <a:lnTo>
                  <a:pt x="958850" y="0"/>
                </a:lnTo>
                <a:lnTo>
                  <a:pt x="958850" y="457200"/>
                </a:lnTo>
                <a:lnTo>
                  <a:pt x="946150" y="457200"/>
                </a:lnTo>
                <a:close/>
                <a:moveTo>
                  <a:pt x="977900" y="0"/>
                </a:moveTo>
                <a:lnTo>
                  <a:pt x="996950" y="0"/>
                </a:lnTo>
                <a:lnTo>
                  <a:pt x="996950" y="457200"/>
                </a:lnTo>
                <a:lnTo>
                  <a:pt x="977900" y="457200"/>
                </a:lnTo>
                <a:close/>
                <a:moveTo>
                  <a:pt x="1003300" y="0"/>
                </a:moveTo>
                <a:lnTo>
                  <a:pt x="1022350" y="0"/>
                </a:lnTo>
                <a:lnTo>
                  <a:pt x="1022350" y="457200"/>
                </a:lnTo>
                <a:lnTo>
                  <a:pt x="1003300" y="457200"/>
                </a:lnTo>
                <a:close/>
                <a:moveTo>
                  <a:pt x="1028700" y="0"/>
                </a:moveTo>
                <a:lnTo>
                  <a:pt x="1041400" y="0"/>
                </a:lnTo>
                <a:lnTo>
                  <a:pt x="1041400" y="457200"/>
                </a:lnTo>
                <a:lnTo>
                  <a:pt x="1028700" y="457200"/>
                </a:lnTo>
                <a:close/>
                <a:moveTo>
                  <a:pt x="1047750" y="0"/>
                </a:moveTo>
                <a:lnTo>
                  <a:pt x="1054100" y="0"/>
                </a:lnTo>
                <a:lnTo>
                  <a:pt x="1054100" y="457200"/>
                </a:lnTo>
                <a:lnTo>
                  <a:pt x="1047750" y="457200"/>
                </a:lnTo>
                <a:close/>
                <a:moveTo>
                  <a:pt x="1073150" y="0"/>
                </a:moveTo>
                <a:lnTo>
                  <a:pt x="1085850" y="0"/>
                </a:lnTo>
                <a:lnTo>
                  <a:pt x="1085850" y="457200"/>
                </a:lnTo>
                <a:lnTo>
                  <a:pt x="1073150" y="457200"/>
                </a:lnTo>
                <a:close/>
                <a:moveTo>
                  <a:pt x="1092200" y="0"/>
                </a:moveTo>
                <a:lnTo>
                  <a:pt x="1111250" y="0"/>
                </a:lnTo>
                <a:lnTo>
                  <a:pt x="1111250" y="457200"/>
                </a:lnTo>
                <a:lnTo>
                  <a:pt x="1092200" y="457200"/>
                </a:lnTo>
                <a:close/>
                <a:moveTo>
                  <a:pt x="1117600" y="0"/>
                </a:moveTo>
                <a:lnTo>
                  <a:pt x="1123950" y="0"/>
                </a:lnTo>
                <a:lnTo>
                  <a:pt x="1123950" y="457200"/>
                </a:lnTo>
                <a:lnTo>
                  <a:pt x="1117600" y="457200"/>
                </a:lnTo>
                <a:close/>
                <a:moveTo>
                  <a:pt x="1143000" y="0"/>
                </a:moveTo>
                <a:lnTo>
                  <a:pt x="1155700" y="0"/>
                </a:lnTo>
                <a:lnTo>
                  <a:pt x="1155700" y="457200"/>
                </a:lnTo>
                <a:lnTo>
                  <a:pt x="1143000" y="457200"/>
                </a:lnTo>
                <a:close/>
                <a:moveTo>
                  <a:pt x="1162050" y="0"/>
                </a:moveTo>
                <a:lnTo>
                  <a:pt x="1168400" y="0"/>
                </a:lnTo>
                <a:lnTo>
                  <a:pt x="1168400" y="457200"/>
                </a:lnTo>
                <a:lnTo>
                  <a:pt x="1162050" y="457200"/>
                </a:lnTo>
                <a:close/>
                <a:moveTo>
                  <a:pt x="1187450" y="0"/>
                </a:moveTo>
                <a:lnTo>
                  <a:pt x="1193800" y="0"/>
                </a:lnTo>
                <a:lnTo>
                  <a:pt x="1193800" y="457200"/>
                </a:lnTo>
                <a:lnTo>
                  <a:pt x="1187450" y="457200"/>
                </a:lnTo>
                <a:close/>
                <a:moveTo>
                  <a:pt x="1212850" y="0"/>
                </a:moveTo>
                <a:lnTo>
                  <a:pt x="1231900" y="0"/>
                </a:lnTo>
                <a:lnTo>
                  <a:pt x="1231900" y="457200"/>
                </a:lnTo>
                <a:lnTo>
                  <a:pt x="1212850" y="457200"/>
                </a:lnTo>
                <a:close/>
                <a:moveTo>
                  <a:pt x="1238250" y="0"/>
                </a:moveTo>
                <a:lnTo>
                  <a:pt x="1250950" y="0"/>
                </a:lnTo>
                <a:lnTo>
                  <a:pt x="1250950" y="457200"/>
                </a:lnTo>
                <a:lnTo>
                  <a:pt x="1238250" y="457200"/>
                </a:lnTo>
                <a:close/>
                <a:moveTo>
                  <a:pt x="1257300" y="0"/>
                </a:moveTo>
                <a:lnTo>
                  <a:pt x="1270000" y="0"/>
                </a:lnTo>
                <a:lnTo>
                  <a:pt x="1270000" y="457200"/>
                </a:lnTo>
                <a:lnTo>
                  <a:pt x="1257300" y="457200"/>
                </a:lnTo>
                <a:close/>
                <a:moveTo>
                  <a:pt x="1289050" y="0"/>
                </a:moveTo>
                <a:lnTo>
                  <a:pt x="1308100" y="0"/>
                </a:lnTo>
                <a:lnTo>
                  <a:pt x="1308100" y="457200"/>
                </a:lnTo>
                <a:lnTo>
                  <a:pt x="1289050" y="457200"/>
                </a:lnTo>
                <a:close/>
                <a:moveTo>
                  <a:pt x="1314450" y="0"/>
                </a:moveTo>
                <a:lnTo>
                  <a:pt x="1320800" y="0"/>
                </a:lnTo>
                <a:lnTo>
                  <a:pt x="1320800" y="457200"/>
                </a:lnTo>
                <a:lnTo>
                  <a:pt x="1314450" y="457200"/>
                </a:lnTo>
                <a:close/>
                <a:moveTo>
                  <a:pt x="1327150" y="0"/>
                </a:moveTo>
                <a:lnTo>
                  <a:pt x="1339850" y="0"/>
                </a:lnTo>
                <a:lnTo>
                  <a:pt x="1339850" y="457200"/>
                </a:lnTo>
                <a:lnTo>
                  <a:pt x="1327150" y="457200"/>
                </a:lnTo>
                <a:close/>
              </a:path>
            </a:pathLst>
          </a:custGeom>
          <a:solidFill>
            <a:srgbClr val="14505F"/>
          </a:solidFill>
          <a:ln>
            <a:noFill/>
          </a:ln>
        </p:spPr>
      </p:sp>
      <p:sp>
        <p:nvSpPr>
          <p:cNvPr name="GraphCompose Header" id="445"/>
          <p:cNvSpPr txBox="true"/>
          <p:nvPr/>
        </p:nvSpPr>
        <p:spPr>
          <a:xfrm>
            <a:off x="431800" y="220377"/>
            <a:ext cx="179258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· Master showcase</a:t>
            </a:r>
            <a:endParaRPr lang="en-US" sz="1100"/>
          </a:p>
        </p:txBody>
      </p:sp>
      <p:sp>
        <p:nvSpPr>
          <p:cNvPr name="GraphCompose Header" id="446"/>
          <p:cNvSpPr txBox="true"/>
          <p:nvPr/>
        </p:nvSpPr>
        <p:spPr>
          <a:xfrm>
            <a:off x="6689746" y="220377"/>
            <a:ext cx="439725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Q2 2026</a:t>
            </a:r>
            <a:endParaRPr lang="en-US" sz="1100"/>
          </a:p>
        </p:txBody>
      </p:sp>
      <p:cxnSp>
        <p:nvCxnSpPr>
          <p:cNvPr name="GraphCompose Header Separator" id="447"/>
          <p:cNvCxnSpPr/>
          <p:nvPr/>
        </p:nvCxnSpPr>
        <p:spPr>
          <a:xfrm>
            <a:off x="431800" y="38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  <p:sp>
        <p:nvSpPr>
          <p:cNvPr name="GraphCompose Footer" id="448"/>
          <p:cNvSpPr txBox="true"/>
          <p:nvPr/>
        </p:nvSpPr>
        <p:spPr>
          <a:xfrm>
            <a:off x="431800" y="10321827"/>
            <a:ext cx="1684566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— sample report</a:t>
            </a:r>
            <a:endParaRPr lang="en-US" sz="1100"/>
          </a:p>
        </p:txBody>
      </p:sp>
      <p:sp>
        <p:nvSpPr>
          <p:cNvPr name="GraphCompose Footer" id="449"/>
          <p:cNvSpPr txBox="true"/>
          <p:nvPr/>
        </p:nvSpPr>
        <p:spPr>
          <a:xfrm>
            <a:off x="6543556" y="10321827"/>
            <a:ext cx="585914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Page 2 of 2</a:t>
            </a:r>
            <a:endParaRPr lang="en-US" sz="1100"/>
          </a:p>
        </p:txBody>
      </p:sp>
      <p:cxnSp>
        <p:nvCxnSpPr>
          <p:cNvPr name="GraphCompose Footer Separator" id="450"/>
          <p:cNvCxnSpPr/>
          <p:nvPr/>
        </p:nvCxnSpPr>
        <p:spPr>
          <a:xfrm>
            <a:off x="431800" y="1031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Jordan Rivera</dc:creator>
  <cp:keywords>graphcompose, showcase, business, theme, rich-text, table, shape, transform, barcode</cp:keywords>
  <dcterms:modified xsi:type="dcterms:W3CDTF">2011-08-01T06:04:30Z</dcterms:modified>
  <cp:revision>1</cp:revision>
  <dc:subject>Comprehensive end-to-end demo of the canonical document surface</dc:subject>
  <dc:title>GraphCompose master showcase</dc:title>
</cp:coreProperties>
</file>