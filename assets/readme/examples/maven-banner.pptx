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</p:sldIdLst>
  <p:sldSz cx="12192000" cy="6858000"/>
  <p:notesSz cx="6858000" cy="9144000"/>
  <p:embeddedFontLst>
    <p:embeddedFont>
      <p:font typeface="Amiri"/>
      <p:regular r:id="rId11"/>
    </p:embeddedFont>
    <p:embeddedFont>
      <p:font typeface="David Libre"/>
      <p:regular r:id="rId12"/>
    </p:embeddedFont>
    <p:embeddedFont>
      <p:font typeface="Noto Sans Georgian"/>
      <p:regular r:id="rId13"/>
    </p:embeddedFont>
    <p:embeddedFont>
      <p:font typeface="Noto Sans Armenian"/>
      <p:regular r:id="rId14"/>
    </p:embeddedFont>
    <p:embeddedFont>
      <p:font typeface="Gothic A1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fonts/font1.fntdata" Type="http://schemas.openxmlformats.org/officeDocument/2006/relationships/font"/><Relationship Id="rId12" Target="fonts/font2.fntdata" Type="http://schemas.openxmlformats.org/officeDocument/2006/relationships/font"/><Relationship Id="rId13" Target="fonts/font3.fntdata" Type="http://schemas.openxmlformats.org/officeDocument/2006/relationships/font"/><Relationship Id="rId14" Target="fonts/font4.fntdata" Type="http://schemas.openxmlformats.org/officeDocument/2006/relationships/font"/><Relationship Id="rId15" Target="fonts/font5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D1121"/>
              </a:gs>
              <a:gs pos="60000">
                <a:srgbClr val="0F1427"/>
              </a:gs>
              <a:gs pos="100000">
                <a:srgbClr val="12172C"/>
              </a:gs>
            </a:gsLst>
            <a:lin ang="20520000"/>
          </a:gra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8763000" y="-1524000"/>
            <a:ext cx="4572000" cy="4572000"/>
          </a:xfrm>
          <a:prstGeom prst="ellipse">
            <a:avLst/>
          </a:prstGeom>
          <a:solidFill>
            <a:srgbClr val="E9972D">
              <a:alpha val="5882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655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655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655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55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655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655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655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655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655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655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655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693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693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693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693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693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693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693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693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693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693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6" id="26"/>
          <p:cNvSpPr/>
          <p:nvPr/>
        </p:nvSpPr>
        <p:spPr>
          <a:xfrm>
            <a:off x="693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7" id="27"/>
          <p:cNvSpPr/>
          <p:nvPr/>
        </p:nvSpPr>
        <p:spPr>
          <a:xfrm>
            <a:off x="731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8" id="28"/>
          <p:cNvSpPr/>
          <p:nvPr/>
        </p:nvSpPr>
        <p:spPr>
          <a:xfrm>
            <a:off x="731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29" id="29"/>
          <p:cNvSpPr/>
          <p:nvPr/>
        </p:nvSpPr>
        <p:spPr>
          <a:xfrm>
            <a:off x="731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0" id="30"/>
          <p:cNvSpPr/>
          <p:nvPr/>
        </p:nvSpPr>
        <p:spPr>
          <a:xfrm>
            <a:off x="731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1" id="31"/>
          <p:cNvSpPr/>
          <p:nvPr/>
        </p:nvSpPr>
        <p:spPr>
          <a:xfrm>
            <a:off x="731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731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731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731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731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6" id="36"/>
          <p:cNvSpPr/>
          <p:nvPr/>
        </p:nvSpPr>
        <p:spPr>
          <a:xfrm>
            <a:off x="731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731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769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769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769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1" id="41"/>
          <p:cNvSpPr/>
          <p:nvPr/>
        </p:nvSpPr>
        <p:spPr>
          <a:xfrm>
            <a:off x="769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769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769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769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769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769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769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769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49" id="49"/>
          <p:cNvSpPr/>
          <p:nvPr/>
        </p:nvSpPr>
        <p:spPr>
          <a:xfrm>
            <a:off x="8077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0" id="50"/>
          <p:cNvSpPr/>
          <p:nvPr/>
        </p:nvSpPr>
        <p:spPr>
          <a:xfrm>
            <a:off x="8077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8077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8077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8077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8077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8077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6" id="56"/>
          <p:cNvSpPr/>
          <p:nvPr/>
        </p:nvSpPr>
        <p:spPr>
          <a:xfrm>
            <a:off x="8077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8077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8077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8077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8458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8458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2" id="62"/>
          <p:cNvSpPr/>
          <p:nvPr/>
        </p:nvSpPr>
        <p:spPr>
          <a:xfrm>
            <a:off x="8458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8458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4" id="64"/>
          <p:cNvSpPr/>
          <p:nvPr/>
        </p:nvSpPr>
        <p:spPr>
          <a:xfrm>
            <a:off x="8458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8458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6" id="66"/>
          <p:cNvSpPr/>
          <p:nvPr/>
        </p:nvSpPr>
        <p:spPr>
          <a:xfrm>
            <a:off x="8458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8458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8" id="68"/>
          <p:cNvSpPr/>
          <p:nvPr/>
        </p:nvSpPr>
        <p:spPr>
          <a:xfrm>
            <a:off x="8458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8458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8458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8839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8839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8839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4" id="74"/>
          <p:cNvSpPr/>
          <p:nvPr/>
        </p:nvSpPr>
        <p:spPr>
          <a:xfrm>
            <a:off x="8839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8839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6" id="76"/>
          <p:cNvSpPr/>
          <p:nvPr/>
        </p:nvSpPr>
        <p:spPr>
          <a:xfrm>
            <a:off x="8839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8839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8" id="78"/>
          <p:cNvSpPr/>
          <p:nvPr/>
        </p:nvSpPr>
        <p:spPr>
          <a:xfrm>
            <a:off x="8839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8839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0" id="80"/>
          <p:cNvSpPr/>
          <p:nvPr/>
        </p:nvSpPr>
        <p:spPr>
          <a:xfrm>
            <a:off x="8839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8839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9220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9220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9220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9220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6" id="86"/>
          <p:cNvSpPr/>
          <p:nvPr/>
        </p:nvSpPr>
        <p:spPr>
          <a:xfrm>
            <a:off x="9220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9220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8" id="88"/>
          <p:cNvSpPr/>
          <p:nvPr/>
        </p:nvSpPr>
        <p:spPr>
          <a:xfrm>
            <a:off x="9220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9220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0" id="90"/>
          <p:cNvSpPr/>
          <p:nvPr/>
        </p:nvSpPr>
        <p:spPr>
          <a:xfrm>
            <a:off x="9220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9220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9220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9601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9601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9601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9601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9601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9601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9601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9601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9601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9601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9601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9982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9982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9982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9982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9982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9982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9982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9982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9982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3" id="113"/>
          <p:cNvSpPr/>
          <p:nvPr/>
        </p:nvSpPr>
        <p:spPr>
          <a:xfrm>
            <a:off x="9982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4" id="114"/>
          <p:cNvSpPr/>
          <p:nvPr/>
        </p:nvSpPr>
        <p:spPr>
          <a:xfrm>
            <a:off x="9982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5" id="115"/>
          <p:cNvSpPr/>
          <p:nvPr/>
        </p:nvSpPr>
        <p:spPr>
          <a:xfrm>
            <a:off x="10363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6" id="116"/>
          <p:cNvSpPr/>
          <p:nvPr/>
        </p:nvSpPr>
        <p:spPr>
          <a:xfrm>
            <a:off x="10363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7" id="117"/>
          <p:cNvSpPr/>
          <p:nvPr/>
        </p:nvSpPr>
        <p:spPr>
          <a:xfrm>
            <a:off x="10363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10363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10363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0" id="120"/>
          <p:cNvSpPr/>
          <p:nvPr/>
        </p:nvSpPr>
        <p:spPr>
          <a:xfrm>
            <a:off x="10363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1" id="121"/>
          <p:cNvSpPr/>
          <p:nvPr/>
        </p:nvSpPr>
        <p:spPr>
          <a:xfrm>
            <a:off x="10363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2" id="122"/>
          <p:cNvSpPr/>
          <p:nvPr/>
        </p:nvSpPr>
        <p:spPr>
          <a:xfrm>
            <a:off x="10363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3" id="123"/>
          <p:cNvSpPr/>
          <p:nvPr/>
        </p:nvSpPr>
        <p:spPr>
          <a:xfrm>
            <a:off x="10363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4" id="124"/>
          <p:cNvSpPr/>
          <p:nvPr/>
        </p:nvSpPr>
        <p:spPr>
          <a:xfrm>
            <a:off x="10363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5" id="125"/>
          <p:cNvSpPr/>
          <p:nvPr/>
        </p:nvSpPr>
        <p:spPr>
          <a:xfrm>
            <a:off x="10363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6" id="126"/>
          <p:cNvSpPr/>
          <p:nvPr/>
        </p:nvSpPr>
        <p:spPr>
          <a:xfrm>
            <a:off x="10744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7" id="127"/>
          <p:cNvSpPr/>
          <p:nvPr/>
        </p:nvSpPr>
        <p:spPr>
          <a:xfrm>
            <a:off x="10744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8" id="128"/>
          <p:cNvSpPr/>
          <p:nvPr/>
        </p:nvSpPr>
        <p:spPr>
          <a:xfrm>
            <a:off x="10744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29" id="129"/>
          <p:cNvSpPr/>
          <p:nvPr/>
        </p:nvSpPr>
        <p:spPr>
          <a:xfrm>
            <a:off x="10744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0" id="130"/>
          <p:cNvSpPr/>
          <p:nvPr/>
        </p:nvSpPr>
        <p:spPr>
          <a:xfrm>
            <a:off x="10744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1" id="131"/>
          <p:cNvSpPr/>
          <p:nvPr/>
        </p:nvSpPr>
        <p:spPr>
          <a:xfrm>
            <a:off x="10744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2" id="132"/>
          <p:cNvSpPr/>
          <p:nvPr/>
        </p:nvSpPr>
        <p:spPr>
          <a:xfrm>
            <a:off x="10744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3" id="133"/>
          <p:cNvSpPr/>
          <p:nvPr/>
        </p:nvSpPr>
        <p:spPr>
          <a:xfrm>
            <a:off x="10744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4" id="134"/>
          <p:cNvSpPr/>
          <p:nvPr/>
        </p:nvSpPr>
        <p:spPr>
          <a:xfrm>
            <a:off x="10744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744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0744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125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8" id="138"/>
          <p:cNvSpPr/>
          <p:nvPr/>
        </p:nvSpPr>
        <p:spPr>
          <a:xfrm>
            <a:off x="11125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39" id="139"/>
          <p:cNvSpPr/>
          <p:nvPr/>
        </p:nvSpPr>
        <p:spPr>
          <a:xfrm>
            <a:off x="11125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0" id="140"/>
          <p:cNvSpPr/>
          <p:nvPr/>
        </p:nvSpPr>
        <p:spPr>
          <a:xfrm>
            <a:off x="11125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1" id="141"/>
          <p:cNvSpPr/>
          <p:nvPr/>
        </p:nvSpPr>
        <p:spPr>
          <a:xfrm>
            <a:off x="11125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2" id="142"/>
          <p:cNvSpPr/>
          <p:nvPr/>
        </p:nvSpPr>
        <p:spPr>
          <a:xfrm>
            <a:off x="11125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1125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1125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1125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1125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11125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8" id="148"/>
          <p:cNvSpPr/>
          <p:nvPr/>
        </p:nvSpPr>
        <p:spPr>
          <a:xfrm>
            <a:off x="11506200" y="99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49" id="149"/>
          <p:cNvSpPr/>
          <p:nvPr/>
        </p:nvSpPr>
        <p:spPr>
          <a:xfrm>
            <a:off x="11506200" y="1371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0" id="150"/>
          <p:cNvSpPr/>
          <p:nvPr/>
        </p:nvSpPr>
        <p:spPr>
          <a:xfrm>
            <a:off x="11506200" y="1752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1" id="151"/>
          <p:cNvSpPr/>
          <p:nvPr/>
        </p:nvSpPr>
        <p:spPr>
          <a:xfrm>
            <a:off x="11506200" y="2133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2" id="152"/>
          <p:cNvSpPr/>
          <p:nvPr/>
        </p:nvSpPr>
        <p:spPr>
          <a:xfrm>
            <a:off x="11506200" y="2514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3" id="153"/>
          <p:cNvSpPr/>
          <p:nvPr/>
        </p:nvSpPr>
        <p:spPr>
          <a:xfrm>
            <a:off x="11506200" y="2895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4" id="154"/>
          <p:cNvSpPr/>
          <p:nvPr/>
        </p:nvSpPr>
        <p:spPr>
          <a:xfrm>
            <a:off x="11506200" y="3276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5" id="155"/>
          <p:cNvSpPr/>
          <p:nvPr/>
        </p:nvSpPr>
        <p:spPr>
          <a:xfrm>
            <a:off x="11506200" y="3657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6" id="156"/>
          <p:cNvSpPr/>
          <p:nvPr/>
        </p:nvSpPr>
        <p:spPr>
          <a:xfrm>
            <a:off x="11506200" y="4038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7" id="157"/>
          <p:cNvSpPr/>
          <p:nvPr/>
        </p:nvSpPr>
        <p:spPr>
          <a:xfrm>
            <a:off x="11506200" y="4419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8" id="158"/>
          <p:cNvSpPr/>
          <p:nvPr/>
        </p:nvSpPr>
        <p:spPr>
          <a:xfrm>
            <a:off x="11506200" y="4800600"/>
            <a:ext cx="30480" cy="30480"/>
          </a:xfrm>
          <a:prstGeom prst="ellipse">
            <a:avLst/>
          </a:prstGeom>
          <a:solidFill>
            <a:srgbClr val="7884AA">
              <a:alpha val="15686"/>
            </a:srgbClr>
          </a:solidFill>
          <a:ln>
            <a:noFill/>
          </a:ln>
        </p:spPr>
      </p:sp>
      <p:sp>
        <p:nvSpPr>
          <p:cNvPr name="AutoShape 159" id="159"/>
          <p:cNvSpPr/>
          <p:nvPr/>
        </p:nvSpPr>
        <p:spPr>
          <a:xfrm>
            <a:off x="11455400" y="2794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0" id="160"/>
          <p:cNvSpPr/>
          <p:nvPr/>
        </p:nvSpPr>
        <p:spPr>
          <a:xfrm>
            <a:off x="11455400" y="2794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1" id="161"/>
          <p:cNvSpPr/>
          <p:nvPr/>
        </p:nvSpPr>
        <p:spPr>
          <a:xfrm>
            <a:off x="11963400" y="2794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279400" y="6045200"/>
            <a:ext cx="533400" cy="533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279400" y="6553200"/>
            <a:ext cx="533400" cy="25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279400" y="6045200"/>
            <a:ext cx="25400" cy="533400"/>
          </a:xfrm>
          <a:prstGeom prst="rect">
            <a:avLst/>
          </a:prstGeom>
          <a:solidFill>
            <a:srgbClr val="4E5876"/>
          </a:solidFill>
          <a:ln>
            <a:noFill/>
          </a:ln>
        </p:spPr>
      </p:sp>
      <p:sp>
        <p:nvSpPr>
          <p:cNvPr name="AutoShape 165" id="165"/>
          <p:cNvSpPr/>
          <p:nvPr/>
        </p:nvSpPr>
        <p:spPr>
          <a:xfrm>
            <a:off x="660400" y="584200"/>
            <a:ext cx="3098800" cy="431800"/>
          </a:xfrm>
          <a:prstGeom prst="roundRect">
            <a:avLst>
              <a:gd name="adj" fmla="val 50000"/>
            </a:avLst>
          </a:prstGeom>
          <a:solidFill>
            <a:srgbClr val="141A2F"/>
          </a:solidFill>
          <a:ln w="12700">
            <a:solidFill>
              <a:srgbClr val="E9972D">
                <a:alpha val="50196"/>
              </a:srgbClr>
            </a:solidFill>
          </a:ln>
        </p:spPr>
      </p:sp>
      <p:sp>
        <p:nvSpPr>
          <p:cNvPr name="AutoShape 166" id="166"/>
          <p:cNvSpPr/>
          <p:nvPr/>
        </p:nvSpPr>
        <p:spPr>
          <a:xfrm>
            <a:off x="762000" y="673100"/>
            <a:ext cx="254000" cy="254000"/>
          </a:xfrm>
          <a:prstGeom prst="roundRect">
            <a:avLst>
              <a:gd name="adj" fmla="val 30000"/>
            </a:avLst>
          </a:prstGeom>
          <a:solidFill>
            <a:srgbClr val="E9972D"/>
          </a:solidFill>
          <a:ln>
            <a:noFill/>
          </a:ln>
        </p:spPr>
      </p:sp>
      <p:pic>
        <p:nvPicPr>
          <p:cNvPr name="GraphCompose Clipped Composite" id="167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793750" y="704850"/>
            <a:ext cx="190500" cy="190500"/>
          </a:xfrm>
          <a:prstGeom prst="rect">
            <a:avLst/>
          </a:prstGeom>
        </p:spPr>
      </p:pic>
      <p:sp>
        <p:nvSpPr>
          <p:cNvPr name="GraphCompose Text Line" id="168"/>
          <p:cNvSpPr txBox="true"/>
          <p:nvPr/>
        </p:nvSpPr>
        <p:spPr>
          <a:xfrm>
            <a:off x="1117600" y="724342"/>
            <a:ext cx="19824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AVAILABLE ON MAVEN CENTRAL</a:t>
            </a:r>
            <a:endParaRPr lang="en-US" sz="1100"/>
          </a:p>
        </p:txBody>
      </p:sp>
      <p:sp>
        <p:nvSpPr>
          <p:cNvPr name="GraphCompose Text Line" id="169"/>
          <p:cNvSpPr txBox="true"/>
          <p:nvPr/>
        </p:nvSpPr>
        <p:spPr>
          <a:xfrm>
            <a:off x="635000" y="1076498"/>
            <a:ext cx="5717032" cy="70485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0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170" id="170"/>
          <p:cNvSpPr/>
          <p:nvPr/>
        </p:nvSpPr>
        <p:spPr>
          <a:xfrm>
            <a:off x="698500" y="2260600"/>
            <a:ext cx="990600" cy="635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171"/>
          <p:cNvSpPr txBox="true"/>
          <p:nvPr/>
        </p:nvSpPr>
        <p:spPr>
          <a:xfrm>
            <a:off x="660400" y="2440443"/>
            <a:ext cx="4819828" cy="2408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50" b="false" i="false" u="none" strike="noStrike" kern="0">
                <a:solidFill>
                  <a:srgbClr val="CED4E6"/>
                </a:solidFill>
                <a:latin typeface="Arial"/>
              </a:rPr>
              <a:t>Declarative document generation for Java</a:t>
            </a:r>
            <a:endParaRPr lang="en-US" sz="1100"/>
          </a:p>
        </p:txBody>
      </p:sp>
      <p:sp>
        <p:nvSpPr>
          <p:cNvPr name="AutoShape 172" id="172"/>
          <p:cNvSpPr/>
          <p:nvPr/>
        </p:nvSpPr>
        <p:spPr>
          <a:xfrm>
            <a:off x="660400" y="3175000"/>
            <a:ext cx="5537200" cy="838200"/>
          </a:xfrm>
          <a:prstGeom prst="roundRect">
            <a:avLst>
              <a:gd name="adj" fmla="val 18182"/>
            </a:avLst>
          </a:prstGeom>
          <a:solidFill>
            <a:srgbClr val="10152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3"/>
          <p:cNvSpPr txBox="true"/>
          <p:nvPr/>
        </p:nvSpPr>
        <p:spPr>
          <a:xfrm>
            <a:off x="939800" y="3331851"/>
            <a:ext cx="3536950" cy="14474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50" b="false" i="false" u="none" strike="noStrike" kern="0">
                <a:solidFill>
                  <a:srgbClr val="F7F8FC"/>
                </a:solidFill>
                <a:latin typeface="Courier New"/>
              </a:rPr>
              <a:t>io.github.demchaav:graph-compose</a:t>
            </a:r>
            <a:endParaRPr lang="en-US" sz="1100"/>
          </a:p>
        </p:txBody>
      </p:sp>
      <p:sp>
        <p:nvSpPr>
          <p:cNvPr name="GraphCompose Text Line" id="174"/>
          <p:cNvSpPr txBox="true"/>
          <p:nvPr/>
        </p:nvSpPr>
        <p:spPr>
          <a:xfrm>
            <a:off x="939800" y="3664503"/>
            <a:ext cx="572770" cy="12477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50" b="true" i="false" u="none" strike="noStrike" kern="0">
                <a:solidFill>
                  <a:srgbClr val="E9972D"/>
                </a:solidFill>
                <a:latin typeface="Courier New"/>
              </a:rPr>
              <a:t>v2.3.0</a:t>
            </a:r>
            <a:endParaRPr lang="en-US" sz="1100"/>
          </a:p>
        </p:txBody>
      </p:sp>
      <p:sp>
        <p:nvSpPr>
          <p:cNvPr name="AutoShape 175" id="175"/>
          <p:cNvSpPr/>
          <p:nvPr/>
        </p:nvSpPr>
        <p:spPr>
          <a:xfrm>
            <a:off x="660400" y="4368800"/>
            <a:ext cx="1066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6"/>
          <p:cNvSpPr txBox="true"/>
          <p:nvPr/>
        </p:nvSpPr>
        <p:spPr>
          <a:xfrm>
            <a:off x="889000" y="4483542"/>
            <a:ext cx="610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JAVA 17+</a:t>
            </a:r>
            <a:endParaRPr lang="en-US" sz="1100"/>
          </a:p>
        </p:txBody>
      </p:sp>
      <p:sp>
        <p:nvSpPr>
          <p:cNvPr name="AutoShape 177" id="177"/>
          <p:cNvSpPr/>
          <p:nvPr/>
        </p:nvSpPr>
        <p:spPr>
          <a:xfrm>
            <a:off x="1866900" y="4368800"/>
            <a:ext cx="6858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8"/>
          <p:cNvSpPr txBox="true"/>
          <p:nvPr/>
        </p:nvSpPr>
        <p:spPr>
          <a:xfrm>
            <a:off x="2095500" y="4483542"/>
            <a:ext cx="2298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179" id="179"/>
          <p:cNvSpPr/>
          <p:nvPr/>
        </p:nvSpPr>
        <p:spPr>
          <a:xfrm>
            <a:off x="2692400" y="4368800"/>
            <a:ext cx="787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0"/>
          <p:cNvSpPr txBox="true"/>
          <p:nvPr/>
        </p:nvSpPr>
        <p:spPr>
          <a:xfrm>
            <a:off x="2933700" y="4483542"/>
            <a:ext cx="3060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AutoShape 181" id="181"/>
          <p:cNvSpPr/>
          <p:nvPr/>
        </p:nvSpPr>
        <p:spPr>
          <a:xfrm>
            <a:off x="3619500" y="4368800"/>
            <a:ext cx="1930400" cy="381000"/>
          </a:xfrm>
          <a:prstGeom prst="roundRect">
            <a:avLst>
              <a:gd name="adj" fmla="val 3000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82"/>
          <p:cNvSpPr txBox="true"/>
          <p:nvPr/>
        </p:nvSpPr>
        <p:spPr>
          <a:xfrm>
            <a:off x="4013200" y="4483542"/>
            <a:ext cx="1144270" cy="998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true" i="false" u="none" strike="noStrike" kern="0">
                <a:solidFill>
                  <a:srgbClr val="CED4E6"/>
                </a:solidFill>
                <a:latin typeface="Courier New"/>
              </a:rPr>
              <a:t>AUTO-PAGINATION</a:t>
            </a:r>
            <a:endParaRPr lang="en-US" sz="1100"/>
          </a:p>
        </p:txBody>
      </p:sp>
      <p:sp>
        <p:nvSpPr>
          <p:cNvPr name="GraphCompose Inline Text Span" id="183"/>
          <p:cNvSpPr txBox="true"/>
          <p:nvPr/>
        </p:nvSpPr>
        <p:spPr>
          <a:xfrm>
            <a:off x="660400" y="5545189"/>
            <a:ext cx="572770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Code</a:t>
            </a:r>
            <a:endParaRPr lang="en-US" sz="1100"/>
          </a:p>
        </p:txBody>
      </p:sp>
      <p:sp>
        <p:nvSpPr>
          <p:cNvPr name="GraphCompose Inline Text Span" id="184"/>
          <p:cNvSpPr txBox="true"/>
          <p:nvPr/>
        </p:nvSpPr>
        <p:spPr>
          <a:xfrm>
            <a:off x="123190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5"/>
          <p:cNvSpPr txBox="true"/>
          <p:nvPr/>
        </p:nvSpPr>
        <p:spPr>
          <a:xfrm>
            <a:off x="142255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86"/>
          <p:cNvSpPr txBox="true"/>
          <p:nvPr/>
        </p:nvSpPr>
        <p:spPr>
          <a:xfrm>
            <a:off x="1481760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7"/>
          <p:cNvSpPr txBox="true"/>
          <p:nvPr/>
        </p:nvSpPr>
        <p:spPr>
          <a:xfrm>
            <a:off x="1672412" y="5545189"/>
            <a:ext cx="674497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layout</a:t>
            </a:r>
            <a:endParaRPr lang="en-US" sz="1100"/>
          </a:p>
        </p:txBody>
      </p:sp>
      <p:sp>
        <p:nvSpPr>
          <p:cNvPr name="GraphCompose Inline Text Span" id="188"/>
          <p:cNvSpPr txBox="true"/>
          <p:nvPr/>
        </p:nvSpPr>
        <p:spPr>
          <a:xfrm>
            <a:off x="234563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89"/>
          <p:cNvSpPr txBox="true"/>
          <p:nvPr/>
        </p:nvSpPr>
        <p:spPr>
          <a:xfrm>
            <a:off x="2536292" y="5591177"/>
            <a:ext cx="6047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›</a:t>
            </a:r>
            <a:endParaRPr lang="en-US" sz="1100"/>
          </a:p>
        </p:txBody>
      </p:sp>
      <p:sp>
        <p:nvSpPr>
          <p:cNvPr name="GraphCompose Inline Text Span" id="190"/>
          <p:cNvSpPr txBox="true"/>
          <p:nvPr/>
        </p:nvSpPr>
        <p:spPr>
          <a:xfrm>
            <a:off x="2595499" y="5545189"/>
            <a:ext cx="1919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  </a:t>
            </a:r>
            <a:endParaRPr lang="en-US" sz="1100"/>
          </a:p>
        </p:txBody>
      </p:sp>
      <p:sp>
        <p:nvSpPr>
          <p:cNvPr name="GraphCompose Inline Text Span" id="191"/>
          <p:cNvSpPr txBox="true"/>
          <p:nvPr/>
        </p:nvSpPr>
        <p:spPr>
          <a:xfrm>
            <a:off x="2786151" y="5545189"/>
            <a:ext cx="877722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finished</a:t>
            </a:r>
            <a:endParaRPr lang="en-US" sz="1100"/>
          </a:p>
        </p:txBody>
      </p:sp>
      <p:sp>
        <p:nvSpPr>
          <p:cNvPr name="GraphCompose Inline Text Span" id="192"/>
          <p:cNvSpPr txBox="true"/>
          <p:nvPr/>
        </p:nvSpPr>
        <p:spPr>
          <a:xfrm>
            <a:off x="3662604" y="5545189"/>
            <a:ext cx="648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 </a:t>
            </a:r>
            <a:endParaRPr lang="en-US" sz="1100"/>
          </a:p>
        </p:txBody>
      </p:sp>
      <p:sp>
        <p:nvSpPr>
          <p:cNvPr name="GraphCompose Inline Text Span" id="193"/>
          <p:cNvSpPr txBox="true"/>
          <p:nvPr/>
        </p:nvSpPr>
        <p:spPr>
          <a:xfrm>
            <a:off x="3726155" y="5545189"/>
            <a:ext cx="1093521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800" b="true" i="false" u="none" strike="noStrike" kern="0">
                <a:solidFill>
                  <a:srgbClr val="F7F8FC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Text Line" id="194"/>
          <p:cNvSpPr txBox="true"/>
          <p:nvPr/>
        </p:nvSpPr>
        <p:spPr>
          <a:xfrm>
            <a:off x="660400" y="6017849"/>
            <a:ext cx="2631046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68728E"/>
                </a:solidFill>
                <a:latin typeface="Arial"/>
              </a:rPr>
              <a:t>Open-source Java library  ·  MIT License</a:t>
            </a:r>
            <a:endParaRPr lang="en-US" sz="1100"/>
          </a:p>
        </p:txBody>
      </p:sp>
      <p:sp>
        <p:nvSpPr>
          <p:cNvPr name="AutoShape 195" id="195"/>
          <p:cNvSpPr/>
          <p:nvPr/>
        </p:nvSpPr>
        <p:spPr>
          <a:xfrm>
            <a:off x="6604000" y="1498600"/>
            <a:ext cx="1422400" cy="1930400"/>
          </a:xfrm>
          <a:prstGeom prst="roundRect">
            <a:avLst>
              <a:gd name="adj" fmla="val 10714"/>
            </a:avLst>
          </a:prstGeom>
          <a:solidFill>
            <a:srgbClr val="192038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6"/>
          <p:cNvSpPr txBox="true"/>
          <p:nvPr/>
        </p:nvSpPr>
        <p:spPr>
          <a:xfrm>
            <a:off x="6781800" y="1641730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true" i="false" u="none" strike="noStrike" kern="0">
                <a:solidFill>
                  <a:srgbClr val="8C95AF"/>
                </a:solidFill>
                <a:latin typeface="Courier New"/>
              </a:rPr>
              <a:t>JAVA</a:t>
            </a:r>
            <a:endParaRPr lang="en-US" sz="1100"/>
          </a:p>
        </p:txBody>
      </p:sp>
      <p:sp>
        <p:nvSpPr>
          <p:cNvPr name="AutoShape 197" id="197"/>
          <p:cNvSpPr/>
          <p:nvPr/>
        </p:nvSpPr>
        <p:spPr>
          <a:xfrm>
            <a:off x="6781800" y="1892300"/>
            <a:ext cx="1066800" cy="12700"/>
          </a:xfrm>
          <a:prstGeom prst="rect">
            <a:avLst/>
          </a:prstGeom>
          <a:solidFill>
            <a:srgbClr val="303856"/>
          </a:solidFill>
          <a:ln>
            <a:noFill/>
          </a:ln>
        </p:spPr>
      </p:sp>
      <p:sp>
        <p:nvSpPr>
          <p:cNvPr name="GraphCompose Inline Text Span" id="198"/>
          <p:cNvSpPr txBox="true"/>
          <p:nvPr/>
        </p:nvSpPr>
        <p:spPr>
          <a:xfrm>
            <a:off x="6781800" y="2024103"/>
            <a:ext cx="8507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document</a:t>
            </a:r>
            <a:endParaRPr lang="en-US" sz="1100"/>
          </a:p>
        </p:txBody>
      </p:sp>
      <p:sp>
        <p:nvSpPr>
          <p:cNvPr name="GraphCompose Inline Text Span" id="199"/>
          <p:cNvSpPr txBox="true"/>
          <p:nvPr/>
        </p:nvSpPr>
        <p:spPr>
          <a:xfrm>
            <a:off x="763132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0"/>
          <p:cNvSpPr txBox="true"/>
          <p:nvPr/>
        </p:nvSpPr>
        <p:spPr>
          <a:xfrm>
            <a:off x="7699908" y="20899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1"/>
          <p:cNvSpPr txBox="true"/>
          <p:nvPr/>
        </p:nvSpPr>
        <p:spPr>
          <a:xfrm>
            <a:off x="6934200" y="2240003"/>
            <a:ext cx="633527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E9972D"/>
                </a:solidFill>
                <a:latin typeface="Arial"/>
              </a:rPr>
              <a:t>column</a:t>
            </a:r>
            <a:endParaRPr lang="en-US" sz="1100"/>
          </a:p>
        </p:txBody>
      </p:sp>
      <p:sp>
        <p:nvSpPr>
          <p:cNvPr name="GraphCompose Inline Text Span" id="202"/>
          <p:cNvSpPr txBox="true"/>
          <p:nvPr/>
        </p:nvSpPr>
        <p:spPr>
          <a:xfrm>
            <a:off x="756645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 </a:t>
            </a:r>
            <a:endParaRPr lang="en-US" sz="1100"/>
          </a:p>
        </p:txBody>
      </p:sp>
      <p:sp>
        <p:nvSpPr>
          <p:cNvPr name="GraphCompose Inline Text Span" id="203"/>
          <p:cNvSpPr txBox="true"/>
          <p:nvPr/>
        </p:nvSpPr>
        <p:spPr>
          <a:xfrm>
            <a:off x="7635037" y="2305803"/>
            <a:ext cx="698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{</a:t>
            </a:r>
            <a:endParaRPr lang="en-US" sz="1100"/>
          </a:p>
        </p:txBody>
      </p:sp>
      <p:sp>
        <p:nvSpPr>
          <p:cNvPr name="GraphCompose Inline Text Span" id="204"/>
          <p:cNvSpPr txBox="true"/>
          <p:nvPr/>
        </p:nvSpPr>
        <p:spPr>
          <a:xfrm>
            <a:off x="7086600" y="2455903"/>
            <a:ext cx="317398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text</a:t>
            </a:r>
            <a:endParaRPr lang="en-US" sz="1100"/>
          </a:p>
        </p:txBody>
      </p:sp>
      <p:sp>
        <p:nvSpPr>
          <p:cNvPr name="GraphCompose Inline Text Span" id="205"/>
          <p:cNvSpPr txBox="true"/>
          <p:nvPr/>
        </p:nvSpPr>
        <p:spPr>
          <a:xfrm>
            <a:off x="7402728" y="25217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Inline Text Span" id="206"/>
          <p:cNvSpPr txBox="true"/>
          <p:nvPr/>
        </p:nvSpPr>
        <p:spPr>
          <a:xfrm>
            <a:off x="7086600" y="2671803"/>
            <a:ext cx="416255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400" b="true" i="false" u="none" strike="noStrike" kern="0">
                <a:solidFill>
                  <a:srgbClr val="7ACDA8"/>
                </a:solidFill>
                <a:latin typeface="Arial"/>
              </a:rPr>
              <a:t>table</a:t>
            </a:r>
            <a:endParaRPr lang="en-US" sz="1100"/>
          </a:p>
        </p:txBody>
      </p:sp>
      <p:sp>
        <p:nvSpPr>
          <p:cNvPr name="GraphCompose Inline Text Span" id="207"/>
          <p:cNvSpPr txBox="true"/>
          <p:nvPr/>
        </p:nvSpPr>
        <p:spPr>
          <a:xfrm>
            <a:off x="7501585" y="2737603"/>
            <a:ext cx="13843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900" b="false" i="false" u="none" strike="noStrike" kern="0">
                <a:solidFill>
                  <a:srgbClr val="B0B8D2"/>
                </a:solidFill>
                <a:latin typeface="Courier New"/>
              </a:rPr>
              <a:t>()</a:t>
            </a:r>
            <a:endParaRPr lang="en-US" sz="1100"/>
          </a:p>
        </p:txBody>
      </p:sp>
      <p:sp>
        <p:nvSpPr>
          <p:cNvPr name="GraphCompose Text Line" id="208"/>
          <p:cNvSpPr txBox="true"/>
          <p:nvPr/>
        </p:nvSpPr>
        <p:spPr>
          <a:xfrm>
            <a:off x="6934200" y="28877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GraphCompose Text Line" id="209"/>
          <p:cNvSpPr txBox="true"/>
          <p:nvPr/>
        </p:nvSpPr>
        <p:spPr>
          <a:xfrm>
            <a:off x="6781800" y="3103603"/>
            <a:ext cx="70434" cy="16446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400" b="true" i="false" u="none" strike="noStrike" kern="0">
                <a:solidFill>
                  <a:srgbClr val="B0B8D2"/>
                </a:solidFill>
                <a:latin typeface="Arial"/>
              </a:rPr>
              <a:t>}</a:t>
            </a:r>
            <a:endParaRPr lang="en-US" sz="1100"/>
          </a:p>
        </p:txBody>
      </p:sp>
      <p:sp>
        <p:nvSpPr>
          <p:cNvPr name="AutoShape 210" id="210"/>
          <p:cNvSpPr/>
          <p:nvPr/>
        </p:nvSpPr>
        <p:spPr>
          <a:xfrm>
            <a:off x="8077200" y="2540000"/>
            <a:ext cx="7112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1" id="211"/>
          <p:cNvSpPr/>
          <p:nvPr/>
        </p:nvSpPr>
        <p:spPr>
          <a:xfrm>
            <a:off x="2147483647" y="-1412748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2" id="212"/>
          <p:cNvSpPr/>
          <p:nvPr/>
        </p:nvSpPr>
        <p:spPr>
          <a:xfrm>
            <a:off x="10388600" y="2540000"/>
            <a:ext cx="2413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3" id="213"/>
          <p:cNvSpPr/>
          <p:nvPr/>
        </p:nvSpPr>
        <p:spPr>
          <a:xfrm>
            <a:off x="10617200" y="1663700"/>
            <a:ext cx="25400" cy="2844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4" id="214"/>
          <p:cNvSpPr/>
          <p:nvPr/>
        </p:nvSpPr>
        <p:spPr>
          <a:xfrm>
            <a:off x="10617200" y="16637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AutoShape 215" id="215"/>
          <p:cNvSpPr/>
          <p:nvPr/>
        </p:nvSpPr>
        <p:spPr>
          <a:xfrm>
            <a:off x="10617200" y="4483100"/>
            <a:ext cx="279400" cy="254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Freeform 216" id="216"/>
          <p:cNvSpPr/>
          <p:nvPr/>
        </p:nvSpPr>
        <p:spPr>
          <a:xfrm>
            <a:off x="2147483647" y="-939546000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82296000"/>
                </a:moveTo>
                <a:lnTo>
                  <a:pt x="0" y="0"/>
                </a:lnTo>
                <a:lnTo>
                  <a:pt x="0" y="4114800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Freeform 217" id="217"/>
          <p:cNvSpPr/>
          <p:nvPr/>
        </p:nvSpPr>
        <p:spPr>
          <a:xfrm>
            <a:off x="2147483647" y="-2147483648"/>
            <a:ext cx="121920000" cy="82296000"/>
          </a:xfrm>
          <a:custGeom>
            <a:avLst/>
            <a:gdLst/>
            <a:ahLst/>
            <a:cxnLst/>
            <a:rect r="r" b="b" t="t" l="l"/>
            <a:pathLst>
              <a:path h="82296000" w="121920000">
                <a:moveTo>
                  <a:pt x="0" y="0"/>
                </a:move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solidFill>
            <a:srgbClr val="E9972D"/>
          </a:solidFill>
          <a:ln cap="flat">
            <a:noFill/>
            <a:miter/>
          </a:ln>
        </p:spPr>
      </p:sp>
      <p:sp>
        <p:nvSpPr>
          <p:cNvPr name="AutoShape 218" id="218"/>
          <p:cNvSpPr/>
          <p:nvPr/>
        </p:nvSpPr>
        <p:spPr>
          <a:xfrm>
            <a:off x="8890000" y="1905000"/>
            <a:ext cx="1498600" cy="1295400"/>
          </a:xfrm>
          <a:prstGeom prst="roundRect">
            <a:avLst>
              <a:gd name="adj" fmla="val 13725"/>
            </a:avLst>
          </a:prstGeom>
          <a:solidFill>
            <a:srgbClr val="192038"/>
          </a:solidFill>
          <a:ln w="17780">
            <a:solidFill>
              <a:srgbClr val="E9972D"/>
            </a:solidFill>
          </a:ln>
        </p:spPr>
      </p:sp>
      <p:sp>
        <p:nvSpPr>
          <p:cNvPr name="AutoShape 219" id="219"/>
          <p:cNvSpPr/>
          <p:nvPr/>
        </p:nvSpPr>
        <p:spPr>
          <a:xfrm>
            <a:off x="9232900" y="2184400"/>
            <a:ext cx="812800" cy="1524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0" id="220"/>
          <p:cNvSpPr/>
          <p:nvPr/>
        </p:nvSpPr>
        <p:spPr>
          <a:xfrm>
            <a:off x="92329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AutoShape 221" id="221"/>
          <p:cNvSpPr/>
          <p:nvPr/>
        </p:nvSpPr>
        <p:spPr>
          <a:xfrm>
            <a:off x="9690100" y="2463800"/>
            <a:ext cx="355600" cy="355600"/>
          </a:xfrm>
          <a:prstGeom prst="roundRect">
            <a:avLst>
              <a:gd name="adj" fmla="val 25000"/>
            </a:avLst>
          </a:prstGeom>
          <a:solidFill>
            <a:srgbClr val="E9972D">
              <a:alpha val="21961"/>
            </a:srgbClr>
          </a:solidFill>
          <a:ln w="12700">
            <a:solidFill>
              <a:srgbClr val="E9972D"/>
            </a:solidFill>
          </a:ln>
        </p:spPr>
      </p:sp>
      <p:sp>
        <p:nvSpPr>
          <p:cNvPr name="GraphCompose Text Line" id="222"/>
          <p:cNvSpPr txBox="true"/>
          <p:nvPr/>
        </p:nvSpPr>
        <p:spPr>
          <a:xfrm>
            <a:off x="9433560" y="2909498"/>
            <a:ext cx="412750" cy="8984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true" i="false" u="none" strike="noStrike" kern="0">
                <a:solidFill>
                  <a:srgbClr val="CED4E6"/>
                </a:solidFill>
                <a:latin typeface="Courier New"/>
              </a:rPr>
              <a:t>LAYOUT</a:t>
            </a:r>
            <a:endParaRPr lang="en-US" sz="1100"/>
          </a:p>
        </p:txBody>
      </p:sp>
      <p:sp>
        <p:nvSpPr>
          <p:cNvPr name="AutoShape 223" id="223"/>
          <p:cNvSpPr/>
          <p:nvPr/>
        </p:nvSpPr>
        <p:spPr>
          <a:xfrm>
            <a:off x="10896600" y="9398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24" id="224"/>
          <p:cNvSpPr/>
          <p:nvPr/>
        </p:nvSpPr>
        <p:spPr>
          <a:xfrm>
            <a:off x="11074400" y="11684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25" id="225"/>
          <p:cNvSpPr/>
          <p:nvPr/>
        </p:nvSpPr>
        <p:spPr>
          <a:xfrm>
            <a:off x="11074400" y="14478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26" id="226"/>
          <p:cNvSpPr/>
          <p:nvPr/>
        </p:nvSpPr>
        <p:spPr>
          <a:xfrm>
            <a:off x="11074400" y="16510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7" id="227"/>
          <p:cNvSpPr/>
          <p:nvPr/>
        </p:nvSpPr>
        <p:spPr>
          <a:xfrm>
            <a:off x="11074400" y="1803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8" id="228"/>
          <p:cNvSpPr/>
          <p:nvPr/>
        </p:nvSpPr>
        <p:spPr>
          <a:xfrm>
            <a:off x="11074400" y="1955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29" id="229"/>
          <p:cNvSpPr/>
          <p:nvPr/>
        </p:nvSpPr>
        <p:spPr>
          <a:xfrm>
            <a:off x="11074400" y="21082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0" id="230"/>
          <p:cNvSpPr/>
          <p:nvPr/>
        </p:nvSpPr>
        <p:spPr>
          <a:xfrm>
            <a:off x="11557000" y="1054100"/>
            <a:ext cx="406400" cy="203200"/>
          </a:xfrm>
          <a:prstGeom prst="roundRect">
            <a:avLst>
              <a:gd name="adj" fmla="val 3125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231"/>
          <p:cNvSpPr txBox="true"/>
          <p:nvPr/>
        </p:nvSpPr>
        <p:spPr>
          <a:xfrm>
            <a:off x="11674475" y="1098882"/>
            <a:ext cx="1727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AutoShape 232" id="232"/>
          <p:cNvSpPr/>
          <p:nvPr/>
        </p:nvSpPr>
        <p:spPr>
          <a:xfrm>
            <a:off x="10896600" y="3759200"/>
            <a:ext cx="1168400" cy="1473200"/>
          </a:xfrm>
          <a:prstGeom prst="roundRect">
            <a:avLst>
              <a:gd name="adj" fmla="val 8696"/>
            </a:avLst>
          </a:prstGeom>
          <a:solidFill>
            <a:srgbClr val="EEF1F8"/>
          </a:solidFill>
          <a:ln w="10160">
            <a:solidFill>
              <a:srgbClr val="303856"/>
            </a:solidFill>
          </a:ln>
        </p:spPr>
      </p:sp>
      <p:sp>
        <p:nvSpPr>
          <p:cNvPr name="AutoShape 233" id="233"/>
          <p:cNvSpPr/>
          <p:nvPr/>
        </p:nvSpPr>
        <p:spPr>
          <a:xfrm>
            <a:off x="11074400" y="3987800"/>
            <a:ext cx="711200" cy="152400"/>
          </a:xfrm>
          <a:prstGeom prst="roundRect">
            <a:avLst>
              <a:gd name="adj" fmla="val 25000"/>
            </a:avLst>
          </a:prstGeom>
          <a:solidFill>
            <a:srgbClr val="1C233A"/>
          </a:solidFill>
          <a:ln>
            <a:noFill/>
          </a:ln>
        </p:spPr>
      </p:sp>
      <p:sp>
        <p:nvSpPr>
          <p:cNvPr name="AutoShape 234" id="234"/>
          <p:cNvSpPr/>
          <p:nvPr/>
        </p:nvSpPr>
        <p:spPr>
          <a:xfrm>
            <a:off x="11074400" y="4267200"/>
            <a:ext cx="558800" cy="63500"/>
          </a:xfrm>
          <a:prstGeom prst="roundRect">
            <a:avLst>
              <a:gd name="adj" fmla="val 50000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AutoShape 235" id="235"/>
          <p:cNvSpPr/>
          <p:nvPr/>
        </p:nvSpPr>
        <p:spPr>
          <a:xfrm>
            <a:off x="11074400" y="44704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6" id="236"/>
          <p:cNvSpPr/>
          <p:nvPr/>
        </p:nvSpPr>
        <p:spPr>
          <a:xfrm>
            <a:off x="11074400" y="46228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7" id="237"/>
          <p:cNvSpPr/>
          <p:nvPr/>
        </p:nvSpPr>
        <p:spPr>
          <a:xfrm>
            <a:off x="11074400" y="4775200"/>
            <a:ext cx="8128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8" id="238"/>
          <p:cNvSpPr/>
          <p:nvPr/>
        </p:nvSpPr>
        <p:spPr>
          <a:xfrm>
            <a:off x="11074400" y="4927600"/>
            <a:ext cx="508000" cy="50800"/>
          </a:xfrm>
          <a:prstGeom prst="rect">
            <a:avLst/>
          </a:prstGeom>
          <a:solidFill>
            <a:srgbClr val="C6CDDE"/>
          </a:solidFill>
          <a:ln>
            <a:noFill/>
          </a:ln>
        </p:spPr>
      </p:sp>
      <p:sp>
        <p:nvSpPr>
          <p:cNvPr name="AutoShape 239" id="239"/>
          <p:cNvSpPr/>
          <p:nvPr/>
        </p:nvSpPr>
        <p:spPr>
          <a:xfrm>
            <a:off x="11480800" y="3873500"/>
            <a:ext cx="482600" cy="203200"/>
          </a:xfrm>
          <a:prstGeom prst="roundRect">
            <a:avLst>
              <a:gd name="adj" fmla="val 31250"/>
            </a:avLst>
          </a:prstGeom>
          <a:solidFill>
            <a:srgbClr val="F2A844"/>
          </a:solidFill>
          <a:ln>
            <a:noFill/>
          </a:ln>
        </p:spPr>
      </p:sp>
      <p:sp>
        <p:nvSpPr>
          <p:cNvPr name="GraphCompose Text Line" id="240"/>
          <p:cNvSpPr txBox="true"/>
          <p:nvPr/>
        </p:nvSpPr>
        <p:spPr>
          <a:xfrm>
            <a:off x="11607800" y="3918282"/>
            <a:ext cx="2298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true" i="false" u="none" strike="noStrike" kern="0">
                <a:solidFill>
                  <a:srgbClr val="0D1121"/>
                </a:solidFill>
                <a:latin typeface="Courier New"/>
              </a:rPr>
              <a:t>PPTX</a:t>
            </a:r>
            <a:endParaRPr lang="en-US" sz="1100"/>
          </a:p>
        </p:txBody>
      </p:sp>
      <p:sp>
        <p:nvSpPr>
          <p:cNvPr name="GraphCompose Text Line" id="241"/>
          <p:cNvSpPr txBox="true"/>
          <p:nvPr/>
        </p:nvSpPr>
        <p:spPr>
          <a:xfrm>
            <a:off x="8297110" y="5433649"/>
            <a:ext cx="2355450" cy="13509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8C95AF"/>
                </a:solidFill>
                <a:latin typeface="Arial"/>
              </a:rPr>
              <a:t>One model. PDF and PPTX outputs.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HOW IT WORKS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7623175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From one Java file to a finished document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999411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You describe the document semantically — sections, rows, tables, charts, shapes, layers — and the engine resolves the rest. No manual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13983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coordinates, no XML templates, no per-format authoring.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1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727089"/>
            <a:ext cx="70740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AUTHOR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863600" y="2960764"/>
            <a:ext cx="20745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fluent DSL describes intent, not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863600" y="3128086"/>
            <a:ext cx="62237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geometry.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34226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36258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2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3625850" y="2727089"/>
            <a:ext cx="82677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MEASURE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3625850" y="2960764"/>
            <a:ext cx="176372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Every node measured twice,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3625850" y="3128086"/>
            <a:ext cx="10336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deterministically.</a:t>
            </a:r>
            <a:endParaRPr lang="en-US" sz="1100"/>
          </a:p>
        </p:txBody>
      </p:sp>
      <p:sp>
        <p:nvSpPr>
          <p:cNvPr name="AutoShape 18" id="18"/>
          <p:cNvSpPr/>
          <p:nvPr/>
        </p:nvSpPr>
        <p:spPr>
          <a:xfrm>
            <a:off x="618490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9"/>
          <p:cNvSpPr txBox="true"/>
          <p:nvPr/>
        </p:nvSpPr>
        <p:spPr>
          <a:xfrm>
            <a:off x="638810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3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6388100" y="2727089"/>
            <a:ext cx="85434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PAGINATE</a:t>
            </a:r>
            <a:endParaRPr lang="en-US" sz="1100"/>
          </a:p>
        </p:txBody>
      </p:sp>
      <p:sp>
        <p:nvSpPr>
          <p:cNvPr name="GraphCompose Text Line" id="21"/>
          <p:cNvSpPr txBox="true"/>
          <p:nvPr/>
        </p:nvSpPr>
        <p:spPr>
          <a:xfrm>
            <a:off x="6388100" y="2960764"/>
            <a:ext cx="20197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flow splits across pages row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6388100" y="3128086"/>
            <a:ext cx="45152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by row.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8947150" y="2253564"/>
            <a:ext cx="2584450" cy="1233106"/>
          </a:xfrm>
          <a:prstGeom prst="roundRect">
            <a:avLst>
              <a:gd name="adj" fmla="val 10299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4"/>
          <p:cNvSpPr txBox="true"/>
          <p:nvPr/>
        </p:nvSpPr>
        <p:spPr>
          <a:xfrm>
            <a:off x="9150350" y="2405070"/>
            <a:ext cx="153670" cy="19964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000" b="true" i="false" u="none" strike="noStrike" kern="0">
                <a:solidFill>
                  <a:srgbClr val="E9972D"/>
                </a:solidFill>
                <a:latin typeface="Courier New"/>
              </a:rPr>
              <a:t>4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9150350" y="2727089"/>
            <a:ext cx="69832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RENDER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150350" y="2960764"/>
            <a:ext cx="216745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backend writes the bytes — PDF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150350" y="3128086"/>
            <a:ext cx="56803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or PPTX.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766071"/>
            <a:ext cx="3505200" cy="944563"/>
          </a:xfrm>
          <a:prstGeom prst="roundRect">
            <a:avLst>
              <a:gd name="adj" fmla="val 13445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938352"/>
            <a:ext cx="1047178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Deterministic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84726"/>
            <a:ext cx="3037230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input renders the same bytes on every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352049"/>
            <a:ext cx="29518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machine. Layout is reproducible, not best-effort.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4343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4343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4546600" y="3938352"/>
            <a:ext cx="1441602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Regression-tested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4546600" y="4184726"/>
            <a:ext cx="309157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layoutSnapshot() captures the resolved geometry,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352049"/>
            <a:ext cx="3091853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so a layout change fails a test instead of surfacing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519371"/>
            <a:ext cx="762216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in a release.</a:t>
            </a:r>
            <a:endParaRPr lang="en-US" sz="1100"/>
          </a:p>
        </p:txBody>
      </p:sp>
      <p:sp>
        <p:nvSpPr>
          <p:cNvPr name="AutoShape 39" id="39"/>
          <p:cNvSpPr/>
          <p:nvPr/>
        </p:nvSpPr>
        <p:spPr>
          <a:xfrm>
            <a:off x="8026400" y="3766071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0" id="40"/>
          <p:cNvCxnSpPr/>
          <p:nvPr/>
        </p:nvCxnSpPr>
        <p:spPr>
          <a:xfrm>
            <a:off x="8026400" y="3766071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1"/>
          <p:cNvSpPr txBox="true"/>
          <p:nvPr/>
        </p:nvSpPr>
        <p:spPr>
          <a:xfrm>
            <a:off x="8229600" y="3938352"/>
            <a:ext cx="1881924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One model, two formats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8229600" y="4184726"/>
            <a:ext cx="281957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same composition emits this PDF and an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352049"/>
            <a:ext cx="299853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editable PPTX. Nothing is authored twice, so the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519371"/>
            <a:ext cx="98741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two cannot drift.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65622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GraphCompose against the field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60415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The same documents through three engines — render time and peak heap, measured by this repository's own harness. Every figure on this page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486495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and the next is read from the result file at render time, not typed in.</a:t>
            </a:r>
            <a:endParaRPr lang="en-US" sz="1100"/>
          </a:p>
        </p:txBody>
      </p:sp>
      <p:sp>
        <p:nvSpPr>
          <p:cNvPr name="GraphCompose Table Cell Fill" id="8"/>
          <p:cNvSpPr/>
          <p:nvPr/>
        </p:nvSpPr>
        <p:spPr>
          <a:xfrm>
            <a:off x="660400" y="2253564"/>
            <a:ext cx="1287577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9"/>
          <p:cNvSpPr/>
          <p:nvPr/>
        </p:nvSpPr>
        <p:spPr>
          <a:xfrm>
            <a:off x="1947977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0"/>
          <p:cNvSpPr/>
          <p:nvPr/>
        </p:nvSpPr>
        <p:spPr>
          <a:xfrm>
            <a:off x="3438703" y="2253564"/>
            <a:ext cx="1575460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1"/>
          <p:cNvSpPr/>
          <p:nvPr/>
        </p:nvSpPr>
        <p:spPr>
          <a:xfrm>
            <a:off x="5014163" y="2253564"/>
            <a:ext cx="1490726" cy="267970"/>
          </a:xfrm>
          <a:prstGeom prst="rect">
            <a:avLst/>
          </a:prstGeom>
          <a:solidFill>
            <a:srgbClr val="2A3558"/>
          </a:solidFill>
          <a:ln>
            <a:noFill/>
          </a:ln>
        </p:spPr>
      </p:sp>
      <p:sp>
        <p:nvSpPr>
          <p:cNvPr name="GraphCompose Table Cell Fill" id="12"/>
          <p:cNvSpPr/>
          <p:nvPr/>
        </p:nvSpPr>
        <p:spPr>
          <a:xfrm>
            <a:off x="660400" y="252153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3"/>
          <p:cNvSpPr/>
          <p:nvPr/>
        </p:nvSpPr>
        <p:spPr>
          <a:xfrm>
            <a:off x="1947977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4"/>
          <p:cNvSpPr/>
          <p:nvPr/>
        </p:nvSpPr>
        <p:spPr>
          <a:xfrm>
            <a:off x="3438703" y="252153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5"/>
          <p:cNvSpPr/>
          <p:nvPr/>
        </p:nvSpPr>
        <p:spPr>
          <a:xfrm>
            <a:off x="5014163" y="252153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16"/>
          <p:cNvSpPr/>
          <p:nvPr/>
        </p:nvSpPr>
        <p:spPr>
          <a:xfrm>
            <a:off x="660400" y="278950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7"/>
          <p:cNvSpPr/>
          <p:nvPr/>
        </p:nvSpPr>
        <p:spPr>
          <a:xfrm>
            <a:off x="1947977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8"/>
          <p:cNvSpPr/>
          <p:nvPr/>
        </p:nvSpPr>
        <p:spPr>
          <a:xfrm>
            <a:off x="3438703" y="278950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19"/>
          <p:cNvSpPr/>
          <p:nvPr/>
        </p:nvSpPr>
        <p:spPr>
          <a:xfrm>
            <a:off x="5014163" y="278950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0"/>
          <p:cNvSpPr/>
          <p:nvPr/>
        </p:nvSpPr>
        <p:spPr>
          <a:xfrm>
            <a:off x="660400" y="3057474"/>
            <a:ext cx="1287577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1"/>
          <p:cNvSpPr/>
          <p:nvPr/>
        </p:nvSpPr>
        <p:spPr>
          <a:xfrm>
            <a:off x="1947977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2"/>
          <p:cNvSpPr/>
          <p:nvPr/>
        </p:nvSpPr>
        <p:spPr>
          <a:xfrm>
            <a:off x="3438703" y="3057474"/>
            <a:ext cx="1575460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3"/>
          <p:cNvSpPr/>
          <p:nvPr/>
        </p:nvSpPr>
        <p:spPr>
          <a:xfrm>
            <a:off x="5014163" y="3057474"/>
            <a:ext cx="1490726" cy="267970"/>
          </a:xfrm>
          <a:prstGeom prst="rect">
            <a:avLst/>
          </a:prstGeom>
          <a:solidFill>
            <a:srgbClr val="1D2642"/>
          </a:solidFill>
          <a:ln>
            <a:noFill/>
          </a:ln>
        </p:spPr>
      </p:sp>
      <p:sp>
        <p:nvSpPr>
          <p:cNvPr name="GraphCompose Table Cell Fill" id="24"/>
          <p:cNvSpPr/>
          <p:nvPr/>
        </p:nvSpPr>
        <p:spPr>
          <a:xfrm>
            <a:off x="660400" y="3325444"/>
            <a:ext cx="1287577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5"/>
          <p:cNvSpPr/>
          <p:nvPr/>
        </p:nvSpPr>
        <p:spPr>
          <a:xfrm>
            <a:off x="1947977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6"/>
          <p:cNvSpPr/>
          <p:nvPr/>
        </p:nvSpPr>
        <p:spPr>
          <a:xfrm>
            <a:off x="3438703" y="3325444"/>
            <a:ext cx="1575460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sp>
        <p:nvSpPr>
          <p:cNvPr name="GraphCompose Table Cell Fill" id="27"/>
          <p:cNvSpPr/>
          <p:nvPr/>
        </p:nvSpPr>
        <p:spPr>
          <a:xfrm>
            <a:off x="5014163" y="3325444"/>
            <a:ext cx="1490726" cy="267970"/>
          </a:xfrm>
          <a:prstGeom prst="rect">
            <a:avLst/>
          </a:prstGeom>
          <a:solidFill>
            <a:srgbClr val="13192D"/>
          </a:solidFill>
          <a:ln>
            <a:noFill/>
          </a:ln>
        </p:spPr>
      </p:sp>
      <p:cxnSp>
        <p:nvCxnSpPr>
          <p:cNvPr name="GraphCompose Table Cell Border" id="28"/>
          <p:cNvCxnSpPr/>
          <p:nvPr/>
        </p:nvCxnSpPr>
        <p:spPr>
          <a:xfrm>
            <a:off x="660400" y="225356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29"/>
          <p:cNvCxnSpPr/>
          <p:nvPr/>
        </p:nvCxnSpPr>
        <p:spPr>
          <a:xfrm>
            <a:off x="660400" y="252153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0"/>
          <p:cNvCxnSpPr/>
          <p:nvPr/>
        </p:nvCxnSpPr>
        <p:spPr>
          <a:xfrm>
            <a:off x="660400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1"/>
          <p:cNvCxnSpPr/>
          <p:nvPr/>
        </p:nvCxnSpPr>
        <p:spPr>
          <a:xfrm>
            <a:off x="1947977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2"/>
          <p:cNvSpPr txBox="true"/>
          <p:nvPr/>
        </p:nvSpPr>
        <p:spPr>
          <a:xfrm>
            <a:off x="787400" y="2288524"/>
            <a:ext cx="8227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Report size</a:t>
            </a:r>
            <a:endParaRPr lang="en-US" sz="1100"/>
          </a:p>
        </p:txBody>
      </p:sp>
      <p:cxnSp>
        <p:nvCxnSpPr>
          <p:cNvPr name="GraphCompose Table Cell Border" id="33"/>
          <p:cNvCxnSpPr/>
          <p:nvPr/>
        </p:nvCxnSpPr>
        <p:spPr>
          <a:xfrm>
            <a:off x="1942897" y="225356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4"/>
          <p:cNvCxnSpPr/>
          <p:nvPr/>
        </p:nvCxnSpPr>
        <p:spPr>
          <a:xfrm>
            <a:off x="1942897" y="252153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5"/>
          <p:cNvCxnSpPr/>
          <p:nvPr/>
        </p:nvCxnSpPr>
        <p:spPr>
          <a:xfrm>
            <a:off x="343870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36"/>
          <p:cNvSpPr txBox="true"/>
          <p:nvPr/>
        </p:nvSpPr>
        <p:spPr>
          <a:xfrm>
            <a:off x="2074977" y="2288524"/>
            <a:ext cx="11444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GraphCompose</a:t>
            </a:r>
            <a:endParaRPr lang="en-US" sz="1100"/>
          </a:p>
        </p:txBody>
      </p:sp>
      <p:cxnSp>
        <p:nvCxnSpPr>
          <p:cNvPr name="GraphCompose Table Cell Border" id="37"/>
          <p:cNvCxnSpPr/>
          <p:nvPr/>
        </p:nvCxnSpPr>
        <p:spPr>
          <a:xfrm>
            <a:off x="3433623" y="225356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8"/>
          <p:cNvCxnSpPr/>
          <p:nvPr/>
        </p:nvCxnSpPr>
        <p:spPr>
          <a:xfrm>
            <a:off x="3433623" y="252153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39"/>
          <p:cNvCxnSpPr/>
          <p:nvPr/>
        </p:nvCxnSpPr>
        <p:spPr>
          <a:xfrm>
            <a:off x="5014163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0"/>
          <p:cNvSpPr txBox="true"/>
          <p:nvPr/>
        </p:nvSpPr>
        <p:spPr>
          <a:xfrm>
            <a:off x="3565703" y="2288524"/>
            <a:ext cx="484073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iText 9</a:t>
            </a:r>
            <a:endParaRPr lang="en-US" sz="1100"/>
          </a:p>
        </p:txBody>
      </p:sp>
      <p:cxnSp>
        <p:nvCxnSpPr>
          <p:cNvPr name="GraphCompose Table Cell Border" id="41"/>
          <p:cNvCxnSpPr/>
          <p:nvPr/>
        </p:nvCxnSpPr>
        <p:spPr>
          <a:xfrm>
            <a:off x="5009083" y="225356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2"/>
          <p:cNvCxnSpPr/>
          <p:nvPr/>
        </p:nvCxnSpPr>
        <p:spPr>
          <a:xfrm>
            <a:off x="5009083" y="252153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3"/>
          <p:cNvCxnSpPr/>
          <p:nvPr/>
        </p:nvCxnSpPr>
        <p:spPr>
          <a:xfrm>
            <a:off x="6504889" y="225356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4"/>
          <p:cNvSpPr txBox="true"/>
          <p:nvPr/>
        </p:nvSpPr>
        <p:spPr>
          <a:xfrm>
            <a:off x="5141163" y="2288524"/>
            <a:ext cx="1068375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JasperReports</a:t>
            </a:r>
            <a:endParaRPr lang="en-US" sz="1100"/>
          </a:p>
        </p:txBody>
      </p:sp>
      <p:cxnSp>
        <p:nvCxnSpPr>
          <p:cNvPr name="GraphCompose Table Cell Border" id="45"/>
          <p:cNvCxnSpPr/>
          <p:nvPr/>
        </p:nvCxnSpPr>
        <p:spPr>
          <a:xfrm>
            <a:off x="660400" y="278950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6"/>
          <p:cNvCxnSpPr/>
          <p:nvPr/>
        </p:nvCxnSpPr>
        <p:spPr>
          <a:xfrm>
            <a:off x="660400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47"/>
          <p:cNvCxnSpPr/>
          <p:nvPr/>
        </p:nvCxnSpPr>
        <p:spPr>
          <a:xfrm>
            <a:off x="1947977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48"/>
          <p:cNvSpPr txBox="true"/>
          <p:nvPr/>
        </p:nvSpPr>
        <p:spPr>
          <a:xfrm>
            <a:off x="787400" y="2556494"/>
            <a:ext cx="103484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 page · 3 lines</a:t>
            </a:r>
            <a:endParaRPr lang="en-US" sz="1100"/>
          </a:p>
        </p:txBody>
      </p:sp>
      <p:cxnSp>
        <p:nvCxnSpPr>
          <p:cNvPr name="GraphCompose Table Cell Border" id="49"/>
          <p:cNvCxnSpPr/>
          <p:nvPr/>
        </p:nvCxnSpPr>
        <p:spPr>
          <a:xfrm>
            <a:off x="1942897" y="278950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0"/>
          <p:cNvCxnSpPr/>
          <p:nvPr/>
        </p:nvCxnSpPr>
        <p:spPr>
          <a:xfrm>
            <a:off x="343870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1"/>
          <p:cNvSpPr txBox="true"/>
          <p:nvPr/>
        </p:nvSpPr>
        <p:spPr>
          <a:xfrm>
            <a:off x="2074977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2.0 ms · 0.2 MB</a:t>
            </a:r>
            <a:endParaRPr lang="en-US" sz="1100"/>
          </a:p>
        </p:txBody>
      </p:sp>
      <p:cxnSp>
        <p:nvCxnSpPr>
          <p:cNvPr name="GraphCompose Table Cell Border" id="52"/>
          <p:cNvCxnSpPr/>
          <p:nvPr/>
        </p:nvCxnSpPr>
        <p:spPr>
          <a:xfrm>
            <a:off x="3433623" y="278950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3"/>
          <p:cNvCxnSpPr/>
          <p:nvPr/>
        </p:nvCxnSpPr>
        <p:spPr>
          <a:xfrm>
            <a:off x="5014163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4"/>
          <p:cNvSpPr txBox="true"/>
          <p:nvPr/>
        </p:nvSpPr>
        <p:spPr>
          <a:xfrm>
            <a:off x="356570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2.1 ms · 0.2 MB</a:t>
            </a:r>
            <a:endParaRPr lang="en-US" sz="1100"/>
          </a:p>
        </p:txBody>
      </p:sp>
      <p:cxnSp>
        <p:nvCxnSpPr>
          <p:cNvPr name="GraphCompose Table Cell Border" id="55"/>
          <p:cNvCxnSpPr/>
          <p:nvPr/>
        </p:nvCxnSpPr>
        <p:spPr>
          <a:xfrm>
            <a:off x="5009083" y="278950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6"/>
          <p:cNvCxnSpPr/>
          <p:nvPr/>
        </p:nvCxnSpPr>
        <p:spPr>
          <a:xfrm>
            <a:off x="6504889" y="252153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57"/>
          <p:cNvSpPr txBox="true"/>
          <p:nvPr/>
        </p:nvSpPr>
        <p:spPr>
          <a:xfrm>
            <a:off x="5141163" y="255649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4.2 ms · 0.2 MB</a:t>
            </a:r>
            <a:endParaRPr lang="en-US" sz="1100"/>
          </a:p>
        </p:txBody>
      </p:sp>
      <p:cxnSp>
        <p:nvCxnSpPr>
          <p:cNvPr name="GraphCompose Table Cell Border" id="58"/>
          <p:cNvCxnSpPr/>
          <p:nvPr/>
        </p:nvCxnSpPr>
        <p:spPr>
          <a:xfrm>
            <a:off x="660400" y="305747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59"/>
          <p:cNvCxnSpPr/>
          <p:nvPr/>
        </p:nvCxnSpPr>
        <p:spPr>
          <a:xfrm>
            <a:off x="660400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0"/>
          <p:cNvCxnSpPr/>
          <p:nvPr/>
        </p:nvCxnSpPr>
        <p:spPr>
          <a:xfrm>
            <a:off x="1947977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1"/>
          <p:cNvSpPr txBox="true"/>
          <p:nvPr/>
        </p:nvSpPr>
        <p:spPr>
          <a:xfrm>
            <a:off x="787400" y="2824464"/>
            <a:ext cx="53482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40 rows</a:t>
            </a:r>
            <a:endParaRPr lang="en-US" sz="1100"/>
          </a:p>
        </p:txBody>
      </p:sp>
      <p:cxnSp>
        <p:nvCxnSpPr>
          <p:cNvPr name="GraphCompose Table Cell Border" id="62"/>
          <p:cNvCxnSpPr/>
          <p:nvPr/>
        </p:nvCxnSpPr>
        <p:spPr>
          <a:xfrm>
            <a:off x="1942897" y="305747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3"/>
          <p:cNvCxnSpPr/>
          <p:nvPr/>
        </p:nvCxnSpPr>
        <p:spPr>
          <a:xfrm>
            <a:off x="343870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4"/>
          <p:cNvSpPr txBox="true"/>
          <p:nvPr/>
        </p:nvSpPr>
        <p:spPr>
          <a:xfrm>
            <a:off x="2074977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4.1 ms · 1.0 MB</a:t>
            </a:r>
            <a:endParaRPr lang="en-US" sz="1100"/>
          </a:p>
        </p:txBody>
      </p:sp>
      <p:cxnSp>
        <p:nvCxnSpPr>
          <p:cNvPr name="GraphCompose Table Cell Border" id="65"/>
          <p:cNvCxnSpPr/>
          <p:nvPr/>
        </p:nvCxnSpPr>
        <p:spPr>
          <a:xfrm>
            <a:off x="3433623" y="305747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6"/>
          <p:cNvCxnSpPr/>
          <p:nvPr/>
        </p:nvCxnSpPr>
        <p:spPr>
          <a:xfrm>
            <a:off x="5014163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67"/>
          <p:cNvSpPr txBox="true"/>
          <p:nvPr/>
        </p:nvSpPr>
        <p:spPr>
          <a:xfrm>
            <a:off x="3565703" y="282446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10.0 ms · 3.0 MB</a:t>
            </a:r>
            <a:endParaRPr lang="en-US" sz="1100"/>
          </a:p>
        </p:txBody>
      </p:sp>
      <p:cxnSp>
        <p:nvCxnSpPr>
          <p:cNvPr name="GraphCompose Table Cell Border" id="68"/>
          <p:cNvCxnSpPr/>
          <p:nvPr/>
        </p:nvCxnSpPr>
        <p:spPr>
          <a:xfrm>
            <a:off x="5009083" y="305747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69"/>
          <p:cNvCxnSpPr/>
          <p:nvPr/>
        </p:nvCxnSpPr>
        <p:spPr>
          <a:xfrm>
            <a:off x="6504889" y="278950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0"/>
          <p:cNvSpPr txBox="true"/>
          <p:nvPr/>
        </p:nvSpPr>
        <p:spPr>
          <a:xfrm>
            <a:off x="5141163" y="2824464"/>
            <a:ext cx="106852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8.3 ms · 2.5 MB</a:t>
            </a:r>
            <a:endParaRPr lang="en-US" sz="1100"/>
          </a:p>
        </p:txBody>
      </p:sp>
      <p:cxnSp>
        <p:nvCxnSpPr>
          <p:cNvPr name="GraphCompose Table Cell Border" id="71"/>
          <p:cNvCxnSpPr/>
          <p:nvPr/>
        </p:nvCxnSpPr>
        <p:spPr>
          <a:xfrm>
            <a:off x="660400" y="332544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2"/>
          <p:cNvCxnSpPr/>
          <p:nvPr/>
        </p:nvCxnSpPr>
        <p:spPr>
          <a:xfrm>
            <a:off x="660400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3"/>
          <p:cNvCxnSpPr/>
          <p:nvPr/>
        </p:nvCxnSpPr>
        <p:spPr>
          <a:xfrm>
            <a:off x="1947977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4"/>
          <p:cNvSpPr txBox="true"/>
          <p:nvPr/>
        </p:nvSpPr>
        <p:spPr>
          <a:xfrm>
            <a:off x="787400" y="3092434"/>
            <a:ext cx="619557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200 rows</a:t>
            </a:r>
            <a:endParaRPr lang="en-US" sz="1100"/>
          </a:p>
        </p:txBody>
      </p:sp>
      <p:cxnSp>
        <p:nvCxnSpPr>
          <p:cNvPr name="GraphCompose Table Cell Border" id="75"/>
          <p:cNvCxnSpPr/>
          <p:nvPr/>
        </p:nvCxnSpPr>
        <p:spPr>
          <a:xfrm>
            <a:off x="1942897" y="332544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6"/>
          <p:cNvCxnSpPr/>
          <p:nvPr/>
        </p:nvCxnSpPr>
        <p:spPr>
          <a:xfrm>
            <a:off x="343870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77"/>
          <p:cNvSpPr txBox="true"/>
          <p:nvPr/>
        </p:nvSpPr>
        <p:spPr>
          <a:xfrm>
            <a:off x="2074977" y="3092434"/>
            <a:ext cx="1153262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10.9 ms · 4.0 MB</a:t>
            </a:r>
            <a:endParaRPr lang="en-US" sz="1100"/>
          </a:p>
        </p:txBody>
      </p:sp>
      <p:cxnSp>
        <p:nvCxnSpPr>
          <p:cNvPr name="GraphCompose Table Cell Border" id="78"/>
          <p:cNvCxnSpPr/>
          <p:nvPr/>
        </p:nvCxnSpPr>
        <p:spPr>
          <a:xfrm>
            <a:off x="3433623" y="332544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79"/>
          <p:cNvCxnSpPr/>
          <p:nvPr/>
        </p:nvCxnSpPr>
        <p:spPr>
          <a:xfrm>
            <a:off x="5014163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0"/>
          <p:cNvSpPr txBox="true"/>
          <p:nvPr/>
        </p:nvSpPr>
        <p:spPr>
          <a:xfrm>
            <a:off x="356570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36.6 ms · 13.6 MB</a:t>
            </a:r>
            <a:endParaRPr lang="en-US" sz="1100"/>
          </a:p>
        </p:txBody>
      </p:sp>
      <p:cxnSp>
        <p:nvCxnSpPr>
          <p:cNvPr name="GraphCompose Table Cell Border" id="81"/>
          <p:cNvCxnSpPr/>
          <p:nvPr/>
        </p:nvCxnSpPr>
        <p:spPr>
          <a:xfrm>
            <a:off x="5009083" y="332544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2"/>
          <p:cNvCxnSpPr/>
          <p:nvPr/>
        </p:nvCxnSpPr>
        <p:spPr>
          <a:xfrm>
            <a:off x="6504889" y="305747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3"/>
          <p:cNvSpPr txBox="true"/>
          <p:nvPr/>
        </p:nvSpPr>
        <p:spPr>
          <a:xfrm>
            <a:off x="5141163" y="309243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13.5 ms · 10.8 MB</a:t>
            </a:r>
            <a:endParaRPr lang="en-US" sz="1100"/>
          </a:p>
        </p:txBody>
      </p:sp>
      <p:cxnSp>
        <p:nvCxnSpPr>
          <p:cNvPr name="GraphCompose Table Cell Border" id="84"/>
          <p:cNvCxnSpPr/>
          <p:nvPr/>
        </p:nvCxnSpPr>
        <p:spPr>
          <a:xfrm>
            <a:off x="660400" y="3593414"/>
            <a:ext cx="1292657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5"/>
          <p:cNvCxnSpPr/>
          <p:nvPr/>
        </p:nvCxnSpPr>
        <p:spPr>
          <a:xfrm>
            <a:off x="660400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6"/>
          <p:cNvCxnSpPr/>
          <p:nvPr/>
        </p:nvCxnSpPr>
        <p:spPr>
          <a:xfrm>
            <a:off x="1947977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87"/>
          <p:cNvSpPr txBox="true"/>
          <p:nvPr/>
        </p:nvSpPr>
        <p:spPr>
          <a:xfrm>
            <a:off x="787400" y="3360404"/>
            <a:ext cx="704291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1000 rows</a:t>
            </a:r>
            <a:endParaRPr lang="en-US" sz="1100"/>
          </a:p>
        </p:txBody>
      </p:sp>
      <p:cxnSp>
        <p:nvCxnSpPr>
          <p:cNvPr name="GraphCompose Table Cell Border" id="88"/>
          <p:cNvCxnSpPr/>
          <p:nvPr/>
        </p:nvCxnSpPr>
        <p:spPr>
          <a:xfrm>
            <a:off x="1942897" y="3593414"/>
            <a:ext cx="150088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89"/>
          <p:cNvCxnSpPr/>
          <p:nvPr/>
        </p:nvCxnSpPr>
        <p:spPr>
          <a:xfrm>
            <a:off x="343870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0"/>
          <p:cNvSpPr txBox="true"/>
          <p:nvPr/>
        </p:nvSpPr>
        <p:spPr>
          <a:xfrm>
            <a:off x="2074977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42.8 ms · 19.3 MB</a:t>
            </a:r>
            <a:endParaRPr lang="en-US" sz="1100"/>
          </a:p>
        </p:txBody>
      </p:sp>
      <p:cxnSp>
        <p:nvCxnSpPr>
          <p:cNvPr name="GraphCompose Table Cell Border" id="91"/>
          <p:cNvCxnSpPr/>
          <p:nvPr/>
        </p:nvCxnSpPr>
        <p:spPr>
          <a:xfrm>
            <a:off x="3433623" y="3593414"/>
            <a:ext cx="1585620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2"/>
          <p:cNvCxnSpPr/>
          <p:nvPr/>
        </p:nvCxnSpPr>
        <p:spPr>
          <a:xfrm>
            <a:off x="5014163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3"/>
          <p:cNvSpPr txBox="true"/>
          <p:nvPr/>
        </p:nvSpPr>
        <p:spPr>
          <a:xfrm>
            <a:off x="3565703" y="3360404"/>
            <a:ext cx="1322730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189.1 ms · 67.3 MB</a:t>
            </a:r>
            <a:endParaRPr lang="en-US" sz="1100"/>
          </a:p>
        </p:txBody>
      </p:sp>
      <p:cxnSp>
        <p:nvCxnSpPr>
          <p:cNvPr name="GraphCompose Table Cell Border" id="94"/>
          <p:cNvCxnSpPr/>
          <p:nvPr/>
        </p:nvCxnSpPr>
        <p:spPr>
          <a:xfrm>
            <a:off x="5009083" y="3593414"/>
            <a:ext cx="1495806" cy="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cxnSp>
        <p:nvCxnSpPr>
          <p:cNvPr name="GraphCompose Table Cell Border" id="95"/>
          <p:cNvCxnSpPr/>
          <p:nvPr/>
        </p:nvCxnSpPr>
        <p:spPr>
          <a:xfrm>
            <a:off x="6504889" y="3325444"/>
            <a:ext cx="0" cy="267970"/>
          </a:xfrm>
          <a:prstGeom prst="line">
            <a:avLst/>
          </a:prstGeom>
          <a:ln w="10160">
            <a:solidFill>
              <a:srgbClr val="303856"/>
            </a:solidFill>
          </a:ln>
        </p:spPr>
      </p:cxnSp>
      <p:sp>
        <p:nvSpPr>
          <p:cNvPr name="GraphCompose Table Cell Text" id="96"/>
          <p:cNvSpPr txBox="true"/>
          <p:nvPr/>
        </p:nvSpPr>
        <p:spPr>
          <a:xfrm>
            <a:off x="5141163" y="3360404"/>
            <a:ext cx="123799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defRPr/>
            </a:pPr>
            <a:r>
              <a:rPr lang="en-US" sz="1200" b="false" i="false" u="none" strike="noStrike" kern="0">
                <a:solidFill>
                  <a:srgbClr val="CED4E6"/>
                </a:solidFill>
                <a:latin typeface="Arial"/>
              </a:rPr>
              <a:t>43.7 ms · 52.5 MB</a:t>
            </a:r>
            <a:endParaRPr lang="en-US" sz="1100"/>
          </a:p>
        </p:txBody>
      </p:sp>
      <p:sp>
        <p:nvSpPr>
          <p:cNvPr name="AutoShape 97" id="97"/>
          <p:cNvSpPr/>
          <p:nvPr/>
        </p:nvSpPr>
        <p:spPr>
          <a:xfrm>
            <a:off x="660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98" id="98"/>
          <p:cNvCxnSpPr/>
          <p:nvPr/>
        </p:nvCxnSpPr>
        <p:spPr>
          <a:xfrm>
            <a:off x="660400" y="3847414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99"/>
          <p:cNvSpPr txBox="true"/>
          <p:nvPr/>
        </p:nvSpPr>
        <p:spPr>
          <a:xfrm>
            <a:off x="863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E9972D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100"/>
          <p:cNvSpPr txBox="true"/>
          <p:nvPr/>
        </p:nvSpPr>
        <p:spPr>
          <a:xfrm>
            <a:off x="863600" y="4404182"/>
            <a:ext cx="195804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faster than iText 9 at 1000 rows</a:t>
            </a:r>
            <a:endParaRPr lang="en-US" sz="1100"/>
          </a:p>
        </p:txBody>
      </p:sp>
      <p:sp>
        <p:nvSpPr>
          <p:cNvPr name="AutoShape 101" id="101"/>
          <p:cNvSpPr/>
          <p:nvPr/>
        </p:nvSpPr>
        <p:spPr>
          <a:xfrm>
            <a:off x="4343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2" id="102"/>
          <p:cNvCxnSpPr/>
          <p:nvPr/>
        </p:nvCxnSpPr>
        <p:spPr>
          <a:xfrm>
            <a:off x="4343400" y="3847414"/>
            <a:ext cx="3505200" cy="0"/>
          </a:xfrm>
          <a:prstGeom prst="line">
            <a:avLst/>
          </a:prstGeom>
          <a:ln w="38100">
            <a:solidFill>
              <a:srgbClr val="7A85A8"/>
            </a:solidFill>
          </a:ln>
        </p:spPr>
      </p:cxnSp>
      <p:sp>
        <p:nvSpPr>
          <p:cNvPr name="GraphCompose Text Line" id="103"/>
          <p:cNvSpPr txBox="true"/>
          <p:nvPr/>
        </p:nvSpPr>
        <p:spPr>
          <a:xfrm>
            <a:off x="4546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7A85A8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104"/>
          <p:cNvSpPr txBox="true"/>
          <p:nvPr/>
        </p:nvSpPr>
        <p:spPr>
          <a:xfrm>
            <a:off x="4546600" y="4404182"/>
            <a:ext cx="115044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105" id="105"/>
          <p:cNvSpPr/>
          <p:nvPr/>
        </p:nvSpPr>
        <p:spPr>
          <a:xfrm>
            <a:off x="8026400" y="3847414"/>
            <a:ext cx="3505200" cy="915353"/>
          </a:xfrm>
          <a:prstGeom prst="roundRect">
            <a:avLst>
              <a:gd name="adj" fmla="val 13874"/>
            </a:avLst>
          </a:prstGeom>
          <a:solidFill>
            <a:srgbClr val="141A2F"/>
          </a:solidFill>
          <a:ln>
            <a:noFill/>
          </a:ln>
        </p:spPr>
      </p:sp>
      <p:cxnSp>
        <p:nvCxnSpPr>
          <p:cNvPr name="Connector 106" id="106"/>
          <p:cNvCxnSpPr/>
          <p:nvPr/>
        </p:nvCxnSpPr>
        <p:spPr>
          <a:xfrm>
            <a:off x="8026400" y="3847414"/>
            <a:ext cx="3505200" cy="0"/>
          </a:xfrm>
          <a:prstGeom prst="line">
            <a:avLst/>
          </a:prstGeom>
          <a:ln w="38100">
            <a:solidFill>
              <a:srgbClr val="5DC88F"/>
            </a:solidFill>
          </a:ln>
        </p:spPr>
      </p:cxnSp>
      <p:sp>
        <p:nvSpPr>
          <p:cNvPr name="GraphCompose Text Line" id="107"/>
          <p:cNvSpPr txBox="true"/>
          <p:nvPr/>
        </p:nvSpPr>
        <p:spPr>
          <a:xfrm>
            <a:off x="8229600" y="3984020"/>
            <a:ext cx="693268" cy="3289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00" b="true" i="false" u="none" strike="noStrike" kern="0">
                <a:solidFill>
                  <a:srgbClr val="5DC88F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108"/>
          <p:cNvSpPr txBox="true"/>
          <p:nvPr/>
        </p:nvSpPr>
        <p:spPr>
          <a:xfrm>
            <a:off x="8229600" y="4404182"/>
            <a:ext cx="1639532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lighter than JasperReports</a:t>
            </a:r>
            <a:endParaRPr lang="en-US" sz="1100"/>
          </a:p>
        </p:txBody>
      </p:sp>
      <p:sp>
        <p:nvSpPr>
          <p:cNvPr name="GraphCompose Text Line" id="109"/>
          <p:cNvSpPr txBox="true"/>
          <p:nvPr/>
        </p:nvSpPr>
        <p:spPr>
          <a:xfrm>
            <a:off x="660400" y="4968772"/>
            <a:ext cx="10328427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Measured 2026-08-04 22:16:04 · 50 warmup / 100 measurement iterations on one machine. Read the ratios rather than the milliseconds: all three engines are measured in the same run, so their</a:t>
            </a:r>
            <a:endParaRPr lang="en-US" sz="1100"/>
          </a:p>
        </p:txBody>
      </p:sp>
      <p:sp>
        <p:nvSpPr>
          <p:cNvPr name="GraphCompose Text Line" id="110"/>
          <p:cNvSpPr txBox="true"/>
          <p:nvPr/>
        </p:nvSpPr>
        <p:spPr>
          <a:xfrm>
            <a:off x="660400" y="5118473"/>
            <a:ext cx="354862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proportions survive a change of hardware while the timings do not.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5880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SCALING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6225667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What changes as the report grows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737063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From 40 to 1000 rows the time lead over iText widens; JasperReports closes to roughly the same render time at the top size, while GraphCompose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938869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stays markedly lighter on memory than both throughout. Every series reads from the same file as the table on the previous page.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240659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Render time vs. report size — ms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12050"/>
            <a:ext cx="784606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faster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1108710" y="4605845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99314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1108710" y="4153318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92837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1108710" y="3700790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863600" y="3648702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7" id="17"/>
          <p:cNvCxnSpPr/>
          <p:nvPr/>
        </p:nvCxnSpPr>
        <p:spPr>
          <a:xfrm flipV="false">
            <a:off x="1108710" y="3248262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18"/>
          <p:cNvSpPr txBox="true"/>
          <p:nvPr/>
        </p:nvSpPr>
        <p:spPr>
          <a:xfrm>
            <a:off x="863600" y="3196174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9" id="19"/>
          <p:cNvCxnSpPr/>
          <p:nvPr/>
        </p:nvCxnSpPr>
        <p:spPr>
          <a:xfrm flipV="false">
            <a:off x="1108710" y="2795734"/>
            <a:ext cx="465709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20"/>
          <p:cNvSpPr txBox="true"/>
          <p:nvPr/>
        </p:nvSpPr>
        <p:spPr>
          <a:xfrm>
            <a:off x="863600" y="274364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cxnSp>
        <p:nvCxnSpPr>
          <p:cNvPr name="Connector 21" id="21"/>
          <p:cNvCxnSpPr/>
          <p:nvPr/>
        </p:nvCxnSpPr>
        <p:spPr>
          <a:xfrm flipV="true">
            <a:off x="1884892" y="4507104"/>
            <a:ext cx="1552363" cy="61815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2" id="22"/>
          <p:cNvCxnSpPr/>
          <p:nvPr/>
        </p:nvCxnSpPr>
        <p:spPr>
          <a:xfrm flipV="true">
            <a:off x="3437255" y="4218844"/>
            <a:ext cx="1552363" cy="288260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23" id="23"/>
          <p:cNvCxnSpPr/>
          <p:nvPr/>
        </p:nvCxnSpPr>
        <p:spPr>
          <a:xfrm flipV="true">
            <a:off x="1884892" y="4274867"/>
            <a:ext cx="1552363" cy="240835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4" id="24"/>
          <p:cNvCxnSpPr/>
          <p:nvPr/>
        </p:nvCxnSpPr>
        <p:spPr>
          <a:xfrm flipV="true">
            <a:off x="3437255" y="2894204"/>
            <a:ext cx="1552363" cy="1380663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25" id="25"/>
          <p:cNvCxnSpPr/>
          <p:nvPr/>
        </p:nvCxnSpPr>
        <p:spPr>
          <a:xfrm flipV="true">
            <a:off x="1884892" y="4484025"/>
            <a:ext cx="1552363" cy="47063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26" id="26"/>
          <p:cNvCxnSpPr/>
          <p:nvPr/>
        </p:nvCxnSpPr>
        <p:spPr>
          <a:xfrm flipV="true">
            <a:off x="3437255" y="4210517"/>
            <a:ext cx="1552363" cy="273508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27"/>
          <p:cNvSpPr txBox="true"/>
          <p:nvPr/>
        </p:nvSpPr>
        <p:spPr>
          <a:xfrm>
            <a:off x="1820122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3340100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4860078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30" id="30"/>
          <p:cNvSpPr/>
          <p:nvPr/>
        </p:nvSpPr>
        <p:spPr>
          <a:xfrm>
            <a:off x="19427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31"/>
          <p:cNvSpPr txBox="true"/>
          <p:nvPr/>
        </p:nvSpPr>
        <p:spPr>
          <a:xfrm>
            <a:off x="21078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32" id="32"/>
          <p:cNvSpPr/>
          <p:nvPr/>
        </p:nvSpPr>
        <p:spPr>
          <a:xfrm>
            <a:off x="30924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33"/>
          <p:cNvSpPr txBox="true"/>
          <p:nvPr/>
        </p:nvSpPr>
        <p:spPr>
          <a:xfrm>
            <a:off x="32575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37783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35"/>
          <p:cNvSpPr txBox="true"/>
          <p:nvPr/>
        </p:nvSpPr>
        <p:spPr>
          <a:xfrm>
            <a:off x="39434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AutoShape 36" id="36"/>
          <p:cNvSpPr/>
          <p:nvPr/>
        </p:nvSpPr>
        <p:spPr>
          <a:xfrm>
            <a:off x="6223000" y="2253564"/>
            <a:ext cx="5308600" cy="2847657"/>
          </a:xfrm>
          <a:prstGeom prst="roundRect">
            <a:avLst>
              <a:gd name="adj" fmla="val 446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37"/>
          <p:cNvSpPr txBox="true"/>
          <p:nvPr/>
        </p:nvSpPr>
        <p:spPr>
          <a:xfrm>
            <a:off x="6426200" y="2428224"/>
            <a:ext cx="229656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Peak heap vs. report size — MB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6426200" y="2612050"/>
            <a:ext cx="812800" cy="11747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000" b="false" i="false" u="none" strike="noStrike" kern="0">
                <a:solidFill>
                  <a:srgbClr val="68728E"/>
                </a:solidFill>
                <a:latin typeface="Arial"/>
              </a:rPr>
              <a:t>lower is lighter</a:t>
            </a:r>
            <a:endParaRPr lang="en-US" sz="1100"/>
          </a:p>
        </p:txBody>
      </p:sp>
      <p:cxnSp>
        <p:nvCxnSpPr>
          <p:cNvPr name="Connector 39" id="39"/>
          <p:cNvCxnSpPr/>
          <p:nvPr/>
        </p:nvCxnSpPr>
        <p:spPr>
          <a:xfrm flipV="false">
            <a:off x="6606540" y="4605845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0"/>
          <p:cNvSpPr txBox="true"/>
          <p:nvPr/>
        </p:nvSpPr>
        <p:spPr>
          <a:xfrm>
            <a:off x="6490970" y="4553758"/>
            <a:ext cx="660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41" id="41"/>
          <p:cNvCxnSpPr/>
          <p:nvPr/>
        </p:nvCxnSpPr>
        <p:spPr>
          <a:xfrm flipV="false">
            <a:off x="6606540" y="4153318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6426200" y="4101230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43" id="43"/>
          <p:cNvCxnSpPr/>
          <p:nvPr/>
        </p:nvCxnSpPr>
        <p:spPr>
          <a:xfrm flipV="false">
            <a:off x="6606540" y="3700790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4"/>
          <p:cNvSpPr txBox="true"/>
          <p:nvPr/>
        </p:nvSpPr>
        <p:spPr>
          <a:xfrm>
            <a:off x="6426200" y="3648702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45" id="45"/>
          <p:cNvCxnSpPr/>
          <p:nvPr/>
        </p:nvCxnSpPr>
        <p:spPr>
          <a:xfrm flipV="false">
            <a:off x="6606540" y="3248262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6"/>
          <p:cNvSpPr txBox="true"/>
          <p:nvPr/>
        </p:nvSpPr>
        <p:spPr>
          <a:xfrm>
            <a:off x="6426200" y="3196174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47" id="47"/>
          <p:cNvCxnSpPr/>
          <p:nvPr/>
        </p:nvCxnSpPr>
        <p:spPr>
          <a:xfrm flipV="false">
            <a:off x="6606540" y="2795734"/>
            <a:ext cx="4721860" cy="0"/>
          </a:xfrm>
          <a:prstGeom prst="line">
            <a:avLst/>
          </a:prstGeom>
          <a:ln w="7620" cap="flat">
            <a:solidFill>
              <a:srgbClr val="303856"/>
            </a:solidFill>
          </a:ln>
        </p:spPr>
      </p:cxnSp>
      <p:sp>
        <p:nvSpPr>
          <p:cNvPr name="GraphCompose Text Line" id="48"/>
          <p:cNvSpPr txBox="true"/>
          <p:nvPr/>
        </p:nvSpPr>
        <p:spPr>
          <a:xfrm>
            <a:off x="6426200" y="274364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80</a:t>
            </a:r>
            <a:endParaRPr lang="en-US" sz="1100"/>
          </a:p>
        </p:txBody>
      </p:sp>
      <p:cxnSp>
        <p:nvCxnSpPr>
          <p:cNvPr name="Connector 49" id="49"/>
          <p:cNvCxnSpPr/>
          <p:nvPr/>
        </p:nvCxnSpPr>
        <p:spPr>
          <a:xfrm flipV="true">
            <a:off x="7393517" y="4516471"/>
            <a:ext cx="1573953" cy="66748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0" id="50"/>
          <p:cNvCxnSpPr/>
          <p:nvPr/>
        </p:nvCxnSpPr>
        <p:spPr>
          <a:xfrm flipV="true">
            <a:off x="8967470" y="4168930"/>
            <a:ext cx="1573953" cy="347541"/>
          </a:xfrm>
          <a:prstGeom prst="line">
            <a:avLst/>
          </a:prstGeom>
          <a:ln w="25400" cap="flat">
            <a:solidFill>
              <a:srgbClr val="E9972D"/>
            </a:solidFill>
          </a:ln>
        </p:spPr>
      </p:cxnSp>
      <p:cxnSp>
        <p:nvCxnSpPr>
          <p:cNvPr name="Connector 51" id="51"/>
          <p:cNvCxnSpPr/>
          <p:nvPr/>
        </p:nvCxnSpPr>
        <p:spPr>
          <a:xfrm flipV="true">
            <a:off x="7393517" y="4297221"/>
            <a:ext cx="1573953" cy="240519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2" id="52"/>
          <p:cNvCxnSpPr/>
          <p:nvPr/>
        </p:nvCxnSpPr>
        <p:spPr>
          <a:xfrm flipV="true">
            <a:off x="8967470" y="3083315"/>
            <a:ext cx="1573953" cy="1213906"/>
          </a:xfrm>
          <a:prstGeom prst="line">
            <a:avLst/>
          </a:prstGeom>
          <a:ln w="25400" cap="flat">
            <a:solidFill>
              <a:srgbClr val="7A85A8"/>
            </a:solidFill>
          </a:ln>
        </p:spPr>
      </p:cxnSp>
      <p:cxnSp>
        <p:nvCxnSpPr>
          <p:cNvPr name="Connector 53" id="53"/>
          <p:cNvCxnSpPr/>
          <p:nvPr/>
        </p:nvCxnSpPr>
        <p:spPr>
          <a:xfrm flipV="true">
            <a:off x="7393517" y="4361254"/>
            <a:ext cx="1573953" cy="187347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cxnSp>
        <p:nvCxnSpPr>
          <p:cNvPr name="Connector 54" id="54"/>
          <p:cNvCxnSpPr/>
          <p:nvPr/>
        </p:nvCxnSpPr>
        <p:spPr>
          <a:xfrm flipV="true">
            <a:off x="8967470" y="3418638"/>
            <a:ext cx="1573953" cy="942616"/>
          </a:xfrm>
          <a:prstGeom prst="line">
            <a:avLst/>
          </a:prstGeom>
          <a:ln w="25400" cap="flat">
            <a:solidFill>
              <a:srgbClr val="5DC88F"/>
            </a:solidFill>
          </a:ln>
        </p:spPr>
      </p:cxnSp>
      <p:sp>
        <p:nvSpPr>
          <p:cNvPr name="GraphCompose Text Line" id="55"/>
          <p:cNvSpPr txBox="true"/>
          <p:nvPr/>
        </p:nvSpPr>
        <p:spPr>
          <a:xfrm>
            <a:off x="7328747" y="4634676"/>
            <a:ext cx="13081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40</a:t>
            </a:r>
            <a:endParaRPr lang="en-US" sz="1100"/>
          </a:p>
        </p:txBody>
      </p:sp>
      <p:sp>
        <p:nvSpPr>
          <p:cNvPr name="GraphCompose Text Line" id="56"/>
          <p:cNvSpPr txBox="true"/>
          <p:nvPr/>
        </p:nvSpPr>
        <p:spPr>
          <a:xfrm>
            <a:off x="8870315" y="4634676"/>
            <a:ext cx="19558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GraphCompose Text Line" id="57"/>
          <p:cNvSpPr txBox="true"/>
          <p:nvPr/>
        </p:nvSpPr>
        <p:spPr>
          <a:xfrm>
            <a:off x="10411883" y="4634676"/>
            <a:ext cx="26035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1000</a:t>
            </a:r>
            <a:endParaRPr lang="en-US" sz="1100"/>
          </a:p>
        </p:txBody>
      </p:sp>
      <p:sp>
        <p:nvSpPr>
          <p:cNvPr name="AutoShape 58" id="58"/>
          <p:cNvSpPr/>
          <p:nvPr/>
        </p:nvSpPr>
        <p:spPr>
          <a:xfrm>
            <a:off x="7505389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59"/>
          <p:cNvSpPr txBox="true"/>
          <p:nvPr/>
        </p:nvSpPr>
        <p:spPr>
          <a:xfrm>
            <a:off x="7670489" y="4745489"/>
            <a:ext cx="80799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GraphCompose</a:t>
            </a:r>
            <a:endParaRPr lang="en-US" sz="1100"/>
          </a:p>
        </p:txBody>
      </p:sp>
      <p:sp>
        <p:nvSpPr>
          <p:cNvPr name="AutoShape 60" id="60"/>
          <p:cNvSpPr/>
          <p:nvPr/>
        </p:nvSpPr>
        <p:spPr>
          <a:xfrm>
            <a:off x="8655018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7A85A8"/>
          </a:solidFill>
          <a:ln>
            <a:noFill/>
          </a:ln>
        </p:spPr>
      </p:sp>
      <p:sp>
        <p:nvSpPr>
          <p:cNvPr name="GraphCompose Text Line" id="61"/>
          <p:cNvSpPr txBox="true"/>
          <p:nvPr/>
        </p:nvSpPr>
        <p:spPr>
          <a:xfrm>
            <a:off x="8820118" y="4745489"/>
            <a:ext cx="344284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iText 9</a:t>
            </a:r>
            <a:endParaRPr lang="en-US" sz="1100"/>
          </a:p>
        </p:txBody>
      </p:sp>
      <p:sp>
        <p:nvSpPr>
          <p:cNvPr name="AutoShape 62" id="62"/>
          <p:cNvSpPr/>
          <p:nvPr/>
        </p:nvSpPr>
        <p:spPr>
          <a:xfrm>
            <a:off x="9340933" y="4751807"/>
            <a:ext cx="114300" cy="114300"/>
          </a:xfrm>
          <a:prstGeom prst="roundRect">
            <a:avLst>
              <a:gd name="adj" fmla="val 16667"/>
            </a:avLst>
          </a:prstGeom>
          <a:solidFill>
            <a:srgbClr val="5DC88F"/>
          </a:solidFill>
          <a:ln>
            <a:noFill/>
          </a:ln>
        </p:spPr>
      </p:sp>
      <p:sp>
        <p:nvSpPr>
          <p:cNvPr name="GraphCompose Text Line" id="63"/>
          <p:cNvSpPr txBox="true"/>
          <p:nvPr/>
        </p:nvSpPr>
        <p:spPr>
          <a:xfrm>
            <a:off x="9506033" y="4745489"/>
            <a:ext cx="744449" cy="10572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00" b="false" i="false" u="none" strike="noStrike" kern="0">
                <a:solidFill>
                  <a:srgbClr val="8C95AF"/>
                </a:solidFill>
                <a:latin typeface="Arial"/>
              </a:rPr>
              <a:t>JasperReports</a:t>
            </a:r>
            <a:endParaRPr lang="en-US" sz="1100"/>
          </a:p>
        </p:txBody>
      </p:sp>
      <p:sp>
        <p:nvSpPr>
          <p:cNvPr name="GraphCompose Text Line" id="64"/>
          <p:cNvSpPr txBox="true"/>
          <p:nvPr/>
        </p:nvSpPr>
        <p:spPr>
          <a:xfrm>
            <a:off x="660400" y="5332627"/>
            <a:ext cx="10697496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Both charts are native vector output: the engine compiles them to the same shapes, lines and text frames as everything else on the page — no image is embedded, and the numbers come from the file,</a:t>
            </a:r>
            <a:endParaRPr lang="en-US" sz="1100"/>
          </a:p>
        </p:txBody>
      </p:sp>
      <p:sp>
        <p:nvSpPr>
          <p:cNvPr name="GraphCompose Text Line" id="65"/>
          <p:cNvSpPr txBox="true"/>
          <p:nvPr/>
        </p:nvSpPr>
        <p:spPr>
          <a:xfrm>
            <a:off x="660400" y="5482328"/>
            <a:ext cx="826275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not the caption.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21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660400" y="454168"/>
            <a:ext cx="100711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true" i="false" u="none" strike="noStrike" kern="0">
                <a:solidFill>
                  <a:srgbClr val="E9972D"/>
                </a:solidFill>
                <a:latin typeface="Courier New"/>
              </a:rPr>
              <a:t>MULTILINGUAL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660400" y="597253"/>
            <a:ext cx="5886196" cy="35242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00" b="true" i="false" u="none" strike="noStrike" kern="0">
                <a:solidFill>
                  <a:srgbClr val="F7F8FC"/>
                </a:solidFill>
                <a:latin typeface="Arial"/>
              </a:rPr>
              <a:t>Documents that read right to left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660400" y="1173429"/>
            <a:ext cx="1219200" cy="50800"/>
          </a:xfrm>
          <a:prstGeom prst="rect">
            <a:avLst/>
          </a:prstGeom>
          <a:solidFill>
            <a:srgbClr val="E9972D"/>
          </a:solidFill>
          <a:ln>
            <a:noFill/>
          </a:ln>
        </p:spPr>
      </p:sp>
      <p:sp>
        <p:nvSpPr>
          <p:cNvPr name="GraphCompose Text Line" id="6"/>
          <p:cNvSpPr txBox="true"/>
          <p:nvPr/>
        </p:nvSpPr>
        <p:spPr>
          <a:xfrm>
            <a:off x="660400" y="1396510"/>
            <a:ext cx="1080128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A paragraph — or a table cell — says which way it runs, and Hebrew and Arabic lay out, join and mirror correctly. The PDF is painted, so the engine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660400" y="1600028"/>
            <a:ext cx="10645267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false" i="false" u="none" strike="noStrike" kern="0">
                <a:solidFill>
                  <a:srgbClr val="CED4E6"/>
                </a:solidFill>
                <a:latin typeface="Arial"/>
              </a:rPr>
              <a:t>resolves the line itself; Word and PowerPoint order text themselves and are told what each needs instead. Five script families ship with the library.</a:t>
            </a:r>
            <a:endParaRPr lang="en-US" sz="1100"/>
          </a:p>
        </p:txBody>
      </p:sp>
      <p:sp>
        <p:nvSpPr>
          <p:cNvPr name="AutoShape 8" id="8"/>
          <p:cNvSpPr/>
          <p:nvPr/>
        </p:nvSpPr>
        <p:spPr>
          <a:xfrm>
            <a:off x="660400" y="2253564"/>
            <a:ext cx="2032000" cy="1214971"/>
          </a:xfrm>
          <a:prstGeom prst="roundRect">
            <a:avLst>
              <a:gd name="adj" fmla="val 10453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9"/>
          <p:cNvSpPr txBox="true"/>
          <p:nvPr/>
        </p:nvSpPr>
        <p:spPr>
          <a:xfrm>
            <a:off x="863600" y="2428224"/>
            <a:ext cx="4755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Arabic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863600" y="2626564"/>
            <a:ext cx="32512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AMIRI</a:t>
            </a:r>
            <a:endParaRPr lang="en-US" sz="1100"/>
          </a:p>
        </p:txBody>
      </p:sp>
      <p:sp>
        <p:nvSpPr>
          <p:cNvPr name="GraphCompose Inline Text Span" id="11"/>
          <p:cNvSpPr txBox="true"/>
          <p:nvPr/>
        </p:nvSpPr>
        <p:spPr>
          <a:xfrm>
            <a:off x="1617396" y="2885783"/>
            <a:ext cx="873074" cy="37955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Amiri"/>
              </a:rPr>
              <a:t>مرحبا بالعالم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28702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3"/>
          <p:cNvSpPr txBox="true"/>
          <p:nvPr/>
        </p:nvSpPr>
        <p:spPr>
          <a:xfrm>
            <a:off x="3073400" y="2428224"/>
            <a:ext cx="5517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Hebrew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3073400" y="2626564"/>
            <a:ext cx="71374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DAVID_LIBRE</a:t>
            </a:r>
            <a:endParaRPr lang="en-US" sz="1100"/>
          </a:p>
        </p:txBody>
      </p:sp>
      <p:sp>
        <p:nvSpPr>
          <p:cNvPr name="GraphCompose Inline Text Span" id="15"/>
          <p:cNvSpPr txBox="true"/>
          <p:nvPr/>
        </p:nvSpPr>
        <p:spPr>
          <a:xfrm>
            <a:off x="3765448" y="2885783"/>
            <a:ext cx="934822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 rtl="true"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cs typeface="David Libre"/>
              </a:rPr>
              <a:t>שלום עולם</a:t>
            </a:r>
            <a:endParaRPr lang="en-US" sz="1100"/>
          </a:p>
        </p:txBody>
      </p:sp>
      <p:sp>
        <p:nvSpPr>
          <p:cNvPr name="AutoShape 16" id="16"/>
          <p:cNvSpPr/>
          <p:nvPr/>
        </p:nvSpPr>
        <p:spPr>
          <a:xfrm>
            <a:off x="50800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17"/>
          <p:cNvSpPr txBox="true"/>
          <p:nvPr/>
        </p:nvSpPr>
        <p:spPr>
          <a:xfrm>
            <a:off x="5283200" y="2428224"/>
            <a:ext cx="670306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Georgian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52832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NOTO_SANS_GEORGIAN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5283200" y="2885783"/>
            <a:ext cx="1216139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Georgian"/>
              </a:rPr>
              <a:t>გამარჯობა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7289800" y="2253564"/>
            <a:ext cx="2032000" cy="1129043"/>
          </a:xfrm>
          <a:prstGeom prst="roundRect">
            <a:avLst>
              <a:gd name="adj" fmla="val 11248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1"/>
          <p:cNvSpPr txBox="true"/>
          <p:nvPr/>
        </p:nvSpPr>
        <p:spPr>
          <a:xfrm>
            <a:off x="7493000" y="2428224"/>
            <a:ext cx="704139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Armenian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7493000" y="2626564"/>
            <a:ext cx="116713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NOTO_SANS_ARMENIAN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7493000" y="2885783"/>
            <a:ext cx="1606702" cy="29362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latin typeface="Noto Sans Armenian"/>
              </a:rPr>
              <a:t>Բարև աշխարհ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9499600" y="2253564"/>
            <a:ext cx="2032000" cy="1051319"/>
          </a:xfrm>
          <a:prstGeom prst="roundRect">
            <a:avLst>
              <a:gd name="adj" fmla="val 12080"/>
            </a:avLst>
          </a:prstGeom>
          <a:solidFill>
            <a:srgbClr val="141A2F"/>
          </a:solidFill>
          <a:ln w="12700">
            <a:solidFill>
              <a:srgbClr val="303856"/>
            </a:solidFill>
          </a:ln>
        </p:spPr>
      </p:sp>
      <p:sp>
        <p:nvSpPr>
          <p:cNvPr name="GraphCompose Text Line" id="25"/>
          <p:cNvSpPr txBox="true"/>
          <p:nvPr/>
        </p:nvSpPr>
        <p:spPr>
          <a:xfrm>
            <a:off x="9702800" y="2428224"/>
            <a:ext cx="526288" cy="1409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true" i="false" u="none" strike="noStrike" kern="0">
                <a:solidFill>
                  <a:srgbClr val="F7F8FC"/>
                </a:solidFill>
                <a:latin typeface="Arial"/>
              </a:rPr>
              <a:t>Korean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9702800" y="2626564"/>
            <a:ext cx="584200" cy="8484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50" b="false" i="false" u="none" strike="noStrike" kern="0">
                <a:solidFill>
                  <a:srgbClr val="8C95AF"/>
                </a:solidFill>
                <a:latin typeface="Courier New"/>
              </a:rPr>
              <a:t>GOTHIC_A1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9702800" y="2885783"/>
            <a:ext cx="1038670" cy="2159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700" b="false" i="false" u="none" strike="noStrike" kern="0">
                <a:solidFill>
                  <a:srgbClr val="F2A844"/>
                </a:solidFill>
                <a:ea typeface="Gothic A1"/>
              </a:rPr>
              <a:t>안녕하세요</a:t>
            </a:r>
            <a:endParaRPr lang="en-US" sz="1100"/>
          </a:p>
        </p:txBody>
      </p:sp>
      <p:sp>
        <p:nvSpPr>
          <p:cNvPr name="AutoShape 28" id="28"/>
          <p:cNvSpPr/>
          <p:nvPr/>
        </p:nvSpPr>
        <p:spPr>
          <a:xfrm>
            <a:off x="660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29" id="29"/>
          <p:cNvCxnSpPr/>
          <p:nvPr/>
        </p:nvCxnSpPr>
        <p:spPr>
          <a:xfrm>
            <a:off x="660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0"/>
          <p:cNvSpPr txBox="true"/>
          <p:nvPr/>
        </p:nvSpPr>
        <p:spPr>
          <a:xfrm>
            <a:off x="863600" y="3869416"/>
            <a:ext cx="1973720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Ordered by the algorithm</a:t>
            </a:r>
            <a:endParaRPr lang="en-US" sz="1100"/>
          </a:p>
        </p:txBody>
      </p:sp>
      <p:sp>
        <p:nvSpPr>
          <p:cNvPr name="GraphCompose Text Line" id="31"/>
          <p:cNvSpPr txBox="true"/>
          <p:nvPr/>
        </p:nvSpPr>
        <p:spPr>
          <a:xfrm>
            <a:off x="863600" y="4115791"/>
            <a:ext cx="304505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Lines resolve through UAX #9, so a Latin word or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863600" y="4283113"/>
            <a:ext cx="3005938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 number inside Hebrew keeps running forwards</a:t>
            </a:r>
            <a:endParaRPr lang="en-US" sz="1100"/>
          </a:p>
        </p:txBody>
      </p:sp>
      <p:sp>
        <p:nvSpPr>
          <p:cNvPr name="GraphCompose Text Line" id="33"/>
          <p:cNvSpPr txBox="true"/>
          <p:nvPr/>
        </p:nvSpPr>
        <p:spPr>
          <a:xfrm>
            <a:off x="863600" y="4450436"/>
            <a:ext cx="286665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and paired punctuation faces what it encloses.</a:t>
            </a:r>
            <a:endParaRPr lang="en-US" sz="1100"/>
          </a:p>
        </p:txBody>
      </p:sp>
      <p:sp>
        <p:nvSpPr>
          <p:cNvPr name="AutoShape 34" id="34"/>
          <p:cNvSpPr/>
          <p:nvPr/>
        </p:nvSpPr>
        <p:spPr>
          <a:xfrm>
            <a:off x="4343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35" id="35"/>
          <p:cNvCxnSpPr/>
          <p:nvPr/>
        </p:nvCxnSpPr>
        <p:spPr>
          <a:xfrm>
            <a:off x="4343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36"/>
          <p:cNvSpPr txBox="true"/>
          <p:nvPr/>
        </p:nvSpPr>
        <p:spPr>
          <a:xfrm>
            <a:off x="4546600" y="3869416"/>
            <a:ext cx="1799539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Joined, then measured</a:t>
            </a:r>
            <a:endParaRPr lang="en-US" sz="1100"/>
          </a:p>
        </p:txBody>
      </p:sp>
      <p:sp>
        <p:nvSpPr>
          <p:cNvPr name="GraphCompose Text Line" id="37"/>
          <p:cNvSpPr txBox="true"/>
          <p:nvPr/>
        </p:nvSpPr>
        <p:spPr>
          <a:xfrm>
            <a:off x="4546600" y="4115791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Arabic is shaped into its contextual forms before</a:t>
            </a:r>
            <a:endParaRPr lang="en-US" sz="1100"/>
          </a:p>
        </p:txBody>
      </p:sp>
      <p:sp>
        <p:nvSpPr>
          <p:cNvPr name="GraphCompose Text Line" id="38"/>
          <p:cNvSpPr txBox="true"/>
          <p:nvPr/>
        </p:nvSpPr>
        <p:spPr>
          <a:xfrm>
            <a:off x="4546600" y="4283113"/>
            <a:ext cx="297506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the line is measured, so a column is sized to the</a:t>
            </a:r>
            <a:endParaRPr lang="en-US" sz="1100"/>
          </a:p>
        </p:txBody>
      </p:sp>
      <p:sp>
        <p:nvSpPr>
          <p:cNvPr name="GraphCompose Text Line" id="39"/>
          <p:cNvSpPr txBox="true"/>
          <p:nvPr/>
        </p:nvSpPr>
        <p:spPr>
          <a:xfrm>
            <a:off x="4546600" y="4450436"/>
            <a:ext cx="1926895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letters the page actually draws.</a:t>
            </a:r>
            <a:endParaRPr lang="en-US" sz="1100"/>
          </a:p>
        </p:txBody>
      </p:sp>
      <p:sp>
        <p:nvSpPr>
          <p:cNvPr name="AutoShape 40" id="40"/>
          <p:cNvSpPr/>
          <p:nvPr/>
        </p:nvSpPr>
        <p:spPr>
          <a:xfrm>
            <a:off x="8026400" y="3697135"/>
            <a:ext cx="3505200" cy="1111885"/>
          </a:xfrm>
          <a:prstGeom prst="roundRect">
            <a:avLst>
              <a:gd name="adj" fmla="val 11422"/>
            </a:avLst>
          </a:prstGeom>
          <a:solidFill>
            <a:srgbClr val="192038"/>
          </a:solidFill>
          <a:ln>
            <a:noFill/>
          </a:ln>
        </p:spPr>
      </p:sp>
      <p:cxnSp>
        <p:nvCxnSpPr>
          <p:cNvPr name="Connector 41" id="41"/>
          <p:cNvCxnSpPr/>
          <p:nvPr/>
        </p:nvCxnSpPr>
        <p:spPr>
          <a:xfrm>
            <a:off x="8026400" y="3697135"/>
            <a:ext cx="3505200" cy="0"/>
          </a:xfrm>
          <a:prstGeom prst="line">
            <a:avLst/>
          </a:prstGeom>
          <a:ln w="38100">
            <a:solidFill>
              <a:srgbClr val="E9972D"/>
            </a:solidFill>
          </a:ln>
        </p:spPr>
      </p:cxnSp>
      <p:sp>
        <p:nvSpPr>
          <p:cNvPr name="GraphCompose Text Line" id="42"/>
          <p:cNvSpPr txBox="true"/>
          <p:nvPr/>
        </p:nvSpPr>
        <p:spPr>
          <a:xfrm>
            <a:off x="8229600" y="3869416"/>
            <a:ext cx="2056435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7F8FC"/>
                </a:solidFill>
                <a:latin typeface="Arial"/>
              </a:rPr>
              <a:t>The same in three formats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8229600" y="4115791"/>
            <a:ext cx="2936227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PDF, PowerPoint and Word each get what their</a:t>
            </a:r>
            <a:endParaRPr lang="en-US" sz="1100"/>
          </a:p>
        </p:txBody>
      </p:sp>
      <p:sp>
        <p:nvSpPr>
          <p:cNvPr name="GraphCompose Text Line" id="44"/>
          <p:cNvSpPr txBox="true"/>
          <p:nvPr/>
        </p:nvSpPr>
        <p:spPr>
          <a:xfrm>
            <a:off x="8229600" y="4283113"/>
            <a:ext cx="2602624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own text engine needs — the document is</a:t>
            </a:r>
            <a:endParaRPr lang="en-US" sz="1100"/>
          </a:p>
        </p:txBody>
      </p:sp>
      <p:sp>
        <p:nvSpPr>
          <p:cNvPr name="GraphCompose Text Line" id="45"/>
          <p:cNvSpPr txBox="true"/>
          <p:nvPr/>
        </p:nvSpPr>
        <p:spPr>
          <a:xfrm>
            <a:off x="8229600" y="4450436"/>
            <a:ext cx="933209" cy="129222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8C95AF"/>
                </a:solidFill>
                <a:latin typeface="Arial"/>
              </a:rPr>
              <a:t>authored once.</a:t>
            </a:r>
            <a:endParaRPr lang="en-US" sz="1100"/>
          </a:p>
        </p:txBody>
      </p:sp>
      <p:sp>
        <p:nvSpPr>
          <p:cNvPr name="GraphCompose Text Line" id="46"/>
          <p:cNvSpPr txBox="true"/>
          <p:nvPr/>
        </p:nvSpPr>
        <p:spPr>
          <a:xfrm>
            <a:off x="660400" y="5040426"/>
            <a:ext cx="8329981" cy="11160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68728E"/>
                </a:solidFill>
                <a:latin typeface="Arial"/>
              </a:rPr>
              <a:t>Each card names its FontName constant. Every word of Hebrew and Arabic above was laid out by the engine that drew this page — no image is embedded.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creator>GraphCompose</dc:creator>
  <cp:keywords>graphcompose, java, maven central, pdf, pptx, document engine</cp:keywords>
  <dcterms:modified xsi:type="dcterms:W3CDTF">2011-08-01T06:04:30Z</dcterms:modified>
  <cp:revision>1</cp:revision>
  <dc:subject>Declarative document generation for Java — one model, PDF and PPTX outputs</dc:subject>
  <dc:title>GraphCompose — available on Maven Central</dc:title>
</cp:coreProperties>
</file>