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2192000" cy="6858000"/>
  <p:notesSz cx="6858000" cy="9144000"/>
  <p:embeddedFontLst>
    <p:embeddedFont>
      <p:font typeface="Amiri"/>
      <p:regular r:id="rId11"/>
    </p:embeddedFont>
    <p:embeddedFont>
      <p:font typeface="David Libre"/>
      <p:regular r:id="rId12"/>
    </p:embeddedFont>
    <p:embeddedFont>
      <p:font typeface="Noto Sans Georgian"/>
      <p:regular r:id="rId13"/>
    </p:embeddedFont>
    <p:embeddedFont>
      <p:font typeface="Noto Sans Armenian"/>
      <p:regular r:id="rId14"/>
    </p:embeddedFont>
    <p:embeddedFont>
      <p:font typeface="Gothic A1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.fntdata" Type="http://schemas.openxmlformats.org/officeDocument/2006/relationships/font"/><Relationship Id="rId12" Target="fonts/font2.fntdata" Type="http://schemas.openxmlformats.org/officeDocument/2006/relationships/font"/><Relationship Id="rId13" Target="fonts/font3.fntdata" Type="http://schemas.openxmlformats.org/officeDocument/2006/relationships/font"/><Relationship Id="rId14" Target="fonts/font4.fntdata" Type="http://schemas.openxmlformats.org/officeDocument/2006/relationships/font"/><Relationship Id="rId15" Target="fonts/font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1121"/>
              </a:gs>
              <a:gs pos="60000">
                <a:srgbClr val="0F1427"/>
              </a:gs>
              <a:gs pos="100000">
                <a:srgbClr val="12172C"/>
              </a:gs>
            </a:gsLst>
            <a:lin ang="2052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763000" y="-1524000"/>
            <a:ext cx="4572000" cy="4572000"/>
          </a:xfrm>
          <a:prstGeom prst="ellipse">
            <a:avLst/>
          </a:prstGeom>
          <a:solidFill>
            <a:srgbClr val="E9972D">
              <a:alpha val="5882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655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655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655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55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655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655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655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655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655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655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655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693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693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693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693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693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693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693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693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693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693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6" id="26"/>
          <p:cNvSpPr/>
          <p:nvPr/>
        </p:nvSpPr>
        <p:spPr>
          <a:xfrm>
            <a:off x="693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7" id="27"/>
          <p:cNvSpPr/>
          <p:nvPr/>
        </p:nvSpPr>
        <p:spPr>
          <a:xfrm>
            <a:off x="731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8" id="28"/>
          <p:cNvSpPr/>
          <p:nvPr/>
        </p:nvSpPr>
        <p:spPr>
          <a:xfrm>
            <a:off x="731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9" id="29"/>
          <p:cNvSpPr/>
          <p:nvPr/>
        </p:nvSpPr>
        <p:spPr>
          <a:xfrm>
            <a:off x="731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0" id="30"/>
          <p:cNvSpPr/>
          <p:nvPr/>
        </p:nvSpPr>
        <p:spPr>
          <a:xfrm>
            <a:off x="731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1" id="31"/>
          <p:cNvSpPr/>
          <p:nvPr/>
        </p:nvSpPr>
        <p:spPr>
          <a:xfrm>
            <a:off x="731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731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731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731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731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731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731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69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69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769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1" id="41"/>
          <p:cNvSpPr/>
          <p:nvPr/>
        </p:nvSpPr>
        <p:spPr>
          <a:xfrm>
            <a:off x="769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769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769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769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769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769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769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769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9" id="49"/>
          <p:cNvSpPr/>
          <p:nvPr/>
        </p:nvSpPr>
        <p:spPr>
          <a:xfrm>
            <a:off x="8077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0" id="50"/>
          <p:cNvSpPr/>
          <p:nvPr/>
        </p:nvSpPr>
        <p:spPr>
          <a:xfrm>
            <a:off x="8077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8077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8077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8077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8077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8077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6" id="56"/>
          <p:cNvSpPr/>
          <p:nvPr/>
        </p:nvSpPr>
        <p:spPr>
          <a:xfrm>
            <a:off x="8077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8077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8077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8077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8458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8458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2" id="62"/>
          <p:cNvSpPr/>
          <p:nvPr/>
        </p:nvSpPr>
        <p:spPr>
          <a:xfrm>
            <a:off x="8458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8458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8458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8458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8458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8458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8458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8458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8458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8839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8839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8839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4" id="74"/>
          <p:cNvSpPr/>
          <p:nvPr/>
        </p:nvSpPr>
        <p:spPr>
          <a:xfrm>
            <a:off x="8839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8839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6" id="76"/>
          <p:cNvSpPr/>
          <p:nvPr/>
        </p:nvSpPr>
        <p:spPr>
          <a:xfrm>
            <a:off x="8839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8839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8" id="78"/>
          <p:cNvSpPr/>
          <p:nvPr/>
        </p:nvSpPr>
        <p:spPr>
          <a:xfrm>
            <a:off x="8839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8839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0" id="80"/>
          <p:cNvSpPr/>
          <p:nvPr/>
        </p:nvSpPr>
        <p:spPr>
          <a:xfrm>
            <a:off x="8839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8839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9220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9220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9220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9220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9220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9220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9220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9220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9220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9220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9220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9601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9601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9601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9601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9601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9601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9601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9601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9601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9601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9601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9982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9982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9982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9982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9982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9982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9982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9982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9982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3" id="113"/>
          <p:cNvSpPr/>
          <p:nvPr/>
        </p:nvSpPr>
        <p:spPr>
          <a:xfrm>
            <a:off x="9982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4" id="114"/>
          <p:cNvSpPr/>
          <p:nvPr/>
        </p:nvSpPr>
        <p:spPr>
          <a:xfrm>
            <a:off x="9982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1036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6" id="116"/>
          <p:cNvSpPr/>
          <p:nvPr/>
        </p:nvSpPr>
        <p:spPr>
          <a:xfrm>
            <a:off x="1036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7" id="117"/>
          <p:cNvSpPr/>
          <p:nvPr/>
        </p:nvSpPr>
        <p:spPr>
          <a:xfrm>
            <a:off x="1036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1036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1036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0" id="120"/>
          <p:cNvSpPr/>
          <p:nvPr/>
        </p:nvSpPr>
        <p:spPr>
          <a:xfrm>
            <a:off x="1036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1" id="121"/>
          <p:cNvSpPr/>
          <p:nvPr/>
        </p:nvSpPr>
        <p:spPr>
          <a:xfrm>
            <a:off x="1036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2" id="122"/>
          <p:cNvSpPr/>
          <p:nvPr/>
        </p:nvSpPr>
        <p:spPr>
          <a:xfrm>
            <a:off x="1036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3" id="123"/>
          <p:cNvSpPr/>
          <p:nvPr/>
        </p:nvSpPr>
        <p:spPr>
          <a:xfrm>
            <a:off x="1036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4" id="124"/>
          <p:cNvSpPr/>
          <p:nvPr/>
        </p:nvSpPr>
        <p:spPr>
          <a:xfrm>
            <a:off x="1036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5" id="125"/>
          <p:cNvSpPr/>
          <p:nvPr/>
        </p:nvSpPr>
        <p:spPr>
          <a:xfrm>
            <a:off x="1036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6" id="126"/>
          <p:cNvSpPr/>
          <p:nvPr/>
        </p:nvSpPr>
        <p:spPr>
          <a:xfrm>
            <a:off x="1074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7" id="127"/>
          <p:cNvSpPr/>
          <p:nvPr/>
        </p:nvSpPr>
        <p:spPr>
          <a:xfrm>
            <a:off x="1074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8" id="128"/>
          <p:cNvSpPr/>
          <p:nvPr/>
        </p:nvSpPr>
        <p:spPr>
          <a:xfrm>
            <a:off x="1074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9" id="129"/>
          <p:cNvSpPr/>
          <p:nvPr/>
        </p:nvSpPr>
        <p:spPr>
          <a:xfrm>
            <a:off x="1074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0" id="130"/>
          <p:cNvSpPr/>
          <p:nvPr/>
        </p:nvSpPr>
        <p:spPr>
          <a:xfrm>
            <a:off x="1074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1" id="131"/>
          <p:cNvSpPr/>
          <p:nvPr/>
        </p:nvSpPr>
        <p:spPr>
          <a:xfrm>
            <a:off x="1074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2" id="132"/>
          <p:cNvSpPr/>
          <p:nvPr/>
        </p:nvSpPr>
        <p:spPr>
          <a:xfrm>
            <a:off x="1074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3" id="133"/>
          <p:cNvSpPr/>
          <p:nvPr/>
        </p:nvSpPr>
        <p:spPr>
          <a:xfrm>
            <a:off x="1074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4" id="134"/>
          <p:cNvSpPr/>
          <p:nvPr/>
        </p:nvSpPr>
        <p:spPr>
          <a:xfrm>
            <a:off x="1074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74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074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12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1112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9" id="139"/>
          <p:cNvSpPr/>
          <p:nvPr/>
        </p:nvSpPr>
        <p:spPr>
          <a:xfrm>
            <a:off x="1112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0" id="140"/>
          <p:cNvSpPr/>
          <p:nvPr/>
        </p:nvSpPr>
        <p:spPr>
          <a:xfrm>
            <a:off x="1112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1112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2" id="142"/>
          <p:cNvSpPr/>
          <p:nvPr/>
        </p:nvSpPr>
        <p:spPr>
          <a:xfrm>
            <a:off x="1112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112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112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112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112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1112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8" id="148"/>
          <p:cNvSpPr/>
          <p:nvPr/>
        </p:nvSpPr>
        <p:spPr>
          <a:xfrm>
            <a:off x="1150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150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0" id="150"/>
          <p:cNvSpPr/>
          <p:nvPr/>
        </p:nvSpPr>
        <p:spPr>
          <a:xfrm>
            <a:off x="1150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1" id="151"/>
          <p:cNvSpPr/>
          <p:nvPr/>
        </p:nvSpPr>
        <p:spPr>
          <a:xfrm>
            <a:off x="1150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150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3" id="153"/>
          <p:cNvSpPr/>
          <p:nvPr/>
        </p:nvSpPr>
        <p:spPr>
          <a:xfrm>
            <a:off x="1150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4" id="154"/>
          <p:cNvSpPr/>
          <p:nvPr/>
        </p:nvSpPr>
        <p:spPr>
          <a:xfrm>
            <a:off x="1150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1150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6" id="156"/>
          <p:cNvSpPr/>
          <p:nvPr/>
        </p:nvSpPr>
        <p:spPr>
          <a:xfrm>
            <a:off x="1150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7" id="157"/>
          <p:cNvSpPr/>
          <p:nvPr/>
        </p:nvSpPr>
        <p:spPr>
          <a:xfrm>
            <a:off x="1150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1150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9" id="159"/>
          <p:cNvSpPr/>
          <p:nvPr/>
        </p:nvSpPr>
        <p:spPr>
          <a:xfrm>
            <a:off x="11455400" y="2794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0" id="160"/>
          <p:cNvSpPr/>
          <p:nvPr/>
        </p:nvSpPr>
        <p:spPr>
          <a:xfrm>
            <a:off x="11455400" y="2794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1" id="161"/>
          <p:cNvSpPr/>
          <p:nvPr/>
        </p:nvSpPr>
        <p:spPr>
          <a:xfrm>
            <a:off x="11963400" y="2794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279400" y="60452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279400" y="65532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279400" y="60452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5" id="165"/>
          <p:cNvSpPr/>
          <p:nvPr/>
        </p:nvSpPr>
        <p:spPr>
          <a:xfrm>
            <a:off x="660400" y="584200"/>
            <a:ext cx="3098800" cy="431800"/>
          </a:xfrm>
          <a:prstGeom prst="roundRect">
            <a:avLst>
              <a:gd name="adj" fmla="val 50000"/>
            </a:avLst>
          </a:prstGeom>
          <a:solidFill>
            <a:srgbClr val="141A2F"/>
          </a:solidFill>
          <a:ln w="12700">
            <a:solidFill>
              <a:srgbClr val="E9972D">
                <a:alpha val="50196"/>
              </a:srgbClr>
            </a:solidFill>
          </a:ln>
        </p:spPr>
      </p:sp>
      <p:sp>
        <p:nvSpPr>
          <p:cNvPr name="AutoShape 166" id="166"/>
          <p:cNvSpPr/>
          <p:nvPr/>
        </p:nvSpPr>
        <p:spPr>
          <a:xfrm>
            <a:off x="762000" y="673100"/>
            <a:ext cx="254000" cy="254000"/>
          </a:xfrm>
          <a:prstGeom prst="roundRect">
            <a:avLst>
              <a:gd name="adj" fmla="val 30000"/>
            </a:avLst>
          </a:prstGeom>
          <a:solidFill>
            <a:srgbClr val="E9972D"/>
          </a:solidFill>
          <a:ln>
            <a:noFill/>
          </a:ln>
        </p:spPr>
      </p:sp>
      <p:pic>
        <p:nvPicPr>
          <p:cNvPr name="GraphCompose Clipped Composite" id="16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704850"/>
            <a:ext cx="190500" cy="190500"/>
          </a:xfrm>
          <a:prstGeom prst="rect">
            <a:avLst/>
          </a:prstGeom>
        </p:spPr>
      </p:pic>
      <p:sp>
        <p:nvSpPr>
          <p:cNvPr name="GraphCompose Text Line" id="168"/>
          <p:cNvSpPr txBox="true"/>
          <p:nvPr/>
        </p:nvSpPr>
        <p:spPr>
          <a:xfrm>
            <a:off x="1117600" y="724342"/>
            <a:ext cx="19824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AVAILABLE ON MAVEN CENTRAL</a:t>
            </a:r>
            <a:endParaRPr lang="en-US" sz="1100"/>
          </a:p>
        </p:txBody>
      </p:sp>
      <p:sp>
        <p:nvSpPr>
          <p:cNvPr name="GraphCompose Text Line" id="169"/>
          <p:cNvSpPr txBox="true"/>
          <p:nvPr/>
        </p:nvSpPr>
        <p:spPr>
          <a:xfrm>
            <a:off x="635000" y="1076498"/>
            <a:ext cx="5717032" cy="7048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0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70" id="170"/>
          <p:cNvSpPr/>
          <p:nvPr/>
        </p:nvSpPr>
        <p:spPr>
          <a:xfrm>
            <a:off x="698500" y="2260600"/>
            <a:ext cx="990600" cy="635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171"/>
          <p:cNvSpPr txBox="true"/>
          <p:nvPr/>
        </p:nvSpPr>
        <p:spPr>
          <a:xfrm>
            <a:off x="660400" y="2440443"/>
            <a:ext cx="4819828" cy="2408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50" b="false" i="false" u="none" strike="noStrike" kern="0">
                <a:solidFill>
                  <a:srgbClr val="CED4E6"/>
                </a:solidFill>
                <a:latin typeface="Arial"/>
              </a:rPr>
              <a:t>Declarative document generation for Java</a:t>
            </a:r>
            <a:endParaRPr lang="en-US" sz="1100"/>
          </a:p>
        </p:txBody>
      </p:sp>
      <p:sp>
        <p:nvSpPr>
          <p:cNvPr name="AutoShape 172" id="172"/>
          <p:cNvSpPr/>
          <p:nvPr/>
        </p:nvSpPr>
        <p:spPr>
          <a:xfrm>
            <a:off x="660400" y="3175000"/>
            <a:ext cx="5537200" cy="838200"/>
          </a:xfrm>
          <a:prstGeom prst="roundRect">
            <a:avLst>
              <a:gd name="adj" fmla="val 18182"/>
            </a:avLst>
          </a:prstGeom>
          <a:solidFill>
            <a:srgbClr val="10152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3"/>
          <p:cNvSpPr txBox="true"/>
          <p:nvPr/>
        </p:nvSpPr>
        <p:spPr>
          <a:xfrm>
            <a:off x="939800" y="3331851"/>
            <a:ext cx="3536950" cy="14474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F7F8FC"/>
                </a:solidFill>
                <a:latin typeface="Courier New"/>
              </a:rPr>
              <a:t>io.github.demchaav:graph-compose</a:t>
            </a:r>
            <a:endParaRPr lang="en-US" sz="1100"/>
          </a:p>
        </p:txBody>
      </p:sp>
      <p:sp>
        <p:nvSpPr>
          <p:cNvPr name="GraphCompose Text Line" id="174"/>
          <p:cNvSpPr txBox="true"/>
          <p:nvPr/>
        </p:nvSpPr>
        <p:spPr>
          <a:xfrm>
            <a:off x="939800" y="3664503"/>
            <a:ext cx="572770" cy="12477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E9972D"/>
                </a:solidFill>
                <a:latin typeface="Courier New"/>
              </a:rPr>
              <a:t>v2.2.1</a:t>
            </a:r>
            <a:endParaRPr lang="en-US" sz="1100"/>
          </a:p>
        </p:txBody>
      </p:sp>
      <p:sp>
        <p:nvSpPr>
          <p:cNvPr name="AutoShape 175" id="175"/>
          <p:cNvSpPr/>
          <p:nvPr/>
        </p:nvSpPr>
        <p:spPr>
          <a:xfrm>
            <a:off x="660400" y="4368800"/>
            <a:ext cx="1066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6"/>
          <p:cNvSpPr txBox="true"/>
          <p:nvPr/>
        </p:nvSpPr>
        <p:spPr>
          <a:xfrm>
            <a:off x="889000" y="4483542"/>
            <a:ext cx="610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JAVA 17+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1866900" y="4368800"/>
            <a:ext cx="685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8"/>
          <p:cNvSpPr txBox="true"/>
          <p:nvPr/>
        </p:nvSpPr>
        <p:spPr>
          <a:xfrm>
            <a:off x="2095500" y="4483542"/>
            <a:ext cx="229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2692400" y="4368800"/>
            <a:ext cx="787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0"/>
          <p:cNvSpPr txBox="true"/>
          <p:nvPr/>
        </p:nvSpPr>
        <p:spPr>
          <a:xfrm>
            <a:off x="2933700" y="4483542"/>
            <a:ext cx="3060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AutoShape 181" id="181"/>
          <p:cNvSpPr/>
          <p:nvPr/>
        </p:nvSpPr>
        <p:spPr>
          <a:xfrm>
            <a:off x="3619500" y="4368800"/>
            <a:ext cx="1930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2"/>
          <p:cNvSpPr txBox="true"/>
          <p:nvPr/>
        </p:nvSpPr>
        <p:spPr>
          <a:xfrm>
            <a:off x="4013200" y="4483542"/>
            <a:ext cx="11442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AUTO-PAGINATION</a:t>
            </a:r>
            <a:endParaRPr lang="en-US" sz="1100"/>
          </a:p>
        </p:txBody>
      </p:sp>
      <p:sp>
        <p:nvSpPr>
          <p:cNvPr name="GraphCompose Inline Text Span" id="183"/>
          <p:cNvSpPr txBox="true"/>
          <p:nvPr/>
        </p:nvSpPr>
        <p:spPr>
          <a:xfrm>
            <a:off x="660400" y="5545189"/>
            <a:ext cx="572770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Code</a:t>
            </a:r>
            <a:endParaRPr lang="en-US" sz="1100"/>
          </a:p>
        </p:txBody>
      </p:sp>
      <p:sp>
        <p:nvSpPr>
          <p:cNvPr name="GraphCompose Inline Text Span" id="184"/>
          <p:cNvSpPr txBox="true"/>
          <p:nvPr/>
        </p:nvSpPr>
        <p:spPr>
          <a:xfrm>
            <a:off x="123190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5"/>
          <p:cNvSpPr txBox="true"/>
          <p:nvPr/>
        </p:nvSpPr>
        <p:spPr>
          <a:xfrm>
            <a:off x="142255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86"/>
          <p:cNvSpPr txBox="true"/>
          <p:nvPr/>
        </p:nvSpPr>
        <p:spPr>
          <a:xfrm>
            <a:off x="148176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7"/>
          <p:cNvSpPr txBox="true"/>
          <p:nvPr/>
        </p:nvSpPr>
        <p:spPr>
          <a:xfrm>
            <a:off x="1672412" y="5545189"/>
            <a:ext cx="67449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GraphCompose Inline Text Span" id="188"/>
          <p:cNvSpPr txBox="true"/>
          <p:nvPr/>
        </p:nvSpPr>
        <p:spPr>
          <a:xfrm>
            <a:off x="234563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9"/>
          <p:cNvSpPr txBox="true"/>
          <p:nvPr/>
        </p:nvSpPr>
        <p:spPr>
          <a:xfrm>
            <a:off x="253629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90"/>
          <p:cNvSpPr txBox="true"/>
          <p:nvPr/>
        </p:nvSpPr>
        <p:spPr>
          <a:xfrm>
            <a:off x="259549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91"/>
          <p:cNvSpPr txBox="true"/>
          <p:nvPr/>
        </p:nvSpPr>
        <p:spPr>
          <a:xfrm>
            <a:off x="2786151" y="5545189"/>
            <a:ext cx="8777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finished</a:t>
            </a:r>
            <a:endParaRPr lang="en-US" sz="1100"/>
          </a:p>
        </p:txBody>
      </p:sp>
      <p:sp>
        <p:nvSpPr>
          <p:cNvPr name="GraphCompose Inline Text Span" id="192"/>
          <p:cNvSpPr txBox="true"/>
          <p:nvPr/>
        </p:nvSpPr>
        <p:spPr>
          <a:xfrm>
            <a:off x="3662604" y="5545189"/>
            <a:ext cx="648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93"/>
          <p:cNvSpPr txBox="true"/>
          <p:nvPr/>
        </p:nvSpPr>
        <p:spPr>
          <a:xfrm>
            <a:off x="3726155" y="5545189"/>
            <a:ext cx="10935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Text Line" id="194"/>
          <p:cNvSpPr txBox="true"/>
          <p:nvPr/>
        </p:nvSpPr>
        <p:spPr>
          <a:xfrm>
            <a:off x="660400" y="6017849"/>
            <a:ext cx="2631046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68728E"/>
                </a:solidFill>
                <a:latin typeface="Arial"/>
              </a:rPr>
              <a:t>Open-source Java library  ·  MIT License</a:t>
            </a:r>
            <a:endParaRPr lang="en-US" sz="1100"/>
          </a:p>
        </p:txBody>
      </p:sp>
      <p:sp>
        <p:nvSpPr>
          <p:cNvPr name="AutoShape 195" id="195"/>
          <p:cNvSpPr/>
          <p:nvPr/>
        </p:nvSpPr>
        <p:spPr>
          <a:xfrm>
            <a:off x="6604000" y="1498600"/>
            <a:ext cx="1422400" cy="1930400"/>
          </a:xfrm>
          <a:prstGeom prst="roundRect">
            <a:avLst>
              <a:gd name="adj" fmla="val 10714"/>
            </a:avLst>
          </a:prstGeom>
          <a:solidFill>
            <a:srgbClr val="19203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6"/>
          <p:cNvSpPr txBox="true"/>
          <p:nvPr/>
        </p:nvSpPr>
        <p:spPr>
          <a:xfrm>
            <a:off x="6781800" y="1641730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8C95AF"/>
                </a:solidFill>
                <a:latin typeface="Courier New"/>
              </a:rPr>
              <a:t>JAVA</a:t>
            </a:r>
            <a:endParaRPr lang="en-US" sz="1100"/>
          </a:p>
        </p:txBody>
      </p:sp>
      <p:sp>
        <p:nvSpPr>
          <p:cNvPr name="AutoShape 197" id="197"/>
          <p:cNvSpPr/>
          <p:nvPr/>
        </p:nvSpPr>
        <p:spPr>
          <a:xfrm>
            <a:off x="6781800" y="1892300"/>
            <a:ext cx="1066800" cy="12700"/>
          </a:xfrm>
          <a:prstGeom prst="rect">
            <a:avLst/>
          </a:prstGeom>
          <a:solidFill>
            <a:srgbClr val="303856"/>
          </a:solidFill>
          <a:ln>
            <a:noFill/>
          </a:ln>
        </p:spPr>
      </p:sp>
      <p:sp>
        <p:nvSpPr>
          <p:cNvPr name="GraphCompose Inline Text Span" id="198"/>
          <p:cNvSpPr txBox="true"/>
          <p:nvPr/>
        </p:nvSpPr>
        <p:spPr>
          <a:xfrm>
            <a:off x="6781800" y="2024103"/>
            <a:ext cx="8507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Inline Text Span" id="199"/>
          <p:cNvSpPr txBox="true"/>
          <p:nvPr/>
        </p:nvSpPr>
        <p:spPr>
          <a:xfrm>
            <a:off x="763132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0"/>
          <p:cNvSpPr txBox="true"/>
          <p:nvPr/>
        </p:nvSpPr>
        <p:spPr>
          <a:xfrm>
            <a:off x="769990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1"/>
          <p:cNvSpPr txBox="true"/>
          <p:nvPr/>
        </p:nvSpPr>
        <p:spPr>
          <a:xfrm>
            <a:off x="6934200" y="2240003"/>
            <a:ext cx="6335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column</a:t>
            </a:r>
            <a:endParaRPr lang="en-US" sz="1100"/>
          </a:p>
        </p:txBody>
      </p:sp>
      <p:sp>
        <p:nvSpPr>
          <p:cNvPr name="GraphCompose Inline Text Span" id="202"/>
          <p:cNvSpPr txBox="true"/>
          <p:nvPr/>
        </p:nvSpPr>
        <p:spPr>
          <a:xfrm>
            <a:off x="756645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3"/>
          <p:cNvSpPr txBox="true"/>
          <p:nvPr/>
        </p:nvSpPr>
        <p:spPr>
          <a:xfrm>
            <a:off x="763503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4"/>
          <p:cNvSpPr txBox="true"/>
          <p:nvPr/>
        </p:nvSpPr>
        <p:spPr>
          <a:xfrm>
            <a:off x="7086600" y="2455903"/>
            <a:ext cx="3173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text</a:t>
            </a:r>
            <a:endParaRPr lang="en-US" sz="1100"/>
          </a:p>
        </p:txBody>
      </p:sp>
      <p:sp>
        <p:nvSpPr>
          <p:cNvPr name="GraphCompose Inline Text Span" id="205"/>
          <p:cNvSpPr txBox="true"/>
          <p:nvPr/>
        </p:nvSpPr>
        <p:spPr>
          <a:xfrm>
            <a:off x="7402728" y="25217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Inline Text Span" id="206"/>
          <p:cNvSpPr txBox="true"/>
          <p:nvPr/>
        </p:nvSpPr>
        <p:spPr>
          <a:xfrm>
            <a:off x="7086600" y="2671803"/>
            <a:ext cx="41625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table</a:t>
            </a:r>
            <a:endParaRPr lang="en-US" sz="1100"/>
          </a:p>
        </p:txBody>
      </p:sp>
      <p:sp>
        <p:nvSpPr>
          <p:cNvPr name="GraphCompose Inline Text Span" id="207"/>
          <p:cNvSpPr txBox="true"/>
          <p:nvPr/>
        </p:nvSpPr>
        <p:spPr>
          <a:xfrm>
            <a:off x="7501585" y="27376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Text Line" id="208"/>
          <p:cNvSpPr txBox="true"/>
          <p:nvPr/>
        </p:nvSpPr>
        <p:spPr>
          <a:xfrm>
            <a:off x="6934200" y="28877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GraphCompose Text Line" id="209"/>
          <p:cNvSpPr txBox="true"/>
          <p:nvPr/>
        </p:nvSpPr>
        <p:spPr>
          <a:xfrm>
            <a:off x="6781800" y="31036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AutoShape 210" id="210"/>
          <p:cNvSpPr/>
          <p:nvPr/>
        </p:nvSpPr>
        <p:spPr>
          <a:xfrm>
            <a:off x="8077200" y="2540000"/>
            <a:ext cx="7112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1" id="211"/>
          <p:cNvSpPr/>
          <p:nvPr/>
        </p:nvSpPr>
        <p:spPr>
          <a:xfrm>
            <a:off x="2147483647" y="-1412748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2" id="212"/>
          <p:cNvSpPr/>
          <p:nvPr/>
        </p:nvSpPr>
        <p:spPr>
          <a:xfrm>
            <a:off x="10388600" y="2540000"/>
            <a:ext cx="2413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3" id="213"/>
          <p:cNvSpPr/>
          <p:nvPr/>
        </p:nvSpPr>
        <p:spPr>
          <a:xfrm>
            <a:off x="10617200" y="1663700"/>
            <a:ext cx="25400" cy="2844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4" id="214"/>
          <p:cNvSpPr/>
          <p:nvPr/>
        </p:nvSpPr>
        <p:spPr>
          <a:xfrm>
            <a:off x="10617200" y="16637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5" id="215"/>
          <p:cNvSpPr/>
          <p:nvPr/>
        </p:nvSpPr>
        <p:spPr>
          <a:xfrm>
            <a:off x="10617200" y="44831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6" id="216"/>
          <p:cNvSpPr/>
          <p:nvPr/>
        </p:nvSpPr>
        <p:spPr>
          <a:xfrm>
            <a:off x="2147483647" y="-939546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Freeform 217" id="217"/>
          <p:cNvSpPr/>
          <p:nvPr/>
        </p:nvSpPr>
        <p:spPr>
          <a:xfrm>
            <a:off x="2147483647" y="-2147483648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8" id="218"/>
          <p:cNvSpPr/>
          <p:nvPr/>
        </p:nvSpPr>
        <p:spPr>
          <a:xfrm>
            <a:off x="8890000" y="1905000"/>
            <a:ext cx="1498600" cy="1295400"/>
          </a:xfrm>
          <a:prstGeom prst="roundRect">
            <a:avLst>
              <a:gd name="adj" fmla="val 13725"/>
            </a:avLst>
          </a:prstGeom>
          <a:solidFill>
            <a:srgbClr val="192038"/>
          </a:solidFill>
          <a:ln w="17780">
            <a:solidFill>
              <a:srgbClr val="E9972D"/>
            </a:solidFill>
          </a:ln>
        </p:spPr>
      </p:sp>
      <p:sp>
        <p:nvSpPr>
          <p:cNvPr name="AutoShape 219" id="219"/>
          <p:cNvSpPr/>
          <p:nvPr/>
        </p:nvSpPr>
        <p:spPr>
          <a:xfrm>
            <a:off x="9232900" y="2184400"/>
            <a:ext cx="812800" cy="1524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0" id="220"/>
          <p:cNvSpPr/>
          <p:nvPr/>
        </p:nvSpPr>
        <p:spPr>
          <a:xfrm>
            <a:off x="92329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AutoShape 221" id="221"/>
          <p:cNvSpPr/>
          <p:nvPr/>
        </p:nvSpPr>
        <p:spPr>
          <a:xfrm>
            <a:off x="96901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GraphCompose Text Line" id="222"/>
          <p:cNvSpPr txBox="true"/>
          <p:nvPr/>
        </p:nvSpPr>
        <p:spPr>
          <a:xfrm>
            <a:off x="9433560" y="2909498"/>
            <a:ext cx="4127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CED4E6"/>
                </a:solidFill>
                <a:latin typeface="Courier New"/>
              </a:rPr>
              <a:t>LAYOUT</a:t>
            </a:r>
            <a:endParaRPr lang="en-US" sz="1100"/>
          </a:p>
        </p:txBody>
      </p:sp>
      <p:sp>
        <p:nvSpPr>
          <p:cNvPr name="AutoShape 223" id="223"/>
          <p:cNvSpPr/>
          <p:nvPr/>
        </p:nvSpPr>
        <p:spPr>
          <a:xfrm>
            <a:off x="10896600" y="9398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24" id="224"/>
          <p:cNvSpPr/>
          <p:nvPr/>
        </p:nvSpPr>
        <p:spPr>
          <a:xfrm>
            <a:off x="11074400" y="11684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25" id="225"/>
          <p:cNvSpPr/>
          <p:nvPr/>
        </p:nvSpPr>
        <p:spPr>
          <a:xfrm>
            <a:off x="11074400" y="14478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6" id="226"/>
          <p:cNvSpPr/>
          <p:nvPr/>
        </p:nvSpPr>
        <p:spPr>
          <a:xfrm>
            <a:off x="11074400" y="16510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7" id="227"/>
          <p:cNvSpPr/>
          <p:nvPr/>
        </p:nvSpPr>
        <p:spPr>
          <a:xfrm>
            <a:off x="11074400" y="1803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8" id="228"/>
          <p:cNvSpPr/>
          <p:nvPr/>
        </p:nvSpPr>
        <p:spPr>
          <a:xfrm>
            <a:off x="11074400" y="1955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9" id="229"/>
          <p:cNvSpPr/>
          <p:nvPr/>
        </p:nvSpPr>
        <p:spPr>
          <a:xfrm>
            <a:off x="11074400" y="21082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0" id="230"/>
          <p:cNvSpPr/>
          <p:nvPr/>
        </p:nvSpPr>
        <p:spPr>
          <a:xfrm>
            <a:off x="11557000" y="1054100"/>
            <a:ext cx="406400" cy="203200"/>
          </a:xfrm>
          <a:prstGeom prst="roundRect">
            <a:avLst>
              <a:gd name="adj" fmla="val 3125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31"/>
          <p:cNvSpPr txBox="true"/>
          <p:nvPr/>
        </p:nvSpPr>
        <p:spPr>
          <a:xfrm>
            <a:off x="11674475" y="1098882"/>
            <a:ext cx="1727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232" id="232"/>
          <p:cNvSpPr/>
          <p:nvPr/>
        </p:nvSpPr>
        <p:spPr>
          <a:xfrm>
            <a:off x="10896600" y="37592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33" id="233"/>
          <p:cNvSpPr/>
          <p:nvPr/>
        </p:nvSpPr>
        <p:spPr>
          <a:xfrm>
            <a:off x="11074400" y="39878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34" id="234"/>
          <p:cNvSpPr/>
          <p:nvPr/>
        </p:nvSpPr>
        <p:spPr>
          <a:xfrm>
            <a:off x="11074400" y="42672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35" id="235"/>
          <p:cNvSpPr/>
          <p:nvPr/>
        </p:nvSpPr>
        <p:spPr>
          <a:xfrm>
            <a:off x="11074400" y="4470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6" id="236"/>
          <p:cNvSpPr/>
          <p:nvPr/>
        </p:nvSpPr>
        <p:spPr>
          <a:xfrm>
            <a:off x="11074400" y="4622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7" id="237"/>
          <p:cNvSpPr/>
          <p:nvPr/>
        </p:nvSpPr>
        <p:spPr>
          <a:xfrm>
            <a:off x="11074400" y="47752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8" id="238"/>
          <p:cNvSpPr/>
          <p:nvPr/>
        </p:nvSpPr>
        <p:spPr>
          <a:xfrm>
            <a:off x="11074400" y="49276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9" id="239"/>
          <p:cNvSpPr/>
          <p:nvPr/>
        </p:nvSpPr>
        <p:spPr>
          <a:xfrm>
            <a:off x="11480800" y="3873500"/>
            <a:ext cx="482600" cy="203200"/>
          </a:xfrm>
          <a:prstGeom prst="roundRect">
            <a:avLst>
              <a:gd name="adj" fmla="val 31250"/>
            </a:avLst>
          </a:prstGeom>
          <a:solidFill>
            <a:srgbClr val="F2A844"/>
          </a:solidFill>
          <a:ln>
            <a:noFill/>
          </a:ln>
        </p:spPr>
      </p:sp>
      <p:sp>
        <p:nvSpPr>
          <p:cNvPr name="GraphCompose Text Line" id="240"/>
          <p:cNvSpPr txBox="true"/>
          <p:nvPr/>
        </p:nvSpPr>
        <p:spPr>
          <a:xfrm>
            <a:off x="11607800" y="3918282"/>
            <a:ext cx="2298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GraphCompose Text Line" id="241"/>
          <p:cNvSpPr txBox="true"/>
          <p:nvPr/>
        </p:nvSpPr>
        <p:spPr>
          <a:xfrm>
            <a:off x="8297110" y="5433649"/>
            <a:ext cx="2355450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8C95AF"/>
                </a:solidFill>
                <a:latin typeface="Arial"/>
              </a:rPr>
              <a:t>One model. PDF and PPTX outputs.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HOW IT WORKS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7623175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From one Java file to a finished document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99941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You describe the document semantically — sections, rows, tables, charts, shapes, layers — and the engine resolves the rest. No manual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13983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coordinates, no XML templates, no per-format authoring.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1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727089"/>
            <a:ext cx="7074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863600" y="2960764"/>
            <a:ext cx="20745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fluent DSL describes intent, not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863600" y="3128086"/>
            <a:ext cx="62237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geometry.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34226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36258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2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3625850" y="2727089"/>
            <a:ext cx="8267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3625850" y="2960764"/>
            <a:ext cx="176372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Every node measured twice,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3625850" y="3128086"/>
            <a:ext cx="10336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deterministically.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>
            <a:off x="61849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"/>
          <p:cNvSpPr txBox="true"/>
          <p:nvPr/>
        </p:nvSpPr>
        <p:spPr>
          <a:xfrm>
            <a:off x="63881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3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88100" y="2727089"/>
            <a:ext cx="85434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88100" y="2960764"/>
            <a:ext cx="20197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flow splits across pages row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88100" y="3128086"/>
            <a:ext cx="45152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by row.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89471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4"/>
          <p:cNvSpPr txBox="true"/>
          <p:nvPr/>
        </p:nvSpPr>
        <p:spPr>
          <a:xfrm>
            <a:off x="91503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4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9150350" y="2727089"/>
            <a:ext cx="69832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50350" y="2960764"/>
            <a:ext cx="21674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backend writes the bytes — PDF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150350" y="3128086"/>
            <a:ext cx="5680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or PPTX.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766071"/>
            <a:ext cx="3505200" cy="944563"/>
          </a:xfrm>
          <a:prstGeom prst="roundRect">
            <a:avLst>
              <a:gd name="adj" fmla="val 13445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938352"/>
            <a:ext cx="104717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84726"/>
            <a:ext cx="303723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352049"/>
            <a:ext cx="29518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machine. Layout is reproducible, not best-effort.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43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43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4546600" y="3938352"/>
            <a:ext cx="14416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546600" y="4184726"/>
            <a:ext cx="30915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layoutSnapshot() captures the resolved geometry,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352049"/>
            <a:ext cx="30918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so a layout change fails a test instead of surfacing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519371"/>
            <a:ext cx="76221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in a release.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8026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0" id="40"/>
          <p:cNvCxnSpPr/>
          <p:nvPr/>
        </p:nvCxnSpPr>
        <p:spPr>
          <a:xfrm>
            <a:off x="8026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1"/>
          <p:cNvSpPr txBox="true"/>
          <p:nvPr/>
        </p:nvSpPr>
        <p:spPr>
          <a:xfrm>
            <a:off x="8229600" y="3938352"/>
            <a:ext cx="188192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One model, two formats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8229600" y="4184726"/>
            <a:ext cx="281957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composition emits this PDF and an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352049"/>
            <a:ext cx="299853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editable PPTX. Nothing is authored twice, so the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519371"/>
            <a:ext cx="98741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two cannot drift.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65622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GraphCompose against the field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60415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The same documents through three engines — render time and peak heap, measured by this repository's own harness. Every figure on this page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86495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and the next is read from the result file at render time, not typed in.</a:t>
            </a:r>
            <a:endParaRPr lang="en-US" sz="1100"/>
          </a:p>
        </p:txBody>
      </p:sp>
      <p:sp>
        <p:nvSpPr>
          <p:cNvPr name="GraphCompose Table Cell Fill" id="8"/>
          <p:cNvSpPr/>
          <p:nvPr/>
        </p:nvSpPr>
        <p:spPr>
          <a:xfrm>
            <a:off x="660400" y="2253564"/>
            <a:ext cx="1287577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947977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38703" y="2253564"/>
            <a:ext cx="1575460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5014163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660400" y="252153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1947977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3438703" y="252153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5014163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660400" y="278950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1947977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3438703" y="278950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5014163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660400" y="305747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1947977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3438703" y="305747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5014163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660400" y="332544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1947977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3438703" y="332544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014163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cxnSp>
        <p:nvCxnSpPr>
          <p:cNvPr name="GraphCompose Table Cell Border" id="28"/>
          <p:cNvCxnSpPr/>
          <p:nvPr/>
        </p:nvCxnSpPr>
        <p:spPr>
          <a:xfrm>
            <a:off x="660400" y="225356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660400" y="252153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0"/>
          <p:cNvCxnSpPr/>
          <p:nvPr/>
        </p:nvCxnSpPr>
        <p:spPr>
          <a:xfrm>
            <a:off x="660400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1"/>
          <p:cNvCxnSpPr/>
          <p:nvPr/>
        </p:nvCxnSpPr>
        <p:spPr>
          <a:xfrm>
            <a:off x="1947977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2"/>
          <p:cNvSpPr txBox="true"/>
          <p:nvPr/>
        </p:nvSpPr>
        <p:spPr>
          <a:xfrm>
            <a:off x="787400" y="2288524"/>
            <a:ext cx="8227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3"/>
          <p:cNvCxnSpPr/>
          <p:nvPr/>
        </p:nvCxnSpPr>
        <p:spPr>
          <a:xfrm>
            <a:off x="1942897" y="225356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4"/>
          <p:cNvCxnSpPr/>
          <p:nvPr/>
        </p:nvCxnSpPr>
        <p:spPr>
          <a:xfrm>
            <a:off x="1942897" y="252153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5"/>
          <p:cNvCxnSpPr/>
          <p:nvPr/>
        </p:nvCxnSpPr>
        <p:spPr>
          <a:xfrm>
            <a:off x="343870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6"/>
          <p:cNvSpPr txBox="true"/>
          <p:nvPr/>
        </p:nvSpPr>
        <p:spPr>
          <a:xfrm>
            <a:off x="2074977" y="2288524"/>
            <a:ext cx="11444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7"/>
          <p:cNvCxnSpPr/>
          <p:nvPr/>
        </p:nvCxnSpPr>
        <p:spPr>
          <a:xfrm>
            <a:off x="3433623" y="225356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8"/>
          <p:cNvCxnSpPr/>
          <p:nvPr/>
        </p:nvCxnSpPr>
        <p:spPr>
          <a:xfrm>
            <a:off x="3433623" y="252153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9"/>
          <p:cNvCxnSpPr/>
          <p:nvPr/>
        </p:nvCxnSpPr>
        <p:spPr>
          <a:xfrm>
            <a:off x="501416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0"/>
          <p:cNvSpPr txBox="true"/>
          <p:nvPr/>
        </p:nvSpPr>
        <p:spPr>
          <a:xfrm>
            <a:off x="3565703" y="2288524"/>
            <a:ext cx="484073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41"/>
          <p:cNvCxnSpPr/>
          <p:nvPr/>
        </p:nvCxnSpPr>
        <p:spPr>
          <a:xfrm>
            <a:off x="5009083" y="225356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2"/>
          <p:cNvCxnSpPr/>
          <p:nvPr/>
        </p:nvCxnSpPr>
        <p:spPr>
          <a:xfrm>
            <a:off x="5009083" y="252153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3"/>
          <p:cNvCxnSpPr/>
          <p:nvPr/>
        </p:nvCxnSpPr>
        <p:spPr>
          <a:xfrm>
            <a:off x="6504889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4"/>
          <p:cNvSpPr txBox="true"/>
          <p:nvPr/>
        </p:nvSpPr>
        <p:spPr>
          <a:xfrm>
            <a:off x="5141163" y="2288524"/>
            <a:ext cx="106837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5"/>
          <p:cNvCxnSpPr/>
          <p:nvPr/>
        </p:nvCxnSpPr>
        <p:spPr>
          <a:xfrm>
            <a:off x="660400" y="278950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6"/>
          <p:cNvCxnSpPr/>
          <p:nvPr/>
        </p:nvCxnSpPr>
        <p:spPr>
          <a:xfrm>
            <a:off x="660400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7"/>
          <p:cNvCxnSpPr/>
          <p:nvPr/>
        </p:nvCxnSpPr>
        <p:spPr>
          <a:xfrm>
            <a:off x="1947977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8"/>
          <p:cNvSpPr txBox="true"/>
          <p:nvPr/>
        </p:nvSpPr>
        <p:spPr>
          <a:xfrm>
            <a:off x="787400" y="2556494"/>
            <a:ext cx="103484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9"/>
          <p:cNvCxnSpPr/>
          <p:nvPr/>
        </p:nvCxnSpPr>
        <p:spPr>
          <a:xfrm>
            <a:off x="1942897" y="278950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0"/>
          <p:cNvCxnSpPr/>
          <p:nvPr/>
        </p:nvCxnSpPr>
        <p:spPr>
          <a:xfrm>
            <a:off x="343870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1"/>
          <p:cNvSpPr txBox="true"/>
          <p:nvPr/>
        </p:nvSpPr>
        <p:spPr>
          <a:xfrm>
            <a:off x="2074977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2"/>
          <p:cNvCxnSpPr/>
          <p:nvPr/>
        </p:nvCxnSpPr>
        <p:spPr>
          <a:xfrm>
            <a:off x="3433623" y="278950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3"/>
          <p:cNvCxnSpPr/>
          <p:nvPr/>
        </p:nvCxnSpPr>
        <p:spPr>
          <a:xfrm>
            <a:off x="501416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4"/>
          <p:cNvSpPr txBox="true"/>
          <p:nvPr/>
        </p:nvSpPr>
        <p:spPr>
          <a:xfrm>
            <a:off x="356570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5"/>
          <p:cNvCxnSpPr/>
          <p:nvPr/>
        </p:nvCxnSpPr>
        <p:spPr>
          <a:xfrm>
            <a:off x="5009083" y="278950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6"/>
          <p:cNvCxnSpPr/>
          <p:nvPr/>
        </p:nvCxnSpPr>
        <p:spPr>
          <a:xfrm>
            <a:off x="6504889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7"/>
          <p:cNvSpPr txBox="true"/>
          <p:nvPr/>
        </p:nvSpPr>
        <p:spPr>
          <a:xfrm>
            <a:off x="514116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8"/>
          <p:cNvCxnSpPr/>
          <p:nvPr/>
        </p:nvCxnSpPr>
        <p:spPr>
          <a:xfrm>
            <a:off x="660400" y="305747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9"/>
          <p:cNvCxnSpPr/>
          <p:nvPr/>
        </p:nvCxnSpPr>
        <p:spPr>
          <a:xfrm>
            <a:off x="660400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0"/>
          <p:cNvCxnSpPr/>
          <p:nvPr/>
        </p:nvCxnSpPr>
        <p:spPr>
          <a:xfrm>
            <a:off x="1947977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1"/>
          <p:cNvSpPr txBox="true"/>
          <p:nvPr/>
        </p:nvSpPr>
        <p:spPr>
          <a:xfrm>
            <a:off x="787400" y="2824464"/>
            <a:ext cx="5348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2"/>
          <p:cNvCxnSpPr/>
          <p:nvPr/>
        </p:nvCxnSpPr>
        <p:spPr>
          <a:xfrm>
            <a:off x="1942897" y="305747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3"/>
          <p:cNvCxnSpPr/>
          <p:nvPr/>
        </p:nvCxnSpPr>
        <p:spPr>
          <a:xfrm>
            <a:off x="343870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4"/>
          <p:cNvSpPr txBox="true"/>
          <p:nvPr/>
        </p:nvSpPr>
        <p:spPr>
          <a:xfrm>
            <a:off x="2074977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5"/>
          <p:cNvCxnSpPr/>
          <p:nvPr/>
        </p:nvCxnSpPr>
        <p:spPr>
          <a:xfrm>
            <a:off x="3433623" y="305747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6"/>
          <p:cNvCxnSpPr/>
          <p:nvPr/>
        </p:nvCxnSpPr>
        <p:spPr>
          <a:xfrm>
            <a:off x="501416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7"/>
          <p:cNvSpPr txBox="true"/>
          <p:nvPr/>
        </p:nvSpPr>
        <p:spPr>
          <a:xfrm>
            <a:off x="3565703" y="282446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8"/>
          <p:cNvCxnSpPr/>
          <p:nvPr/>
        </p:nvCxnSpPr>
        <p:spPr>
          <a:xfrm>
            <a:off x="5009083" y="305747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9"/>
          <p:cNvCxnSpPr/>
          <p:nvPr/>
        </p:nvCxnSpPr>
        <p:spPr>
          <a:xfrm>
            <a:off x="6504889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0"/>
          <p:cNvSpPr txBox="true"/>
          <p:nvPr/>
        </p:nvSpPr>
        <p:spPr>
          <a:xfrm>
            <a:off x="5141163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71"/>
          <p:cNvCxnSpPr/>
          <p:nvPr/>
        </p:nvCxnSpPr>
        <p:spPr>
          <a:xfrm>
            <a:off x="660400" y="332544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2"/>
          <p:cNvCxnSpPr/>
          <p:nvPr/>
        </p:nvCxnSpPr>
        <p:spPr>
          <a:xfrm>
            <a:off x="660400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3"/>
          <p:cNvCxnSpPr/>
          <p:nvPr/>
        </p:nvCxnSpPr>
        <p:spPr>
          <a:xfrm>
            <a:off x="1947977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4"/>
          <p:cNvSpPr txBox="true"/>
          <p:nvPr/>
        </p:nvSpPr>
        <p:spPr>
          <a:xfrm>
            <a:off x="787400" y="3092434"/>
            <a:ext cx="61955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5"/>
          <p:cNvCxnSpPr/>
          <p:nvPr/>
        </p:nvCxnSpPr>
        <p:spPr>
          <a:xfrm>
            <a:off x="1942897" y="332544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6"/>
          <p:cNvCxnSpPr/>
          <p:nvPr/>
        </p:nvCxnSpPr>
        <p:spPr>
          <a:xfrm>
            <a:off x="343870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7"/>
          <p:cNvSpPr txBox="true"/>
          <p:nvPr/>
        </p:nvSpPr>
        <p:spPr>
          <a:xfrm>
            <a:off x="2074977" y="309243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8"/>
          <p:cNvCxnSpPr/>
          <p:nvPr/>
        </p:nvCxnSpPr>
        <p:spPr>
          <a:xfrm>
            <a:off x="3433623" y="332544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9"/>
          <p:cNvCxnSpPr/>
          <p:nvPr/>
        </p:nvCxnSpPr>
        <p:spPr>
          <a:xfrm>
            <a:off x="501416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0"/>
          <p:cNvSpPr txBox="true"/>
          <p:nvPr/>
        </p:nvSpPr>
        <p:spPr>
          <a:xfrm>
            <a:off x="356570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81"/>
          <p:cNvCxnSpPr/>
          <p:nvPr/>
        </p:nvCxnSpPr>
        <p:spPr>
          <a:xfrm>
            <a:off x="5009083" y="332544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2"/>
          <p:cNvCxnSpPr/>
          <p:nvPr/>
        </p:nvCxnSpPr>
        <p:spPr>
          <a:xfrm>
            <a:off x="6504889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3"/>
          <p:cNvSpPr txBox="true"/>
          <p:nvPr/>
        </p:nvSpPr>
        <p:spPr>
          <a:xfrm>
            <a:off x="514116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4"/>
          <p:cNvCxnSpPr/>
          <p:nvPr/>
        </p:nvCxnSpPr>
        <p:spPr>
          <a:xfrm>
            <a:off x="660400" y="359341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660400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947977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787400" y="3360404"/>
            <a:ext cx="704291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942897" y="359341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343870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0"/>
          <p:cNvSpPr txBox="true"/>
          <p:nvPr/>
        </p:nvSpPr>
        <p:spPr>
          <a:xfrm>
            <a:off x="2074977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91"/>
          <p:cNvCxnSpPr/>
          <p:nvPr/>
        </p:nvCxnSpPr>
        <p:spPr>
          <a:xfrm>
            <a:off x="3433623" y="359341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2"/>
          <p:cNvCxnSpPr/>
          <p:nvPr/>
        </p:nvCxnSpPr>
        <p:spPr>
          <a:xfrm>
            <a:off x="501416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3"/>
          <p:cNvSpPr txBox="true"/>
          <p:nvPr/>
        </p:nvSpPr>
        <p:spPr>
          <a:xfrm>
            <a:off x="3565703" y="3360404"/>
            <a:ext cx="1322730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4"/>
          <p:cNvCxnSpPr/>
          <p:nvPr/>
        </p:nvCxnSpPr>
        <p:spPr>
          <a:xfrm>
            <a:off x="5009083" y="359341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5"/>
          <p:cNvCxnSpPr/>
          <p:nvPr/>
        </p:nvCxnSpPr>
        <p:spPr>
          <a:xfrm>
            <a:off x="6504889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6"/>
          <p:cNvSpPr txBox="true"/>
          <p:nvPr/>
        </p:nvSpPr>
        <p:spPr>
          <a:xfrm>
            <a:off x="5141163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7" id="97"/>
          <p:cNvSpPr/>
          <p:nvPr/>
        </p:nvSpPr>
        <p:spPr>
          <a:xfrm>
            <a:off x="660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98" id="98"/>
          <p:cNvCxnSpPr/>
          <p:nvPr/>
        </p:nvCxnSpPr>
        <p:spPr>
          <a:xfrm>
            <a:off x="660400" y="3847414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863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E9972D"/>
                </a:solidFill>
                <a:latin typeface="Arial"/>
              </a:rPr>
              <a:t>4.4x</a:t>
            </a:r>
            <a:endParaRPr lang="en-US" sz="1100"/>
          </a:p>
        </p:txBody>
      </p:sp>
      <p:sp>
        <p:nvSpPr>
          <p:cNvPr name="GraphCompose Text Line" id="100"/>
          <p:cNvSpPr txBox="true"/>
          <p:nvPr/>
        </p:nvSpPr>
        <p:spPr>
          <a:xfrm>
            <a:off x="863600" y="4404182"/>
            <a:ext cx="195804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faster than iText 9 at 1000 rows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4343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2" id="102"/>
          <p:cNvCxnSpPr/>
          <p:nvPr/>
        </p:nvCxnSpPr>
        <p:spPr>
          <a:xfrm>
            <a:off x="4343400" y="3847414"/>
            <a:ext cx="3505200" cy="0"/>
          </a:xfrm>
          <a:prstGeom prst="line">
            <a:avLst/>
          </a:prstGeom>
          <a:ln w="38100">
            <a:solidFill>
              <a:srgbClr val="7A85A8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4546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7A85A8"/>
                </a:solidFill>
                <a:latin typeface="Arial"/>
              </a:rPr>
              <a:t>3.5x</a:t>
            </a:r>
            <a:endParaRPr lang="en-US" sz="1100"/>
          </a:p>
        </p:txBody>
      </p:sp>
      <p:sp>
        <p:nvSpPr>
          <p:cNvPr name="GraphCompose Text Line" id="104"/>
          <p:cNvSpPr txBox="true"/>
          <p:nvPr/>
        </p:nvSpPr>
        <p:spPr>
          <a:xfrm>
            <a:off x="4546600" y="4404182"/>
            <a:ext cx="115044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8026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6" id="106"/>
          <p:cNvCxnSpPr/>
          <p:nvPr/>
        </p:nvCxnSpPr>
        <p:spPr>
          <a:xfrm>
            <a:off x="8026400" y="3847414"/>
            <a:ext cx="3505200" cy="0"/>
          </a:xfrm>
          <a:prstGeom prst="line">
            <a:avLst/>
          </a:prstGeom>
          <a:ln w="38100">
            <a:solidFill>
              <a:srgbClr val="5DC88F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8229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5DC88F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108"/>
          <p:cNvSpPr txBox="true"/>
          <p:nvPr/>
        </p:nvSpPr>
        <p:spPr>
          <a:xfrm>
            <a:off x="8229600" y="4404182"/>
            <a:ext cx="16395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JasperReports</a:t>
            </a:r>
            <a:endParaRPr lang="en-US" sz="1100"/>
          </a:p>
        </p:txBody>
      </p:sp>
      <p:sp>
        <p:nvSpPr>
          <p:cNvPr name="GraphCompose Text Line" id="109"/>
          <p:cNvSpPr txBox="true"/>
          <p:nvPr/>
        </p:nvSpPr>
        <p:spPr>
          <a:xfrm>
            <a:off x="660400" y="4968772"/>
            <a:ext cx="1032842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Measured 2026-08-04 22:16:04 · 50 warmup / 100 measurement iterations on one machine. Read the ratios rather than the milliseconds: all three engines are measured in the same run, so their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660400" y="5118473"/>
            <a:ext cx="354862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proportions survive a change of hardware while the timings do not.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5880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SCALING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6225667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What changes as the report grows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7370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From 40 to 1000 rows the time lead over iText widens; JasperReports closes to roughly the same render time at the top size, while GraphCompose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938869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stays markedly lighter on memory than both throughout. Every series reads from the same file as the table on the previous page.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240659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12050"/>
            <a:ext cx="78460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faster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1108710" y="4605845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99314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1108710" y="4153318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92837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50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1108710" y="3700790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863600" y="3648702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1108710" y="3248262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863600" y="3196174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150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false">
            <a:off x="1108710" y="2795734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20"/>
          <p:cNvSpPr txBox="true"/>
          <p:nvPr/>
        </p:nvSpPr>
        <p:spPr>
          <a:xfrm>
            <a:off x="863600" y="274364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cxnSp>
        <p:nvCxnSpPr>
          <p:cNvPr name="Connector 21" id="21"/>
          <p:cNvCxnSpPr/>
          <p:nvPr/>
        </p:nvCxnSpPr>
        <p:spPr>
          <a:xfrm flipV="true">
            <a:off x="1884892" y="4507104"/>
            <a:ext cx="1552363" cy="61815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3437255" y="4218844"/>
            <a:ext cx="1552363" cy="288260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884892" y="4274867"/>
            <a:ext cx="1552363" cy="240835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3437255" y="2894204"/>
            <a:ext cx="1552363" cy="1380663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5" id="25"/>
          <p:cNvCxnSpPr/>
          <p:nvPr/>
        </p:nvCxnSpPr>
        <p:spPr>
          <a:xfrm flipV="true">
            <a:off x="1884892" y="4484025"/>
            <a:ext cx="1552363" cy="47063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26" id="26"/>
          <p:cNvCxnSpPr/>
          <p:nvPr/>
        </p:nvCxnSpPr>
        <p:spPr>
          <a:xfrm flipV="true">
            <a:off x="3437255" y="4210517"/>
            <a:ext cx="1552363" cy="273508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27"/>
          <p:cNvSpPr txBox="true"/>
          <p:nvPr/>
        </p:nvSpPr>
        <p:spPr>
          <a:xfrm>
            <a:off x="1820122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3340100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860078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>
            <a:off x="19427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31"/>
          <p:cNvSpPr txBox="true"/>
          <p:nvPr/>
        </p:nvSpPr>
        <p:spPr>
          <a:xfrm>
            <a:off x="21078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0924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2575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37783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35"/>
          <p:cNvSpPr txBox="true"/>
          <p:nvPr/>
        </p:nvSpPr>
        <p:spPr>
          <a:xfrm>
            <a:off x="39434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62230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37"/>
          <p:cNvSpPr txBox="true"/>
          <p:nvPr/>
        </p:nvSpPr>
        <p:spPr>
          <a:xfrm>
            <a:off x="6426200" y="2428224"/>
            <a:ext cx="229656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426200" y="2612050"/>
            <a:ext cx="81280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lighter</a:t>
            </a:r>
            <a:endParaRPr lang="en-US" sz="1100"/>
          </a:p>
        </p:txBody>
      </p:sp>
      <p:cxnSp>
        <p:nvCxnSpPr>
          <p:cNvPr name="Connector 39" id="39"/>
          <p:cNvCxnSpPr/>
          <p:nvPr/>
        </p:nvCxnSpPr>
        <p:spPr>
          <a:xfrm flipV="false">
            <a:off x="6606540" y="4605845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0"/>
          <p:cNvSpPr txBox="true"/>
          <p:nvPr/>
        </p:nvSpPr>
        <p:spPr>
          <a:xfrm>
            <a:off x="649097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41" id="41"/>
          <p:cNvCxnSpPr/>
          <p:nvPr/>
        </p:nvCxnSpPr>
        <p:spPr>
          <a:xfrm flipV="false">
            <a:off x="6606540" y="4153318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642620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43" id="43"/>
          <p:cNvCxnSpPr/>
          <p:nvPr/>
        </p:nvCxnSpPr>
        <p:spPr>
          <a:xfrm flipV="false">
            <a:off x="6606540" y="3700790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4"/>
          <p:cNvSpPr txBox="true"/>
          <p:nvPr/>
        </p:nvSpPr>
        <p:spPr>
          <a:xfrm>
            <a:off x="6426200" y="3648702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45" id="45"/>
          <p:cNvCxnSpPr/>
          <p:nvPr/>
        </p:nvCxnSpPr>
        <p:spPr>
          <a:xfrm flipV="false">
            <a:off x="6606540" y="3248262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6426200" y="3196174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false">
            <a:off x="6606540" y="2795734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6426200" y="274364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80</a:t>
            </a:r>
            <a:endParaRPr lang="en-US" sz="1100"/>
          </a:p>
        </p:txBody>
      </p:sp>
      <p:cxnSp>
        <p:nvCxnSpPr>
          <p:cNvPr name="Connector 49" id="49"/>
          <p:cNvCxnSpPr/>
          <p:nvPr/>
        </p:nvCxnSpPr>
        <p:spPr>
          <a:xfrm flipV="true">
            <a:off x="7393517" y="4516471"/>
            <a:ext cx="1573953" cy="66748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0" id="50"/>
          <p:cNvCxnSpPr/>
          <p:nvPr/>
        </p:nvCxnSpPr>
        <p:spPr>
          <a:xfrm flipV="true">
            <a:off x="8967470" y="4168930"/>
            <a:ext cx="1573953" cy="347541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1" id="51"/>
          <p:cNvCxnSpPr/>
          <p:nvPr/>
        </p:nvCxnSpPr>
        <p:spPr>
          <a:xfrm flipV="true">
            <a:off x="7393517" y="4297221"/>
            <a:ext cx="1573953" cy="240519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2" id="52"/>
          <p:cNvCxnSpPr/>
          <p:nvPr/>
        </p:nvCxnSpPr>
        <p:spPr>
          <a:xfrm flipV="true">
            <a:off x="8967470" y="3083315"/>
            <a:ext cx="1573953" cy="1213906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3" id="53"/>
          <p:cNvCxnSpPr/>
          <p:nvPr/>
        </p:nvCxnSpPr>
        <p:spPr>
          <a:xfrm flipV="true">
            <a:off x="7393517" y="4361254"/>
            <a:ext cx="1573953" cy="187347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54" id="54"/>
          <p:cNvCxnSpPr/>
          <p:nvPr/>
        </p:nvCxnSpPr>
        <p:spPr>
          <a:xfrm flipV="true">
            <a:off x="8967470" y="3418638"/>
            <a:ext cx="1573953" cy="942616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7328747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56"/>
          <p:cNvSpPr txBox="true"/>
          <p:nvPr/>
        </p:nvSpPr>
        <p:spPr>
          <a:xfrm>
            <a:off x="8870315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57"/>
          <p:cNvSpPr txBox="true"/>
          <p:nvPr/>
        </p:nvSpPr>
        <p:spPr>
          <a:xfrm>
            <a:off x="10411883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>
            <a:off x="75053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59"/>
          <p:cNvSpPr txBox="true"/>
          <p:nvPr/>
        </p:nvSpPr>
        <p:spPr>
          <a:xfrm>
            <a:off x="76704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86550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61"/>
          <p:cNvSpPr txBox="true"/>
          <p:nvPr/>
        </p:nvSpPr>
        <p:spPr>
          <a:xfrm>
            <a:off x="88201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2" id="62"/>
          <p:cNvSpPr/>
          <p:nvPr/>
        </p:nvSpPr>
        <p:spPr>
          <a:xfrm>
            <a:off x="93409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63"/>
          <p:cNvSpPr txBox="true"/>
          <p:nvPr/>
        </p:nvSpPr>
        <p:spPr>
          <a:xfrm>
            <a:off x="95060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660400" y="5332627"/>
            <a:ext cx="106974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Both charts are native vector output: the engine compiles them to the same shapes, lines and text frames as everything else on the page — no image is embedded, and the numbers come from the file,</a:t>
            </a:r>
            <a:endParaRPr lang="en-US" sz="1100"/>
          </a:p>
        </p:txBody>
      </p:sp>
      <p:sp>
        <p:nvSpPr>
          <p:cNvPr name="GraphCompose Text Line" id="65"/>
          <p:cNvSpPr txBox="true"/>
          <p:nvPr/>
        </p:nvSpPr>
        <p:spPr>
          <a:xfrm>
            <a:off x="660400" y="5482328"/>
            <a:ext cx="8262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not the caption.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MULTILINGUAL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86196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Documents that read right to left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80128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 paragraph — or a table cell — says which way it runs, and Hebrew and Arabic lay out, join and mirror correctly. The PDF is painted, so the engine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1064526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resolves the line itself; Word and PowerPoint order text themselves and are told what each needs instead. Five script families ship with the library.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032000" cy="1214971"/>
          </a:xfrm>
          <a:prstGeom prst="roundRect">
            <a:avLst>
              <a:gd name="adj" fmla="val 10453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4755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Arabic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26564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AMIRI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617396" y="2885783"/>
            <a:ext cx="873074" cy="37955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 rtl="true"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cs typeface="Amiri"/>
              </a:rPr>
              <a:t>مرحبا بالعالم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>
            <a:off x="2870200" y="2253564"/>
            <a:ext cx="2032000" cy="1051319"/>
          </a:xfrm>
          <a:prstGeom prst="roundRect">
            <a:avLst>
              <a:gd name="adj" fmla="val 1208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3"/>
          <p:cNvSpPr txBox="true"/>
          <p:nvPr/>
        </p:nvSpPr>
        <p:spPr>
          <a:xfrm>
            <a:off x="3073400" y="2428224"/>
            <a:ext cx="5517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Hebrew</a:t>
            </a:r>
            <a:endParaRPr lang="en-US" sz="1100"/>
          </a:p>
        </p:txBody>
      </p:sp>
      <p:sp>
        <p:nvSpPr>
          <p:cNvPr name="GraphCompose Text Line" id="14"/>
          <p:cNvSpPr txBox="true"/>
          <p:nvPr/>
        </p:nvSpPr>
        <p:spPr>
          <a:xfrm>
            <a:off x="3073400" y="2626564"/>
            <a:ext cx="7137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DAVID_LIBRE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3765448" y="2885783"/>
            <a:ext cx="934822" cy="2159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 rtl="true"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cs typeface="David Libre"/>
              </a:rPr>
              <a:t>שלום עולם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>
            <a:off x="5080000" y="2253564"/>
            <a:ext cx="2032000" cy="1129043"/>
          </a:xfrm>
          <a:prstGeom prst="roundRect">
            <a:avLst>
              <a:gd name="adj" fmla="val 11248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"/>
          <p:cNvSpPr txBox="true"/>
          <p:nvPr/>
        </p:nvSpPr>
        <p:spPr>
          <a:xfrm>
            <a:off x="5283200" y="2428224"/>
            <a:ext cx="6703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Georgian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5283200" y="2626564"/>
            <a:ext cx="116713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NOTO_SANS_GEORGIAN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283200" y="2885783"/>
            <a:ext cx="1216139" cy="2936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latin typeface="Noto Sans Georgian"/>
              </a:rPr>
              <a:t>გამარჯობა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>
            <a:off x="7289800" y="2253564"/>
            <a:ext cx="2032000" cy="1129043"/>
          </a:xfrm>
          <a:prstGeom prst="roundRect">
            <a:avLst>
              <a:gd name="adj" fmla="val 11248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1"/>
          <p:cNvSpPr txBox="true"/>
          <p:nvPr/>
        </p:nvSpPr>
        <p:spPr>
          <a:xfrm>
            <a:off x="7493000" y="2428224"/>
            <a:ext cx="7041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Armenian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7493000" y="2626564"/>
            <a:ext cx="116713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NOTO_SANS_ARMENIAN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7493000" y="2885783"/>
            <a:ext cx="1606702" cy="2936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latin typeface="Noto Sans Armenian"/>
              </a:rPr>
              <a:t>Բարև աշխարհ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9499600" y="2253564"/>
            <a:ext cx="2032000" cy="1051319"/>
          </a:xfrm>
          <a:prstGeom prst="roundRect">
            <a:avLst>
              <a:gd name="adj" fmla="val 1208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5"/>
          <p:cNvSpPr txBox="true"/>
          <p:nvPr/>
        </p:nvSpPr>
        <p:spPr>
          <a:xfrm>
            <a:off x="9702800" y="2428224"/>
            <a:ext cx="526288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Korean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702800" y="2626564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GOTHIC_A1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702800" y="2885783"/>
            <a:ext cx="1038670" cy="2159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ea typeface="Gothic A1"/>
              </a:rPr>
              <a:t>안녕하세요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869416"/>
            <a:ext cx="197372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Ordered by the algorithm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15791"/>
            <a:ext cx="304505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Lines resolve through UAX #9, so a Latin word or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283113"/>
            <a:ext cx="300593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number inside Hebrew keeps running forwards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863600" y="4450436"/>
            <a:ext cx="286665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and paired punctuation faces what it encloses.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4343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5" id="35"/>
          <p:cNvCxnSpPr/>
          <p:nvPr/>
        </p:nvCxnSpPr>
        <p:spPr>
          <a:xfrm>
            <a:off x="4343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6"/>
          <p:cNvSpPr txBox="true"/>
          <p:nvPr/>
        </p:nvSpPr>
        <p:spPr>
          <a:xfrm>
            <a:off x="4546600" y="3869416"/>
            <a:ext cx="1799539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Joined, then measured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115791"/>
            <a:ext cx="297506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Arabic is shaped into its contextual forms before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283113"/>
            <a:ext cx="297506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line is measured, so a column is sized to the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546600" y="4450436"/>
            <a:ext cx="19268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letters the page actually draws.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>
            <a:off x="8026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1" id="41"/>
          <p:cNvCxnSpPr/>
          <p:nvPr/>
        </p:nvCxnSpPr>
        <p:spPr>
          <a:xfrm>
            <a:off x="8026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8229600" y="3869416"/>
            <a:ext cx="205643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The same in three formats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115791"/>
            <a:ext cx="293622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PDF, PowerPoint and Word each get what their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283113"/>
            <a:ext cx="260262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own text engine needs — the document is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8229600" y="4450436"/>
            <a:ext cx="93320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authored once.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660400" y="5040426"/>
            <a:ext cx="832998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Each card names its FontName constant. Every word of Hebrew and Arabic above was laid out by the engine that drew this page — no image is embedded.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maven central, pdf, pptx, document engine</cp:keywords>
  <dcterms:modified xsi:type="dcterms:W3CDTF">2011-08-01T06:04:30Z</dcterms:modified>
  <cp:revision>1</cp:revision>
  <dc:subject>Declarative document generation for Java — one model, PDF and PPTX outputs</dc:subject>
  <dc:title>GraphCompose — available on Maven Central</dc:title>
</cp:coreProperties>
</file>